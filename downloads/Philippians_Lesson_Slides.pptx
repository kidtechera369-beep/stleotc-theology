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jpeg" ContentType="image/jpeg"/>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b84240cf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b84240cf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cb84240cf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cb84240cf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cb84240cf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cb84240cf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cb84240cf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cb84240cf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b84240cf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b84240cf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b84240cf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cb84240cf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cb84240cf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cb84240cf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b84240cf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b84240cf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b84240cf8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b84240cf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b84240cf8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b84240cf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b84240cf8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cb84240cf8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b84240cf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b84240cf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b84240cf8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b84240cf8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b84240cf8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cb84240cf8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b84240cf8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cb84240cf8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b84240cf8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b84240cf8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b84240cf8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b84240cf8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b84240cf8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cb84240cf8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b84240cf8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cb84240cf8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cb84240cf8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cb84240cf8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lnSpc>
                <a:spcPct val="115000"/>
              </a:lnSpc>
              <a:spcBef>
                <a:spcPts val="1400"/>
              </a:spcBef>
              <a:spcAft>
                <a:spcPts val="400"/>
              </a:spcAft>
              <a:buNone/>
            </a:pPr>
            <a:r>
              <a:rPr lang="en"/>
              <a:t>Philippians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Dn Yonnas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Context and Background 	</a:t>
            </a:r>
            <a:endParaRPr>
              <a:latin typeface="Times New Roman"/>
              <a:ea typeface="Times New Roman"/>
              <a:cs typeface="Times New Roman"/>
              <a:sym typeface="Times New Roman"/>
            </a:endParaRPr>
          </a:p>
        </p:txBody>
      </p:sp>
      <p:sp>
        <p:nvSpPr>
          <p:cNvPr id="61" name="Google Shape;61;p14"/>
          <p:cNvSpPr txBox="1"/>
          <p:nvPr>
            <p:ph idx="1" type="body"/>
          </p:nvPr>
        </p:nvSpPr>
        <p:spPr>
          <a:xfrm>
            <a:off x="311700" y="1152475"/>
            <a:ext cx="4443300" cy="3416400"/>
          </a:xfrm>
          <a:prstGeom prst="rect">
            <a:avLst/>
          </a:prstGeom>
        </p:spPr>
        <p:txBody>
          <a:bodyPr anchorCtr="0" anchor="t" bIns="91425" lIns="91425" spcFirstLastPara="1" rIns="91425" wrap="square" tIns="91425">
            <a:noAutofit/>
          </a:bodyPr>
          <a:lstStyle/>
          <a:p>
            <a:pPr indent="-355600" lvl="0" marL="457200" rtl="0" algn="l">
              <a:lnSpc>
                <a:spcPct val="105000"/>
              </a:lnSpc>
              <a:spcBef>
                <a:spcPts val="1200"/>
              </a:spcBef>
              <a:spcAft>
                <a:spcPts val="0"/>
              </a:spcAft>
              <a:buClr>
                <a:schemeClr val="dk1"/>
              </a:buClr>
              <a:buSzPts val="2000"/>
              <a:buFont typeface="Times New Roman"/>
              <a:buChar char="●"/>
            </a:pPr>
            <a:r>
              <a:rPr b="1" lang="en" sz="1300">
                <a:solidFill>
                  <a:schemeClr val="dk1"/>
                </a:solidFill>
              </a:rPr>
              <a:t>Author:</a:t>
            </a:r>
            <a:r>
              <a:rPr lang="en" sz="1300">
                <a:solidFill>
                  <a:schemeClr val="dk1"/>
                </a:solidFill>
              </a:rPr>
              <a:t> St. Paul the Apostle (with Timothy in the greeting) — </a:t>
            </a:r>
            <a:r>
              <a:rPr i="1" lang="en" sz="1300">
                <a:solidFill>
                  <a:schemeClr val="dk1"/>
                </a:solidFill>
              </a:rPr>
              <a:t>Phil 1:1</a:t>
            </a:r>
            <a:endParaRPr i="1" sz="1300">
              <a:solidFill>
                <a:schemeClr val="dk1"/>
              </a:solidFill>
            </a:endParaRPr>
          </a:p>
          <a:p>
            <a:pPr indent="-355600" lvl="0" marL="457200" rtl="0" algn="l">
              <a:lnSpc>
                <a:spcPct val="105000"/>
              </a:lnSpc>
              <a:spcBef>
                <a:spcPts val="0"/>
              </a:spcBef>
              <a:spcAft>
                <a:spcPts val="0"/>
              </a:spcAft>
              <a:buClr>
                <a:schemeClr val="dk1"/>
              </a:buClr>
              <a:buSzPts val="2000"/>
              <a:buFont typeface="Times New Roman"/>
              <a:buChar char="●"/>
            </a:pPr>
            <a:r>
              <a:rPr b="1" lang="en" sz="1300">
                <a:solidFill>
                  <a:schemeClr val="dk1"/>
                </a:solidFill>
              </a:rPr>
              <a:t>When:</a:t>
            </a:r>
            <a:r>
              <a:rPr lang="en" sz="1300">
                <a:solidFill>
                  <a:schemeClr val="dk1"/>
                </a:solidFill>
              </a:rPr>
              <a:t> During Paul’s imprisonment (commonly placed around </a:t>
            </a:r>
            <a:r>
              <a:rPr b="1" lang="en" sz="1300">
                <a:solidFill>
                  <a:schemeClr val="dk1"/>
                </a:solidFill>
              </a:rPr>
              <a:t>A.D. 60–62</a:t>
            </a:r>
            <a:r>
              <a:rPr lang="en" sz="1300">
                <a:solidFill>
                  <a:schemeClr val="dk1"/>
                </a:solidFill>
              </a:rPr>
              <a:t>)</a:t>
            </a:r>
            <a:endParaRPr sz="1300">
              <a:solidFill>
                <a:schemeClr val="dk1"/>
              </a:solidFill>
            </a:endParaRPr>
          </a:p>
          <a:p>
            <a:pPr indent="-355600" lvl="0" marL="457200" rtl="0" algn="l">
              <a:lnSpc>
                <a:spcPct val="105000"/>
              </a:lnSpc>
              <a:spcBef>
                <a:spcPts val="0"/>
              </a:spcBef>
              <a:spcAft>
                <a:spcPts val="0"/>
              </a:spcAft>
              <a:buClr>
                <a:schemeClr val="dk1"/>
              </a:buClr>
              <a:buSzPts val="2000"/>
              <a:buFont typeface="Times New Roman"/>
              <a:buChar char="●"/>
            </a:pPr>
            <a:r>
              <a:rPr b="1" lang="en" sz="1300">
                <a:solidFill>
                  <a:schemeClr val="dk1"/>
                </a:solidFill>
              </a:rPr>
              <a:t>Where:</a:t>
            </a:r>
            <a:r>
              <a:rPr lang="en" sz="1300">
                <a:solidFill>
                  <a:schemeClr val="dk1"/>
                </a:solidFill>
              </a:rPr>
              <a:t> Traditionally associated with </a:t>
            </a:r>
            <a:r>
              <a:rPr b="1" lang="en" sz="1300">
                <a:solidFill>
                  <a:schemeClr val="dk1"/>
                </a:solidFill>
              </a:rPr>
              <a:t>Rome</a:t>
            </a:r>
            <a:r>
              <a:rPr lang="en" sz="1300">
                <a:solidFill>
                  <a:schemeClr val="dk1"/>
                </a:solidFill>
              </a:rPr>
              <a:t> (though the key point is: </a:t>
            </a:r>
            <a:r>
              <a:rPr i="1" lang="en" sz="1300">
                <a:solidFill>
                  <a:schemeClr val="dk1"/>
                </a:solidFill>
              </a:rPr>
              <a:t>written in chains</a:t>
            </a:r>
            <a:r>
              <a:rPr lang="en" sz="1300">
                <a:solidFill>
                  <a:schemeClr val="dk1"/>
                </a:solidFill>
              </a:rPr>
              <a:t>) — </a:t>
            </a:r>
            <a:r>
              <a:rPr i="1" lang="en" sz="1300">
                <a:solidFill>
                  <a:schemeClr val="dk1"/>
                </a:solidFill>
              </a:rPr>
              <a:t>Phil 1:7; 1:12–14</a:t>
            </a:r>
            <a:endParaRPr i="1" sz="1300">
              <a:solidFill>
                <a:schemeClr val="dk1"/>
              </a:solidFill>
            </a:endParaRPr>
          </a:p>
          <a:p>
            <a:pPr indent="-355600" lvl="0" marL="457200" rtl="0" algn="l">
              <a:lnSpc>
                <a:spcPct val="105000"/>
              </a:lnSpc>
              <a:spcBef>
                <a:spcPts val="0"/>
              </a:spcBef>
              <a:spcAft>
                <a:spcPts val="0"/>
              </a:spcAft>
              <a:buClr>
                <a:schemeClr val="dk1"/>
              </a:buClr>
              <a:buSzPts val="2000"/>
              <a:buFont typeface="Times New Roman"/>
              <a:buChar char="●"/>
            </a:pPr>
            <a:r>
              <a:rPr b="1" lang="en" sz="1300">
                <a:solidFill>
                  <a:schemeClr val="dk1"/>
                </a:solidFill>
              </a:rPr>
              <a:t>Audience:</a:t>
            </a:r>
            <a:r>
              <a:rPr lang="en" sz="1300">
                <a:solidFill>
                  <a:schemeClr val="dk1"/>
                </a:solidFill>
              </a:rPr>
              <a:t> The Church in Philippi, faithful partners in the Gospel — </a:t>
            </a:r>
            <a:r>
              <a:rPr i="1" lang="en" sz="1300">
                <a:solidFill>
                  <a:schemeClr val="dk1"/>
                </a:solidFill>
              </a:rPr>
              <a:t>Phil 4:15–16</a:t>
            </a:r>
            <a:endParaRPr i="1" sz="1300">
              <a:solidFill>
                <a:schemeClr val="dk1"/>
              </a:solidFill>
            </a:endParaRPr>
          </a:p>
          <a:p>
            <a:pPr indent="-342900" lvl="0" marL="457200" rtl="0" algn="l">
              <a:lnSpc>
                <a:spcPct val="105000"/>
              </a:lnSpc>
              <a:spcBef>
                <a:spcPts val="0"/>
              </a:spcBef>
              <a:spcAft>
                <a:spcPts val="0"/>
              </a:spcAft>
              <a:buClr>
                <a:schemeClr val="dk1"/>
              </a:buClr>
              <a:buSzPts val="1800"/>
              <a:buFont typeface="Times New Roman"/>
              <a:buChar char="●"/>
            </a:pPr>
            <a:r>
              <a:rPr b="1" lang="en" sz="1300">
                <a:solidFill>
                  <a:schemeClr val="dk1"/>
                </a:solidFill>
              </a:rPr>
              <a:t>Tone:</a:t>
            </a:r>
            <a:r>
              <a:rPr lang="en" sz="1300">
                <a:solidFill>
                  <a:schemeClr val="dk1"/>
                </a:solidFill>
              </a:rPr>
              <a:t> joy and encouragement under pressure — </a:t>
            </a:r>
            <a:r>
              <a:rPr i="1" lang="en" sz="1300">
                <a:solidFill>
                  <a:schemeClr val="dk1"/>
                </a:solidFill>
              </a:rPr>
              <a:t>Phil 1:3–5; 4:4</a:t>
            </a:r>
            <a:br>
              <a:rPr lang="en" sz="2000">
                <a:solidFill>
                  <a:schemeClr val="dk1"/>
                </a:solidFill>
                <a:latin typeface="Times New Roman"/>
                <a:ea typeface="Times New Roman"/>
                <a:cs typeface="Times New Roman"/>
                <a:sym typeface="Times New Roman"/>
              </a:rPr>
            </a:br>
            <a:endParaRPr sz="2000">
              <a:solidFill>
                <a:schemeClr val="dk1"/>
              </a:solidFill>
              <a:latin typeface="Times New Roman"/>
              <a:ea typeface="Times New Roman"/>
              <a:cs typeface="Times New Roman"/>
              <a:sym typeface="Times New Roman"/>
            </a:endParaRPr>
          </a:p>
          <a:p>
            <a:pPr indent="0" lvl="0" marL="0" rtl="0" algn="l">
              <a:lnSpc>
                <a:spcPct val="105000"/>
              </a:lnSpc>
              <a:spcBef>
                <a:spcPts val="1200"/>
              </a:spcBef>
              <a:spcAft>
                <a:spcPts val="1200"/>
              </a:spcAft>
              <a:buNone/>
            </a:pPr>
            <a:r>
              <a:t/>
            </a:r>
            <a:endParaRPr>
              <a:latin typeface="Times New Roman"/>
              <a:ea typeface="Times New Roman"/>
              <a:cs typeface="Times New Roman"/>
              <a:sym typeface="Times New Roman"/>
            </a:endParaRPr>
          </a:p>
        </p:txBody>
      </p:sp>
      <p:sp>
        <p:nvSpPr>
          <p:cNvPr id="62" name="Google Shape;62;p14"/>
          <p:cNvSpPr txBox="1"/>
          <p:nvPr/>
        </p:nvSpPr>
        <p:spPr>
          <a:xfrm>
            <a:off x="5347425" y="1218325"/>
            <a:ext cx="3000000" cy="2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Paul is suffering, yet this is one of the most joyful letters in the Bible.</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 :</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1:7 (NKJV)</a:t>
            </a:r>
            <a:r>
              <a:rPr lang="en" sz="1300">
                <a:solidFill>
                  <a:schemeClr val="dk1"/>
                </a:solidFill>
                <a:latin typeface="Times New Roman"/>
                <a:ea typeface="Times New Roman"/>
                <a:cs typeface="Times New Roman"/>
                <a:sym typeface="Times New Roman"/>
              </a:rPr>
              <a:t> — “…inasmuch as both in my chains and in the defense and confirmation of the gospel, you all are partakers with me of grace.”</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The Big Message of </a:t>
            </a:r>
            <a:r>
              <a:rPr lang="en">
                <a:latin typeface="Times New Roman"/>
                <a:ea typeface="Times New Roman"/>
                <a:cs typeface="Times New Roman"/>
                <a:sym typeface="Times New Roman"/>
              </a:rPr>
              <a:t>Philippians</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68" name="Google Shape;68;p15"/>
          <p:cNvSpPr txBox="1"/>
          <p:nvPr>
            <p:ph idx="1" type="body"/>
          </p:nvPr>
        </p:nvSpPr>
        <p:spPr>
          <a:xfrm>
            <a:off x="311700" y="1152475"/>
            <a:ext cx="4867500" cy="3990900"/>
          </a:xfrm>
          <a:prstGeom prst="rect">
            <a:avLst/>
          </a:prstGeom>
        </p:spPr>
        <p:txBody>
          <a:bodyPr anchorCtr="0" anchor="t" bIns="91425" lIns="91425" spcFirstLastPara="1" rIns="91425" wrap="square" tIns="91425">
            <a:normAutofit fontScale="70000" lnSpcReduction="20000"/>
          </a:bodyPr>
          <a:lstStyle/>
          <a:p>
            <a:pPr indent="-312631" lvl="0" marL="457200" rtl="0" algn="l">
              <a:spcBef>
                <a:spcPts val="1200"/>
              </a:spcBef>
              <a:spcAft>
                <a:spcPts val="0"/>
              </a:spcAft>
              <a:buClr>
                <a:schemeClr val="dk1"/>
              </a:buClr>
              <a:buSzPct val="72978"/>
              <a:buFont typeface="Times New Roman"/>
              <a:buChar char="●"/>
            </a:pPr>
            <a:r>
              <a:rPr lang="en" sz="2590">
                <a:solidFill>
                  <a:schemeClr val="dk1"/>
                </a:solidFill>
                <a:latin typeface="Times New Roman"/>
                <a:ea typeface="Times New Roman"/>
                <a:cs typeface="Times New Roman"/>
                <a:sym typeface="Times New Roman"/>
              </a:rPr>
              <a:t>Joy is not the absence of pain</a:t>
            </a:r>
            <a:br>
              <a:rPr lang="en" sz="2590">
                <a:solidFill>
                  <a:schemeClr val="dk1"/>
                </a:solidFill>
                <a:latin typeface="Times New Roman"/>
                <a:ea typeface="Times New Roman"/>
                <a:cs typeface="Times New Roman"/>
                <a:sym typeface="Times New Roman"/>
              </a:rPr>
            </a:br>
            <a:endParaRPr sz="2590">
              <a:solidFill>
                <a:schemeClr val="dk1"/>
              </a:solidFill>
              <a:latin typeface="Times New Roman"/>
              <a:ea typeface="Times New Roman"/>
              <a:cs typeface="Times New Roman"/>
              <a:sym typeface="Times New Roman"/>
            </a:endParaRPr>
          </a:p>
          <a:p>
            <a:pPr indent="-312631" lvl="0" marL="457200" rtl="0" algn="l">
              <a:spcBef>
                <a:spcPts val="0"/>
              </a:spcBef>
              <a:spcAft>
                <a:spcPts val="0"/>
              </a:spcAft>
              <a:buClr>
                <a:schemeClr val="dk1"/>
              </a:buClr>
              <a:buSzPct val="72978"/>
              <a:buFont typeface="Times New Roman"/>
              <a:buChar char="●"/>
            </a:pPr>
            <a:r>
              <a:rPr lang="en" sz="2590">
                <a:solidFill>
                  <a:schemeClr val="dk1"/>
                </a:solidFill>
                <a:latin typeface="Times New Roman"/>
                <a:ea typeface="Times New Roman"/>
                <a:cs typeface="Times New Roman"/>
                <a:sym typeface="Times New Roman"/>
              </a:rPr>
              <a:t>Joy is the </a:t>
            </a:r>
            <a:r>
              <a:rPr lang="en" sz="2590">
                <a:solidFill>
                  <a:schemeClr val="dk1"/>
                </a:solidFill>
                <a:latin typeface="Times New Roman"/>
                <a:ea typeface="Times New Roman"/>
                <a:cs typeface="Times New Roman"/>
                <a:sym typeface="Times New Roman"/>
              </a:rPr>
              <a:t>presence</a:t>
            </a:r>
            <a:r>
              <a:rPr lang="en" sz="2590">
                <a:solidFill>
                  <a:schemeClr val="dk1"/>
                </a:solidFill>
                <a:latin typeface="Times New Roman"/>
                <a:ea typeface="Times New Roman"/>
                <a:cs typeface="Times New Roman"/>
                <a:sym typeface="Times New Roman"/>
              </a:rPr>
              <a:t> of Christ</a:t>
            </a:r>
            <a:br>
              <a:rPr lang="en" sz="2590">
                <a:solidFill>
                  <a:schemeClr val="dk1"/>
                </a:solidFill>
                <a:latin typeface="Times New Roman"/>
                <a:ea typeface="Times New Roman"/>
                <a:cs typeface="Times New Roman"/>
                <a:sym typeface="Times New Roman"/>
              </a:rPr>
            </a:br>
            <a:endParaRPr sz="2590">
              <a:solidFill>
                <a:schemeClr val="dk1"/>
              </a:solidFill>
              <a:latin typeface="Times New Roman"/>
              <a:ea typeface="Times New Roman"/>
              <a:cs typeface="Times New Roman"/>
              <a:sym typeface="Times New Roman"/>
            </a:endParaRPr>
          </a:p>
          <a:p>
            <a:pPr indent="-312631" lvl="0" marL="457200" rtl="0" algn="l">
              <a:spcBef>
                <a:spcPts val="0"/>
              </a:spcBef>
              <a:spcAft>
                <a:spcPts val="0"/>
              </a:spcAft>
              <a:buClr>
                <a:schemeClr val="dk1"/>
              </a:buClr>
              <a:buSzPct val="72978"/>
              <a:buFont typeface="Times New Roman"/>
              <a:buChar char="●"/>
            </a:pPr>
            <a:r>
              <a:rPr lang="en" sz="2590">
                <a:solidFill>
                  <a:schemeClr val="dk1"/>
                </a:solidFill>
                <a:latin typeface="Times New Roman"/>
                <a:ea typeface="Times New Roman"/>
                <a:cs typeface="Times New Roman"/>
                <a:sym typeface="Times New Roman"/>
              </a:rPr>
              <a:t>Philippians teaches how to live with:</a:t>
            </a:r>
            <a:br>
              <a:rPr lang="en" sz="2590">
                <a:solidFill>
                  <a:schemeClr val="dk1"/>
                </a:solidFill>
                <a:latin typeface="Times New Roman"/>
                <a:ea typeface="Times New Roman"/>
                <a:cs typeface="Times New Roman"/>
                <a:sym typeface="Times New Roman"/>
              </a:rPr>
            </a:br>
            <a:endParaRPr sz="2590">
              <a:solidFill>
                <a:schemeClr val="dk1"/>
              </a:solidFill>
              <a:latin typeface="Times New Roman"/>
              <a:ea typeface="Times New Roman"/>
              <a:cs typeface="Times New Roman"/>
              <a:sym typeface="Times New Roman"/>
            </a:endParaRPr>
          </a:p>
          <a:p>
            <a:pPr indent="-312631" lvl="1" marL="914400" rtl="0" algn="l">
              <a:spcBef>
                <a:spcPts val="0"/>
              </a:spcBef>
              <a:spcAft>
                <a:spcPts val="0"/>
              </a:spcAft>
              <a:buClr>
                <a:schemeClr val="dk1"/>
              </a:buClr>
              <a:buSzPct val="86304"/>
              <a:buFont typeface="Times New Roman"/>
              <a:buChar char="○"/>
            </a:pPr>
            <a:r>
              <a:rPr lang="en" sz="2190">
                <a:solidFill>
                  <a:schemeClr val="dk1"/>
                </a:solidFill>
                <a:latin typeface="Times New Roman"/>
                <a:ea typeface="Times New Roman"/>
                <a:cs typeface="Times New Roman"/>
                <a:sym typeface="Times New Roman"/>
              </a:rPr>
              <a:t>pressure</a:t>
            </a:r>
            <a:br>
              <a:rPr lang="en" sz="2190">
                <a:solidFill>
                  <a:schemeClr val="dk1"/>
                </a:solidFill>
                <a:latin typeface="Times New Roman"/>
                <a:ea typeface="Times New Roman"/>
                <a:cs typeface="Times New Roman"/>
                <a:sym typeface="Times New Roman"/>
              </a:rPr>
            </a:br>
            <a:endParaRPr sz="2190">
              <a:solidFill>
                <a:schemeClr val="dk1"/>
              </a:solidFill>
              <a:latin typeface="Times New Roman"/>
              <a:ea typeface="Times New Roman"/>
              <a:cs typeface="Times New Roman"/>
              <a:sym typeface="Times New Roman"/>
            </a:endParaRPr>
          </a:p>
          <a:p>
            <a:pPr indent="-312631" lvl="1" marL="914400" rtl="0" algn="l">
              <a:spcBef>
                <a:spcPts val="0"/>
              </a:spcBef>
              <a:spcAft>
                <a:spcPts val="0"/>
              </a:spcAft>
              <a:buClr>
                <a:schemeClr val="dk1"/>
              </a:buClr>
              <a:buSzPct val="86304"/>
              <a:buFont typeface="Times New Roman"/>
              <a:buChar char="○"/>
            </a:pPr>
            <a:r>
              <a:rPr lang="en" sz="2190">
                <a:solidFill>
                  <a:schemeClr val="dk1"/>
                </a:solidFill>
                <a:latin typeface="Times New Roman"/>
                <a:ea typeface="Times New Roman"/>
                <a:cs typeface="Times New Roman"/>
                <a:sym typeface="Times New Roman"/>
              </a:rPr>
              <a:t>conflict</a:t>
            </a:r>
            <a:br>
              <a:rPr lang="en" sz="2190">
                <a:solidFill>
                  <a:schemeClr val="dk1"/>
                </a:solidFill>
                <a:latin typeface="Times New Roman"/>
                <a:ea typeface="Times New Roman"/>
                <a:cs typeface="Times New Roman"/>
                <a:sym typeface="Times New Roman"/>
              </a:rPr>
            </a:br>
            <a:endParaRPr sz="2190">
              <a:solidFill>
                <a:schemeClr val="dk1"/>
              </a:solidFill>
              <a:latin typeface="Times New Roman"/>
              <a:ea typeface="Times New Roman"/>
              <a:cs typeface="Times New Roman"/>
              <a:sym typeface="Times New Roman"/>
            </a:endParaRPr>
          </a:p>
          <a:p>
            <a:pPr indent="-312631" lvl="1" marL="914400" rtl="0" algn="l">
              <a:spcBef>
                <a:spcPts val="0"/>
              </a:spcBef>
              <a:spcAft>
                <a:spcPts val="0"/>
              </a:spcAft>
              <a:buClr>
                <a:schemeClr val="dk1"/>
              </a:buClr>
              <a:buSzPct val="86304"/>
              <a:buFont typeface="Times New Roman"/>
              <a:buChar char="○"/>
            </a:pPr>
            <a:r>
              <a:rPr lang="en" sz="2190">
                <a:solidFill>
                  <a:schemeClr val="dk1"/>
                </a:solidFill>
                <a:latin typeface="Times New Roman"/>
                <a:ea typeface="Times New Roman"/>
                <a:cs typeface="Times New Roman"/>
                <a:sym typeface="Times New Roman"/>
              </a:rPr>
              <a:t>anxiety</a:t>
            </a:r>
            <a:br>
              <a:rPr lang="en" sz="2190">
                <a:solidFill>
                  <a:schemeClr val="dk1"/>
                </a:solidFill>
                <a:latin typeface="Times New Roman"/>
                <a:ea typeface="Times New Roman"/>
                <a:cs typeface="Times New Roman"/>
                <a:sym typeface="Times New Roman"/>
              </a:rPr>
            </a:br>
            <a:endParaRPr sz="2190">
              <a:solidFill>
                <a:schemeClr val="dk1"/>
              </a:solidFill>
              <a:latin typeface="Times New Roman"/>
              <a:ea typeface="Times New Roman"/>
              <a:cs typeface="Times New Roman"/>
              <a:sym typeface="Times New Roman"/>
            </a:endParaRPr>
          </a:p>
          <a:p>
            <a:pPr indent="-300545" lvl="1" marL="914400" rtl="0" algn="l">
              <a:spcBef>
                <a:spcPts val="0"/>
              </a:spcBef>
              <a:spcAft>
                <a:spcPts val="0"/>
              </a:spcAft>
              <a:buClr>
                <a:schemeClr val="dk1"/>
              </a:buClr>
              <a:buSzPct val="73892"/>
              <a:buFont typeface="Times New Roman"/>
              <a:buChar char="○"/>
            </a:pPr>
            <a:r>
              <a:rPr lang="en" sz="2190">
                <a:solidFill>
                  <a:schemeClr val="dk1"/>
                </a:solidFill>
                <a:latin typeface="Times New Roman"/>
                <a:ea typeface="Times New Roman"/>
                <a:cs typeface="Times New Roman"/>
                <a:sym typeface="Times New Roman"/>
              </a:rPr>
              <a:t>spiritual struggle</a:t>
            </a:r>
            <a:br>
              <a:rPr lang="en" sz="1919">
                <a:solidFill>
                  <a:schemeClr val="dk1"/>
                </a:solidFill>
                <a:latin typeface="Times New Roman"/>
                <a:ea typeface="Times New Roman"/>
                <a:cs typeface="Times New Roman"/>
                <a:sym typeface="Times New Roman"/>
              </a:rPr>
            </a:br>
            <a:endParaRPr sz="1919">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69" name="Google Shape;69;p15"/>
          <p:cNvSpPr txBox="1"/>
          <p:nvPr/>
        </p:nvSpPr>
        <p:spPr>
          <a:xfrm>
            <a:off x="5566825" y="1489625"/>
            <a:ext cx="3000000" cy="233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2800">
                <a:solidFill>
                  <a:schemeClr val="dk1"/>
                </a:solidFill>
                <a:latin typeface="Times New Roman"/>
                <a:ea typeface="Times New Roman"/>
                <a:cs typeface="Times New Roman"/>
                <a:sym typeface="Times New Roman"/>
              </a:rPr>
              <a:t>Philippians</a:t>
            </a:r>
            <a:r>
              <a:rPr lang="en" sz="1300">
                <a:solidFill>
                  <a:schemeClr val="dk1"/>
                </a:solidFill>
              </a:rPr>
              <a:t> is about a stable heart in an unstable world.</a:t>
            </a:r>
            <a:endParaRPr sz="1300">
              <a:solidFill>
                <a:schemeClr val="dk1"/>
              </a:solidFill>
            </a:endParaRPr>
          </a:p>
          <a:p>
            <a:pPr indent="0" lvl="0" marL="0" rtl="0" algn="l">
              <a:lnSpc>
                <a:spcPct val="115000"/>
              </a:lnSpc>
              <a:spcBef>
                <a:spcPts val="1200"/>
              </a:spcBef>
              <a:spcAft>
                <a:spcPts val="0"/>
              </a:spcAft>
              <a:buNone/>
            </a:pPr>
            <a:r>
              <a:rPr b="1" lang="en" sz="1300">
                <a:solidFill>
                  <a:schemeClr val="dk1"/>
                </a:solidFill>
              </a:rPr>
              <a:t>Scripture:</a:t>
            </a:r>
            <a:endParaRPr b="1" sz="1300">
              <a:solidFill>
                <a:schemeClr val="dk1"/>
              </a:solidFill>
            </a:endParaRPr>
          </a:p>
          <a:p>
            <a:pPr indent="0" lvl="0" marL="0" rtl="0" algn="l">
              <a:lnSpc>
                <a:spcPct val="115000"/>
              </a:lnSpc>
              <a:spcBef>
                <a:spcPts val="1200"/>
              </a:spcBef>
              <a:spcAft>
                <a:spcPts val="1200"/>
              </a:spcAft>
              <a:buNone/>
            </a:pPr>
            <a:r>
              <a:rPr b="1" lang="en" sz="1300">
                <a:solidFill>
                  <a:schemeClr val="dk1"/>
                </a:solidFill>
              </a:rPr>
              <a:t>Philippians 4:7 (NKJV)</a:t>
            </a:r>
            <a:r>
              <a:rPr lang="en" sz="1300">
                <a:solidFill>
                  <a:schemeClr val="dk1"/>
                </a:solidFill>
              </a:rPr>
              <a:t> — “And the peace of God, which surpasses all understanding, will guard your hearts and minds through Christ Jesus.”</a:t>
            </a:r>
            <a:endParaRPr sz="13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1: Joy in Chains </a:t>
            </a:r>
            <a:endParaRPr>
              <a:latin typeface="Times New Roman"/>
              <a:ea typeface="Times New Roman"/>
              <a:cs typeface="Times New Roman"/>
              <a:sym typeface="Times New Roman"/>
            </a:endParaRPr>
          </a:p>
        </p:txBody>
      </p:sp>
      <p:sp>
        <p:nvSpPr>
          <p:cNvPr id="75" name="Google Shape;75;p16"/>
          <p:cNvSpPr txBox="1"/>
          <p:nvPr>
            <p:ph idx="1" type="body"/>
          </p:nvPr>
        </p:nvSpPr>
        <p:spPr>
          <a:xfrm>
            <a:off x="311700" y="1152475"/>
            <a:ext cx="47064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900">
                <a:solidFill>
                  <a:schemeClr val="dk1"/>
                </a:solidFill>
                <a:latin typeface="Times New Roman"/>
                <a:ea typeface="Times New Roman"/>
                <a:cs typeface="Times New Roman"/>
                <a:sym typeface="Times New Roman"/>
              </a:rPr>
              <a:t>“What happened to Paul actually helped the Gospel”</a:t>
            </a:r>
            <a:endParaRPr b="1" sz="1900">
              <a:solidFill>
                <a:schemeClr val="dk1"/>
              </a:solidFill>
              <a:latin typeface="Times New Roman"/>
              <a:ea typeface="Times New Roman"/>
              <a:cs typeface="Times New Roman"/>
              <a:sym typeface="Times New Roman"/>
            </a:endParaRPr>
          </a:p>
          <a:p>
            <a:pPr indent="-336550" lvl="0" marL="457200" rtl="0" algn="l">
              <a:spcBef>
                <a:spcPts val="120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Paul’s imprisonment looked like a setback</a:t>
            </a:r>
            <a:br>
              <a:rPr lang="en" sz="1700">
                <a:solidFill>
                  <a:schemeClr val="dk1"/>
                </a:solidFill>
                <a:latin typeface="Times New Roman"/>
                <a:ea typeface="Times New Roman"/>
                <a:cs typeface="Times New Roman"/>
                <a:sym typeface="Times New Roman"/>
              </a:rPr>
            </a:br>
            <a:endParaRPr sz="1700">
              <a:solidFill>
                <a:schemeClr val="dk1"/>
              </a:solidFill>
              <a:latin typeface="Times New Roman"/>
              <a:ea typeface="Times New Roman"/>
              <a:cs typeface="Times New Roman"/>
              <a:sym typeface="Times New Roman"/>
            </a:endParaRPr>
          </a:p>
          <a:p>
            <a:pPr indent="-336550" lvl="0" marL="457200" rtl="0" algn="l">
              <a:spcBef>
                <a:spcPts val="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God used it to spread the Gospel</a:t>
            </a:r>
            <a:br>
              <a:rPr lang="en" sz="1700">
                <a:solidFill>
                  <a:schemeClr val="dk1"/>
                </a:solidFill>
                <a:latin typeface="Times New Roman"/>
                <a:ea typeface="Times New Roman"/>
                <a:cs typeface="Times New Roman"/>
                <a:sym typeface="Times New Roman"/>
              </a:rPr>
            </a:br>
            <a:endParaRPr sz="17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Even suffering became a witness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76" name="Google Shape;76;p16"/>
          <p:cNvSpPr txBox="1"/>
          <p:nvPr/>
        </p:nvSpPr>
        <p:spPr>
          <a:xfrm>
            <a:off x="5654650" y="1152475"/>
            <a:ext cx="3000000" cy="230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What feels like a prison in your life can become a platform for God.</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1:12 (NKJV)</a:t>
            </a:r>
            <a:r>
              <a:rPr lang="en" sz="1300">
                <a:solidFill>
                  <a:schemeClr val="dk1"/>
                </a:solidFill>
                <a:latin typeface="Times New Roman"/>
                <a:ea typeface="Times New Roman"/>
                <a:cs typeface="Times New Roman"/>
                <a:sym typeface="Times New Roman"/>
              </a:rPr>
              <a:t> — “But I want you to know, brethren, that the things which happened to me have actually turned out for the furtherance of the gospel.”</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1: “To Live In Christ” </a:t>
            </a:r>
            <a:endParaRPr b="1" sz="1700">
              <a:latin typeface="Times New Roman"/>
              <a:ea typeface="Times New Roman"/>
              <a:cs typeface="Times New Roman"/>
              <a:sym typeface="Times New Roman"/>
            </a:endParaRPr>
          </a:p>
          <a:p>
            <a:pPr indent="0" lvl="0" marL="0" rtl="0" algn="l">
              <a:spcBef>
                <a:spcPts val="0"/>
              </a:spcBef>
              <a:spcAft>
                <a:spcPts val="0"/>
              </a:spcAft>
              <a:buNone/>
            </a:pPr>
            <a:r>
              <a:t/>
            </a:r>
            <a:endParaRPr b="1" sz="1700">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82" name="Google Shape;82;p17"/>
          <p:cNvSpPr txBox="1"/>
          <p:nvPr>
            <p:ph idx="1" type="body"/>
          </p:nvPr>
        </p:nvSpPr>
        <p:spPr>
          <a:xfrm>
            <a:off x="311700" y="1152475"/>
            <a:ext cx="4457700" cy="3873000"/>
          </a:xfrm>
          <a:prstGeom prst="rect">
            <a:avLst/>
          </a:prstGeom>
        </p:spPr>
        <p:txBody>
          <a:bodyPr anchorCtr="0" anchor="t" bIns="91425" lIns="91425" spcFirstLastPara="1" rIns="91425" wrap="square" tIns="91425">
            <a:normAutofit/>
          </a:bodyPr>
          <a:lstStyle/>
          <a:p>
            <a:pPr indent="-361950" lvl="0" marL="457200" rtl="0" algn="l">
              <a:spcBef>
                <a:spcPts val="120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Paul’s life is centered on Christ, not self</a:t>
            </a:r>
            <a:br>
              <a:rPr lang="en" sz="2100">
                <a:solidFill>
                  <a:schemeClr val="dk1"/>
                </a:solidFill>
                <a:latin typeface="Times New Roman"/>
                <a:ea typeface="Times New Roman"/>
                <a:cs typeface="Times New Roman"/>
                <a:sym typeface="Times New Roman"/>
              </a:rPr>
            </a:b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Death is not ultimate loss for the believer</a:t>
            </a:r>
            <a:br>
              <a:rPr lang="en" sz="2100">
                <a:solidFill>
                  <a:schemeClr val="dk1"/>
                </a:solidFill>
                <a:latin typeface="Times New Roman"/>
                <a:ea typeface="Times New Roman"/>
                <a:cs typeface="Times New Roman"/>
                <a:sym typeface="Times New Roman"/>
              </a:rPr>
            </a:b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This gives freedom from fear</a:t>
            </a:r>
            <a:br>
              <a:rPr lang="en" sz="2100">
                <a:solidFill>
                  <a:schemeClr val="dk1"/>
                </a:solidFill>
                <a:latin typeface="Times New Roman"/>
                <a:ea typeface="Times New Roman"/>
                <a:cs typeface="Times New Roman"/>
                <a:sym typeface="Times New Roman"/>
              </a:rPr>
            </a:br>
            <a:endParaRPr sz="2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100">
              <a:solidFill>
                <a:schemeClr val="dk1"/>
              </a:solidFill>
              <a:latin typeface="Times New Roman"/>
              <a:ea typeface="Times New Roman"/>
              <a:cs typeface="Times New Roman"/>
              <a:sym typeface="Times New Roman"/>
            </a:endParaRPr>
          </a:p>
        </p:txBody>
      </p:sp>
      <p:sp>
        <p:nvSpPr>
          <p:cNvPr id="83" name="Google Shape;83;p17"/>
          <p:cNvSpPr txBox="1"/>
          <p:nvPr/>
        </p:nvSpPr>
        <p:spPr>
          <a:xfrm>
            <a:off x="5296250" y="1573200"/>
            <a:ext cx="3000000" cy="161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If Christ is your life, fear loses power over you.</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1:21 (NKJV)</a:t>
            </a:r>
            <a:r>
              <a:rPr lang="en" sz="1300">
                <a:solidFill>
                  <a:schemeClr val="dk1"/>
                </a:solidFill>
                <a:latin typeface="Times New Roman"/>
                <a:ea typeface="Times New Roman"/>
                <a:cs typeface="Times New Roman"/>
                <a:sym typeface="Times New Roman"/>
              </a:rPr>
              <a:t> — “For to me, to live is Christ, and to die is gain.”</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1: Stand Together </a:t>
            </a:r>
            <a:r>
              <a:rPr b="1" lang="en" sz="1700">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89" name="Google Shape;89;p18"/>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Paul calls the church to one spirit and one purpose</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Unity is part of Christian witness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A divided church weakens its testimony</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90" name="Google Shape;90;p18"/>
          <p:cNvSpPr txBox="1"/>
          <p:nvPr/>
        </p:nvSpPr>
        <p:spPr>
          <a:xfrm>
            <a:off x="5464425" y="1426050"/>
            <a:ext cx="3000000" cy="2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rPr>
              <a:t>Joy and unity belong together.</a:t>
            </a:r>
            <a:endParaRPr sz="1300">
              <a:solidFill>
                <a:schemeClr val="dk1"/>
              </a:solidFill>
            </a:endParaRPr>
          </a:p>
          <a:p>
            <a:pPr indent="0" lvl="0" marL="0" rtl="0" algn="l">
              <a:lnSpc>
                <a:spcPct val="115000"/>
              </a:lnSpc>
              <a:spcBef>
                <a:spcPts val="1200"/>
              </a:spcBef>
              <a:spcAft>
                <a:spcPts val="0"/>
              </a:spcAft>
              <a:buNone/>
            </a:pPr>
            <a:r>
              <a:rPr b="1" lang="en" sz="1300">
                <a:solidFill>
                  <a:schemeClr val="dk1"/>
                </a:solidFill>
              </a:rPr>
              <a:t>Scripture:</a:t>
            </a:r>
            <a:endParaRPr b="1" sz="1300">
              <a:solidFill>
                <a:schemeClr val="dk1"/>
              </a:solidFill>
            </a:endParaRPr>
          </a:p>
          <a:p>
            <a:pPr indent="0" lvl="0" marL="0" rtl="0" algn="l">
              <a:lnSpc>
                <a:spcPct val="115000"/>
              </a:lnSpc>
              <a:spcBef>
                <a:spcPts val="1200"/>
              </a:spcBef>
              <a:spcAft>
                <a:spcPts val="1200"/>
              </a:spcAft>
              <a:buNone/>
            </a:pPr>
            <a:r>
              <a:rPr b="1" lang="en" sz="1300">
                <a:solidFill>
                  <a:schemeClr val="dk1"/>
                </a:solidFill>
              </a:rPr>
              <a:t>Philippians 1:27 (NKJV)</a:t>
            </a:r>
            <a:r>
              <a:rPr lang="en" sz="1300">
                <a:solidFill>
                  <a:schemeClr val="dk1"/>
                </a:solidFill>
              </a:rPr>
              <a:t> — “Only let your conduct be worthy of the gospel of Christ… standing fast in one spirit, with one mind striving together for the faith of the gospel.”</a:t>
            </a:r>
            <a:endParaRPr sz="13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2: The Mind of Christ</a:t>
            </a:r>
            <a:endParaRPr>
              <a:latin typeface="Times New Roman"/>
              <a:ea typeface="Times New Roman"/>
              <a:cs typeface="Times New Roman"/>
              <a:sym typeface="Times New Roman"/>
            </a:endParaRPr>
          </a:p>
        </p:txBody>
      </p:sp>
      <p:sp>
        <p:nvSpPr>
          <p:cNvPr id="96" name="Google Shape;96;p19"/>
          <p:cNvSpPr txBox="1"/>
          <p:nvPr>
            <p:ph idx="1" type="body"/>
          </p:nvPr>
        </p:nvSpPr>
        <p:spPr>
          <a:xfrm>
            <a:off x="311700" y="1152475"/>
            <a:ext cx="4538400" cy="34164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Clr>
                <a:schemeClr val="dk1"/>
              </a:buClr>
              <a:buSzPts val="1100"/>
              <a:buFont typeface="Arial"/>
              <a:buNone/>
            </a:pPr>
            <a:r>
              <a:rPr b="1" lang="en">
                <a:solidFill>
                  <a:schemeClr val="dk1"/>
                </a:solidFill>
                <a:latin typeface="Times New Roman"/>
                <a:ea typeface="Times New Roman"/>
                <a:cs typeface="Times New Roman"/>
                <a:sym typeface="Times New Roman"/>
              </a:rPr>
              <a:t>The center of the whole lesson</a:t>
            </a:r>
            <a:endParaRPr b="1">
              <a:solidFill>
                <a:schemeClr val="dk1"/>
              </a:solidFill>
              <a:latin typeface="Times New Roman"/>
              <a:ea typeface="Times New Roman"/>
              <a:cs typeface="Times New Roman"/>
              <a:sym typeface="Times New Roman"/>
            </a:endParaRPr>
          </a:p>
          <a:p>
            <a:pPr indent="-342900" lvl="0" marL="457200" rtl="0" algn="l">
              <a:spcBef>
                <a:spcPts val="12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“Let this mind be in you…”</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Christianity is not only belief; it is formation</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We are called to think, love, and live like Christ</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97" name="Google Shape;97;p19"/>
          <p:cNvSpPr txBox="1"/>
          <p:nvPr/>
        </p:nvSpPr>
        <p:spPr>
          <a:xfrm>
            <a:off x="5340100" y="1382150"/>
            <a:ext cx="3000000" cy="2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The Christian life is not just “what you believe about Jesus,” but “what kind of person you are becoming.”</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2:5 (NKJV)</a:t>
            </a:r>
            <a:r>
              <a:rPr lang="en" sz="1300">
                <a:solidFill>
                  <a:schemeClr val="dk1"/>
                </a:solidFill>
                <a:latin typeface="Times New Roman"/>
                <a:ea typeface="Times New Roman"/>
                <a:cs typeface="Times New Roman"/>
                <a:sym typeface="Times New Roman"/>
              </a:rPr>
              <a:t> — “Let this mind be in you which was also in Christ Jesus.”</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2: Humility vs Pride</a:t>
            </a:r>
            <a:endParaRPr>
              <a:latin typeface="Times New Roman"/>
              <a:ea typeface="Times New Roman"/>
              <a:cs typeface="Times New Roman"/>
              <a:sym typeface="Times New Roman"/>
            </a:endParaRPr>
          </a:p>
        </p:txBody>
      </p:sp>
      <p:sp>
        <p:nvSpPr>
          <p:cNvPr id="103" name="Google Shape;103;p20"/>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Do nothing through selfish ambition</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Count others as more important than yourself</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Pride destroys peace faster than persecution</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04" name="Google Shape;104;p20"/>
          <p:cNvSpPr txBox="1"/>
          <p:nvPr/>
        </p:nvSpPr>
        <p:spPr>
          <a:xfrm>
            <a:off x="5391300" y="1304475"/>
            <a:ext cx="3000000" cy="230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The greatest enemy of unity is often not pressure outside the Church, but pride inside the heart.</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2:3 (NKJV)</a:t>
            </a:r>
            <a:r>
              <a:rPr lang="en" sz="1300">
                <a:solidFill>
                  <a:schemeClr val="dk1"/>
                </a:solidFill>
                <a:latin typeface="Times New Roman"/>
                <a:ea typeface="Times New Roman"/>
                <a:cs typeface="Times New Roman"/>
                <a:sym typeface="Times New Roman"/>
              </a:rPr>
              <a:t> — “Let nothing be done through selfish ambition or conceit, but in lowliness of mind let each esteem others better than himself.”</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2: Christ’s Humility and Glory </a:t>
            </a:r>
            <a:endParaRPr>
              <a:latin typeface="Times New Roman"/>
              <a:ea typeface="Times New Roman"/>
              <a:cs typeface="Times New Roman"/>
              <a:sym typeface="Times New Roman"/>
            </a:endParaRPr>
          </a:p>
        </p:txBody>
      </p:sp>
      <p:sp>
        <p:nvSpPr>
          <p:cNvPr id="110" name="Google Shape;110;p21"/>
          <p:cNvSpPr txBox="1"/>
          <p:nvPr>
            <p:ph idx="1" type="body"/>
          </p:nvPr>
        </p:nvSpPr>
        <p:spPr>
          <a:xfrm>
            <a:off x="311700" y="1152475"/>
            <a:ext cx="4194600" cy="3416400"/>
          </a:xfrm>
          <a:prstGeom prst="rect">
            <a:avLst/>
          </a:prstGeom>
        </p:spPr>
        <p:txBody>
          <a:bodyPr anchorCtr="0" anchor="t" bIns="91425" lIns="91425" spcFirstLastPara="1" rIns="91425" wrap="square" tIns="91425">
            <a:normAutofit lnSpcReduction="10000"/>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Christ emptied Himself</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Took the form of a servant</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Became obedient to death, even the cross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Then God highly exalted Him</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11" name="Google Shape;111;p21"/>
          <p:cNvSpPr txBox="1"/>
          <p:nvPr/>
        </p:nvSpPr>
        <p:spPr>
          <a:xfrm>
            <a:off x="5566875" y="1286875"/>
            <a:ext cx="3000000" cy="276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In the Kingdom of God, humility is not weakness — it is the road to glory.</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2:8–9 (NKJV)</a:t>
            </a:r>
            <a:r>
              <a:rPr lang="en" sz="1300">
                <a:solidFill>
                  <a:schemeClr val="dk1"/>
                </a:solidFill>
                <a:latin typeface="Times New Roman"/>
                <a:ea typeface="Times New Roman"/>
                <a:cs typeface="Times New Roman"/>
                <a:sym typeface="Times New Roman"/>
              </a:rPr>
              <a:t> — “And being found in appearance as a man, He humbled Himself and became obedient to the point of death, even the death of the cross. Therefore God also has highly exalted Him and given Him the name which is above every name.”</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2: Work Out Your Salvation </a:t>
            </a:r>
            <a:endParaRPr>
              <a:latin typeface="Times New Roman"/>
              <a:ea typeface="Times New Roman"/>
              <a:cs typeface="Times New Roman"/>
              <a:sym typeface="Times New Roman"/>
            </a:endParaRPr>
          </a:p>
        </p:txBody>
      </p:sp>
      <p:sp>
        <p:nvSpPr>
          <p:cNvPr id="117" name="Google Shape;117;p22"/>
          <p:cNvSpPr txBox="1"/>
          <p:nvPr>
            <p:ph idx="1" type="body"/>
          </p:nvPr>
        </p:nvSpPr>
        <p:spPr>
          <a:xfrm>
            <a:off x="311700" y="1152475"/>
            <a:ext cx="43701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Paul says: “work out your salvation”</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This does not mean “save yourself”</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It means: cooperate with the grace God is already working in you</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18" name="Google Shape;118;p22"/>
          <p:cNvSpPr txBox="1"/>
          <p:nvPr/>
        </p:nvSpPr>
        <p:spPr>
          <a:xfrm>
            <a:off x="5523000" y="1390800"/>
            <a:ext cx="3000000" cy="268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Orthodox lens:</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God works in us; we respond. This is spiritual cooperation (synergy).</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2:12–13 (NKJV)</a:t>
            </a:r>
            <a:r>
              <a:rPr lang="en" sz="1300">
                <a:solidFill>
                  <a:schemeClr val="dk1"/>
                </a:solidFill>
                <a:latin typeface="Times New Roman"/>
                <a:ea typeface="Times New Roman"/>
                <a:cs typeface="Times New Roman"/>
                <a:sym typeface="Times New Roman"/>
              </a:rPr>
              <a:t> — “…work out your own salvation with fear and trembling; for it is God who works in you both to will and to do for His good pleasure.”</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2: Shine Without Complaining </a:t>
            </a:r>
            <a:endParaRPr>
              <a:latin typeface="Times New Roman"/>
              <a:ea typeface="Times New Roman"/>
              <a:cs typeface="Times New Roman"/>
              <a:sym typeface="Times New Roman"/>
            </a:endParaRPr>
          </a:p>
        </p:txBody>
      </p:sp>
      <p:sp>
        <p:nvSpPr>
          <p:cNvPr id="124" name="Google Shape;124;p23"/>
          <p:cNvSpPr txBox="1"/>
          <p:nvPr>
            <p:ph idx="1" type="body"/>
          </p:nvPr>
        </p:nvSpPr>
        <p:spPr>
          <a:xfrm>
            <a:off x="311700" y="1152475"/>
            <a:ext cx="46554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Complaining and arguing poison community life</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Paul calls believers to shine as lights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Holiness shows up in speech, attitude, and daily behavior</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25" name="Google Shape;125;p23"/>
          <p:cNvSpPr txBox="1"/>
          <p:nvPr/>
        </p:nvSpPr>
        <p:spPr>
          <a:xfrm>
            <a:off x="5530300" y="1286875"/>
            <a:ext cx="3000000" cy="276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A holy life is not only big moments. It is also how you speak when you’re frustrated.</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2:14–15 (NKJV)</a:t>
            </a:r>
            <a:r>
              <a:rPr lang="en" sz="1300">
                <a:solidFill>
                  <a:schemeClr val="dk1"/>
                </a:solidFill>
                <a:latin typeface="Times New Roman"/>
                <a:ea typeface="Times New Roman"/>
                <a:cs typeface="Times New Roman"/>
                <a:sym typeface="Times New Roman"/>
              </a:rPr>
              <a:t> — “Do all things without complaining and disputing, that you may become blameless and harmless, children of God without fault… among whom you shine as lights in the world.”</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2: Guard Against False Confidence </a:t>
            </a:r>
            <a:endParaRPr>
              <a:latin typeface="Times New Roman"/>
              <a:ea typeface="Times New Roman"/>
              <a:cs typeface="Times New Roman"/>
              <a:sym typeface="Times New Roman"/>
            </a:endParaRPr>
          </a:p>
        </p:txBody>
      </p:sp>
      <p:sp>
        <p:nvSpPr>
          <p:cNvPr id="131" name="Google Shape;131;p24"/>
          <p:cNvSpPr txBox="1"/>
          <p:nvPr>
            <p:ph idx="1" type="body"/>
          </p:nvPr>
        </p:nvSpPr>
        <p:spPr>
          <a:xfrm>
            <a:off x="311700" y="1152475"/>
            <a:ext cx="4011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Paul warns against confidence in the flesh</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Religious status, background, and achievements cannot replace Christ</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Pride can wear a religious costume</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32" name="Google Shape;132;p24"/>
          <p:cNvSpPr txBox="1"/>
          <p:nvPr/>
        </p:nvSpPr>
        <p:spPr>
          <a:xfrm>
            <a:off x="5113350" y="1456450"/>
            <a:ext cx="3000000" cy="2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You can be “religious” and still far from Christ if your trust is in yourself.</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3:3 (NKJV)</a:t>
            </a:r>
            <a:r>
              <a:rPr lang="en" sz="1300">
                <a:solidFill>
                  <a:schemeClr val="dk1"/>
                </a:solidFill>
                <a:latin typeface="Times New Roman"/>
                <a:ea typeface="Times New Roman"/>
                <a:cs typeface="Times New Roman"/>
                <a:sym typeface="Times New Roman"/>
              </a:rPr>
              <a:t> — “For we are the circumcision, who worship God in the Spirit, rejoice in Christ Jesus, and have no confidence in the flesh.”</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2: Loss and Gain </a:t>
            </a:r>
            <a:endParaRPr>
              <a:latin typeface="Times New Roman"/>
              <a:ea typeface="Times New Roman"/>
              <a:cs typeface="Times New Roman"/>
              <a:sym typeface="Times New Roman"/>
            </a:endParaRPr>
          </a:p>
        </p:txBody>
      </p:sp>
      <p:sp>
        <p:nvSpPr>
          <p:cNvPr id="138" name="Google Shape;138;p25"/>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Paul counts his old status as loss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Knowing Christ is worth more than everything else</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Christ is the treasure, not just the helper</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39" name="Google Shape;139;p25"/>
          <p:cNvSpPr txBox="1"/>
          <p:nvPr/>
        </p:nvSpPr>
        <p:spPr>
          <a:xfrm>
            <a:off x="5135275" y="1460500"/>
            <a:ext cx="3000000" cy="230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The Christian life matures when Christ stops being an “add-on” and becomes everything.</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3:8 (NKJV)</a:t>
            </a:r>
            <a:r>
              <a:rPr lang="en" sz="1300">
                <a:solidFill>
                  <a:schemeClr val="dk1"/>
                </a:solidFill>
                <a:latin typeface="Times New Roman"/>
                <a:ea typeface="Times New Roman"/>
                <a:cs typeface="Times New Roman"/>
                <a:sym typeface="Times New Roman"/>
              </a:rPr>
              <a:t> — “Yet indeed I also count all things loss for the excellence of the knowledge of Christ Jesus my Lord…”</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3: Press Toward the Prize </a:t>
            </a:r>
            <a:endParaRPr>
              <a:latin typeface="Times New Roman"/>
              <a:ea typeface="Times New Roman"/>
              <a:cs typeface="Times New Roman"/>
              <a:sym typeface="Times New Roman"/>
            </a:endParaRPr>
          </a:p>
        </p:txBody>
      </p:sp>
      <p:sp>
        <p:nvSpPr>
          <p:cNvPr id="145" name="Google Shape;145;p26"/>
          <p:cNvSpPr txBox="1"/>
          <p:nvPr>
            <p:ph idx="1" type="body"/>
          </p:nvPr>
        </p:nvSpPr>
        <p:spPr>
          <a:xfrm>
            <a:off x="311700" y="1286875"/>
            <a:ext cx="47064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Paul says he has not already arrived</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He forgets what is behind and presses forward</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Spiritual life is a race, not a one-time moment</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46" name="Google Shape;146;p26"/>
          <p:cNvSpPr txBox="1"/>
          <p:nvPr/>
        </p:nvSpPr>
        <p:spPr>
          <a:xfrm>
            <a:off x="5186525" y="1111325"/>
            <a:ext cx="3000000" cy="276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A real disciple is not perfect — a real disciple keeps moving toward Christ.</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3:13–14 (NKJV)</a:t>
            </a:r>
            <a:r>
              <a:rPr lang="en" sz="1300">
                <a:solidFill>
                  <a:schemeClr val="dk1"/>
                </a:solidFill>
                <a:latin typeface="Times New Roman"/>
                <a:ea typeface="Times New Roman"/>
                <a:cs typeface="Times New Roman"/>
                <a:sym typeface="Times New Roman"/>
              </a:rPr>
              <a:t> — “Brethren, I do not count myself to have apprehended; but one thing I do, forgetting those things which are behind and reaching forward… I press toward the goal for the prize of the upward call of God in Christ Jesus.”</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3: </a:t>
            </a:r>
            <a:r>
              <a:rPr lang="en">
                <a:latin typeface="Times New Roman"/>
                <a:ea typeface="Times New Roman"/>
                <a:cs typeface="Times New Roman"/>
                <a:sym typeface="Times New Roman"/>
              </a:rPr>
              <a:t>Citizenship</a:t>
            </a:r>
            <a:r>
              <a:rPr lang="en">
                <a:latin typeface="Times New Roman"/>
                <a:ea typeface="Times New Roman"/>
                <a:cs typeface="Times New Roman"/>
                <a:sym typeface="Times New Roman"/>
              </a:rPr>
              <a:t> in Heaven </a:t>
            </a:r>
            <a:endParaRPr>
              <a:latin typeface="Times New Roman"/>
              <a:ea typeface="Times New Roman"/>
              <a:cs typeface="Times New Roman"/>
              <a:sym typeface="Times New Roman"/>
            </a:endParaRPr>
          </a:p>
        </p:txBody>
      </p:sp>
      <p:sp>
        <p:nvSpPr>
          <p:cNvPr id="152" name="Google Shape;152;p27"/>
          <p:cNvSpPr txBox="1"/>
          <p:nvPr>
            <p:ph idx="1" type="body"/>
          </p:nvPr>
        </p:nvSpPr>
        <p:spPr>
          <a:xfrm>
            <a:off x="311700" y="1262200"/>
            <a:ext cx="39384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Christians live on earth but belong to heaven</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Our identity shapes our choices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Hope in Christ gives endurance</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53" name="Google Shape;153;p27"/>
          <p:cNvSpPr txBox="1"/>
          <p:nvPr/>
        </p:nvSpPr>
        <p:spPr>
          <a:xfrm>
            <a:off x="5025550" y="1343100"/>
            <a:ext cx="3000000" cy="2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If heaven is your homeland, this world will not define your values.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3:20 (NKJV)</a:t>
            </a:r>
            <a:r>
              <a:rPr lang="en" sz="1300">
                <a:solidFill>
                  <a:schemeClr val="dk1"/>
                </a:solidFill>
                <a:latin typeface="Times New Roman"/>
                <a:ea typeface="Times New Roman"/>
                <a:cs typeface="Times New Roman"/>
                <a:sym typeface="Times New Roman"/>
              </a:rPr>
              <a:t> — “For our citizenship is in heaven, from which we also eagerly wait for the Savior, the Lord Jesus Christ.”</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4: Stand Firm and Heal Conflict </a:t>
            </a:r>
            <a:endParaRPr>
              <a:latin typeface="Times New Roman"/>
              <a:ea typeface="Times New Roman"/>
              <a:cs typeface="Times New Roman"/>
              <a:sym typeface="Times New Roman"/>
            </a:endParaRPr>
          </a:p>
        </p:txBody>
      </p:sp>
      <p:sp>
        <p:nvSpPr>
          <p:cNvPr id="159" name="Google Shape;159;p28"/>
          <p:cNvSpPr txBox="1"/>
          <p:nvPr>
            <p:ph idx="1" type="body"/>
          </p:nvPr>
        </p:nvSpPr>
        <p:spPr>
          <a:xfrm>
            <a:off x="311700" y="1152475"/>
            <a:ext cx="4428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Paul calls the church to stand firm</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He addresses conflict directly (Euodia and Syntyche)</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Spiritual maturity includes reconciliation</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60" name="Google Shape;160;p28"/>
          <p:cNvSpPr txBox="1"/>
          <p:nvPr/>
        </p:nvSpPr>
        <p:spPr>
          <a:xfrm>
            <a:off x="5471775" y="1516975"/>
            <a:ext cx="3000000" cy="230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Peace in the Church must be protected on purpose.</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4:2–3 (NKJV)</a:t>
            </a:r>
            <a:r>
              <a:rPr lang="en" sz="1300">
                <a:solidFill>
                  <a:schemeClr val="dk1"/>
                </a:solidFill>
                <a:latin typeface="Times New Roman"/>
                <a:ea typeface="Times New Roman"/>
                <a:cs typeface="Times New Roman"/>
                <a:sym typeface="Times New Roman"/>
              </a:rPr>
              <a:t> — “I implore Euodia and I implore Syntyche to be of the same mind in the Lord… help these women who labored with me in the gospel…”</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4: Rejoice, Pray, and Guard the Mind 		</a:t>
            </a:r>
            <a:endParaRPr>
              <a:latin typeface="Times New Roman"/>
              <a:ea typeface="Times New Roman"/>
              <a:cs typeface="Times New Roman"/>
              <a:sym typeface="Times New Roman"/>
            </a:endParaRPr>
          </a:p>
        </p:txBody>
      </p:sp>
      <p:sp>
        <p:nvSpPr>
          <p:cNvPr id="166" name="Google Shape;166;p29"/>
          <p:cNvSpPr txBox="1"/>
          <p:nvPr>
            <p:ph idx="1" type="body"/>
          </p:nvPr>
        </p:nvSpPr>
        <p:spPr>
          <a:xfrm>
            <a:off x="311700" y="1152475"/>
            <a:ext cx="41871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Rejoice always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Bring everything to God in prayer</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Thanksgiving protects the heart</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God’s peace guards mind and heart</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67" name="Google Shape;167;p29"/>
          <p:cNvSpPr txBox="1"/>
          <p:nvPr/>
        </p:nvSpPr>
        <p:spPr>
          <a:xfrm>
            <a:off x="5215725" y="1191775"/>
            <a:ext cx="3000000" cy="276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Prayer is not the last option. It is the first defense against anxiety.</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4:6–7 (NKJV)</a:t>
            </a:r>
            <a:r>
              <a:rPr lang="en" sz="1300">
                <a:solidFill>
                  <a:schemeClr val="dk1"/>
                </a:solidFill>
                <a:latin typeface="Times New Roman"/>
                <a:ea typeface="Times New Roman"/>
                <a:cs typeface="Times New Roman"/>
                <a:sym typeface="Times New Roman"/>
              </a:rPr>
              <a:t> — “Be anxious for nothing, but in everything by prayer and supplication, with thanksgiving, let your requests be made known to God; and the peace of God… will guard your hearts and minds through Christ Jesus.”</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4: Think on What is Holy 	</a:t>
            </a:r>
            <a:endParaRPr>
              <a:latin typeface="Times New Roman"/>
              <a:ea typeface="Times New Roman"/>
              <a:cs typeface="Times New Roman"/>
              <a:sym typeface="Times New Roman"/>
            </a:endParaRPr>
          </a:p>
        </p:txBody>
      </p:sp>
      <p:sp>
        <p:nvSpPr>
          <p:cNvPr id="173" name="Google Shape;173;p30"/>
          <p:cNvSpPr txBox="1"/>
          <p:nvPr>
            <p:ph idx="1" type="body"/>
          </p:nvPr>
        </p:nvSpPr>
        <p:spPr>
          <a:xfrm>
            <a:off x="311700" y="1100100"/>
            <a:ext cx="4143300" cy="3416400"/>
          </a:xfrm>
          <a:prstGeom prst="rect">
            <a:avLst/>
          </a:prstGeom>
        </p:spPr>
        <p:txBody>
          <a:bodyPr anchorCtr="0" anchor="t" bIns="91425" lIns="91425" spcFirstLastPara="1" rIns="91425" wrap="square" tIns="91425">
            <a:noAutofit/>
          </a:bodyPr>
          <a:lstStyle/>
          <a:p>
            <a:pPr indent="-318611" lvl="0" marL="457200" rtl="0" algn="l">
              <a:lnSpc>
                <a:spcPct val="95000"/>
              </a:lnSpc>
              <a:spcBef>
                <a:spcPts val="1200"/>
              </a:spcBef>
              <a:spcAft>
                <a:spcPts val="0"/>
              </a:spcAft>
              <a:buClr>
                <a:schemeClr val="dk1"/>
              </a:buClr>
              <a:buSzPts val="1418"/>
              <a:buFont typeface="Times New Roman"/>
              <a:buChar char="●"/>
            </a:pPr>
            <a:r>
              <a:rPr lang="en" sz="2065">
                <a:solidFill>
                  <a:schemeClr val="dk1"/>
                </a:solidFill>
                <a:latin typeface="Times New Roman"/>
                <a:ea typeface="Times New Roman"/>
                <a:cs typeface="Times New Roman"/>
                <a:sym typeface="Times New Roman"/>
              </a:rPr>
              <a:t>Paul gives a filter for the mind:</a:t>
            </a:r>
            <a:br>
              <a:rPr lang="en" sz="2065">
                <a:solidFill>
                  <a:schemeClr val="dk1"/>
                </a:solidFill>
                <a:latin typeface="Times New Roman"/>
                <a:ea typeface="Times New Roman"/>
                <a:cs typeface="Times New Roman"/>
                <a:sym typeface="Times New Roman"/>
              </a:rPr>
            </a:br>
            <a:endParaRPr sz="2065">
              <a:solidFill>
                <a:schemeClr val="dk1"/>
              </a:solidFill>
              <a:latin typeface="Times New Roman"/>
              <a:ea typeface="Times New Roman"/>
              <a:cs typeface="Times New Roman"/>
              <a:sym typeface="Times New Roman"/>
            </a:endParaRPr>
          </a:p>
          <a:p>
            <a:pPr indent="-318611" lvl="1" marL="914400" rtl="0" algn="l">
              <a:lnSpc>
                <a:spcPct val="95000"/>
              </a:lnSpc>
              <a:spcBef>
                <a:spcPts val="0"/>
              </a:spcBef>
              <a:spcAft>
                <a:spcPts val="0"/>
              </a:spcAft>
              <a:buClr>
                <a:schemeClr val="dk1"/>
              </a:buClr>
              <a:buSzPts val="1418"/>
              <a:buFont typeface="Times New Roman"/>
              <a:buChar char="○"/>
            </a:pPr>
            <a:r>
              <a:rPr lang="en" sz="1695">
                <a:solidFill>
                  <a:schemeClr val="dk1"/>
                </a:solidFill>
                <a:latin typeface="Times New Roman"/>
                <a:ea typeface="Times New Roman"/>
                <a:cs typeface="Times New Roman"/>
                <a:sym typeface="Times New Roman"/>
              </a:rPr>
              <a:t>true</a:t>
            </a:r>
            <a:br>
              <a:rPr lang="en" sz="1695">
                <a:solidFill>
                  <a:schemeClr val="dk1"/>
                </a:solidFill>
                <a:latin typeface="Times New Roman"/>
                <a:ea typeface="Times New Roman"/>
                <a:cs typeface="Times New Roman"/>
                <a:sym typeface="Times New Roman"/>
              </a:rPr>
            </a:br>
            <a:endParaRPr sz="1695">
              <a:solidFill>
                <a:schemeClr val="dk1"/>
              </a:solidFill>
              <a:latin typeface="Times New Roman"/>
              <a:ea typeface="Times New Roman"/>
              <a:cs typeface="Times New Roman"/>
              <a:sym typeface="Times New Roman"/>
            </a:endParaRPr>
          </a:p>
          <a:p>
            <a:pPr indent="-318611" lvl="1" marL="914400" rtl="0" algn="l">
              <a:lnSpc>
                <a:spcPct val="95000"/>
              </a:lnSpc>
              <a:spcBef>
                <a:spcPts val="0"/>
              </a:spcBef>
              <a:spcAft>
                <a:spcPts val="0"/>
              </a:spcAft>
              <a:buClr>
                <a:schemeClr val="dk1"/>
              </a:buClr>
              <a:buSzPts val="1418"/>
              <a:buFont typeface="Times New Roman"/>
              <a:buChar char="○"/>
            </a:pPr>
            <a:r>
              <a:rPr lang="en" sz="1695">
                <a:solidFill>
                  <a:schemeClr val="dk1"/>
                </a:solidFill>
                <a:latin typeface="Times New Roman"/>
                <a:ea typeface="Times New Roman"/>
                <a:cs typeface="Times New Roman"/>
                <a:sym typeface="Times New Roman"/>
              </a:rPr>
              <a:t>honorable</a:t>
            </a:r>
            <a:br>
              <a:rPr lang="en" sz="1695">
                <a:solidFill>
                  <a:schemeClr val="dk1"/>
                </a:solidFill>
                <a:latin typeface="Times New Roman"/>
                <a:ea typeface="Times New Roman"/>
                <a:cs typeface="Times New Roman"/>
                <a:sym typeface="Times New Roman"/>
              </a:rPr>
            </a:br>
            <a:endParaRPr sz="1695">
              <a:solidFill>
                <a:schemeClr val="dk1"/>
              </a:solidFill>
              <a:latin typeface="Times New Roman"/>
              <a:ea typeface="Times New Roman"/>
              <a:cs typeface="Times New Roman"/>
              <a:sym typeface="Times New Roman"/>
            </a:endParaRPr>
          </a:p>
          <a:p>
            <a:pPr indent="-318611" lvl="1" marL="914400" rtl="0" algn="l">
              <a:lnSpc>
                <a:spcPct val="95000"/>
              </a:lnSpc>
              <a:spcBef>
                <a:spcPts val="0"/>
              </a:spcBef>
              <a:spcAft>
                <a:spcPts val="0"/>
              </a:spcAft>
              <a:buClr>
                <a:schemeClr val="dk1"/>
              </a:buClr>
              <a:buSzPts val="1418"/>
              <a:buFont typeface="Times New Roman"/>
              <a:buChar char="○"/>
            </a:pPr>
            <a:r>
              <a:rPr lang="en" sz="1695">
                <a:solidFill>
                  <a:schemeClr val="dk1"/>
                </a:solidFill>
                <a:latin typeface="Times New Roman"/>
                <a:ea typeface="Times New Roman"/>
                <a:cs typeface="Times New Roman"/>
                <a:sym typeface="Times New Roman"/>
              </a:rPr>
              <a:t>just</a:t>
            </a:r>
            <a:br>
              <a:rPr lang="en" sz="1695">
                <a:solidFill>
                  <a:schemeClr val="dk1"/>
                </a:solidFill>
                <a:latin typeface="Times New Roman"/>
                <a:ea typeface="Times New Roman"/>
                <a:cs typeface="Times New Roman"/>
                <a:sym typeface="Times New Roman"/>
              </a:rPr>
            </a:br>
            <a:endParaRPr sz="1695">
              <a:solidFill>
                <a:schemeClr val="dk1"/>
              </a:solidFill>
              <a:latin typeface="Times New Roman"/>
              <a:ea typeface="Times New Roman"/>
              <a:cs typeface="Times New Roman"/>
              <a:sym typeface="Times New Roman"/>
            </a:endParaRPr>
          </a:p>
          <a:p>
            <a:pPr indent="-318611" lvl="1" marL="914400" rtl="0" algn="l">
              <a:lnSpc>
                <a:spcPct val="95000"/>
              </a:lnSpc>
              <a:spcBef>
                <a:spcPts val="0"/>
              </a:spcBef>
              <a:spcAft>
                <a:spcPts val="0"/>
              </a:spcAft>
              <a:buClr>
                <a:schemeClr val="dk1"/>
              </a:buClr>
              <a:buSzPts val="1418"/>
              <a:buFont typeface="Times New Roman"/>
              <a:buChar char="○"/>
            </a:pPr>
            <a:r>
              <a:rPr lang="en" sz="1695">
                <a:solidFill>
                  <a:schemeClr val="dk1"/>
                </a:solidFill>
                <a:latin typeface="Times New Roman"/>
                <a:ea typeface="Times New Roman"/>
                <a:cs typeface="Times New Roman"/>
                <a:sym typeface="Times New Roman"/>
              </a:rPr>
              <a:t>pure</a:t>
            </a:r>
            <a:br>
              <a:rPr lang="en" sz="1695">
                <a:solidFill>
                  <a:schemeClr val="dk1"/>
                </a:solidFill>
                <a:latin typeface="Times New Roman"/>
                <a:ea typeface="Times New Roman"/>
                <a:cs typeface="Times New Roman"/>
                <a:sym typeface="Times New Roman"/>
              </a:rPr>
            </a:br>
            <a:endParaRPr sz="1695">
              <a:solidFill>
                <a:schemeClr val="dk1"/>
              </a:solidFill>
              <a:latin typeface="Times New Roman"/>
              <a:ea typeface="Times New Roman"/>
              <a:cs typeface="Times New Roman"/>
              <a:sym typeface="Times New Roman"/>
            </a:endParaRPr>
          </a:p>
          <a:p>
            <a:pPr indent="-318611" lvl="1" marL="914400" rtl="0" algn="l">
              <a:lnSpc>
                <a:spcPct val="95000"/>
              </a:lnSpc>
              <a:spcBef>
                <a:spcPts val="0"/>
              </a:spcBef>
              <a:spcAft>
                <a:spcPts val="0"/>
              </a:spcAft>
              <a:buClr>
                <a:schemeClr val="dk1"/>
              </a:buClr>
              <a:buSzPts val="1418"/>
              <a:buFont typeface="Times New Roman"/>
              <a:buChar char="○"/>
            </a:pPr>
            <a:r>
              <a:rPr lang="en" sz="1695">
                <a:solidFill>
                  <a:schemeClr val="dk1"/>
                </a:solidFill>
                <a:latin typeface="Times New Roman"/>
                <a:ea typeface="Times New Roman"/>
                <a:cs typeface="Times New Roman"/>
                <a:sym typeface="Times New Roman"/>
              </a:rPr>
              <a:t>lovely</a:t>
            </a:r>
            <a:br>
              <a:rPr lang="en" sz="1695">
                <a:solidFill>
                  <a:schemeClr val="dk1"/>
                </a:solidFill>
                <a:latin typeface="Times New Roman"/>
                <a:ea typeface="Times New Roman"/>
                <a:cs typeface="Times New Roman"/>
                <a:sym typeface="Times New Roman"/>
              </a:rPr>
            </a:br>
            <a:endParaRPr sz="1695">
              <a:solidFill>
                <a:schemeClr val="dk1"/>
              </a:solidFill>
              <a:latin typeface="Times New Roman"/>
              <a:ea typeface="Times New Roman"/>
              <a:cs typeface="Times New Roman"/>
              <a:sym typeface="Times New Roman"/>
            </a:endParaRPr>
          </a:p>
          <a:p>
            <a:pPr indent="-318611" lvl="0" marL="457200" rtl="0" algn="l">
              <a:lnSpc>
                <a:spcPct val="95000"/>
              </a:lnSpc>
              <a:spcBef>
                <a:spcPts val="0"/>
              </a:spcBef>
              <a:spcAft>
                <a:spcPts val="0"/>
              </a:spcAft>
              <a:buClr>
                <a:schemeClr val="dk1"/>
              </a:buClr>
              <a:buSzPts val="1418"/>
              <a:buFont typeface="Times New Roman"/>
              <a:buChar char="●"/>
            </a:pPr>
            <a:r>
              <a:rPr lang="en" sz="2065">
                <a:solidFill>
                  <a:schemeClr val="dk1"/>
                </a:solidFill>
                <a:latin typeface="Times New Roman"/>
                <a:ea typeface="Times New Roman"/>
                <a:cs typeface="Times New Roman"/>
                <a:sym typeface="Times New Roman"/>
              </a:rPr>
              <a:t>Thought life shapes spiritual life</a:t>
            </a:r>
            <a:br>
              <a:rPr lang="en" sz="2065">
                <a:solidFill>
                  <a:schemeClr val="dk1"/>
                </a:solidFill>
                <a:latin typeface="Times New Roman"/>
                <a:ea typeface="Times New Roman"/>
                <a:cs typeface="Times New Roman"/>
                <a:sym typeface="Times New Roman"/>
              </a:rPr>
            </a:br>
            <a:endParaRPr sz="2065">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1018"/>
              <a:buNone/>
            </a:pPr>
            <a:r>
              <a:t/>
            </a:r>
            <a:endParaRPr sz="2065">
              <a:solidFill>
                <a:schemeClr val="dk1"/>
              </a:solidFill>
              <a:latin typeface="Times New Roman"/>
              <a:ea typeface="Times New Roman"/>
              <a:cs typeface="Times New Roman"/>
              <a:sym typeface="Times New Roman"/>
            </a:endParaRPr>
          </a:p>
        </p:txBody>
      </p:sp>
      <p:sp>
        <p:nvSpPr>
          <p:cNvPr id="174" name="Google Shape;174;p30"/>
          <p:cNvSpPr txBox="1"/>
          <p:nvPr/>
        </p:nvSpPr>
        <p:spPr>
          <a:xfrm>
            <a:off x="5354725" y="1579650"/>
            <a:ext cx="3000000" cy="2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What you repeatedly think about, you slowly become.</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4:8 (NKJV)</a:t>
            </a:r>
            <a:r>
              <a:rPr lang="en" sz="1300">
                <a:solidFill>
                  <a:schemeClr val="dk1"/>
                </a:solidFill>
                <a:latin typeface="Times New Roman"/>
                <a:ea typeface="Times New Roman"/>
                <a:cs typeface="Times New Roman"/>
                <a:sym typeface="Times New Roman"/>
              </a:rPr>
              <a:t> — “Finally, brethren, whatever things are true… noble… just… pure… lovely… meditate on these things.”</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Chapter 4: Contentment In Every Season 	</a:t>
            </a:r>
            <a:endParaRPr/>
          </a:p>
        </p:txBody>
      </p:sp>
      <p:sp>
        <p:nvSpPr>
          <p:cNvPr id="180" name="Google Shape;180;p31"/>
          <p:cNvSpPr txBox="1"/>
          <p:nvPr>
            <p:ph idx="1" type="body"/>
          </p:nvPr>
        </p:nvSpPr>
        <p:spPr>
          <a:xfrm>
            <a:off x="311700" y="1152475"/>
            <a:ext cx="4296900" cy="3416400"/>
          </a:xfrm>
          <a:prstGeom prst="rect">
            <a:avLst/>
          </a:prstGeom>
        </p:spPr>
        <p:txBody>
          <a:bodyPr anchorCtr="0" anchor="t" bIns="91425" lIns="91425" spcFirstLastPara="1" rIns="91425" wrap="square" tIns="91425">
            <a:normAutofit lnSpcReduction="10000"/>
          </a:bodyPr>
          <a:lstStyle/>
          <a:p>
            <a:pPr indent="-298450" lvl="0" marL="457200" rtl="0" algn="l">
              <a:spcBef>
                <a:spcPts val="1200"/>
              </a:spcBef>
              <a:spcAft>
                <a:spcPts val="0"/>
              </a:spcAft>
              <a:buClr>
                <a:schemeClr val="dk1"/>
              </a:buClr>
              <a:buSzPts val="1100"/>
              <a:buChar char="●"/>
            </a:pPr>
            <a:r>
              <a:rPr lang="en">
                <a:solidFill>
                  <a:schemeClr val="dk1"/>
                </a:solidFill>
              </a:rPr>
              <a:t>Paul learned contentment in lack and abundance</a:t>
            </a:r>
            <a:br>
              <a:rPr lang="en">
                <a:solidFill>
                  <a:schemeClr val="dk1"/>
                </a:solidFill>
              </a:rPr>
            </a:b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 can do all things” means endurance through every condition</a:t>
            </a:r>
            <a:br>
              <a:rPr lang="en">
                <a:solidFill>
                  <a:schemeClr val="dk1"/>
                </a:solidFill>
              </a:rPr>
            </a:b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Strength in Christ is for faithfulness, not ego</a:t>
            </a:r>
            <a:br>
              <a:rPr lang="en">
                <a:solidFill>
                  <a:schemeClr val="dk1"/>
                </a:solidFill>
              </a:rPr>
            </a:b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181" name="Google Shape;181;p31"/>
          <p:cNvSpPr txBox="1"/>
          <p:nvPr/>
        </p:nvSpPr>
        <p:spPr>
          <a:xfrm>
            <a:off x="5332775" y="1456650"/>
            <a:ext cx="3000000" cy="2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rPr>
              <a:t>Contentment is learned. It does not come naturally.</a:t>
            </a:r>
            <a:endParaRPr sz="1300">
              <a:solidFill>
                <a:schemeClr val="dk1"/>
              </a:solidFill>
            </a:endParaRPr>
          </a:p>
          <a:p>
            <a:pPr indent="0" lvl="0" marL="0" rtl="0" algn="l">
              <a:lnSpc>
                <a:spcPct val="115000"/>
              </a:lnSpc>
              <a:spcBef>
                <a:spcPts val="1200"/>
              </a:spcBef>
              <a:spcAft>
                <a:spcPts val="0"/>
              </a:spcAft>
              <a:buNone/>
            </a:pPr>
            <a:r>
              <a:rPr b="1" lang="en" sz="1300">
                <a:solidFill>
                  <a:schemeClr val="dk1"/>
                </a:solidFill>
              </a:rPr>
              <a:t>Scripture:</a:t>
            </a:r>
            <a:endParaRPr b="1" sz="1300">
              <a:solidFill>
                <a:schemeClr val="dk1"/>
              </a:solidFill>
            </a:endParaRPr>
          </a:p>
          <a:p>
            <a:pPr indent="0" lvl="0" marL="0" rtl="0" algn="l">
              <a:lnSpc>
                <a:spcPct val="115000"/>
              </a:lnSpc>
              <a:spcBef>
                <a:spcPts val="1200"/>
              </a:spcBef>
              <a:spcAft>
                <a:spcPts val="1200"/>
              </a:spcAft>
              <a:buNone/>
            </a:pPr>
            <a:r>
              <a:rPr b="1" lang="en" sz="1300">
                <a:solidFill>
                  <a:schemeClr val="dk1"/>
                </a:solidFill>
              </a:rPr>
              <a:t>Philippians 4:11–13 (NKJV)</a:t>
            </a:r>
            <a:r>
              <a:rPr lang="en" sz="1300">
                <a:solidFill>
                  <a:schemeClr val="dk1"/>
                </a:solidFill>
              </a:rPr>
              <a:t> — “…for I have learned in whatever state I am, to be content… I can do all things through Christ who strengthens me.”</a:t>
            </a:r>
            <a:endParaRPr sz="13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Final Summary and Challenge 	</a:t>
            </a:r>
            <a:endParaRPr>
              <a:latin typeface="Times New Roman"/>
              <a:ea typeface="Times New Roman"/>
              <a:cs typeface="Times New Roman"/>
              <a:sym typeface="Times New Roman"/>
            </a:endParaRPr>
          </a:p>
        </p:txBody>
      </p:sp>
      <p:sp>
        <p:nvSpPr>
          <p:cNvPr id="187" name="Google Shape;187;p32"/>
          <p:cNvSpPr txBox="1"/>
          <p:nvPr>
            <p:ph idx="1" type="body"/>
          </p:nvPr>
        </p:nvSpPr>
        <p:spPr>
          <a:xfrm>
            <a:off x="311700" y="1050075"/>
            <a:ext cx="47796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a:solidFill>
                  <a:schemeClr val="dk1"/>
                </a:solidFill>
                <a:latin typeface="Times New Roman"/>
                <a:ea typeface="Times New Roman"/>
                <a:cs typeface="Times New Roman"/>
                <a:sym typeface="Times New Roman"/>
              </a:rPr>
              <a:t>Philippians in one sentence:</a:t>
            </a:r>
            <a:endParaRPr b="1">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b="1" lang="en">
                <a:solidFill>
                  <a:schemeClr val="dk1"/>
                </a:solidFill>
                <a:latin typeface="Times New Roman"/>
                <a:ea typeface="Times New Roman"/>
                <a:cs typeface="Times New Roman"/>
                <a:sym typeface="Times New Roman"/>
              </a:rPr>
              <a:t>Joy in suffering, humility in Christ, pursuit of holiness, and peace through prayer.</a:t>
            </a:r>
            <a:endParaRPr b="1">
              <a:solidFill>
                <a:schemeClr val="dk1"/>
              </a:solidFill>
              <a:latin typeface="Times New Roman"/>
              <a:ea typeface="Times New Roman"/>
              <a:cs typeface="Times New Roman"/>
              <a:sym typeface="Times New Roman"/>
            </a:endParaRPr>
          </a:p>
          <a:p>
            <a:pPr indent="0" lvl="0" marL="0" rtl="0" algn="l">
              <a:spcBef>
                <a:spcPts val="1400"/>
              </a:spcBef>
              <a:spcAft>
                <a:spcPts val="0"/>
              </a:spcAft>
              <a:buNone/>
            </a:pPr>
            <a:r>
              <a:rPr b="1" lang="en">
                <a:solidFill>
                  <a:schemeClr val="dk1"/>
                </a:solidFill>
                <a:latin typeface="Times New Roman"/>
                <a:ea typeface="Times New Roman"/>
                <a:cs typeface="Times New Roman"/>
                <a:sym typeface="Times New Roman"/>
              </a:rPr>
              <a:t>Final challenge </a:t>
            </a:r>
            <a:endParaRPr b="1">
              <a:solidFill>
                <a:schemeClr val="dk1"/>
              </a:solidFill>
              <a:latin typeface="Times New Roman"/>
              <a:ea typeface="Times New Roman"/>
              <a:cs typeface="Times New Roman"/>
              <a:sym typeface="Times New Roman"/>
            </a:endParaRPr>
          </a:p>
          <a:p>
            <a:pPr indent="-342900" lvl="0" marL="457200" rtl="0" algn="l">
              <a:spcBef>
                <a:spcPts val="12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What is stealing your joy right now?</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Where is pride blocking peace?</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What do you need to bring to God in prayer this week?</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latin typeface="Times New Roman"/>
              <a:ea typeface="Times New Roman"/>
              <a:cs typeface="Times New Roman"/>
              <a:sym typeface="Times New Roman"/>
            </a:endParaRPr>
          </a:p>
        </p:txBody>
      </p:sp>
      <p:sp>
        <p:nvSpPr>
          <p:cNvPr id="188" name="Google Shape;188;p32"/>
          <p:cNvSpPr txBox="1"/>
          <p:nvPr/>
        </p:nvSpPr>
        <p:spPr>
          <a:xfrm>
            <a:off x="5581500" y="1561950"/>
            <a:ext cx="3000000" cy="245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Philippians teaches us that joy is not the absence of struggle — it is Christ in the middle of it.</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4:13 (NKJV)</a:t>
            </a:r>
            <a:r>
              <a:rPr lang="en" sz="1300">
                <a:solidFill>
                  <a:schemeClr val="dk1"/>
                </a:solidFill>
                <a:latin typeface="Times New Roman"/>
                <a:ea typeface="Times New Roman"/>
                <a:cs typeface="Times New Roman"/>
                <a:sym typeface="Times New Roman"/>
              </a:rPr>
              <a:t> — “I can do all things through Christ who strengthens me.”</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idx="1" type="body"/>
          </p:nvPr>
        </p:nvSpPr>
        <p:spPr>
          <a:xfrm>
            <a:off x="117975" y="1840500"/>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8000"/>
              <a:t>Questions? </a:t>
            </a:r>
            <a:endParaRPr sz="8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