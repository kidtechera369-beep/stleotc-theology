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Oswald Light"/>
      <p:regular r:id="rId18"/>
      <p:bold r:id="rId19"/>
    </p:embeddedFont>
    <p:embeddedFont>
      <p:font typeface="Old Standard TT"/>
      <p:regular r:id="rId20"/>
      <p:bold r:id="rId21"/>
      <p:italic r:id="rId22"/>
    </p:embeddedFont>
    <p:embeddedFont>
      <p:font typeface="Spectral ExtraBold"/>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font" Target="fonts/OswaldLight-regular.fntdata"/><Relationship Id="rId19" Type="http://schemas.openxmlformats.org/officeDocument/2006/relationships/font" Target="fonts/OswaldLight-bold.fntdata"/><Relationship Id="rId20" Type="http://schemas.openxmlformats.org/officeDocument/2006/relationships/font" Target="fonts/OldStandardTT-regular.fntdata"/><Relationship Id="rId21" Type="http://schemas.openxmlformats.org/officeDocument/2006/relationships/font" Target="fonts/OldStandardTT-bold.fntdata"/><Relationship Id="rId22" Type="http://schemas.openxmlformats.org/officeDocument/2006/relationships/font" Target="fonts/OldStandardTT-italic.fntdata"/><Relationship Id="rId23" Type="http://schemas.openxmlformats.org/officeDocument/2006/relationships/font" Target="fonts/SpectralExtraBold-bold.fntdata"/><Relationship Id="rId24" Type="http://schemas.openxmlformats.org/officeDocument/2006/relationships/font" Target="fonts/Spectral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7f08495a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7f08495a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7e90cb1a2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7e90cb1a2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7e90cb1a2_0_1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7e90cb1a2_0_1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7e90cb1a2_0_1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7e90cb1a2_0_1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67e90cb1a2_0_1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67e90cb1a2_0_1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7e90cb1a2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7e90cb1a2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7e90cb1a2_0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67e90cb1a2_0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7f08495a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7f08495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7e90cb1a2_0_1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7e90cb1a2_0_1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7e90cb1a2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7e90cb1a2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67f08495a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67f08495a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Sacrament Of Penance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What Is the Sacrament of Penance?</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Why Do We Need Penance?</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What Is The Purpose Of Penance?</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Why do we practice penance before Holy Communion?</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Biblical Authority: How Christ Instituted Penance. </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How Does Penance Work?</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How Do You Prepare For Penance?</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What Sins Can be Forgiven? </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What is blasphemy against the holy Spirit? </a:t>
            </a:r>
            <a:endParaRPr sz="2100">
              <a:solidFill>
                <a:schemeClr val="dk1"/>
              </a:solidFill>
              <a:latin typeface="Georgia"/>
              <a:ea typeface="Georgia"/>
              <a:cs typeface="Georgia"/>
              <a:sym typeface="Georgia"/>
            </a:endParaRPr>
          </a:p>
          <a:p>
            <a:pPr indent="-341947" lvl="0" marL="457200" rtl="0" algn="l">
              <a:lnSpc>
                <a:spcPct val="115000"/>
              </a:lnSpc>
              <a:spcBef>
                <a:spcPts val="0"/>
              </a:spcBef>
              <a:spcAft>
                <a:spcPts val="0"/>
              </a:spcAft>
              <a:buClr>
                <a:schemeClr val="dk1"/>
              </a:buClr>
              <a:buSzPct val="100000"/>
              <a:buFont typeface="Georgia"/>
              <a:buChar char="●"/>
            </a:pPr>
            <a:r>
              <a:rPr lang="en" sz="2100">
                <a:solidFill>
                  <a:schemeClr val="dk1"/>
                </a:solidFill>
                <a:latin typeface="Georgia"/>
                <a:ea typeface="Georgia"/>
                <a:cs typeface="Georgia"/>
                <a:sym typeface="Georgia"/>
              </a:rPr>
              <a:t>Q/A</a:t>
            </a:r>
            <a:endParaRPr sz="2100">
              <a:solidFill>
                <a:schemeClr val="dk1"/>
              </a:solidFill>
              <a:latin typeface="Georgia"/>
              <a:ea typeface="Georgia"/>
              <a:cs typeface="Georgia"/>
              <a:sym typeface="Georgia"/>
            </a:endParaRPr>
          </a:p>
          <a:p>
            <a:pPr indent="0" lvl="0" marL="0" rtl="0" algn="l">
              <a:lnSpc>
                <a:spcPct val="115000"/>
              </a:lnSpc>
              <a:spcBef>
                <a:spcPts val="0"/>
              </a:spcBef>
              <a:spcAft>
                <a:spcPts val="0"/>
              </a:spcAft>
              <a:buNone/>
            </a:pPr>
            <a:r>
              <a:t/>
            </a:r>
            <a:endParaRPr sz="2800">
              <a:solidFill>
                <a:schemeClr val="dk1"/>
              </a:solidFill>
              <a:latin typeface="Georgia"/>
              <a:ea typeface="Georgia"/>
              <a:cs typeface="Georgia"/>
              <a:sym typeface="Georgia"/>
            </a:endParaRPr>
          </a:p>
          <a:p>
            <a:pPr indent="0" lvl="0" marL="0" rtl="0" algn="ctr">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Sacrament of Penance?</a:t>
            </a:r>
            <a:endParaRPr/>
          </a:p>
        </p:txBody>
      </p:sp>
      <p:sp>
        <p:nvSpPr>
          <p:cNvPr id="67" name="Google Shape;67;p15"/>
          <p:cNvSpPr txBox="1"/>
          <p:nvPr>
            <p:ph idx="1" type="body"/>
          </p:nvPr>
        </p:nvSpPr>
        <p:spPr>
          <a:xfrm>
            <a:off x="311700" y="1152475"/>
            <a:ext cx="39975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b="1" lang="en" sz="1100">
                <a:solidFill>
                  <a:schemeClr val="dk1"/>
                </a:solidFill>
              </a:rPr>
              <a:t>Penance</a:t>
            </a:r>
            <a:r>
              <a:rPr lang="en" sz="1100">
                <a:solidFill>
                  <a:schemeClr val="dk1"/>
                </a:solidFill>
              </a:rPr>
              <a:t> is a sacred sacrament through which a baptized believer, having fallen into sin, returns to God by sincerely repenting, confessing their sins to a priest, and receiving absolution through the grace of the Holy Spirit.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The components of Penance:</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Repentance - The hearts return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Confession - The verbal act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Absolution - </a:t>
            </a:r>
            <a:r>
              <a:rPr lang="en" sz="1100">
                <a:solidFill>
                  <a:schemeClr val="dk1"/>
                </a:solidFill>
              </a:rPr>
              <a:t>God's</a:t>
            </a:r>
            <a:r>
              <a:rPr lang="en" sz="1100">
                <a:solidFill>
                  <a:schemeClr val="dk1"/>
                </a:solidFill>
              </a:rPr>
              <a:t> forgiveness given through a priest </a:t>
            </a:r>
            <a:endParaRPr sz="1100">
              <a:solidFill>
                <a:schemeClr val="dk1"/>
              </a:solidFill>
            </a:endParaRPr>
          </a:p>
        </p:txBody>
      </p:sp>
      <p:sp>
        <p:nvSpPr>
          <p:cNvPr id="68" name="Google Shape;68;p15"/>
          <p:cNvSpPr/>
          <p:nvPr/>
        </p:nvSpPr>
        <p:spPr>
          <a:xfrm>
            <a:off x="6634650" y="1143000"/>
            <a:ext cx="1136400" cy="1070700"/>
          </a:xfrm>
          <a:prstGeom prst="ellipse">
            <a:avLst/>
          </a:prstGeom>
          <a:gradFill>
            <a:gsLst>
              <a:gs pos="0">
                <a:srgbClr val="FFC102"/>
              </a:gs>
              <a:gs pos="100000">
                <a:srgbClr val="795C04"/>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Absolution</a:t>
            </a:r>
            <a:endParaRPr sz="1000"/>
          </a:p>
        </p:txBody>
      </p:sp>
      <p:sp>
        <p:nvSpPr>
          <p:cNvPr id="69" name="Google Shape;69;p15"/>
          <p:cNvSpPr/>
          <p:nvPr/>
        </p:nvSpPr>
        <p:spPr>
          <a:xfrm>
            <a:off x="5617775" y="3003325"/>
            <a:ext cx="1136400" cy="1070700"/>
          </a:xfrm>
          <a:prstGeom prst="ellipse">
            <a:avLst/>
          </a:prstGeom>
          <a:gradFill>
            <a:gsLst>
              <a:gs pos="0">
                <a:srgbClr val="FFF6DB"/>
              </a:gs>
              <a:gs pos="100000">
                <a:srgbClr val="FAD15C"/>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dk1"/>
                </a:solidFill>
              </a:rPr>
              <a:t>Repentance</a:t>
            </a:r>
            <a:endParaRPr sz="900"/>
          </a:p>
        </p:txBody>
      </p:sp>
      <p:sp>
        <p:nvSpPr>
          <p:cNvPr id="70" name="Google Shape;70;p15"/>
          <p:cNvSpPr/>
          <p:nvPr/>
        </p:nvSpPr>
        <p:spPr>
          <a:xfrm>
            <a:off x="7695875" y="3003325"/>
            <a:ext cx="1136400" cy="1070700"/>
          </a:xfrm>
          <a:prstGeom prst="ellipse">
            <a:avLst/>
          </a:prstGeom>
          <a:gradFill>
            <a:gsLst>
              <a:gs pos="0">
                <a:srgbClr val="F48108"/>
              </a:gs>
              <a:gs pos="100000">
                <a:srgbClr val="703D08"/>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Confession</a:t>
            </a:r>
            <a:endParaRPr sz="900"/>
          </a:p>
        </p:txBody>
      </p:sp>
      <p:cxnSp>
        <p:nvCxnSpPr>
          <p:cNvPr id="71" name="Google Shape;71;p15"/>
          <p:cNvCxnSpPr>
            <a:endCxn id="68" idx="2"/>
          </p:cNvCxnSpPr>
          <p:nvPr/>
        </p:nvCxnSpPr>
        <p:spPr>
          <a:xfrm flipH="1" rot="10800000">
            <a:off x="6174750" y="1678350"/>
            <a:ext cx="459900" cy="1330200"/>
          </a:xfrm>
          <a:prstGeom prst="straightConnector1">
            <a:avLst/>
          </a:prstGeom>
          <a:noFill/>
          <a:ln cap="flat" cmpd="sng" w="28575">
            <a:solidFill>
              <a:schemeClr val="dk1"/>
            </a:solidFill>
            <a:prstDash val="solid"/>
            <a:round/>
            <a:headEnd len="med" w="med" type="none"/>
            <a:tailEnd len="med" w="med" type="none"/>
          </a:ln>
        </p:spPr>
      </p:cxnSp>
      <p:cxnSp>
        <p:nvCxnSpPr>
          <p:cNvPr id="72" name="Google Shape;72;p15"/>
          <p:cNvCxnSpPr>
            <a:stCxn id="68" idx="6"/>
            <a:endCxn id="70" idx="0"/>
          </p:cNvCxnSpPr>
          <p:nvPr/>
        </p:nvCxnSpPr>
        <p:spPr>
          <a:xfrm>
            <a:off x="7771050" y="1678350"/>
            <a:ext cx="492900" cy="1325100"/>
          </a:xfrm>
          <a:prstGeom prst="straightConnector1">
            <a:avLst/>
          </a:prstGeom>
          <a:noFill/>
          <a:ln cap="flat" cmpd="sng" w="28575">
            <a:solidFill>
              <a:schemeClr val="dk1"/>
            </a:solidFill>
            <a:prstDash val="solid"/>
            <a:round/>
            <a:headEnd len="med" w="med" type="none"/>
            <a:tailEnd len="med" w="med" type="none"/>
          </a:ln>
        </p:spPr>
      </p:cxnSp>
      <p:cxnSp>
        <p:nvCxnSpPr>
          <p:cNvPr id="73" name="Google Shape;73;p15"/>
          <p:cNvCxnSpPr>
            <a:stCxn id="69" idx="6"/>
            <a:endCxn id="70" idx="2"/>
          </p:cNvCxnSpPr>
          <p:nvPr/>
        </p:nvCxnSpPr>
        <p:spPr>
          <a:xfrm>
            <a:off x="6754175" y="3538675"/>
            <a:ext cx="941700" cy="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Need Penance?</a:t>
            </a:r>
            <a:endParaRPr/>
          </a:p>
        </p:txBody>
      </p:sp>
      <p:sp>
        <p:nvSpPr>
          <p:cNvPr id="79" name="Google Shape;79;p16"/>
          <p:cNvSpPr txBox="1"/>
          <p:nvPr>
            <p:ph idx="1" type="body"/>
          </p:nvPr>
        </p:nvSpPr>
        <p:spPr>
          <a:xfrm>
            <a:off x="311700" y="1152475"/>
            <a:ext cx="4845000" cy="3858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300" u="sng">
                <a:solidFill>
                  <a:schemeClr val="dk1"/>
                </a:solidFill>
              </a:rPr>
              <a:t>Sin separates us from God.</a:t>
            </a:r>
            <a:endParaRPr b="1" sz="1300" u="sng">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From the very beginning, </a:t>
            </a:r>
            <a:r>
              <a:rPr b="1" lang="en" sz="1100">
                <a:solidFill>
                  <a:schemeClr val="dk1"/>
                </a:solidFill>
              </a:rPr>
              <a:t>sin created separation</a:t>
            </a:r>
            <a:r>
              <a:rPr lang="en" sz="1100">
                <a:solidFill>
                  <a:schemeClr val="dk1"/>
                </a:solidFill>
              </a:rPr>
              <a:t>.</a:t>
            </a:r>
            <a:br>
              <a:rPr lang="en" sz="1100">
                <a:solidFill>
                  <a:schemeClr val="dk1"/>
                </a:solidFill>
              </a:rPr>
            </a:br>
            <a:r>
              <a:rPr lang="en" sz="1100">
                <a:solidFill>
                  <a:schemeClr val="dk1"/>
                </a:solidFill>
              </a:rPr>
              <a:t> In Genesis 3, when Adam and Eve sinned, they </a:t>
            </a:r>
            <a:r>
              <a:rPr b="1" lang="en" sz="1100">
                <a:solidFill>
                  <a:schemeClr val="dk1"/>
                </a:solidFill>
              </a:rPr>
              <a:t>hid from God</a:t>
            </a:r>
            <a:r>
              <a:rPr lang="en" sz="1100">
                <a:solidFill>
                  <a:schemeClr val="dk1"/>
                </a:solidFill>
              </a:rPr>
              <a:t>—symbolizing the inner distance sin creates.</a:t>
            </a:r>
            <a:endParaRPr sz="1100">
              <a:solidFill>
                <a:schemeClr val="dk1"/>
              </a:solidFill>
            </a:endParaRPr>
          </a:p>
          <a:p>
            <a:pPr indent="0" lvl="0" marL="0" rtl="0" algn="l">
              <a:spcBef>
                <a:spcPts val="1200"/>
              </a:spcBef>
              <a:spcAft>
                <a:spcPts val="0"/>
              </a:spcAft>
              <a:buNone/>
            </a:pPr>
            <a:r>
              <a:t/>
            </a:r>
            <a:endParaRPr i="1" sz="1100">
              <a:solidFill>
                <a:schemeClr val="dk1"/>
              </a:solidFill>
            </a:endParaRPr>
          </a:p>
          <a:p>
            <a:pPr indent="0" lvl="0" marL="0" rtl="0" algn="l">
              <a:spcBef>
                <a:spcPts val="1200"/>
              </a:spcBef>
              <a:spcAft>
                <a:spcPts val="0"/>
              </a:spcAft>
              <a:buNone/>
            </a:pPr>
            <a:r>
              <a:rPr i="1" lang="en" sz="1100">
                <a:solidFill>
                  <a:schemeClr val="dk1"/>
                </a:solidFill>
              </a:rPr>
              <a:t>The Prophet Isaiah says:</a:t>
            </a:r>
            <a:br>
              <a:rPr i="1" lang="en" sz="1100">
                <a:solidFill>
                  <a:schemeClr val="dk1"/>
                </a:solidFill>
              </a:rPr>
            </a:br>
            <a:r>
              <a:rPr lang="en" sz="1100">
                <a:solidFill>
                  <a:schemeClr val="dk1"/>
                </a:solidFill>
                <a:latin typeface="Oswald Light"/>
                <a:ea typeface="Oswald Light"/>
                <a:cs typeface="Oswald Light"/>
                <a:sym typeface="Oswald Light"/>
              </a:rPr>
              <a:t>“Your iniquities have separated you from your God; your sins have hidden His face from you.” (Isaiah 59:2)</a:t>
            </a:r>
            <a:br>
              <a:rPr lang="en" sz="1100">
                <a:solidFill>
                  <a:schemeClr val="dk1"/>
                </a:solidFill>
              </a:rPr>
            </a:br>
            <a:br>
              <a:rPr lang="en" sz="1100">
                <a:solidFill>
                  <a:schemeClr val="dk1"/>
                </a:solidFill>
              </a:rPr>
            </a:br>
            <a:endParaRPr sz="1100">
              <a:solidFill>
                <a:schemeClr val="dk1"/>
              </a:solidFill>
            </a:endParaRPr>
          </a:p>
          <a:p>
            <a:pPr indent="0" lvl="0" marL="0" rtl="0" algn="l">
              <a:spcBef>
                <a:spcPts val="1200"/>
              </a:spcBef>
              <a:spcAft>
                <a:spcPts val="0"/>
              </a:spcAft>
              <a:buNone/>
            </a:pPr>
            <a:r>
              <a:rPr lang="en" sz="1100">
                <a:solidFill>
                  <a:schemeClr val="dk1"/>
                </a:solidFill>
              </a:rPr>
              <a:t>This shows that sin is </a:t>
            </a:r>
            <a:r>
              <a:rPr b="1" lang="en" sz="1100">
                <a:solidFill>
                  <a:schemeClr val="dk1"/>
                </a:solidFill>
              </a:rPr>
              <a:t>not just breaking rules</a:t>
            </a:r>
            <a:r>
              <a:rPr lang="en" sz="1100">
                <a:solidFill>
                  <a:schemeClr val="dk1"/>
                </a:solidFill>
              </a:rPr>
              <a:t>; it's breaking </a:t>
            </a:r>
            <a:r>
              <a:rPr b="1" lang="en" sz="1100">
                <a:solidFill>
                  <a:schemeClr val="dk1"/>
                </a:solidFill>
              </a:rPr>
              <a:t>relationship</a:t>
            </a:r>
            <a:r>
              <a:rPr lang="en" sz="1100">
                <a:solidFill>
                  <a:schemeClr val="dk1"/>
                </a:solidFill>
              </a:rPr>
              <a:t>. Penance is God’s </a:t>
            </a:r>
            <a:r>
              <a:rPr b="1" lang="en" sz="1100">
                <a:solidFill>
                  <a:schemeClr val="dk1"/>
                </a:solidFill>
              </a:rPr>
              <a:t>remedy for restoring communion</a:t>
            </a:r>
            <a:r>
              <a:rPr lang="en" sz="1100">
                <a:solidFill>
                  <a:schemeClr val="dk1"/>
                </a:solidFill>
              </a:rPr>
              <a:t> with Him.</a:t>
            </a:r>
            <a:endParaRPr sz="1100">
              <a:solidFill>
                <a:schemeClr val="dk1"/>
              </a:solidFill>
            </a:endParaRPr>
          </a:p>
          <a:p>
            <a:pPr indent="0" lvl="0" marL="0" rtl="0" algn="l">
              <a:spcBef>
                <a:spcPts val="1200"/>
              </a:spcBef>
              <a:spcAft>
                <a:spcPts val="1200"/>
              </a:spcAft>
              <a:buNone/>
            </a:pPr>
            <a:r>
              <a:t/>
            </a:r>
            <a:endParaRPr/>
          </a:p>
        </p:txBody>
      </p:sp>
      <p:pic>
        <p:nvPicPr>
          <p:cNvPr id="80" name="Google Shape;80;p16" title="9b5efe01-ab65-487c-ac64-85b5705a1ac4.png"/>
          <p:cNvPicPr preferRelativeResize="0"/>
          <p:nvPr/>
        </p:nvPicPr>
        <p:blipFill>
          <a:blip r:embed="rId3">
            <a:alphaModFix/>
          </a:blip>
          <a:stretch>
            <a:fillRect/>
          </a:stretch>
        </p:blipFill>
        <p:spPr>
          <a:xfrm>
            <a:off x="5210550" y="1344250"/>
            <a:ext cx="3682502" cy="2455002"/>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Purpose Of Penance?</a:t>
            </a:r>
            <a:endParaRPr/>
          </a:p>
        </p:txBody>
      </p:sp>
      <p:sp>
        <p:nvSpPr>
          <p:cNvPr id="86" name="Google Shape;86;p17"/>
          <p:cNvSpPr txBox="1"/>
          <p:nvPr>
            <p:ph idx="1" type="body"/>
          </p:nvPr>
        </p:nvSpPr>
        <p:spPr>
          <a:xfrm>
            <a:off x="311700" y="1152475"/>
            <a:ext cx="5088000" cy="3623100"/>
          </a:xfrm>
          <a:prstGeom prst="rect">
            <a:avLst/>
          </a:prstGeom>
        </p:spPr>
        <p:txBody>
          <a:bodyPr anchorCtr="0" anchor="t" bIns="91425" lIns="91425" spcFirstLastPara="1" rIns="91425" wrap="square" tIns="91425">
            <a:normAutofit fontScale="40000" lnSpcReduction="20000"/>
          </a:bodyPr>
          <a:lstStyle/>
          <a:p>
            <a:pPr indent="0" lvl="0" marL="0" rtl="0" algn="l">
              <a:spcBef>
                <a:spcPts val="1400"/>
              </a:spcBef>
              <a:spcAft>
                <a:spcPts val="0"/>
              </a:spcAft>
              <a:buClr>
                <a:schemeClr val="dk1"/>
              </a:buClr>
              <a:buSzPct val="33846"/>
              <a:buFont typeface="Arial"/>
              <a:buNone/>
            </a:pPr>
            <a:r>
              <a:rPr b="1" lang="en" sz="3250" u="sng">
                <a:solidFill>
                  <a:schemeClr val="dk1"/>
                </a:solidFill>
              </a:rPr>
              <a:t>Penance restores that relationship.</a:t>
            </a:r>
            <a:endParaRPr b="1" sz="3250" u="sng">
              <a:solidFill>
                <a:schemeClr val="dk1"/>
              </a:solidFill>
            </a:endParaRPr>
          </a:p>
          <a:p>
            <a:pPr indent="-298450" lvl="0" marL="457200" rtl="0" algn="l">
              <a:spcBef>
                <a:spcPts val="1200"/>
              </a:spcBef>
              <a:spcAft>
                <a:spcPts val="0"/>
              </a:spcAft>
              <a:buClr>
                <a:schemeClr val="dk1"/>
              </a:buClr>
              <a:buSzPct val="100000"/>
              <a:buChar char="●"/>
            </a:pPr>
            <a:r>
              <a:rPr lang="en" sz="2750">
                <a:solidFill>
                  <a:schemeClr val="dk1"/>
                </a:solidFill>
              </a:rPr>
              <a:t>Through </a:t>
            </a:r>
            <a:r>
              <a:rPr b="1" lang="en" sz="2750">
                <a:solidFill>
                  <a:schemeClr val="dk1"/>
                </a:solidFill>
              </a:rPr>
              <a:t>true repentance and confession</a:t>
            </a:r>
            <a:r>
              <a:rPr lang="en" sz="2750">
                <a:solidFill>
                  <a:schemeClr val="dk1"/>
                </a:solidFill>
              </a:rPr>
              <a:t>, we are reconciled to God:</a:t>
            </a:r>
            <a:br>
              <a:rPr lang="en" sz="2750">
                <a:solidFill>
                  <a:schemeClr val="dk1"/>
                </a:solidFill>
              </a:rPr>
            </a:br>
            <a:br>
              <a:rPr lang="en" sz="2750">
                <a:solidFill>
                  <a:schemeClr val="dk1"/>
                </a:solidFill>
              </a:rPr>
            </a:br>
            <a:r>
              <a:rPr lang="en" sz="2750">
                <a:solidFill>
                  <a:schemeClr val="dk1"/>
                </a:solidFill>
                <a:latin typeface="Oswald Light"/>
                <a:ea typeface="Oswald Light"/>
                <a:cs typeface="Oswald Light"/>
                <a:sym typeface="Oswald Light"/>
              </a:rPr>
              <a:t>“Return to Me, and I will return to you,” says the Lord. (Malachi 3:7)</a:t>
            </a:r>
            <a:br>
              <a:rPr lang="en" sz="2750">
                <a:solidFill>
                  <a:schemeClr val="dk1"/>
                </a:solidFill>
                <a:latin typeface="Oswald Light"/>
                <a:ea typeface="Oswald Light"/>
                <a:cs typeface="Oswald Light"/>
                <a:sym typeface="Oswald Light"/>
              </a:rPr>
            </a:br>
            <a:br>
              <a:rPr lang="en" sz="2750">
                <a:solidFill>
                  <a:schemeClr val="dk1"/>
                </a:solidFill>
              </a:rPr>
            </a:br>
            <a:endParaRPr sz="2750">
              <a:solidFill>
                <a:schemeClr val="dk1"/>
              </a:solidFill>
            </a:endParaRPr>
          </a:p>
          <a:p>
            <a:pPr indent="-298450" lvl="0" marL="457200" rtl="0" algn="l">
              <a:spcBef>
                <a:spcPts val="0"/>
              </a:spcBef>
              <a:spcAft>
                <a:spcPts val="0"/>
              </a:spcAft>
              <a:buClr>
                <a:schemeClr val="dk1"/>
              </a:buClr>
              <a:buSzPct val="100000"/>
              <a:buChar char="●"/>
            </a:pPr>
            <a:r>
              <a:rPr lang="en" sz="2750">
                <a:solidFill>
                  <a:schemeClr val="dk1"/>
                </a:solidFill>
              </a:rPr>
              <a:t>The </a:t>
            </a:r>
            <a:r>
              <a:rPr b="1" lang="en" sz="2750">
                <a:solidFill>
                  <a:schemeClr val="dk1"/>
                </a:solidFill>
              </a:rPr>
              <a:t>Parable of the Prodigal Son</a:t>
            </a:r>
            <a:r>
              <a:rPr lang="en" sz="2750">
                <a:solidFill>
                  <a:schemeClr val="dk1"/>
                </a:solidFill>
              </a:rPr>
              <a:t> (Luke 15:11–32) is the perfect example:</a:t>
            </a:r>
            <a:br>
              <a:rPr lang="en" sz="2750">
                <a:solidFill>
                  <a:schemeClr val="dk1"/>
                </a:solidFill>
              </a:rPr>
            </a:br>
            <a:endParaRPr sz="2750">
              <a:solidFill>
                <a:schemeClr val="dk1"/>
              </a:solidFill>
            </a:endParaRPr>
          </a:p>
          <a:p>
            <a:pPr indent="-298450" lvl="1" marL="914400" rtl="0" algn="l">
              <a:lnSpc>
                <a:spcPct val="100000"/>
              </a:lnSpc>
              <a:spcBef>
                <a:spcPts val="0"/>
              </a:spcBef>
              <a:spcAft>
                <a:spcPts val="0"/>
              </a:spcAft>
              <a:buClr>
                <a:schemeClr val="dk1"/>
              </a:buClr>
              <a:buSzPct val="100000"/>
              <a:buChar char="○"/>
            </a:pPr>
            <a:r>
              <a:rPr lang="en" sz="2750">
                <a:solidFill>
                  <a:schemeClr val="dk1"/>
                </a:solidFill>
              </a:rPr>
              <a:t>The son left his father’s house and lived a wrong life.</a:t>
            </a:r>
            <a:br>
              <a:rPr lang="en" sz="2750">
                <a:solidFill>
                  <a:schemeClr val="dk1"/>
                </a:solidFill>
              </a:rPr>
            </a:br>
            <a:endParaRPr sz="2750">
              <a:solidFill>
                <a:schemeClr val="dk1"/>
              </a:solidFill>
            </a:endParaRPr>
          </a:p>
          <a:p>
            <a:pPr indent="-298450" lvl="1" marL="914400" rtl="0" algn="l">
              <a:lnSpc>
                <a:spcPct val="100000"/>
              </a:lnSpc>
              <a:spcBef>
                <a:spcPts val="0"/>
              </a:spcBef>
              <a:spcAft>
                <a:spcPts val="0"/>
              </a:spcAft>
              <a:buClr>
                <a:schemeClr val="dk1"/>
              </a:buClr>
              <a:buSzPct val="100000"/>
              <a:buChar char="○"/>
            </a:pPr>
            <a:r>
              <a:rPr lang="en" sz="2750">
                <a:solidFill>
                  <a:schemeClr val="dk1"/>
                </a:solidFill>
              </a:rPr>
              <a:t>When he </a:t>
            </a:r>
            <a:r>
              <a:rPr b="1" lang="en" sz="2750">
                <a:solidFill>
                  <a:schemeClr val="dk1"/>
                </a:solidFill>
              </a:rPr>
              <a:t>repented and returned</a:t>
            </a:r>
            <a:r>
              <a:rPr lang="en" sz="2750">
                <a:solidFill>
                  <a:schemeClr val="dk1"/>
                </a:solidFill>
              </a:rPr>
              <a:t>, the father ran to him, embraced him, and restored him to full sonship.</a:t>
            </a:r>
            <a:br>
              <a:rPr lang="en" sz="2750">
                <a:solidFill>
                  <a:schemeClr val="dk1"/>
                </a:solidFill>
              </a:rPr>
            </a:br>
            <a:endParaRPr sz="2750">
              <a:solidFill>
                <a:schemeClr val="dk1"/>
              </a:solidFill>
            </a:endParaRPr>
          </a:p>
          <a:p>
            <a:pPr indent="-298450" lvl="1" marL="914400" rtl="0" algn="l">
              <a:lnSpc>
                <a:spcPct val="100000"/>
              </a:lnSpc>
              <a:spcBef>
                <a:spcPts val="0"/>
              </a:spcBef>
              <a:spcAft>
                <a:spcPts val="0"/>
              </a:spcAft>
              <a:buClr>
                <a:schemeClr val="dk1"/>
              </a:buClr>
              <a:buSzPct val="100000"/>
              <a:buChar char="○"/>
            </a:pPr>
            <a:r>
              <a:rPr lang="en" sz="2750">
                <a:solidFill>
                  <a:schemeClr val="dk1"/>
                </a:solidFill>
              </a:rPr>
              <a:t>This is exactly what happens in the Sacrament of Penance—God rejoices when we return.</a:t>
            </a:r>
            <a:br>
              <a:rPr lang="en" sz="2750">
                <a:solidFill>
                  <a:schemeClr val="dk1"/>
                </a:solidFill>
              </a:rPr>
            </a:br>
            <a:endParaRPr sz="2500">
              <a:solidFill>
                <a:schemeClr val="dk1"/>
              </a:solidFill>
              <a:latin typeface="Oswald Light"/>
              <a:ea typeface="Oswald Light"/>
              <a:cs typeface="Oswald Light"/>
              <a:sym typeface="Oswald Light"/>
            </a:endParaRPr>
          </a:p>
          <a:p>
            <a:pPr indent="0" lvl="0" marL="381000" marR="381000" rtl="0" algn="l">
              <a:spcBef>
                <a:spcPts val="1200"/>
              </a:spcBef>
              <a:spcAft>
                <a:spcPts val="0"/>
              </a:spcAft>
              <a:buNone/>
            </a:pPr>
            <a:r>
              <a:rPr lang="en" sz="2500">
                <a:solidFill>
                  <a:schemeClr val="dk1"/>
                </a:solidFill>
                <a:latin typeface="Oswald Light"/>
                <a:ea typeface="Oswald Light"/>
                <a:cs typeface="Oswald Light"/>
                <a:sym typeface="Oswald Light"/>
              </a:rPr>
              <a:t>“There will be more joy in heaven over one sinner who repents than over ninety-nine just persons who need no repentance.”</a:t>
            </a:r>
            <a:endParaRPr sz="2500">
              <a:solidFill>
                <a:schemeClr val="dk1"/>
              </a:solidFill>
              <a:latin typeface="Oswald Light"/>
              <a:ea typeface="Oswald Light"/>
              <a:cs typeface="Oswald Light"/>
              <a:sym typeface="Oswald Light"/>
            </a:endParaRPr>
          </a:p>
          <a:p>
            <a:pPr indent="0" lvl="0" marL="381000" marR="381000" rtl="0" algn="l">
              <a:spcBef>
                <a:spcPts val="1200"/>
              </a:spcBef>
              <a:spcAft>
                <a:spcPts val="1200"/>
              </a:spcAft>
              <a:buClr>
                <a:schemeClr val="dk1"/>
              </a:buClr>
              <a:buSzPct val="44000"/>
              <a:buFont typeface="Arial"/>
              <a:buNone/>
            </a:pPr>
            <a:r>
              <a:rPr lang="en" sz="2500">
                <a:solidFill>
                  <a:schemeClr val="dk1"/>
                </a:solidFill>
                <a:latin typeface="Oswald Light"/>
                <a:ea typeface="Oswald Light"/>
                <a:cs typeface="Oswald Light"/>
                <a:sym typeface="Oswald Light"/>
              </a:rPr>
              <a:t>— </a:t>
            </a:r>
            <a:r>
              <a:rPr i="1" lang="en" sz="2500">
                <a:solidFill>
                  <a:schemeClr val="dk1"/>
                </a:solidFill>
                <a:latin typeface="Oswald Light"/>
                <a:ea typeface="Oswald Light"/>
                <a:cs typeface="Oswald Light"/>
                <a:sym typeface="Oswald Light"/>
              </a:rPr>
              <a:t>Luke 15:7</a:t>
            </a:r>
            <a:endParaRPr sz="2500">
              <a:solidFill>
                <a:schemeClr val="dk1"/>
              </a:solidFill>
              <a:latin typeface="Oswald Light"/>
              <a:ea typeface="Oswald Light"/>
              <a:cs typeface="Oswald Light"/>
              <a:sym typeface="Oswald Light"/>
            </a:endParaRPr>
          </a:p>
        </p:txBody>
      </p:sp>
      <p:pic>
        <p:nvPicPr>
          <p:cNvPr id="87" name="Google Shape;87;p17" title="90b53123-7c86-4a4e-9f08-38ab21b3803d.png"/>
          <p:cNvPicPr preferRelativeResize="0"/>
          <p:nvPr/>
        </p:nvPicPr>
        <p:blipFill>
          <a:blip r:embed="rId3">
            <a:alphaModFix/>
          </a:blip>
          <a:stretch>
            <a:fillRect/>
          </a:stretch>
        </p:blipFill>
        <p:spPr>
          <a:xfrm>
            <a:off x="5959375" y="954613"/>
            <a:ext cx="2547315" cy="3820973"/>
          </a:xfrm>
          <a:prstGeom prst="rect">
            <a:avLst/>
          </a:prstGeom>
          <a:noFill/>
          <a:ln cap="flat" cmpd="sng" w="19050">
            <a:solidFill>
              <a:schemeClr val="dk1"/>
            </a:solidFill>
            <a:prstDash val="solid"/>
            <a:round/>
            <a:headEnd len="sm" w="sm" type="none"/>
            <a:tailEnd len="sm" w="sm" type="none"/>
          </a:ln>
        </p:spPr>
      </p:pic>
      <p:pic>
        <p:nvPicPr>
          <p:cNvPr id="88" name="Google Shape;88;p17" title="pngtree-big-sheep-isolated-on-transparent-background-png-image_7110060.png"/>
          <p:cNvPicPr preferRelativeResize="0"/>
          <p:nvPr/>
        </p:nvPicPr>
        <p:blipFill>
          <a:blip r:embed="rId4">
            <a:alphaModFix/>
          </a:blip>
          <a:stretch>
            <a:fillRect/>
          </a:stretch>
        </p:blipFill>
        <p:spPr>
          <a:xfrm>
            <a:off x="-104250" y="4205150"/>
            <a:ext cx="938350" cy="938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practice penance before Holy Communion?</a:t>
            </a:r>
            <a:endParaRPr/>
          </a:p>
        </p:txBody>
      </p:sp>
      <p:sp>
        <p:nvSpPr>
          <p:cNvPr id="94" name="Google Shape;94;p18"/>
          <p:cNvSpPr txBox="1"/>
          <p:nvPr>
            <p:ph idx="1" type="body"/>
          </p:nvPr>
        </p:nvSpPr>
        <p:spPr>
          <a:xfrm>
            <a:off x="311700" y="1152475"/>
            <a:ext cx="49302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300" u="sng">
                <a:solidFill>
                  <a:schemeClr val="dk1"/>
                </a:solidFill>
              </a:rPr>
              <a:t>It prepares us to receive Holy Communion worthily.</a:t>
            </a:r>
            <a:endParaRPr b="1" sz="1300" u="sng">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a:t>
            </a:r>
            <a:r>
              <a:rPr b="1" lang="en" sz="1100">
                <a:solidFill>
                  <a:schemeClr val="dk1"/>
                </a:solidFill>
              </a:rPr>
              <a:t>Eucharist is union with Christ</a:t>
            </a:r>
            <a:r>
              <a:rPr lang="en" sz="1100">
                <a:solidFill>
                  <a:schemeClr val="dk1"/>
                </a:solidFill>
              </a:rPr>
              <a:t>. We must approach it </a:t>
            </a:r>
            <a:r>
              <a:rPr b="1" lang="en" sz="1100">
                <a:solidFill>
                  <a:schemeClr val="dk1"/>
                </a:solidFill>
              </a:rPr>
              <a:t>in a state of grace</a:t>
            </a:r>
            <a:r>
              <a:rPr lang="en" sz="1100">
                <a:solidFill>
                  <a:schemeClr val="dk1"/>
                </a:solidFill>
              </a:rPr>
              <a:t>, not weighed down by unconfessed sin.</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latin typeface="Old Standard TT"/>
              <a:ea typeface="Old Standard TT"/>
              <a:cs typeface="Old Standard TT"/>
              <a:sym typeface="Old Standard TT"/>
            </a:endParaRPr>
          </a:p>
          <a:p>
            <a:pPr indent="0" lvl="0" marL="0" rtl="0" algn="l">
              <a:spcBef>
                <a:spcPts val="1200"/>
              </a:spcBef>
              <a:spcAft>
                <a:spcPts val="0"/>
              </a:spcAft>
              <a:buClr>
                <a:schemeClr val="dk1"/>
              </a:buClr>
              <a:buSzPts val="1100"/>
              <a:buFont typeface="Arial"/>
              <a:buNone/>
            </a:pPr>
            <a:r>
              <a:rPr lang="en" sz="1100">
                <a:solidFill>
                  <a:schemeClr val="dk1"/>
                </a:solidFill>
                <a:latin typeface="Old Standard TT"/>
                <a:ea typeface="Old Standard TT"/>
                <a:cs typeface="Old Standard TT"/>
                <a:sym typeface="Old Standard TT"/>
              </a:rPr>
              <a:t>St. Paul warns:</a:t>
            </a:r>
            <a:endParaRPr sz="1100">
              <a:solidFill>
                <a:schemeClr val="dk1"/>
              </a:solidFill>
              <a:latin typeface="Old Standard TT"/>
              <a:ea typeface="Old Standard TT"/>
              <a:cs typeface="Old Standard TT"/>
              <a:sym typeface="Old Standard TT"/>
            </a:endParaRPr>
          </a:p>
          <a:p>
            <a:pPr indent="0" lvl="0" marL="381000" marR="381000" rtl="0" algn="l">
              <a:spcBef>
                <a:spcPts val="1200"/>
              </a:spcBef>
              <a:spcAft>
                <a:spcPts val="0"/>
              </a:spcAft>
              <a:buNone/>
            </a:pPr>
            <a:r>
              <a:rPr lang="en" sz="1100">
                <a:solidFill>
                  <a:schemeClr val="dk1"/>
                </a:solidFill>
                <a:latin typeface="Oswald Light"/>
                <a:ea typeface="Oswald Light"/>
                <a:cs typeface="Oswald Light"/>
                <a:sym typeface="Oswald Light"/>
              </a:rPr>
              <a:t>“Let a man examine himself, and so let him eat of that bread, and drink of that cup.</a:t>
            </a:r>
            <a:br>
              <a:rPr lang="en" sz="1100">
                <a:solidFill>
                  <a:schemeClr val="dk1"/>
                </a:solidFill>
                <a:latin typeface="Oswald Light"/>
                <a:ea typeface="Oswald Light"/>
                <a:cs typeface="Oswald Light"/>
                <a:sym typeface="Oswald Light"/>
              </a:rPr>
            </a:br>
            <a:r>
              <a:rPr lang="en" sz="1100">
                <a:solidFill>
                  <a:schemeClr val="dk1"/>
                </a:solidFill>
                <a:latin typeface="Oswald Light"/>
                <a:ea typeface="Oswald Light"/>
                <a:cs typeface="Oswald Light"/>
                <a:sym typeface="Oswald Light"/>
              </a:rPr>
              <a:t> For he who eats and drinks in an unworthy manner eats and drinks judgment to himself, not discerning the Lord’s body.” (1 Cor. 11:28–29)</a:t>
            </a:r>
            <a:endParaRPr sz="1100">
              <a:solidFill>
                <a:schemeClr val="dk1"/>
              </a:solidFill>
              <a:latin typeface="Oswald Light"/>
              <a:ea typeface="Oswald Light"/>
              <a:cs typeface="Oswald Light"/>
              <a:sym typeface="Oswald Light"/>
            </a:endParaRPr>
          </a:p>
          <a:p>
            <a:pPr indent="0" lvl="0" marL="0" marR="381000" rtl="0" algn="l">
              <a:spcBef>
                <a:spcPts val="1200"/>
              </a:spcBef>
              <a:spcAft>
                <a:spcPts val="0"/>
              </a:spcAft>
              <a:buNone/>
            </a:pPr>
            <a:r>
              <a:t/>
            </a:r>
            <a:endParaRPr sz="1100">
              <a:solidFill>
                <a:schemeClr val="dk1"/>
              </a:solidFill>
            </a:endParaRPr>
          </a:p>
          <a:p>
            <a:pPr indent="0" lvl="0" marL="0" marR="381000" rtl="0" algn="l">
              <a:spcBef>
                <a:spcPts val="1200"/>
              </a:spcBef>
              <a:spcAft>
                <a:spcPts val="1200"/>
              </a:spcAft>
              <a:buNone/>
            </a:pPr>
            <a:r>
              <a:rPr lang="en" sz="1100">
                <a:solidFill>
                  <a:schemeClr val="dk1"/>
                </a:solidFill>
              </a:rPr>
              <a:t>This is </a:t>
            </a:r>
            <a:r>
              <a:rPr b="1" lang="en" sz="1100">
                <a:solidFill>
                  <a:schemeClr val="dk1"/>
                </a:solidFill>
              </a:rPr>
              <a:t>not a threat</a:t>
            </a:r>
            <a:r>
              <a:rPr lang="en" sz="1100">
                <a:solidFill>
                  <a:schemeClr val="dk1"/>
                </a:solidFill>
              </a:rPr>
              <a:t>, but a </a:t>
            </a:r>
            <a:r>
              <a:rPr b="1" lang="en" sz="1100">
                <a:solidFill>
                  <a:schemeClr val="dk1"/>
                </a:solidFill>
              </a:rPr>
              <a:t>loving warning</a:t>
            </a:r>
            <a:r>
              <a:rPr lang="en" sz="1100">
                <a:solidFill>
                  <a:schemeClr val="dk1"/>
                </a:solidFill>
              </a:rPr>
              <a:t>: we must not treat Holy Communion lightly. </a:t>
            </a:r>
            <a:endParaRPr sz="1100"/>
          </a:p>
        </p:txBody>
      </p:sp>
      <p:pic>
        <p:nvPicPr>
          <p:cNvPr id="95" name="Google Shape;95;p18" title="ea25c4b3-98c9-40c3-84f8-b29b14e9b577.png"/>
          <p:cNvPicPr preferRelativeResize="0"/>
          <p:nvPr/>
        </p:nvPicPr>
        <p:blipFill>
          <a:blip r:embed="rId3">
            <a:alphaModFix/>
          </a:blip>
          <a:stretch>
            <a:fillRect/>
          </a:stretch>
        </p:blipFill>
        <p:spPr>
          <a:xfrm>
            <a:off x="5862200" y="1152475"/>
            <a:ext cx="2547315" cy="3820973"/>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Biblical Authority: How Christ Instituted Penance. </a:t>
            </a:r>
            <a:endParaRPr/>
          </a:p>
        </p:txBody>
      </p:sp>
      <p:sp>
        <p:nvSpPr>
          <p:cNvPr id="101" name="Google Shape;101;p19"/>
          <p:cNvSpPr txBox="1"/>
          <p:nvPr>
            <p:ph idx="1" type="body"/>
          </p:nvPr>
        </p:nvSpPr>
        <p:spPr>
          <a:xfrm>
            <a:off x="311700" y="1152475"/>
            <a:ext cx="2657400" cy="3416400"/>
          </a:xfrm>
          <a:prstGeom prst="rect">
            <a:avLst/>
          </a:prstGeom>
          <a:gradFill>
            <a:gsLst>
              <a:gs pos="0">
                <a:srgbClr val="DCECD5"/>
              </a:gs>
              <a:gs pos="100000">
                <a:srgbClr val="92BC81"/>
              </a:gs>
            </a:gsLst>
            <a:path path="circle">
              <a:fillToRect b="50%" l="50%" r="50%" t="50%"/>
            </a:path>
            <a:tileRect/>
          </a:gradFill>
          <a:ln cap="flat" cmpd="sng" w="3810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fontScale="77500"/>
          </a:bodyPr>
          <a:lstStyle/>
          <a:p>
            <a:pPr indent="0" lvl="0" marL="0" rtl="0" algn="l">
              <a:spcBef>
                <a:spcPts val="1400"/>
              </a:spcBef>
              <a:spcAft>
                <a:spcPts val="0"/>
              </a:spcAft>
              <a:buClr>
                <a:schemeClr val="dk1"/>
              </a:buClr>
              <a:buSzPct val="84615"/>
              <a:buFont typeface="Arial"/>
              <a:buNone/>
            </a:pPr>
            <a:r>
              <a:rPr b="1" lang="en" sz="1300">
                <a:solidFill>
                  <a:schemeClr val="dk1"/>
                </a:solidFill>
              </a:rPr>
              <a:t>Matthew 16:19 – Binding and Loosing</a:t>
            </a:r>
            <a:endParaRPr b="1" sz="1300">
              <a:solidFill>
                <a:schemeClr val="dk1"/>
              </a:solidFill>
            </a:endParaRPr>
          </a:p>
          <a:p>
            <a:pPr indent="0" lvl="0" marL="0" marR="381000" rtl="0" algn="l">
              <a:spcBef>
                <a:spcPts val="1200"/>
              </a:spcBef>
              <a:spcAft>
                <a:spcPts val="0"/>
              </a:spcAft>
              <a:buClr>
                <a:schemeClr val="dk1"/>
              </a:buClr>
              <a:buSzPct val="100000"/>
              <a:buFont typeface="Arial"/>
              <a:buNone/>
            </a:pPr>
            <a:r>
              <a:rPr lang="en" sz="1100">
                <a:solidFill>
                  <a:schemeClr val="dk1"/>
                </a:solidFill>
              </a:rPr>
              <a:t>“Whatever you bind on earth shall be bound in heaven, and whatever you loose on earth shall be loosed in heaven.”</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Context: </a:t>
            </a:r>
            <a:r>
              <a:rPr lang="en" sz="1100">
                <a:solidFill>
                  <a:schemeClr val="dk1"/>
                </a:solidFill>
              </a:rPr>
              <a:t>Christ was speaking with peter after peter </a:t>
            </a:r>
            <a:r>
              <a:rPr lang="en" sz="1100">
                <a:solidFill>
                  <a:schemeClr val="dk1"/>
                </a:solidFill>
              </a:rPr>
              <a:t>confessed Jesus was the son of God.</a:t>
            </a:r>
            <a:br>
              <a:rPr lang="en" sz="1100">
                <a:solidFill>
                  <a:schemeClr val="dk1"/>
                </a:solidFill>
              </a:rPr>
            </a:br>
            <a:br>
              <a:rPr lang="en" sz="1100">
                <a:solidFill>
                  <a:schemeClr val="dk1"/>
                </a:solidFill>
              </a:rPr>
            </a:br>
            <a:r>
              <a:rPr lang="en" sz="1100">
                <a:solidFill>
                  <a:schemeClr val="dk1"/>
                </a:solidFill>
              </a:rPr>
              <a:t>“Binding and loosing” was rabbinic language:</a:t>
            </a:r>
            <a:endParaRPr sz="1100">
              <a:solidFill>
                <a:schemeClr val="dk1"/>
              </a:solidFill>
            </a:endParaRPr>
          </a:p>
          <a:p>
            <a:pPr indent="-282733" lvl="0" marL="457200" rtl="0" algn="l">
              <a:spcBef>
                <a:spcPts val="1200"/>
              </a:spcBef>
              <a:spcAft>
                <a:spcPts val="0"/>
              </a:spcAft>
              <a:buClr>
                <a:schemeClr val="dk1"/>
              </a:buClr>
              <a:buSzPct val="100000"/>
              <a:buChar char="●"/>
            </a:pPr>
            <a:r>
              <a:rPr b="1" lang="en" sz="1100">
                <a:solidFill>
                  <a:schemeClr val="dk1"/>
                </a:solidFill>
              </a:rPr>
              <a:t>To bind</a:t>
            </a:r>
            <a:r>
              <a:rPr lang="en" sz="1100">
                <a:solidFill>
                  <a:schemeClr val="dk1"/>
                </a:solidFill>
              </a:rPr>
              <a:t> = to prohibit or withhold.</a:t>
            </a:r>
            <a:br>
              <a:rPr lang="en"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 sz="1100">
                <a:solidFill>
                  <a:schemeClr val="dk1"/>
                </a:solidFill>
              </a:rPr>
              <a:t>To loose</a:t>
            </a:r>
            <a:r>
              <a:rPr lang="en" sz="1100">
                <a:solidFill>
                  <a:schemeClr val="dk1"/>
                </a:solidFill>
              </a:rPr>
              <a:t> = to permit or forgive.</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Christ gave the Keys of the kingdom of heaven to Peter and the authority</a:t>
            </a:r>
            <a:r>
              <a:rPr lang="en" sz="1100">
                <a:solidFill>
                  <a:schemeClr val="dk1"/>
                </a:solidFill>
              </a:rPr>
              <a:t> to forgive sins on earth. </a:t>
            </a:r>
            <a:endParaRPr sz="1100">
              <a:solidFill>
                <a:schemeClr val="dk1"/>
              </a:solidFill>
            </a:endParaRPr>
          </a:p>
          <a:p>
            <a:pPr indent="0" lvl="0" marL="0" rtl="0" algn="l">
              <a:spcBef>
                <a:spcPts val="1200"/>
              </a:spcBef>
              <a:spcAft>
                <a:spcPts val="1200"/>
              </a:spcAft>
              <a:buNone/>
            </a:pPr>
            <a:r>
              <a:t/>
            </a:r>
            <a:endParaRPr/>
          </a:p>
        </p:txBody>
      </p:sp>
      <p:sp>
        <p:nvSpPr>
          <p:cNvPr id="102" name="Google Shape;102;p19"/>
          <p:cNvSpPr txBox="1"/>
          <p:nvPr>
            <p:ph idx="1" type="body"/>
          </p:nvPr>
        </p:nvSpPr>
        <p:spPr>
          <a:xfrm>
            <a:off x="3243300" y="1152475"/>
            <a:ext cx="2657400" cy="3416400"/>
          </a:xfrm>
          <a:prstGeom prst="rect">
            <a:avLst/>
          </a:prstGeom>
          <a:gradFill>
            <a:gsLst>
              <a:gs pos="0">
                <a:srgbClr val="FFF6DB"/>
              </a:gs>
              <a:gs pos="100000">
                <a:srgbClr val="FAD15C"/>
              </a:gs>
            </a:gsLst>
            <a:path path="circle">
              <a:fillToRect b="50%" l="50%" r="50%" t="50%"/>
            </a:path>
            <a:tileRect/>
          </a:gra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55000" lnSpcReduction="20000"/>
          </a:bodyPr>
          <a:lstStyle/>
          <a:p>
            <a:pPr indent="0" lvl="0" marL="0" rtl="0" algn="l">
              <a:spcBef>
                <a:spcPts val="1400"/>
              </a:spcBef>
              <a:spcAft>
                <a:spcPts val="0"/>
              </a:spcAft>
              <a:buNone/>
            </a:pPr>
            <a:r>
              <a:rPr b="1" lang="en" sz="1918">
                <a:solidFill>
                  <a:schemeClr val="dk1"/>
                </a:solidFill>
              </a:rPr>
              <a:t>Matthew 18:18 – Apostolic Authority for all Apostles</a:t>
            </a:r>
            <a:endParaRPr b="1" sz="1918">
              <a:solidFill>
                <a:schemeClr val="dk1"/>
              </a:solidFill>
            </a:endParaRPr>
          </a:p>
          <a:p>
            <a:pPr indent="0" lvl="0" marL="0" rtl="0" algn="l">
              <a:spcBef>
                <a:spcPts val="1400"/>
              </a:spcBef>
              <a:spcAft>
                <a:spcPts val="0"/>
              </a:spcAft>
              <a:buNone/>
            </a:pPr>
            <a:r>
              <a:rPr lang="en" sz="1500">
                <a:solidFill>
                  <a:schemeClr val="dk1"/>
                </a:solidFill>
              </a:rPr>
              <a:t>“Whatever you bind on earth will be bound in heaven…”</a:t>
            </a:r>
            <a:endParaRPr sz="1500">
              <a:solidFill>
                <a:schemeClr val="dk1"/>
              </a:solidFill>
            </a:endParaRPr>
          </a:p>
          <a:p>
            <a:pPr indent="0" lvl="0" marL="0" rtl="0" algn="l">
              <a:spcBef>
                <a:spcPts val="1200"/>
              </a:spcBef>
              <a:spcAft>
                <a:spcPts val="0"/>
              </a:spcAft>
              <a:buNone/>
            </a:pPr>
            <a:r>
              <a:rPr b="1" lang="en" sz="1500">
                <a:solidFill>
                  <a:schemeClr val="dk1"/>
                </a:solidFill>
              </a:rPr>
              <a:t>Context:</a:t>
            </a:r>
            <a:endParaRPr b="1" sz="1500">
              <a:solidFill>
                <a:schemeClr val="dk1"/>
              </a:solidFill>
            </a:endParaRPr>
          </a:p>
          <a:p>
            <a:pPr indent="-280987" lvl="0" marL="457200" rtl="0" algn="l">
              <a:lnSpc>
                <a:spcPct val="100000"/>
              </a:lnSpc>
              <a:spcBef>
                <a:spcPts val="1200"/>
              </a:spcBef>
              <a:spcAft>
                <a:spcPts val="0"/>
              </a:spcAft>
              <a:buClr>
                <a:schemeClr val="dk1"/>
              </a:buClr>
              <a:buSzPct val="100000"/>
              <a:buChar char="●"/>
            </a:pPr>
            <a:r>
              <a:rPr lang="en" sz="1500">
                <a:solidFill>
                  <a:schemeClr val="dk1"/>
                </a:solidFill>
              </a:rPr>
              <a:t>Spoken </a:t>
            </a:r>
            <a:r>
              <a:rPr b="1" lang="en" sz="1500">
                <a:solidFill>
                  <a:schemeClr val="dk1"/>
                </a:solidFill>
              </a:rPr>
              <a:t>before</a:t>
            </a:r>
            <a:r>
              <a:rPr lang="en" sz="1500">
                <a:solidFill>
                  <a:schemeClr val="dk1"/>
                </a:solidFill>
              </a:rPr>
              <a:t> Jesus' crucifixion and resurrection.</a:t>
            </a:r>
            <a:br>
              <a:rPr lang="en" sz="1500">
                <a:solidFill>
                  <a:schemeClr val="dk1"/>
                </a:solidFill>
              </a:rPr>
            </a:br>
            <a:endParaRPr sz="1500">
              <a:solidFill>
                <a:schemeClr val="dk1"/>
              </a:solidFill>
            </a:endParaRPr>
          </a:p>
          <a:p>
            <a:pPr indent="-280987" lvl="0" marL="457200" rtl="0" algn="l">
              <a:lnSpc>
                <a:spcPct val="100000"/>
              </a:lnSpc>
              <a:spcBef>
                <a:spcPts val="0"/>
              </a:spcBef>
              <a:spcAft>
                <a:spcPts val="0"/>
              </a:spcAft>
              <a:buClr>
                <a:schemeClr val="dk1"/>
              </a:buClr>
              <a:buSzPct val="100000"/>
              <a:buChar char="●"/>
            </a:pPr>
            <a:r>
              <a:rPr lang="en" sz="1500">
                <a:solidFill>
                  <a:schemeClr val="dk1"/>
                </a:solidFill>
              </a:rPr>
              <a:t>Christ is giving them </a:t>
            </a:r>
            <a:r>
              <a:rPr b="1" lang="en" sz="1500">
                <a:solidFill>
                  <a:schemeClr val="dk1"/>
                </a:solidFill>
              </a:rPr>
              <a:t>spiritual jurisdiction</a:t>
            </a:r>
            <a:r>
              <a:rPr lang="en" sz="1500">
                <a:solidFill>
                  <a:schemeClr val="dk1"/>
                </a:solidFill>
              </a:rPr>
              <a:t> as His future representatives.</a:t>
            </a:r>
            <a:br>
              <a:rPr lang="en" sz="1500">
                <a:solidFill>
                  <a:schemeClr val="dk1"/>
                </a:solidFill>
              </a:rPr>
            </a:br>
            <a:endParaRPr sz="1500">
              <a:solidFill>
                <a:schemeClr val="dk1"/>
              </a:solidFill>
            </a:endParaRPr>
          </a:p>
          <a:p>
            <a:pPr indent="-280987" lvl="0" marL="457200" rtl="0" algn="l">
              <a:lnSpc>
                <a:spcPct val="100000"/>
              </a:lnSpc>
              <a:spcBef>
                <a:spcPts val="0"/>
              </a:spcBef>
              <a:spcAft>
                <a:spcPts val="0"/>
              </a:spcAft>
              <a:buClr>
                <a:schemeClr val="dk1"/>
              </a:buClr>
              <a:buSzPct val="100000"/>
              <a:buChar char="●"/>
            </a:pPr>
            <a:r>
              <a:rPr lang="en" sz="1500">
                <a:solidFill>
                  <a:schemeClr val="dk1"/>
                </a:solidFill>
              </a:rPr>
              <a:t>The authority given was real, but </a:t>
            </a:r>
            <a:r>
              <a:rPr b="1" lang="en" sz="1500">
                <a:solidFill>
                  <a:schemeClr val="dk1"/>
                </a:solidFill>
              </a:rPr>
              <a:t>not yet sacramentally empowered</a:t>
            </a:r>
            <a:r>
              <a:rPr lang="en" sz="1500">
                <a:solidFill>
                  <a:schemeClr val="dk1"/>
                </a:solidFill>
              </a:rPr>
              <a:t> because the Holy Spirit had not yet been fully imparted.</a:t>
            </a:r>
            <a:endParaRPr sz="1500">
              <a:solidFill>
                <a:schemeClr val="dk1"/>
              </a:solidFill>
            </a:endParaRPr>
          </a:p>
          <a:p>
            <a:pPr indent="0" lvl="0" marL="0" rtl="0" algn="l">
              <a:spcBef>
                <a:spcPts val="1200"/>
              </a:spcBef>
              <a:spcAft>
                <a:spcPts val="0"/>
              </a:spcAft>
              <a:buNone/>
            </a:pPr>
            <a:r>
              <a:rPr lang="en" sz="1500">
                <a:solidFill>
                  <a:schemeClr val="dk1"/>
                </a:solidFill>
              </a:rPr>
              <a:t>Reinforces that this authority isn’t for Peter alone—it is for all the </a:t>
            </a:r>
            <a:r>
              <a:rPr b="1" lang="en" sz="1500">
                <a:solidFill>
                  <a:schemeClr val="dk1"/>
                </a:solidFill>
              </a:rPr>
              <a:t>apostles</a:t>
            </a:r>
            <a:r>
              <a:rPr lang="en" sz="1500">
                <a:solidFill>
                  <a:schemeClr val="dk1"/>
                </a:solidFill>
              </a:rPr>
              <a:t> and their </a:t>
            </a:r>
            <a:r>
              <a:rPr b="1" lang="en" sz="1500">
                <a:solidFill>
                  <a:schemeClr val="dk1"/>
                </a:solidFill>
              </a:rPr>
              <a:t>successors</a:t>
            </a:r>
            <a:r>
              <a:rPr lang="en" sz="1500">
                <a:solidFill>
                  <a:schemeClr val="dk1"/>
                </a:solidFill>
              </a:rPr>
              <a:t> (bishops and priests).</a:t>
            </a:r>
            <a:endParaRPr sz="150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a:p>
        </p:txBody>
      </p:sp>
      <p:sp>
        <p:nvSpPr>
          <p:cNvPr id="103" name="Google Shape;103;p19"/>
          <p:cNvSpPr txBox="1"/>
          <p:nvPr>
            <p:ph idx="1" type="body"/>
          </p:nvPr>
        </p:nvSpPr>
        <p:spPr>
          <a:xfrm>
            <a:off x="6174900" y="1152475"/>
            <a:ext cx="2657400" cy="3416400"/>
          </a:xfrm>
          <a:prstGeom prst="rect">
            <a:avLst/>
          </a:prstGeom>
          <a:gradFill>
            <a:gsLst>
              <a:gs pos="0">
                <a:srgbClr val="F5D0D0"/>
              </a:gs>
              <a:gs pos="100000">
                <a:srgbClr val="D96868"/>
              </a:gs>
            </a:gsLst>
            <a:path path="circle">
              <a:fillToRect b="50%" l="50%" r="50%" t="50%"/>
            </a:path>
            <a:tileRect/>
          </a:gra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32500" lnSpcReduction="20000"/>
          </a:bodyPr>
          <a:lstStyle/>
          <a:p>
            <a:pPr indent="0" lvl="0" marL="0" rtl="0" algn="l">
              <a:spcBef>
                <a:spcPts val="1400"/>
              </a:spcBef>
              <a:spcAft>
                <a:spcPts val="0"/>
              </a:spcAft>
              <a:buClr>
                <a:schemeClr val="dk1"/>
              </a:buClr>
              <a:buSzPct val="36065"/>
              <a:buFont typeface="Arial"/>
              <a:buNone/>
            </a:pPr>
            <a:r>
              <a:rPr b="1" lang="en" sz="3050">
                <a:solidFill>
                  <a:schemeClr val="dk1"/>
                </a:solidFill>
              </a:rPr>
              <a:t>John 20:22–23 – Christ's Commission</a:t>
            </a:r>
            <a:endParaRPr b="1" sz="3050">
              <a:solidFill>
                <a:schemeClr val="dk1"/>
              </a:solidFill>
            </a:endParaRPr>
          </a:p>
          <a:p>
            <a:pPr indent="0" lvl="0" marL="0" marR="381000" rtl="0" algn="l">
              <a:spcBef>
                <a:spcPts val="1200"/>
              </a:spcBef>
              <a:spcAft>
                <a:spcPts val="0"/>
              </a:spcAft>
              <a:buNone/>
            </a:pPr>
            <a:r>
              <a:rPr lang="en" sz="2520">
                <a:solidFill>
                  <a:schemeClr val="dk1"/>
                </a:solidFill>
              </a:rPr>
              <a:t>“</a:t>
            </a:r>
            <a:r>
              <a:rPr lang="en" sz="2520">
                <a:solidFill>
                  <a:schemeClr val="dk1"/>
                </a:solidFill>
              </a:rPr>
              <a:t>Receive the Holy Spirit. If you forgive the sins of any, they are forgiven them; if you retain them, they are retained.”</a:t>
            </a:r>
            <a:endParaRPr sz="2520">
              <a:solidFill>
                <a:schemeClr val="dk1"/>
              </a:solidFill>
            </a:endParaRPr>
          </a:p>
          <a:p>
            <a:pPr indent="0" lvl="0" marL="0" rtl="0" algn="l">
              <a:spcBef>
                <a:spcPts val="1200"/>
              </a:spcBef>
              <a:spcAft>
                <a:spcPts val="0"/>
              </a:spcAft>
              <a:buNone/>
            </a:pPr>
            <a:r>
              <a:rPr b="1" lang="en" sz="2520">
                <a:solidFill>
                  <a:schemeClr val="dk1"/>
                </a:solidFill>
              </a:rPr>
              <a:t>Context:</a:t>
            </a:r>
            <a:endParaRPr b="1" sz="2520">
              <a:solidFill>
                <a:schemeClr val="dk1"/>
              </a:solidFill>
            </a:endParaRPr>
          </a:p>
          <a:p>
            <a:pPr indent="-280618" lvl="0" marL="457200" rtl="0" algn="l">
              <a:spcBef>
                <a:spcPts val="1200"/>
              </a:spcBef>
              <a:spcAft>
                <a:spcPts val="0"/>
              </a:spcAft>
              <a:buClr>
                <a:schemeClr val="dk1"/>
              </a:buClr>
              <a:buSzPct val="100000"/>
              <a:buChar char="●"/>
            </a:pPr>
            <a:r>
              <a:rPr lang="en" sz="2520">
                <a:solidFill>
                  <a:schemeClr val="dk1"/>
                </a:solidFill>
              </a:rPr>
              <a:t>Spoken </a:t>
            </a:r>
            <a:r>
              <a:rPr b="1" lang="en" sz="2520">
                <a:solidFill>
                  <a:schemeClr val="dk1"/>
                </a:solidFill>
              </a:rPr>
              <a:t>after the resurrection</a:t>
            </a:r>
            <a:r>
              <a:rPr lang="en" sz="2520">
                <a:solidFill>
                  <a:schemeClr val="dk1"/>
                </a:solidFill>
              </a:rPr>
              <a:t>.</a:t>
            </a:r>
            <a:br>
              <a:rPr lang="en" sz="2520">
                <a:solidFill>
                  <a:schemeClr val="dk1"/>
                </a:solidFill>
              </a:rPr>
            </a:br>
            <a:endParaRPr sz="2520">
              <a:solidFill>
                <a:schemeClr val="dk1"/>
              </a:solidFill>
            </a:endParaRPr>
          </a:p>
          <a:p>
            <a:pPr indent="-280618" lvl="0" marL="457200" rtl="0" algn="l">
              <a:spcBef>
                <a:spcPts val="0"/>
              </a:spcBef>
              <a:spcAft>
                <a:spcPts val="0"/>
              </a:spcAft>
              <a:buClr>
                <a:schemeClr val="dk1"/>
              </a:buClr>
              <a:buSzPct val="100000"/>
              <a:buChar char="●"/>
            </a:pPr>
            <a:r>
              <a:rPr lang="en" sz="2520">
                <a:solidFill>
                  <a:schemeClr val="dk1"/>
                </a:solidFill>
              </a:rPr>
              <a:t>Jesus now </a:t>
            </a:r>
            <a:r>
              <a:rPr b="1" lang="en" sz="2520">
                <a:solidFill>
                  <a:schemeClr val="dk1"/>
                </a:solidFill>
              </a:rPr>
              <a:t>breathes the Holy Spirit</a:t>
            </a:r>
            <a:r>
              <a:rPr lang="en" sz="2520">
                <a:solidFill>
                  <a:schemeClr val="dk1"/>
                </a:solidFill>
              </a:rPr>
              <a:t> onto them.</a:t>
            </a:r>
            <a:br>
              <a:rPr lang="en" sz="2520">
                <a:solidFill>
                  <a:schemeClr val="dk1"/>
                </a:solidFill>
              </a:rPr>
            </a:br>
            <a:endParaRPr sz="2520">
              <a:solidFill>
                <a:schemeClr val="dk1"/>
              </a:solidFill>
            </a:endParaRPr>
          </a:p>
          <a:p>
            <a:pPr indent="-280618" lvl="0" marL="457200" rtl="0" algn="l">
              <a:spcBef>
                <a:spcPts val="0"/>
              </a:spcBef>
              <a:spcAft>
                <a:spcPts val="0"/>
              </a:spcAft>
              <a:buClr>
                <a:schemeClr val="dk1"/>
              </a:buClr>
              <a:buSzPct val="100000"/>
              <a:buChar char="●"/>
            </a:pPr>
            <a:r>
              <a:rPr lang="en" sz="2520">
                <a:solidFill>
                  <a:schemeClr val="dk1"/>
                </a:solidFill>
              </a:rPr>
              <a:t>This act </a:t>
            </a:r>
            <a:r>
              <a:rPr b="1" lang="en" sz="2520">
                <a:solidFill>
                  <a:schemeClr val="dk1"/>
                </a:solidFill>
              </a:rPr>
              <a:t>spiritually empowers</a:t>
            </a:r>
            <a:r>
              <a:rPr lang="en" sz="2520">
                <a:solidFill>
                  <a:schemeClr val="dk1"/>
                </a:solidFill>
              </a:rPr>
              <a:t> them to carry out the authority He promised earlier.</a:t>
            </a:r>
            <a:endParaRPr sz="2520">
              <a:solidFill>
                <a:schemeClr val="dk1"/>
              </a:solidFill>
            </a:endParaRPr>
          </a:p>
          <a:p>
            <a:pPr indent="0" lvl="0" marL="0" rtl="0" algn="l">
              <a:spcBef>
                <a:spcPts val="1200"/>
              </a:spcBef>
              <a:spcAft>
                <a:spcPts val="0"/>
              </a:spcAft>
              <a:buNone/>
            </a:pPr>
            <a:r>
              <a:rPr b="1" lang="en" sz="2520">
                <a:solidFill>
                  <a:schemeClr val="dk1"/>
                </a:solidFill>
              </a:rPr>
              <a:t>After the Resurrection</a:t>
            </a:r>
            <a:r>
              <a:rPr lang="en" sz="2520">
                <a:solidFill>
                  <a:schemeClr val="dk1"/>
                </a:solidFill>
              </a:rPr>
              <a:t>, Jesus </a:t>
            </a:r>
            <a:r>
              <a:rPr b="1" lang="en" sz="2520">
                <a:solidFill>
                  <a:schemeClr val="dk1"/>
                </a:solidFill>
              </a:rPr>
              <a:t>breathed the Holy Spirit</a:t>
            </a:r>
            <a:r>
              <a:rPr lang="en" sz="2520">
                <a:solidFill>
                  <a:schemeClr val="dk1"/>
                </a:solidFill>
              </a:rPr>
              <a:t> onto His apostles, giving them direct power to forgive sins </a:t>
            </a:r>
            <a:r>
              <a:rPr b="1" lang="en" sz="2520">
                <a:solidFill>
                  <a:schemeClr val="dk1"/>
                </a:solidFill>
              </a:rPr>
              <a:t>as His representatives</a:t>
            </a:r>
            <a:r>
              <a:rPr lang="en" sz="2520">
                <a:solidFill>
                  <a:schemeClr val="dk1"/>
                </a:solidFill>
              </a:rPr>
              <a:t>.</a:t>
            </a:r>
            <a:endParaRPr sz="2520">
              <a:solidFill>
                <a:schemeClr val="dk1"/>
              </a:solidFill>
            </a:endParaRPr>
          </a:p>
          <a:p>
            <a:pPr indent="0" lvl="0" marL="0" rtl="0" algn="l">
              <a:spcBef>
                <a:spcPts val="1200"/>
              </a:spcBef>
              <a:spcAft>
                <a:spcPts val="0"/>
              </a:spcAft>
              <a:buNone/>
            </a:pPr>
            <a:r>
              <a:t/>
            </a:r>
            <a:endParaRPr b="1" sz="252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Penance Work?</a:t>
            </a:r>
            <a:endParaRPr/>
          </a:p>
        </p:txBody>
      </p:sp>
      <p:sp>
        <p:nvSpPr>
          <p:cNvPr id="109" name="Google Shape;109;p20"/>
          <p:cNvSpPr txBox="1"/>
          <p:nvPr>
            <p:ph idx="1" type="body"/>
          </p:nvPr>
        </p:nvSpPr>
        <p:spPr>
          <a:xfrm>
            <a:off x="311700" y="1017725"/>
            <a:ext cx="4830600" cy="31767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en" sz="1200">
                <a:solidFill>
                  <a:schemeClr val="dk1"/>
                </a:solidFill>
                <a:latin typeface="Spectral ExtraBold"/>
                <a:ea typeface="Spectral ExtraBold"/>
                <a:cs typeface="Spectral ExtraBold"/>
                <a:sym typeface="Spectral ExtraBold"/>
              </a:rPr>
              <a:t>A. The Penitent:</a:t>
            </a:r>
            <a:endParaRPr sz="1200">
              <a:solidFill>
                <a:schemeClr val="dk1"/>
              </a:solidFill>
              <a:latin typeface="Spectral ExtraBold"/>
              <a:ea typeface="Spectral ExtraBold"/>
              <a:cs typeface="Spectral ExtraBold"/>
              <a:sym typeface="Spectral ExtraBold"/>
            </a:endParaRPr>
          </a:p>
          <a:p>
            <a:pPr indent="-273050" lvl="0" marL="457200" rtl="0" algn="l">
              <a:spcBef>
                <a:spcPts val="1200"/>
              </a:spcBef>
              <a:spcAft>
                <a:spcPts val="0"/>
              </a:spcAft>
              <a:buClr>
                <a:schemeClr val="dk1"/>
              </a:buClr>
              <a:buSzPts val="700"/>
              <a:buAutoNum type="arabicPeriod"/>
            </a:pPr>
            <a:r>
              <a:rPr b="1" lang="en" sz="700">
                <a:solidFill>
                  <a:schemeClr val="dk1"/>
                </a:solidFill>
              </a:rPr>
              <a:t>Repents</a:t>
            </a:r>
            <a:r>
              <a:rPr lang="en" sz="700">
                <a:solidFill>
                  <a:schemeClr val="dk1"/>
                </a:solidFill>
              </a:rPr>
              <a:t> – feels sorrow for sin (Acts 3:19).</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Decides to change</a:t>
            </a:r>
            <a:r>
              <a:rPr lang="en" sz="700">
                <a:solidFill>
                  <a:schemeClr val="dk1"/>
                </a:solidFill>
              </a:rPr>
              <a:t> – doesn’t plan to return to sin (Luke 15:11–32).</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Confesses to a priest</a:t>
            </a:r>
            <a:r>
              <a:rPr lang="en" sz="700">
                <a:solidFill>
                  <a:schemeClr val="dk1"/>
                </a:solidFill>
              </a:rPr>
              <a:t> – especially sins that dominate the soul.</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Trusts in God’s mercy</a:t>
            </a:r>
            <a:r>
              <a:rPr lang="en" sz="700">
                <a:solidFill>
                  <a:schemeClr val="dk1"/>
                </a:solidFill>
              </a:rPr>
              <a:t> – like the woman who heard: “Your sins are forgiven” (John 8:11).</a:t>
            </a:r>
            <a:br>
              <a:rPr lang="en" sz="700">
                <a:solidFill>
                  <a:schemeClr val="dk1"/>
                </a:solidFill>
              </a:rPr>
            </a:br>
            <a:endParaRPr sz="700">
              <a:solidFill>
                <a:schemeClr val="dk1"/>
              </a:solidFill>
            </a:endParaRPr>
          </a:p>
          <a:p>
            <a:pPr indent="0" lvl="0" marL="0" rtl="0" algn="l">
              <a:spcBef>
                <a:spcPts val="1400"/>
              </a:spcBef>
              <a:spcAft>
                <a:spcPts val="0"/>
              </a:spcAft>
              <a:buClr>
                <a:schemeClr val="dk1"/>
              </a:buClr>
              <a:buSzPts val="1100"/>
              <a:buFont typeface="Arial"/>
              <a:buNone/>
            </a:pPr>
            <a:r>
              <a:rPr lang="en" sz="1200">
                <a:solidFill>
                  <a:schemeClr val="dk1"/>
                </a:solidFill>
                <a:latin typeface="Spectral ExtraBold"/>
                <a:ea typeface="Spectral ExtraBold"/>
                <a:cs typeface="Spectral ExtraBold"/>
                <a:sym typeface="Spectral ExtraBold"/>
              </a:rPr>
              <a:t>B. The Priest:</a:t>
            </a:r>
            <a:endParaRPr sz="1200">
              <a:solidFill>
                <a:schemeClr val="dk1"/>
              </a:solidFill>
              <a:latin typeface="Spectral ExtraBold"/>
              <a:ea typeface="Spectral ExtraBold"/>
              <a:cs typeface="Spectral ExtraBold"/>
              <a:sym typeface="Spectral ExtraBold"/>
            </a:endParaRPr>
          </a:p>
          <a:p>
            <a:pPr indent="-273050" lvl="0" marL="457200" rtl="0" algn="l">
              <a:spcBef>
                <a:spcPts val="1200"/>
              </a:spcBef>
              <a:spcAft>
                <a:spcPts val="0"/>
              </a:spcAft>
              <a:buClr>
                <a:schemeClr val="dk1"/>
              </a:buClr>
              <a:buSzPts val="700"/>
              <a:buAutoNum type="arabicPeriod"/>
            </a:pPr>
            <a:r>
              <a:rPr b="1" lang="en" sz="700">
                <a:solidFill>
                  <a:schemeClr val="dk1"/>
                </a:solidFill>
              </a:rPr>
              <a:t>Listens and absolves</a:t>
            </a:r>
            <a:r>
              <a:rPr lang="en" sz="700">
                <a:solidFill>
                  <a:schemeClr val="dk1"/>
                </a:solidFill>
              </a:rPr>
              <a:t> – acts in Christ’s name.</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Gives spiritual counsel</a:t>
            </a:r>
            <a:r>
              <a:rPr lang="en" sz="700">
                <a:solidFill>
                  <a:schemeClr val="dk1"/>
                </a:solidFill>
              </a:rPr>
              <a:t> – how to overcome sin.</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Speaks words of absolution</a:t>
            </a:r>
            <a:r>
              <a:rPr lang="en" sz="700">
                <a:solidFill>
                  <a:schemeClr val="dk1"/>
                </a:solidFill>
              </a:rPr>
              <a:t> – the outward sign.</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Maintains complete secrecy</a:t>
            </a:r>
            <a:r>
              <a:rPr lang="en" sz="700">
                <a:solidFill>
                  <a:schemeClr val="dk1"/>
                </a:solidFill>
              </a:rPr>
              <a:t> – “seal of confession” is absolute.</a:t>
            </a:r>
            <a:br>
              <a:rPr lang="en" sz="700">
                <a:solidFill>
                  <a:schemeClr val="dk1"/>
                </a:solidFill>
              </a:rPr>
            </a:br>
            <a:endParaRPr sz="700">
              <a:solidFill>
                <a:schemeClr val="dk1"/>
              </a:solidFill>
            </a:endParaRPr>
          </a:p>
          <a:p>
            <a:pPr indent="-273050" lvl="0" marL="457200" rtl="0" algn="l">
              <a:spcBef>
                <a:spcPts val="0"/>
              </a:spcBef>
              <a:spcAft>
                <a:spcPts val="0"/>
              </a:spcAft>
              <a:buClr>
                <a:schemeClr val="dk1"/>
              </a:buClr>
              <a:buSzPts val="700"/>
              <a:buAutoNum type="arabicPeriod"/>
            </a:pPr>
            <a:r>
              <a:rPr b="1" lang="en" sz="700">
                <a:solidFill>
                  <a:schemeClr val="dk1"/>
                </a:solidFill>
              </a:rPr>
              <a:t>May assign spiritual discipline (epitimia)</a:t>
            </a:r>
            <a:r>
              <a:rPr lang="en" sz="700">
                <a:solidFill>
                  <a:schemeClr val="dk1"/>
                </a:solidFill>
              </a:rPr>
              <a:t> – Not punishment, but spiritual therapy:</a:t>
            </a:r>
            <a:endParaRPr sz="700">
              <a:solidFill>
                <a:schemeClr val="dk1"/>
              </a:solidFill>
            </a:endParaRPr>
          </a:p>
          <a:p>
            <a:pPr indent="0" lvl="0" marL="0" rtl="0" algn="l">
              <a:spcBef>
                <a:spcPts val="1200"/>
              </a:spcBef>
              <a:spcAft>
                <a:spcPts val="0"/>
              </a:spcAft>
              <a:buNone/>
            </a:pPr>
            <a:r>
              <a:t/>
            </a:r>
            <a:endParaRPr sz="700">
              <a:solidFill>
                <a:schemeClr val="dk1"/>
              </a:solidFill>
            </a:endParaRPr>
          </a:p>
          <a:p>
            <a:pPr indent="0" lvl="0" marL="0" rtl="0" algn="l">
              <a:spcBef>
                <a:spcPts val="1200"/>
              </a:spcBef>
              <a:spcAft>
                <a:spcPts val="1200"/>
              </a:spcAft>
              <a:buNone/>
            </a:pPr>
            <a:r>
              <a:t/>
            </a:r>
            <a:endParaRPr/>
          </a:p>
        </p:txBody>
      </p:sp>
      <p:sp>
        <p:nvSpPr>
          <p:cNvPr id="110" name="Google Shape;110;p20"/>
          <p:cNvSpPr/>
          <p:nvPr/>
        </p:nvSpPr>
        <p:spPr>
          <a:xfrm>
            <a:off x="5458575" y="1181625"/>
            <a:ext cx="3078600" cy="2364300"/>
          </a:xfrm>
          <a:prstGeom prst="roundRect">
            <a:avLst>
              <a:gd fmla="val 16667" name="adj"/>
            </a:avLst>
          </a:prstGeom>
          <a:gradFill>
            <a:gsLst>
              <a:gs pos="0">
                <a:srgbClr val="FDECDB"/>
              </a:gs>
              <a:gs pos="100000">
                <a:srgbClr val="F0AA63"/>
              </a:gs>
            </a:gsLst>
            <a:path path="circle">
              <a:fillToRect b="50%" l="50%" r="50%" t="50%"/>
            </a:path>
            <a:tileRect/>
          </a:gra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Why Confess to a Priest?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People often ask, “Why not confess directly to God?”</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The answer is: you </a:t>
            </a:r>
            <a:r>
              <a:rPr b="1" lang="en" sz="1100">
                <a:solidFill>
                  <a:schemeClr val="dk1"/>
                </a:solidFill>
              </a:rPr>
              <a:t>do confess to God</a:t>
            </a:r>
            <a:r>
              <a:rPr lang="en" sz="1100">
                <a:solidFill>
                  <a:schemeClr val="dk1"/>
                </a:solidFill>
              </a:rPr>
              <a:t>, but through His chosen method. Christ Himself </a:t>
            </a:r>
            <a:r>
              <a:rPr b="1" lang="en" sz="1100">
                <a:solidFill>
                  <a:schemeClr val="dk1"/>
                </a:solidFill>
              </a:rPr>
              <a:t>established confession to a priest</a:t>
            </a:r>
            <a:r>
              <a:rPr lang="en" sz="1100">
                <a:solidFill>
                  <a:schemeClr val="dk1"/>
                </a:solidFill>
              </a:rPr>
              <a:t>. The priest is not acting on his own; he is a </a:t>
            </a:r>
            <a:r>
              <a:rPr b="1" lang="en" sz="1100">
                <a:solidFill>
                  <a:schemeClr val="dk1"/>
                </a:solidFill>
              </a:rPr>
              <a:t>witness</a:t>
            </a:r>
            <a:r>
              <a:rPr lang="en" sz="1100">
                <a:solidFill>
                  <a:schemeClr val="dk1"/>
                </a:solidFill>
              </a:rPr>
              <a:t>, a </a:t>
            </a:r>
            <a:r>
              <a:rPr b="1" lang="en" sz="1100">
                <a:solidFill>
                  <a:schemeClr val="dk1"/>
                </a:solidFill>
              </a:rPr>
              <a:t>guide</a:t>
            </a:r>
            <a:r>
              <a:rPr lang="en" sz="1100">
                <a:solidFill>
                  <a:schemeClr val="dk1"/>
                </a:solidFill>
              </a:rPr>
              <a:t>, and a </a:t>
            </a:r>
            <a:r>
              <a:rPr b="1" lang="en" sz="1100">
                <a:solidFill>
                  <a:schemeClr val="dk1"/>
                </a:solidFill>
              </a:rPr>
              <a:t>channel of God's forgiveness</a:t>
            </a:r>
            <a:r>
              <a:rPr lang="en" sz="1100">
                <a:solidFill>
                  <a:schemeClr val="dk1"/>
                </a:solidFill>
              </a:rPr>
              <a:t>, like a doctor is a channel of healing.</a:t>
            </a:r>
            <a:endParaRPr sz="1100">
              <a:solidFill>
                <a:schemeClr val="dk1"/>
              </a:solidFill>
            </a:endParaRPr>
          </a:p>
        </p:txBody>
      </p:sp>
      <p:sp>
        <p:nvSpPr>
          <p:cNvPr id="111" name="Google Shape;111;p20"/>
          <p:cNvSpPr/>
          <p:nvPr/>
        </p:nvSpPr>
        <p:spPr>
          <a:xfrm>
            <a:off x="311700" y="4194300"/>
            <a:ext cx="8253000" cy="781800"/>
          </a:xfrm>
          <a:prstGeom prst="roundRect">
            <a:avLst>
              <a:gd fmla="val 16667" name="adj"/>
            </a:avLst>
          </a:prstGeom>
          <a:gradFill>
            <a:gsLst>
              <a:gs pos="0">
                <a:srgbClr val="FDECDB"/>
              </a:gs>
              <a:gs pos="100000">
                <a:srgbClr val="F0AA63"/>
              </a:gs>
            </a:gsLst>
            <a:path path="circle">
              <a:fillToRect b="50%" l="50%" r="50%" t="50%"/>
            </a:path>
            <a:tileRect/>
          </a:gra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rPr>
              <a:t>Jesus gave the authority to </a:t>
            </a:r>
            <a:r>
              <a:rPr b="1" lang="en" sz="1100">
                <a:solidFill>
                  <a:schemeClr val="dk1"/>
                </a:solidFill>
              </a:rPr>
              <a:t>bind and loose</a:t>
            </a:r>
            <a:r>
              <a:rPr lang="en" sz="1100">
                <a:solidFill>
                  <a:schemeClr val="dk1"/>
                </a:solidFill>
              </a:rPr>
              <a:t>, and to </a:t>
            </a:r>
            <a:r>
              <a:rPr b="1" lang="en" sz="1100">
                <a:solidFill>
                  <a:schemeClr val="dk1"/>
                </a:solidFill>
              </a:rPr>
              <a:t>forgive sins</a:t>
            </a:r>
            <a:r>
              <a:rPr lang="en" sz="1100">
                <a:solidFill>
                  <a:schemeClr val="dk1"/>
                </a:solidFill>
              </a:rPr>
              <a:t>, directly to the </a:t>
            </a:r>
            <a:r>
              <a:rPr b="1" lang="en" sz="1100">
                <a:solidFill>
                  <a:schemeClr val="dk1"/>
                </a:solidFill>
              </a:rPr>
              <a:t>Twelve Apostles</a:t>
            </a:r>
            <a:r>
              <a:rPr lang="en" sz="1100">
                <a:solidFill>
                  <a:schemeClr val="dk1"/>
                </a:solidFill>
              </a:rPr>
              <a:t>.</a:t>
            </a:r>
            <a:endParaRPr sz="1100">
              <a:solidFill>
                <a:schemeClr val="dk1"/>
              </a:solidFill>
            </a:endParaRPr>
          </a:p>
          <a:p>
            <a:pPr indent="0" lvl="0" marL="0" rtl="0" algn="ctr">
              <a:spcBef>
                <a:spcPts val="0"/>
              </a:spcBef>
              <a:spcAft>
                <a:spcPts val="0"/>
              </a:spcAft>
              <a:buClr>
                <a:schemeClr val="dk1"/>
              </a:buClr>
              <a:buSzPts val="1100"/>
              <a:buFont typeface="Arial"/>
              <a:buNone/>
            </a:pPr>
            <a:r>
              <a:rPr lang="en" sz="1100">
                <a:solidFill>
                  <a:schemeClr val="dk1"/>
                </a:solidFill>
              </a:rPr>
              <a:t>But He also intended this authority to continue </a:t>
            </a:r>
            <a:r>
              <a:rPr b="1" lang="en" sz="1100">
                <a:solidFill>
                  <a:schemeClr val="dk1"/>
                </a:solidFill>
              </a:rPr>
              <a:t>through the Church</a:t>
            </a:r>
            <a:r>
              <a:rPr lang="en" sz="1100">
                <a:solidFill>
                  <a:schemeClr val="dk1"/>
                </a:solidFill>
              </a:rPr>
              <a:t>, by the laying on of hands (ordination), which we call </a:t>
            </a:r>
            <a:r>
              <a:rPr b="1" lang="en" sz="1100">
                <a:solidFill>
                  <a:schemeClr val="dk1"/>
                </a:solidFill>
              </a:rPr>
              <a:t>Apostolic Succession</a:t>
            </a:r>
            <a:r>
              <a:rPr lang="en" sz="1100">
                <a:solidFill>
                  <a:schemeClr val="dk1"/>
                </a:solidFill>
              </a:rPr>
              <a:t>.</a:t>
            </a:r>
            <a:endParaRPr sz="1100">
              <a:solidFill>
                <a:schemeClr val="dk1"/>
              </a:solidFill>
            </a:endParaRPr>
          </a:p>
          <a:p>
            <a:pPr indent="0" lvl="0" marL="0" rtl="0" algn="ctr">
              <a:spcBef>
                <a:spcPts val="0"/>
              </a:spcBef>
              <a:spcAft>
                <a:spcPts val="0"/>
              </a:spcAft>
              <a:buNone/>
            </a:pPr>
            <a:r>
              <a:rPr lang="en" sz="1100">
                <a:solidFill>
                  <a:schemeClr val="dk1"/>
                </a:solidFill>
              </a:rPr>
              <a:t>That’s why </a:t>
            </a:r>
            <a:r>
              <a:rPr b="1" lang="en" sz="1100">
                <a:solidFill>
                  <a:schemeClr val="dk1"/>
                </a:solidFill>
              </a:rPr>
              <a:t>only bishops and priests</a:t>
            </a:r>
            <a:r>
              <a:rPr lang="en" sz="1100">
                <a:solidFill>
                  <a:schemeClr val="dk1"/>
                </a:solidFill>
              </a:rPr>
              <a:t> can perform the sacrament of Penance.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You Prepare For Penance?</a:t>
            </a:r>
            <a:endParaRPr/>
          </a:p>
        </p:txBody>
      </p:sp>
      <p:sp>
        <p:nvSpPr>
          <p:cNvPr id="117" name="Google Shape;117;p21"/>
          <p:cNvSpPr/>
          <p:nvPr/>
        </p:nvSpPr>
        <p:spPr>
          <a:xfrm>
            <a:off x="1243375" y="1140550"/>
            <a:ext cx="2864100" cy="1846500"/>
          </a:xfrm>
          <a:prstGeom prst="rect">
            <a:avLst/>
          </a:prstGeom>
          <a:gradFill>
            <a:gsLst>
              <a:gs pos="0">
                <a:srgbClr val="FDECDB"/>
              </a:gs>
              <a:gs pos="100000">
                <a:srgbClr val="F0AA63"/>
              </a:gs>
            </a:gsLst>
            <a:path path="circle">
              <a:fillToRect b="50%" l="50%" r="50%" t="50%"/>
            </a:path>
            <a:tileRect/>
          </a:gra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sz="900" u="sng">
              <a:solidFill>
                <a:schemeClr val="dk1"/>
              </a:solidFill>
              <a:latin typeface="Times New Roman"/>
              <a:ea typeface="Times New Roman"/>
              <a:cs typeface="Times New Roman"/>
              <a:sym typeface="Times New Roman"/>
            </a:endParaRPr>
          </a:p>
          <a:p>
            <a:pPr indent="0" lvl="0" marL="0" rtl="0" algn="ctr">
              <a:lnSpc>
                <a:spcPct val="115000"/>
              </a:lnSpc>
              <a:spcBef>
                <a:spcPts val="1400"/>
              </a:spcBef>
              <a:spcAft>
                <a:spcPts val="0"/>
              </a:spcAft>
              <a:buClr>
                <a:schemeClr val="dk1"/>
              </a:buClr>
              <a:buSzPts val="1100"/>
              <a:buFont typeface="Arial"/>
              <a:buNone/>
            </a:pPr>
            <a:r>
              <a:rPr b="1" lang="en" sz="900" u="sng">
                <a:solidFill>
                  <a:schemeClr val="dk1"/>
                </a:solidFill>
                <a:latin typeface="Times New Roman"/>
                <a:ea typeface="Times New Roman"/>
                <a:cs typeface="Times New Roman"/>
                <a:sym typeface="Times New Roman"/>
              </a:rPr>
              <a:t>Pray </a:t>
            </a:r>
            <a:endParaRPr b="1" sz="900" u="sng">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“Search me, O God, and know my heart.” (Psalm 139:23)</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900">
                <a:solidFill>
                  <a:schemeClr val="dk1"/>
                </a:solidFill>
                <a:latin typeface="Times New Roman"/>
                <a:ea typeface="Times New Roman"/>
                <a:cs typeface="Times New Roman"/>
                <a:sym typeface="Times New Roman"/>
              </a:rPr>
              <a:t>- Ask the Holy Spirit to help you </a:t>
            </a:r>
            <a:r>
              <a:rPr b="1" lang="en" sz="900">
                <a:solidFill>
                  <a:schemeClr val="dk1"/>
                </a:solidFill>
                <a:latin typeface="Times New Roman"/>
                <a:ea typeface="Times New Roman"/>
                <a:cs typeface="Times New Roman"/>
                <a:sym typeface="Times New Roman"/>
              </a:rPr>
              <a:t>see your sins clearly</a:t>
            </a:r>
            <a:r>
              <a:rPr lang="en" sz="900">
                <a:solidFill>
                  <a:schemeClr val="dk1"/>
                </a:solidFill>
                <a:latin typeface="Times New Roman"/>
                <a:ea typeface="Times New Roman"/>
                <a:cs typeface="Times New Roman"/>
                <a:sym typeface="Times New Roman"/>
              </a:rPr>
              <a:t> without excuses or pride.</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900">
              <a:solidFill>
                <a:schemeClr val="dk1"/>
              </a:solidFill>
              <a:latin typeface="Times New Roman"/>
              <a:ea typeface="Times New Roman"/>
              <a:cs typeface="Times New Roman"/>
              <a:sym typeface="Times New Roman"/>
            </a:endParaRPr>
          </a:p>
        </p:txBody>
      </p:sp>
      <p:sp>
        <p:nvSpPr>
          <p:cNvPr id="118" name="Google Shape;118;p21"/>
          <p:cNvSpPr/>
          <p:nvPr/>
        </p:nvSpPr>
        <p:spPr>
          <a:xfrm>
            <a:off x="5184675" y="1140550"/>
            <a:ext cx="2864100" cy="1846500"/>
          </a:xfrm>
          <a:prstGeom prst="rect">
            <a:avLst/>
          </a:prstGeom>
          <a:gradFill>
            <a:gsLst>
              <a:gs pos="0">
                <a:srgbClr val="FDECDB"/>
              </a:gs>
              <a:gs pos="100000">
                <a:srgbClr val="F0AA63"/>
              </a:gs>
            </a:gsLst>
            <a:path path="circle">
              <a:fillToRect b="50%" l="50%" r="50%" t="50%"/>
            </a:path>
            <a:tileRect/>
          </a:gra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sz="900" u="sng">
              <a:solidFill>
                <a:schemeClr val="dk1"/>
              </a:solidFill>
              <a:latin typeface="Times New Roman"/>
              <a:ea typeface="Times New Roman"/>
              <a:cs typeface="Times New Roman"/>
              <a:sym typeface="Times New Roman"/>
            </a:endParaRPr>
          </a:p>
          <a:p>
            <a:pPr indent="0" lvl="0" marL="0" rtl="0" algn="ctr">
              <a:lnSpc>
                <a:spcPct val="115000"/>
              </a:lnSpc>
              <a:spcBef>
                <a:spcPts val="1400"/>
              </a:spcBef>
              <a:spcAft>
                <a:spcPts val="0"/>
              </a:spcAft>
              <a:buNone/>
            </a:pPr>
            <a:r>
              <a:rPr b="1" lang="en" sz="900" u="sng">
                <a:solidFill>
                  <a:schemeClr val="dk1"/>
                </a:solidFill>
                <a:latin typeface="Times New Roman"/>
                <a:ea typeface="Times New Roman"/>
                <a:cs typeface="Times New Roman"/>
                <a:sym typeface="Times New Roman"/>
              </a:rPr>
              <a:t>Examine Your Conscience</a:t>
            </a:r>
            <a:endParaRPr b="1" sz="900" u="sng">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lang="en" sz="900">
                <a:solidFill>
                  <a:schemeClr val="dk1"/>
                </a:solidFill>
                <a:latin typeface="Times New Roman"/>
                <a:ea typeface="Times New Roman"/>
                <a:cs typeface="Times New Roman"/>
                <a:sym typeface="Times New Roman"/>
              </a:rPr>
              <a:t>Use a spiritual mirror. Reflect on:</a:t>
            </a:r>
            <a:endParaRPr sz="900">
              <a:solidFill>
                <a:schemeClr val="dk1"/>
              </a:solidFill>
              <a:latin typeface="Times New Roman"/>
              <a:ea typeface="Times New Roman"/>
              <a:cs typeface="Times New Roman"/>
              <a:sym typeface="Times New Roman"/>
            </a:endParaRPr>
          </a:p>
          <a:p>
            <a:pPr indent="-285750" lvl="0" marL="457200" rtl="0" algn="l">
              <a:lnSpc>
                <a:spcPct val="115000"/>
              </a:lnSpc>
              <a:spcBef>
                <a:spcPts val="14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The Ten Commandments</a:t>
            </a:r>
            <a:endParaRPr b="1"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The Beatitudes (Matt. 5)</a:t>
            </a:r>
            <a:endParaRPr b="1"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Your thoughts, words, actions, and </a:t>
            </a:r>
            <a:r>
              <a:rPr b="1" lang="en" sz="900">
                <a:solidFill>
                  <a:schemeClr val="dk1"/>
                </a:solidFill>
                <a:latin typeface="Times New Roman"/>
                <a:ea typeface="Times New Roman"/>
                <a:cs typeface="Times New Roman"/>
                <a:sym typeface="Times New Roman"/>
              </a:rPr>
              <a:t>what you failed to do</a:t>
            </a:r>
            <a:endParaRPr b="1"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lang="en" sz="900">
                <a:solidFill>
                  <a:schemeClr val="dk1"/>
                </a:solidFill>
                <a:latin typeface="Times New Roman"/>
                <a:ea typeface="Times New Roman"/>
                <a:cs typeface="Times New Roman"/>
                <a:sym typeface="Times New Roman"/>
              </a:rPr>
              <a:t>Your </a:t>
            </a:r>
            <a:r>
              <a:rPr b="1" lang="en" sz="900">
                <a:solidFill>
                  <a:schemeClr val="dk1"/>
                </a:solidFill>
                <a:latin typeface="Times New Roman"/>
                <a:ea typeface="Times New Roman"/>
                <a:cs typeface="Times New Roman"/>
                <a:sym typeface="Times New Roman"/>
              </a:rPr>
              <a:t>relationships</a:t>
            </a:r>
            <a:r>
              <a:rPr lang="en" sz="900">
                <a:solidFill>
                  <a:schemeClr val="dk1"/>
                </a:solidFill>
                <a:latin typeface="Times New Roman"/>
                <a:ea typeface="Times New Roman"/>
                <a:cs typeface="Times New Roman"/>
                <a:sym typeface="Times New Roman"/>
              </a:rPr>
              <a:t>, your </a:t>
            </a:r>
            <a:r>
              <a:rPr b="1" lang="en" sz="900">
                <a:solidFill>
                  <a:schemeClr val="dk1"/>
                </a:solidFill>
                <a:latin typeface="Times New Roman"/>
                <a:ea typeface="Times New Roman"/>
                <a:cs typeface="Times New Roman"/>
                <a:sym typeface="Times New Roman"/>
              </a:rPr>
              <a:t>prayers</a:t>
            </a:r>
            <a:r>
              <a:rPr lang="en" sz="900">
                <a:solidFill>
                  <a:schemeClr val="dk1"/>
                </a:solidFill>
                <a:latin typeface="Times New Roman"/>
                <a:ea typeface="Times New Roman"/>
                <a:cs typeface="Times New Roman"/>
                <a:sym typeface="Times New Roman"/>
              </a:rPr>
              <a:t>, and how you treat </a:t>
            </a:r>
            <a:r>
              <a:rPr b="1" lang="en" sz="900">
                <a:solidFill>
                  <a:schemeClr val="dk1"/>
                </a:solidFill>
                <a:latin typeface="Times New Roman"/>
                <a:ea typeface="Times New Roman"/>
                <a:cs typeface="Times New Roman"/>
                <a:sym typeface="Times New Roman"/>
              </a:rPr>
              <a:t>your body and soul</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700">
              <a:solidFill>
                <a:schemeClr val="dk1"/>
              </a:solidFill>
              <a:latin typeface="Times New Roman"/>
              <a:ea typeface="Times New Roman"/>
              <a:cs typeface="Times New Roman"/>
              <a:sym typeface="Times New Roman"/>
            </a:endParaRPr>
          </a:p>
        </p:txBody>
      </p:sp>
      <p:sp>
        <p:nvSpPr>
          <p:cNvPr id="119" name="Google Shape;119;p21"/>
          <p:cNvSpPr/>
          <p:nvPr/>
        </p:nvSpPr>
        <p:spPr>
          <a:xfrm>
            <a:off x="5184675" y="3234975"/>
            <a:ext cx="2864100" cy="1846500"/>
          </a:xfrm>
          <a:prstGeom prst="rect">
            <a:avLst/>
          </a:prstGeom>
          <a:gradFill>
            <a:gsLst>
              <a:gs pos="0">
                <a:srgbClr val="FDECDB"/>
              </a:gs>
              <a:gs pos="100000">
                <a:srgbClr val="F0AA63"/>
              </a:gs>
            </a:gsLst>
            <a:path path="circle">
              <a:fillToRect b="50%" l="50%" r="50%" t="50%"/>
            </a:path>
            <a:tileRect/>
          </a:gra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sz="900" u="sng">
              <a:solidFill>
                <a:schemeClr val="dk1"/>
              </a:solidFill>
              <a:latin typeface="Times New Roman"/>
              <a:ea typeface="Times New Roman"/>
              <a:cs typeface="Times New Roman"/>
              <a:sym typeface="Times New Roman"/>
            </a:endParaRPr>
          </a:p>
          <a:p>
            <a:pPr indent="0" lvl="0" marL="0" rtl="0" algn="ctr">
              <a:lnSpc>
                <a:spcPct val="115000"/>
              </a:lnSpc>
              <a:spcBef>
                <a:spcPts val="1400"/>
              </a:spcBef>
              <a:spcAft>
                <a:spcPts val="0"/>
              </a:spcAft>
              <a:buClr>
                <a:schemeClr val="dk1"/>
              </a:buClr>
              <a:buSzPts val="1100"/>
              <a:buFont typeface="Arial"/>
              <a:buNone/>
            </a:pPr>
            <a:r>
              <a:rPr b="1" lang="en" sz="900" u="sng">
                <a:solidFill>
                  <a:schemeClr val="dk1"/>
                </a:solidFill>
                <a:latin typeface="Times New Roman"/>
                <a:ea typeface="Times New Roman"/>
                <a:cs typeface="Times New Roman"/>
                <a:sym typeface="Times New Roman"/>
              </a:rPr>
              <a:t>Be Specific and Honest</a:t>
            </a:r>
            <a:endParaRPr b="1" sz="900" u="sng">
              <a:solidFill>
                <a:schemeClr val="dk1"/>
              </a:solidFill>
              <a:latin typeface="Times New Roman"/>
              <a:ea typeface="Times New Roman"/>
              <a:cs typeface="Times New Roman"/>
              <a:sym typeface="Times New Roman"/>
            </a:endParaRPr>
          </a:p>
          <a:p>
            <a:pPr indent="0" lvl="0" marL="0" marR="381000" rtl="0" algn="l">
              <a:lnSpc>
                <a:spcPct val="115000"/>
              </a:lnSpc>
              <a:spcBef>
                <a:spcPts val="1200"/>
              </a:spcBef>
              <a:spcAft>
                <a:spcPts val="0"/>
              </a:spcAft>
              <a:buNone/>
            </a:pPr>
            <a:r>
              <a:rPr b="1" lang="en" sz="900">
                <a:solidFill>
                  <a:schemeClr val="dk1"/>
                </a:solidFill>
                <a:latin typeface="Times New Roman"/>
                <a:ea typeface="Times New Roman"/>
                <a:cs typeface="Times New Roman"/>
                <a:sym typeface="Times New Roman"/>
              </a:rPr>
              <a:t>Don’t generalize:</a:t>
            </a:r>
            <a:r>
              <a:rPr lang="en" sz="900">
                <a:solidFill>
                  <a:schemeClr val="dk1"/>
                </a:solidFill>
                <a:latin typeface="Times New Roman"/>
                <a:ea typeface="Times New Roman"/>
                <a:cs typeface="Times New Roman"/>
                <a:sym typeface="Times New Roman"/>
              </a:rPr>
              <a:t> “I’ve sinned a lot.”</a:t>
            </a:r>
            <a:br>
              <a:rPr lang="en"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marR="381000" rtl="0" algn="l">
              <a:lnSpc>
                <a:spcPct val="115000"/>
              </a:lnSpc>
              <a:spcBef>
                <a:spcPts val="120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Instead say:</a:t>
            </a:r>
            <a:r>
              <a:rPr lang="en" sz="900">
                <a:solidFill>
                  <a:schemeClr val="dk1"/>
                </a:solidFill>
                <a:latin typeface="Times New Roman"/>
                <a:ea typeface="Times New Roman"/>
                <a:cs typeface="Times New Roman"/>
                <a:sym typeface="Times New Roman"/>
              </a:rPr>
              <a:t> “I lied,” “I judged,” “I neglected prayer,” etc.</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900">
                <a:solidFill>
                  <a:schemeClr val="dk1"/>
                </a:solidFill>
                <a:latin typeface="Times New Roman"/>
                <a:ea typeface="Times New Roman"/>
                <a:cs typeface="Times New Roman"/>
                <a:sym typeface="Times New Roman"/>
              </a:rPr>
              <a:t>- </a:t>
            </a:r>
            <a:r>
              <a:rPr lang="en" sz="900">
                <a:solidFill>
                  <a:schemeClr val="dk1"/>
                </a:solidFill>
                <a:latin typeface="Times New Roman"/>
                <a:ea typeface="Times New Roman"/>
                <a:cs typeface="Times New Roman"/>
                <a:sym typeface="Times New Roman"/>
              </a:rPr>
              <a:t>You are not surprising God—you are </a:t>
            </a:r>
            <a:r>
              <a:rPr b="1" lang="en" sz="900">
                <a:solidFill>
                  <a:schemeClr val="dk1"/>
                </a:solidFill>
                <a:latin typeface="Times New Roman"/>
                <a:ea typeface="Times New Roman"/>
                <a:cs typeface="Times New Roman"/>
                <a:sym typeface="Times New Roman"/>
              </a:rPr>
              <a:t>naming your wounds</a:t>
            </a:r>
            <a:r>
              <a:rPr lang="en" sz="900">
                <a:solidFill>
                  <a:schemeClr val="dk1"/>
                </a:solidFill>
                <a:latin typeface="Times New Roman"/>
                <a:ea typeface="Times New Roman"/>
                <a:cs typeface="Times New Roman"/>
                <a:sym typeface="Times New Roman"/>
              </a:rPr>
              <a:t> so He can heal them.</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900" u="sng">
              <a:solidFill>
                <a:schemeClr val="dk1"/>
              </a:solidFill>
              <a:latin typeface="Times New Roman"/>
              <a:ea typeface="Times New Roman"/>
              <a:cs typeface="Times New Roman"/>
              <a:sym typeface="Times New Roman"/>
            </a:endParaRPr>
          </a:p>
        </p:txBody>
      </p:sp>
      <p:sp>
        <p:nvSpPr>
          <p:cNvPr id="120" name="Google Shape;120;p21"/>
          <p:cNvSpPr/>
          <p:nvPr/>
        </p:nvSpPr>
        <p:spPr>
          <a:xfrm>
            <a:off x="1243375" y="3234950"/>
            <a:ext cx="2864100" cy="1846500"/>
          </a:xfrm>
          <a:prstGeom prst="rect">
            <a:avLst/>
          </a:prstGeom>
          <a:gradFill>
            <a:gsLst>
              <a:gs pos="0">
                <a:srgbClr val="FDECDB"/>
              </a:gs>
              <a:gs pos="100000">
                <a:srgbClr val="F0AA63"/>
              </a:gs>
            </a:gsLst>
            <a:path path="circle">
              <a:fillToRect b="50%" l="50%" r="50%" t="50%"/>
            </a:path>
            <a:tileRect/>
          </a:gra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sz="900" u="sng">
              <a:solidFill>
                <a:schemeClr val="dk1"/>
              </a:solidFill>
              <a:latin typeface="Times New Roman"/>
              <a:ea typeface="Times New Roman"/>
              <a:cs typeface="Times New Roman"/>
              <a:sym typeface="Times New Roman"/>
            </a:endParaRPr>
          </a:p>
          <a:p>
            <a:pPr indent="0" lvl="0" marL="0" rtl="0" algn="ctr">
              <a:lnSpc>
                <a:spcPct val="115000"/>
              </a:lnSpc>
              <a:spcBef>
                <a:spcPts val="1400"/>
              </a:spcBef>
              <a:spcAft>
                <a:spcPts val="0"/>
              </a:spcAft>
              <a:buClr>
                <a:schemeClr val="dk1"/>
              </a:buClr>
              <a:buSzPts val="1100"/>
              <a:buFont typeface="Arial"/>
              <a:buNone/>
            </a:pPr>
            <a:r>
              <a:rPr b="1" lang="en" sz="900" u="sng">
                <a:solidFill>
                  <a:schemeClr val="dk1"/>
                </a:solidFill>
                <a:latin typeface="Times New Roman"/>
                <a:ea typeface="Times New Roman"/>
                <a:cs typeface="Times New Roman"/>
                <a:sym typeface="Times New Roman"/>
              </a:rPr>
              <a:t>Approach with a Broken Spirit</a:t>
            </a:r>
            <a:endParaRPr b="1" sz="900" u="sng">
              <a:solidFill>
                <a:schemeClr val="dk1"/>
              </a:solidFill>
              <a:latin typeface="Times New Roman"/>
              <a:ea typeface="Times New Roman"/>
              <a:cs typeface="Times New Roman"/>
              <a:sym typeface="Times New Roman"/>
            </a:endParaRPr>
          </a:p>
          <a:p>
            <a:pPr indent="0" lvl="0" marL="0" marR="38100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“A broken and contrite heart, O God, You will not despise.” (Psalm 51:17)</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900">
                <a:solidFill>
                  <a:schemeClr val="dk1"/>
                </a:solidFill>
                <a:latin typeface="Times New Roman"/>
                <a:ea typeface="Times New Roman"/>
                <a:cs typeface="Times New Roman"/>
                <a:sym typeface="Times New Roman"/>
              </a:rPr>
              <a:t>-No need to justify or blame. True repentance says, </a:t>
            </a:r>
            <a:r>
              <a:rPr b="1" lang="en" sz="900">
                <a:solidFill>
                  <a:schemeClr val="dk1"/>
                </a:solidFill>
                <a:latin typeface="Times New Roman"/>
                <a:ea typeface="Times New Roman"/>
                <a:cs typeface="Times New Roman"/>
                <a:sym typeface="Times New Roman"/>
              </a:rPr>
              <a:t>“Lord, have mercy.”</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900" u="sng">
              <a:solidFill>
                <a:schemeClr val="dk1"/>
              </a:solidFill>
              <a:latin typeface="Times New Roman"/>
              <a:ea typeface="Times New Roman"/>
              <a:cs typeface="Times New Roman"/>
              <a:sym typeface="Times New Roman"/>
            </a:endParaRPr>
          </a:p>
        </p:txBody>
      </p:sp>
      <p:sp>
        <p:nvSpPr>
          <p:cNvPr id="121" name="Google Shape;121;p21"/>
          <p:cNvSpPr/>
          <p:nvPr/>
        </p:nvSpPr>
        <p:spPr>
          <a:xfrm>
            <a:off x="4465325" y="2036525"/>
            <a:ext cx="361500" cy="215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1"/>
          <p:cNvSpPr/>
          <p:nvPr/>
        </p:nvSpPr>
        <p:spPr>
          <a:xfrm rot="5400000">
            <a:off x="6524025" y="3003313"/>
            <a:ext cx="185400" cy="215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21"/>
          <p:cNvSpPr/>
          <p:nvPr/>
        </p:nvSpPr>
        <p:spPr>
          <a:xfrm rot="10800000">
            <a:off x="4465325" y="4050525"/>
            <a:ext cx="361500" cy="215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1"/>
          <p:cNvSpPr/>
          <p:nvPr/>
        </p:nvSpPr>
        <p:spPr>
          <a:xfrm rot="-5400000">
            <a:off x="2576725" y="3003325"/>
            <a:ext cx="197400" cy="215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Sins Can be Forgiven? </a:t>
            </a:r>
            <a:endParaRPr/>
          </a:p>
        </p:txBody>
      </p:sp>
      <p:sp>
        <p:nvSpPr>
          <p:cNvPr id="130" name="Google Shape;130;p22"/>
          <p:cNvSpPr txBox="1"/>
          <p:nvPr>
            <p:ph idx="1" type="body"/>
          </p:nvPr>
        </p:nvSpPr>
        <p:spPr>
          <a:xfrm>
            <a:off x="311700" y="1152475"/>
            <a:ext cx="46437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solidFill>
                  <a:schemeClr val="dk1"/>
                </a:solidFill>
              </a:rPr>
              <a:t>All sins—even the worst—can be forgiven:</a:t>
            </a:r>
            <a:br>
              <a:rPr b="1" lang="en" sz="1100">
                <a:solidFill>
                  <a:schemeClr val="dk1"/>
                </a:solidFill>
              </a:rPr>
            </a:br>
            <a:br>
              <a:rPr lang="en" sz="1100">
                <a:solidFill>
                  <a:schemeClr val="dk1"/>
                </a:solidFill>
              </a:rPr>
            </a:br>
            <a:r>
              <a:rPr lang="en" sz="1100">
                <a:solidFill>
                  <a:schemeClr val="dk1"/>
                </a:solidFill>
                <a:latin typeface="Oswald Light"/>
                <a:ea typeface="Oswald Light"/>
                <a:cs typeface="Oswald Light"/>
                <a:sym typeface="Oswald Light"/>
              </a:rPr>
              <a:t> </a:t>
            </a:r>
            <a:r>
              <a:rPr i="1" lang="en" sz="1100">
                <a:solidFill>
                  <a:schemeClr val="dk1"/>
                </a:solidFill>
                <a:latin typeface="Oswald Light"/>
                <a:ea typeface="Oswald Light"/>
                <a:cs typeface="Oswald Light"/>
                <a:sym typeface="Oswald Light"/>
              </a:rPr>
              <a:t>“Though your sins are like scarlet, they shall be white as snow.” (Isaiah 1:18)</a:t>
            </a:r>
            <a:br>
              <a:rPr i="1" lang="en" sz="1100">
                <a:solidFill>
                  <a:schemeClr val="dk1"/>
                </a:solidFill>
                <a:latin typeface="Oswald Light"/>
                <a:ea typeface="Oswald Light"/>
                <a:cs typeface="Oswald Light"/>
                <a:sym typeface="Oswald Light"/>
              </a:rPr>
            </a:br>
            <a:r>
              <a:rPr i="1" lang="en" sz="1100">
                <a:solidFill>
                  <a:schemeClr val="dk1"/>
                </a:solidFill>
                <a:latin typeface="Oswald Light"/>
                <a:ea typeface="Oswald Light"/>
                <a:cs typeface="Oswald Light"/>
                <a:sym typeface="Oswald Light"/>
              </a:rPr>
              <a:t> “Him who comes to Me I will never cast out.” (John 6:37)</a:t>
            </a:r>
            <a:br>
              <a:rPr i="1" lang="en" sz="1100">
                <a:solidFill>
                  <a:schemeClr val="dk1"/>
                </a:solidFill>
                <a:latin typeface="Impact"/>
                <a:ea typeface="Impact"/>
                <a:cs typeface="Impact"/>
                <a:sym typeface="Impact"/>
              </a:rPr>
            </a:br>
            <a:br>
              <a:rPr lang="en" sz="1100">
                <a:solidFill>
                  <a:schemeClr val="dk1"/>
                </a:solidFill>
              </a:rPr>
            </a:br>
            <a:r>
              <a:rPr b="1" lang="en" sz="1100">
                <a:solidFill>
                  <a:schemeClr val="dk1"/>
                </a:solidFill>
              </a:rPr>
              <a:t>Examples:</a:t>
            </a:r>
            <a:r>
              <a:rPr lang="en" sz="1100">
                <a:solidFill>
                  <a:schemeClr val="dk1"/>
                </a:solidFill>
              </a:rPr>
              <a:t> David (murder), Peter (denial), the adulterous woman (John 8).</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highlight>
                  <a:srgbClr val="FF0000"/>
                </a:highlight>
              </a:rPr>
              <a:t>The only sin Christ says cannot be forgiven is:</a:t>
            </a:r>
            <a:endParaRPr b="1" sz="1100">
              <a:solidFill>
                <a:schemeClr val="dk1"/>
              </a:solidFill>
              <a:highlight>
                <a:srgbClr val="FF0000"/>
              </a:highlight>
            </a:endParaRPr>
          </a:p>
          <a:p>
            <a:pPr indent="0" lvl="0" marL="381000" marR="381000" rtl="0" algn="l">
              <a:spcBef>
                <a:spcPts val="1200"/>
              </a:spcBef>
              <a:spcAft>
                <a:spcPts val="0"/>
              </a:spcAft>
              <a:buNone/>
            </a:pPr>
            <a:r>
              <a:rPr lang="en" sz="1100">
                <a:solidFill>
                  <a:schemeClr val="dk1"/>
                </a:solidFill>
                <a:latin typeface="Oswald Light"/>
                <a:ea typeface="Oswald Light"/>
                <a:cs typeface="Oswald Light"/>
                <a:sym typeface="Oswald Light"/>
              </a:rPr>
              <a:t>“Blasphemy against the Holy Spirit” (Matthew 12:31)</a:t>
            </a:r>
            <a:endParaRPr sz="1100">
              <a:solidFill>
                <a:schemeClr val="dk1"/>
              </a:solidFill>
              <a:latin typeface="Oswald Light"/>
              <a:ea typeface="Oswald Light"/>
              <a:cs typeface="Oswald Light"/>
              <a:sym typeface="Oswald Light"/>
            </a:endParaRPr>
          </a:p>
          <a:p>
            <a:pPr indent="-298450" lvl="0" marL="457200" rtl="0" algn="l">
              <a:spcBef>
                <a:spcPts val="1200"/>
              </a:spcBef>
              <a:spcAft>
                <a:spcPts val="0"/>
              </a:spcAft>
              <a:buClr>
                <a:schemeClr val="dk1"/>
              </a:buClr>
              <a:buSzPts val="1100"/>
              <a:buChar char="●"/>
            </a:pPr>
            <a:r>
              <a:rPr b="1" lang="en" sz="1100">
                <a:solidFill>
                  <a:schemeClr val="dk1"/>
                </a:solidFill>
              </a:rPr>
              <a:t>What does this mean?</a:t>
            </a:r>
            <a:endParaRPr b="1" sz="1100">
              <a:solidFill>
                <a:schemeClr val="dk1"/>
              </a:solidFill>
            </a:endParaRPr>
          </a:p>
          <a:p>
            <a:pPr indent="0" lvl="0" marL="0" rtl="0" algn="l">
              <a:spcBef>
                <a:spcPts val="1200"/>
              </a:spcBef>
              <a:spcAft>
                <a:spcPts val="0"/>
              </a:spcAft>
              <a:buNone/>
            </a:pPr>
            <a:r>
              <a:rPr lang="en" sz="1100">
                <a:solidFill>
                  <a:schemeClr val="dk1"/>
                </a:solidFill>
              </a:rPr>
              <a:t> It refers to </a:t>
            </a:r>
            <a:r>
              <a:rPr b="1" lang="en" sz="1100">
                <a:solidFill>
                  <a:schemeClr val="dk1"/>
                </a:solidFill>
              </a:rPr>
              <a:t>hard-hearted, final rejection of God’s grace</a:t>
            </a:r>
            <a:r>
              <a:rPr lang="en" sz="1100">
                <a:solidFill>
                  <a:schemeClr val="dk1"/>
                </a:solidFill>
              </a:rPr>
              <a:t>—refusing to repent at all. It's not that God </a:t>
            </a:r>
            <a:r>
              <a:rPr i="1" lang="en" sz="1100">
                <a:solidFill>
                  <a:schemeClr val="dk1"/>
                </a:solidFill>
              </a:rPr>
              <a:t>won’t</a:t>
            </a:r>
            <a:r>
              <a:rPr lang="en" sz="1100">
                <a:solidFill>
                  <a:schemeClr val="dk1"/>
                </a:solidFill>
              </a:rPr>
              <a:t> forgive, but that the person </a:t>
            </a:r>
            <a:r>
              <a:rPr i="1" lang="en" sz="1100">
                <a:solidFill>
                  <a:schemeClr val="dk1"/>
                </a:solidFill>
              </a:rPr>
              <a:t>refuses</a:t>
            </a:r>
            <a:r>
              <a:rPr lang="en" sz="1100">
                <a:solidFill>
                  <a:schemeClr val="dk1"/>
                </a:solidFill>
              </a:rPr>
              <a:t> to be forgiven. </a:t>
            </a:r>
            <a:r>
              <a:rPr b="1" lang="en" sz="1100">
                <a:solidFill>
                  <a:srgbClr val="FF0000"/>
                </a:solidFill>
              </a:rPr>
              <a:t>This is what makes it unforgivable.</a:t>
            </a:r>
            <a:endParaRPr b="1" sz="1100">
              <a:solidFill>
                <a:srgbClr val="FF0000"/>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sz="1100"/>
          </a:p>
        </p:txBody>
      </p:sp>
      <p:pic>
        <p:nvPicPr>
          <p:cNvPr id="131" name="Google Shape;131;p22" title="ed56df9e-5668-4c47-9c8f-f5ccd86bb89a.png"/>
          <p:cNvPicPr preferRelativeResize="0"/>
          <p:nvPr/>
        </p:nvPicPr>
        <p:blipFill>
          <a:blip r:embed="rId3">
            <a:alphaModFix/>
          </a:blip>
          <a:stretch>
            <a:fillRect/>
          </a:stretch>
        </p:blipFill>
        <p:spPr>
          <a:xfrm>
            <a:off x="5157425" y="1017725"/>
            <a:ext cx="3861473" cy="3465449"/>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blasphemy against the holy Spirit? </a:t>
            </a:r>
            <a:endParaRPr/>
          </a:p>
        </p:txBody>
      </p:sp>
      <p:sp>
        <p:nvSpPr>
          <p:cNvPr id="137" name="Google Shape;137;p23"/>
          <p:cNvSpPr txBox="1"/>
          <p:nvPr>
            <p:ph idx="1" type="body"/>
          </p:nvPr>
        </p:nvSpPr>
        <p:spPr>
          <a:xfrm>
            <a:off x="311700" y="1017725"/>
            <a:ext cx="8520600" cy="8715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 sz="1100">
                <a:solidFill>
                  <a:schemeClr val="dk1"/>
                </a:solidFill>
              </a:rPr>
              <a:t>This is </a:t>
            </a:r>
            <a:r>
              <a:rPr b="1" lang="en" sz="1100">
                <a:solidFill>
                  <a:schemeClr val="dk1"/>
                </a:solidFill>
              </a:rPr>
              <a:t>not a simple or extreme offense</a:t>
            </a:r>
            <a:r>
              <a:rPr lang="en" sz="1100">
                <a:solidFill>
                  <a:schemeClr val="dk1"/>
                </a:solidFill>
              </a:rPr>
              <a:t>, but a </a:t>
            </a:r>
            <a:r>
              <a:rPr b="1" lang="en" sz="1100">
                <a:solidFill>
                  <a:schemeClr val="dk1"/>
                </a:solidFill>
              </a:rPr>
              <a:t>deliberate, conscious, and hardened rejection</a:t>
            </a:r>
            <a:r>
              <a:rPr lang="en" sz="1100">
                <a:solidFill>
                  <a:schemeClr val="dk1"/>
                </a:solidFill>
              </a:rPr>
              <a:t> of the </a:t>
            </a:r>
            <a:r>
              <a:rPr b="1" lang="en" sz="1100">
                <a:solidFill>
                  <a:schemeClr val="dk1"/>
                </a:solidFill>
              </a:rPr>
              <a:t>Holy Spirit’s work</a:t>
            </a:r>
            <a:r>
              <a:rPr lang="en" sz="1100">
                <a:solidFill>
                  <a:schemeClr val="dk1"/>
                </a:solidFill>
              </a:rPr>
              <a:t>, especially His work of </a:t>
            </a:r>
            <a:r>
              <a:rPr b="1" lang="en" sz="1100">
                <a:solidFill>
                  <a:schemeClr val="dk1"/>
                </a:solidFill>
              </a:rPr>
              <a:t>bringing repentance and forgiveness</a:t>
            </a:r>
            <a:r>
              <a:rPr lang="en"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sp>
        <p:nvSpPr>
          <p:cNvPr id="138" name="Google Shape;138;p23"/>
          <p:cNvSpPr/>
          <p:nvPr/>
        </p:nvSpPr>
        <p:spPr>
          <a:xfrm>
            <a:off x="396900" y="1503400"/>
            <a:ext cx="2625000" cy="2795700"/>
          </a:xfrm>
          <a:prstGeom prst="roundRect">
            <a:avLst>
              <a:gd fmla="val 16667" name="adj"/>
            </a:avLst>
          </a:prstGeom>
          <a:gradFill>
            <a:gsLst>
              <a:gs pos="0">
                <a:srgbClr val="FDECDB"/>
              </a:gs>
              <a:gs pos="100000">
                <a:srgbClr val="F0AA63"/>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800"/>
              </a:spcBef>
              <a:spcAft>
                <a:spcPts val="0"/>
              </a:spcAft>
              <a:buNone/>
            </a:pPr>
            <a:r>
              <a:rPr b="1" lang="en" sz="900" u="sng">
                <a:solidFill>
                  <a:schemeClr val="dk1"/>
                </a:solidFill>
                <a:latin typeface="Old Standard TT"/>
                <a:ea typeface="Old Standard TT"/>
                <a:cs typeface="Old Standard TT"/>
                <a:sym typeface="Old Standard TT"/>
              </a:rPr>
              <a:t>Scripture Basis</a:t>
            </a:r>
            <a:endParaRPr b="1" sz="900" u="sng">
              <a:solidFill>
                <a:schemeClr val="dk1"/>
              </a:solidFill>
              <a:latin typeface="Old Standard TT"/>
              <a:ea typeface="Old Standard TT"/>
              <a:cs typeface="Old Standard TT"/>
              <a:sym typeface="Old Standard TT"/>
            </a:endParaRPr>
          </a:p>
          <a:p>
            <a:pPr indent="0" lvl="0" marL="0" marR="381000" rtl="0" algn="l">
              <a:lnSpc>
                <a:spcPct val="115000"/>
              </a:lnSpc>
              <a:spcBef>
                <a:spcPts val="1200"/>
              </a:spcBef>
              <a:spcAft>
                <a:spcPts val="0"/>
              </a:spcAft>
              <a:buNone/>
            </a:pPr>
            <a:r>
              <a:rPr b="1" lang="en" sz="700">
                <a:solidFill>
                  <a:schemeClr val="dk1"/>
                </a:solidFill>
              </a:rPr>
              <a:t>“Therefore I say to you, every sin and blasphemy will be forgiven men, but the blasphemy against the Spirit will not be forgiven.”</a:t>
            </a:r>
            <a:br>
              <a:rPr b="1" lang="en" sz="700">
                <a:solidFill>
                  <a:schemeClr val="dk1"/>
                </a:solidFill>
              </a:rPr>
            </a:br>
            <a:r>
              <a:rPr lang="en" sz="700">
                <a:solidFill>
                  <a:schemeClr val="dk1"/>
                </a:solidFill>
              </a:rPr>
              <a:t> — </a:t>
            </a:r>
            <a:r>
              <a:rPr i="1" lang="en" sz="700">
                <a:solidFill>
                  <a:schemeClr val="dk1"/>
                </a:solidFill>
              </a:rPr>
              <a:t>Matthew 12:31</a:t>
            </a:r>
            <a:r>
              <a:rPr lang="en" sz="700">
                <a:solidFill>
                  <a:schemeClr val="dk1"/>
                </a:solidFill>
              </a:rPr>
              <a:t> (also in Mark 3:28–30, Luke 12:10)</a:t>
            </a:r>
            <a:endParaRPr sz="700">
              <a:solidFill>
                <a:schemeClr val="dk1"/>
              </a:solidFill>
            </a:endParaRPr>
          </a:p>
          <a:p>
            <a:pPr indent="0" lvl="0" marL="0" rtl="0" algn="l">
              <a:lnSpc>
                <a:spcPct val="115000"/>
              </a:lnSpc>
              <a:spcBef>
                <a:spcPts val="1200"/>
              </a:spcBef>
              <a:spcAft>
                <a:spcPts val="0"/>
              </a:spcAft>
              <a:buNone/>
            </a:pPr>
            <a:r>
              <a:rPr b="1" lang="en" sz="700">
                <a:solidFill>
                  <a:schemeClr val="dk1"/>
                </a:solidFill>
              </a:rPr>
              <a:t>Context:</a:t>
            </a:r>
            <a:br>
              <a:rPr b="1" lang="en" sz="700">
                <a:solidFill>
                  <a:schemeClr val="dk1"/>
                </a:solidFill>
              </a:rPr>
            </a:br>
            <a:r>
              <a:rPr lang="en" sz="700">
                <a:solidFill>
                  <a:schemeClr val="dk1"/>
                </a:solidFill>
              </a:rPr>
              <a:t> Jesus had just healed a demon-possessed man, and the Pharisees accused Him of casting out demons </a:t>
            </a:r>
            <a:r>
              <a:rPr b="1" lang="en" sz="700">
                <a:solidFill>
                  <a:schemeClr val="dk1"/>
                </a:solidFill>
              </a:rPr>
              <a:t>by the power of Satan</a:t>
            </a:r>
            <a:r>
              <a:rPr lang="en" sz="700">
                <a:solidFill>
                  <a:schemeClr val="dk1"/>
                </a:solidFill>
              </a:rPr>
              <a:t> rather than by the Holy Spirit.</a:t>
            </a:r>
            <a:endParaRPr sz="700">
              <a:solidFill>
                <a:schemeClr val="dk1"/>
              </a:solidFill>
            </a:endParaRPr>
          </a:p>
          <a:p>
            <a:pPr indent="0" lvl="0" marL="0" rtl="0" algn="ctr">
              <a:spcBef>
                <a:spcPts val="1200"/>
              </a:spcBef>
              <a:spcAft>
                <a:spcPts val="0"/>
              </a:spcAft>
              <a:buNone/>
            </a:pPr>
            <a:r>
              <a:t/>
            </a:r>
            <a:endParaRPr sz="700"/>
          </a:p>
        </p:txBody>
      </p:sp>
      <p:sp>
        <p:nvSpPr>
          <p:cNvPr id="139" name="Google Shape;139;p23"/>
          <p:cNvSpPr/>
          <p:nvPr/>
        </p:nvSpPr>
        <p:spPr>
          <a:xfrm>
            <a:off x="139725" y="4434525"/>
            <a:ext cx="2800800" cy="669300"/>
          </a:xfrm>
          <a:prstGeom prst="roundRect">
            <a:avLst>
              <a:gd fmla="val 16667" name="adj"/>
            </a:avLst>
          </a:prstGeom>
          <a:gradFill>
            <a:gsLst>
              <a:gs pos="0">
                <a:srgbClr val="FDECDB"/>
              </a:gs>
              <a:gs pos="100000">
                <a:srgbClr val="F0AA63"/>
              </a:gs>
            </a:gsLst>
            <a:path path="circle">
              <a:fillToRect b="50%" l="50%" r="50%" t="50%"/>
            </a:path>
            <a:tileRect/>
          </a:gra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600">
                <a:solidFill>
                  <a:schemeClr val="dk1"/>
                </a:solidFill>
              </a:rPr>
              <a:t>St. John Chrysosto</a:t>
            </a:r>
            <a:r>
              <a:rPr b="1" lang="en" sz="600">
                <a:solidFill>
                  <a:schemeClr val="dk1"/>
                </a:solidFill>
              </a:rPr>
              <a:t>m </a:t>
            </a:r>
            <a:r>
              <a:rPr lang="en" sz="600">
                <a:solidFill>
                  <a:schemeClr val="dk1"/>
                </a:solidFill>
              </a:rPr>
              <a:t>“It is not that the Spirit is greater than the Son, but that those who blaspheme the Son often do so out of ignorance. But blasphemy against the Spirit is not out of ignorance, but after full knowledge.”</a:t>
            </a:r>
            <a:br>
              <a:rPr lang="en" sz="600">
                <a:solidFill>
                  <a:schemeClr val="dk1"/>
                </a:solidFill>
              </a:rPr>
            </a:br>
            <a:r>
              <a:rPr lang="en" sz="600">
                <a:solidFill>
                  <a:schemeClr val="dk1"/>
                </a:solidFill>
              </a:rPr>
              <a:t> </a:t>
            </a:r>
            <a:r>
              <a:rPr i="1" lang="en" sz="600">
                <a:solidFill>
                  <a:schemeClr val="dk1"/>
                </a:solidFill>
              </a:rPr>
              <a:t>(Homilies on Matthew, 41:3)</a:t>
            </a:r>
            <a:endParaRPr i="1" sz="600">
              <a:solidFill>
                <a:schemeClr val="dk1"/>
              </a:solidFill>
            </a:endParaRPr>
          </a:p>
          <a:p>
            <a:pPr indent="0" lvl="0" marL="0" rtl="0" algn="ctr">
              <a:spcBef>
                <a:spcPts val="400"/>
              </a:spcBef>
              <a:spcAft>
                <a:spcPts val="0"/>
              </a:spcAft>
              <a:buNone/>
            </a:pPr>
            <a:r>
              <a:t/>
            </a:r>
            <a:endParaRPr/>
          </a:p>
        </p:txBody>
      </p:sp>
      <p:sp>
        <p:nvSpPr>
          <p:cNvPr id="140" name="Google Shape;140;p23"/>
          <p:cNvSpPr/>
          <p:nvPr/>
        </p:nvSpPr>
        <p:spPr>
          <a:xfrm>
            <a:off x="3069113" y="4434528"/>
            <a:ext cx="3016200" cy="669300"/>
          </a:xfrm>
          <a:prstGeom prst="roundRect">
            <a:avLst>
              <a:gd fmla="val 16667" name="adj"/>
            </a:avLst>
          </a:prstGeom>
          <a:gradFill>
            <a:gsLst>
              <a:gs pos="0">
                <a:srgbClr val="FDECDB"/>
              </a:gs>
              <a:gs pos="100000">
                <a:srgbClr val="F0AA63"/>
              </a:gs>
            </a:gsLst>
            <a:path path="circle">
              <a:fillToRect b="50%" l="50%" r="50%" t="50%"/>
            </a:path>
            <a:tileRect/>
          </a:gra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t/>
            </a:r>
            <a:endParaRPr b="1" sz="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700">
                <a:solidFill>
                  <a:schemeClr val="dk1"/>
                </a:solidFill>
              </a:rPr>
              <a:t>St. Basil the Great </a:t>
            </a:r>
            <a:r>
              <a:rPr lang="en" sz="700">
                <a:solidFill>
                  <a:schemeClr val="dk1"/>
                </a:solidFill>
              </a:rPr>
              <a:t>“Blasphemy against the Holy Spirit is a deliberate resistance to the known truth and a refusal to accept salvation.”</a:t>
            </a:r>
            <a:br>
              <a:rPr lang="en" sz="700">
                <a:solidFill>
                  <a:schemeClr val="dk1"/>
                </a:solidFill>
              </a:rPr>
            </a:br>
            <a:r>
              <a:rPr lang="en" sz="700">
                <a:solidFill>
                  <a:schemeClr val="dk1"/>
                </a:solidFill>
              </a:rPr>
              <a:t> </a:t>
            </a:r>
            <a:r>
              <a:rPr i="1" lang="en" sz="700">
                <a:solidFill>
                  <a:schemeClr val="dk1"/>
                </a:solidFill>
              </a:rPr>
              <a:t>(On the Holy Spirit, 29.72)</a:t>
            </a:r>
            <a:endParaRPr i="1" sz="700">
              <a:solidFill>
                <a:schemeClr val="dk1"/>
              </a:solidFill>
            </a:endParaRPr>
          </a:p>
          <a:p>
            <a:pPr indent="0" lvl="0" marL="0" rtl="0" algn="l">
              <a:lnSpc>
                <a:spcPct val="115000"/>
              </a:lnSpc>
              <a:spcBef>
                <a:spcPts val="1400"/>
              </a:spcBef>
              <a:spcAft>
                <a:spcPts val="0"/>
              </a:spcAft>
              <a:buNone/>
            </a:pPr>
            <a:r>
              <a:t/>
            </a:r>
            <a:endParaRPr b="1" sz="600">
              <a:solidFill>
                <a:schemeClr val="dk1"/>
              </a:solidFill>
            </a:endParaRPr>
          </a:p>
          <a:p>
            <a:pPr indent="0" lvl="0" marL="0" rtl="0" algn="ctr">
              <a:spcBef>
                <a:spcPts val="400"/>
              </a:spcBef>
              <a:spcAft>
                <a:spcPts val="0"/>
              </a:spcAft>
              <a:buNone/>
            </a:pPr>
            <a:r>
              <a:t/>
            </a:r>
            <a:endParaRPr/>
          </a:p>
        </p:txBody>
      </p:sp>
      <p:sp>
        <p:nvSpPr>
          <p:cNvPr id="141" name="Google Shape;141;p23"/>
          <p:cNvSpPr/>
          <p:nvPr/>
        </p:nvSpPr>
        <p:spPr>
          <a:xfrm>
            <a:off x="6213925" y="4434525"/>
            <a:ext cx="2884800" cy="669300"/>
          </a:xfrm>
          <a:prstGeom prst="roundRect">
            <a:avLst>
              <a:gd fmla="val 16667" name="adj"/>
            </a:avLst>
          </a:prstGeom>
          <a:gradFill>
            <a:gsLst>
              <a:gs pos="0">
                <a:srgbClr val="FDECDB"/>
              </a:gs>
              <a:gs pos="100000">
                <a:srgbClr val="F0AA63"/>
              </a:gs>
            </a:gsLst>
            <a:path path="circle">
              <a:fillToRect b="50%" l="50%" r="50%" t="50%"/>
            </a:path>
            <a:tileRect/>
          </a:gra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t/>
            </a:r>
            <a:endParaRPr b="1" sz="700">
              <a:solidFill>
                <a:schemeClr val="dk1"/>
              </a:solidFill>
            </a:endParaRPr>
          </a:p>
          <a:p>
            <a:pPr indent="0" lvl="0" marL="0" rtl="0" algn="l">
              <a:lnSpc>
                <a:spcPct val="115000"/>
              </a:lnSpc>
              <a:spcBef>
                <a:spcPts val="1400"/>
              </a:spcBef>
              <a:spcAft>
                <a:spcPts val="0"/>
              </a:spcAft>
              <a:buNone/>
            </a:pPr>
            <a:r>
              <a:t/>
            </a:r>
            <a:endParaRPr b="1" sz="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700">
                <a:solidFill>
                  <a:schemeClr val="dk1"/>
                </a:solidFill>
              </a:rPr>
              <a:t>St. Athanasius the Great </a:t>
            </a:r>
            <a:r>
              <a:rPr lang="en" sz="700">
                <a:solidFill>
                  <a:schemeClr val="dk1"/>
                </a:solidFill>
              </a:rPr>
              <a:t>“It is a sin against grace itself, and to sin against grace is to place oneself outside the sphere of healing.”</a:t>
            </a:r>
            <a:br>
              <a:rPr lang="en" sz="700">
                <a:solidFill>
                  <a:schemeClr val="dk1"/>
                </a:solidFill>
              </a:rPr>
            </a:br>
            <a:r>
              <a:rPr lang="en" sz="700">
                <a:solidFill>
                  <a:schemeClr val="dk1"/>
                </a:solidFill>
              </a:rPr>
              <a:t> </a:t>
            </a:r>
            <a:r>
              <a:rPr i="1" lang="en" sz="700">
                <a:solidFill>
                  <a:schemeClr val="dk1"/>
                </a:solidFill>
              </a:rPr>
              <a:t>(Letters, Ep. 40)</a:t>
            </a:r>
            <a:endParaRPr i="1" sz="700">
              <a:solidFill>
                <a:schemeClr val="dk1"/>
              </a:solidFill>
            </a:endParaRPr>
          </a:p>
          <a:p>
            <a:pPr indent="0" lvl="0" marL="0" rtl="0" algn="l">
              <a:lnSpc>
                <a:spcPct val="115000"/>
              </a:lnSpc>
              <a:spcBef>
                <a:spcPts val="1400"/>
              </a:spcBef>
              <a:spcAft>
                <a:spcPts val="0"/>
              </a:spcAft>
              <a:buNone/>
            </a:pPr>
            <a:r>
              <a:t/>
            </a:r>
            <a:endParaRPr b="1" sz="700">
              <a:solidFill>
                <a:schemeClr val="dk1"/>
              </a:solidFill>
            </a:endParaRPr>
          </a:p>
          <a:p>
            <a:pPr indent="0" lvl="0" marL="0" rtl="0" algn="l">
              <a:lnSpc>
                <a:spcPct val="115000"/>
              </a:lnSpc>
              <a:spcBef>
                <a:spcPts val="1400"/>
              </a:spcBef>
              <a:spcAft>
                <a:spcPts val="0"/>
              </a:spcAft>
              <a:buNone/>
            </a:pPr>
            <a:r>
              <a:t/>
            </a:r>
            <a:endParaRPr b="1" sz="600">
              <a:solidFill>
                <a:schemeClr val="dk1"/>
              </a:solidFill>
            </a:endParaRPr>
          </a:p>
          <a:p>
            <a:pPr indent="0" lvl="0" marL="0" rtl="0" algn="ctr">
              <a:spcBef>
                <a:spcPts val="400"/>
              </a:spcBef>
              <a:spcAft>
                <a:spcPts val="0"/>
              </a:spcAft>
              <a:buNone/>
            </a:pPr>
            <a:r>
              <a:t/>
            </a:r>
            <a:endParaRPr/>
          </a:p>
        </p:txBody>
      </p:sp>
      <p:sp>
        <p:nvSpPr>
          <p:cNvPr id="142" name="Google Shape;142;p23"/>
          <p:cNvSpPr txBox="1"/>
          <p:nvPr/>
        </p:nvSpPr>
        <p:spPr>
          <a:xfrm>
            <a:off x="6213900" y="2577025"/>
            <a:ext cx="225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43" name="Google Shape;143;p23"/>
          <p:cNvSpPr/>
          <p:nvPr/>
        </p:nvSpPr>
        <p:spPr>
          <a:xfrm>
            <a:off x="3085250" y="3214525"/>
            <a:ext cx="2625000" cy="1084500"/>
          </a:xfrm>
          <a:prstGeom prst="rect">
            <a:avLst/>
          </a:prstGeom>
          <a:gradFill>
            <a:gsLst>
              <a:gs pos="0">
                <a:srgbClr val="FDECDB"/>
              </a:gs>
              <a:gs pos="100000">
                <a:srgbClr val="F0AA63"/>
              </a:gs>
            </a:gsLst>
            <a:lin ang="5400012"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1800"/>
              </a:spcBef>
              <a:spcAft>
                <a:spcPts val="0"/>
              </a:spcAft>
              <a:buNone/>
            </a:pPr>
            <a:r>
              <a:rPr b="1" lang="en" sz="900" u="sng">
                <a:solidFill>
                  <a:schemeClr val="dk1"/>
                </a:solidFill>
                <a:latin typeface="Old Standard TT"/>
                <a:ea typeface="Old Standard TT"/>
                <a:cs typeface="Old Standard TT"/>
                <a:sym typeface="Old Standard TT"/>
              </a:rPr>
              <a:t>What It Is NOT</a:t>
            </a:r>
            <a:endParaRPr b="1" sz="900" u="sng">
              <a:solidFill>
                <a:schemeClr val="dk1"/>
              </a:solidFill>
              <a:latin typeface="Old Standard TT"/>
              <a:ea typeface="Old Standard TT"/>
              <a:cs typeface="Old Standard TT"/>
              <a:sym typeface="Old Standard TT"/>
            </a:endParaRPr>
          </a:p>
          <a:p>
            <a:pPr indent="-266700" lvl="0" marL="457200" rtl="0" algn="l">
              <a:lnSpc>
                <a:spcPct val="100000"/>
              </a:lnSpc>
              <a:spcBef>
                <a:spcPts val="1200"/>
              </a:spcBef>
              <a:spcAft>
                <a:spcPts val="0"/>
              </a:spcAft>
              <a:buClr>
                <a:schemeClr val="dk1"/>
              </a:buClr>
              <a:buSzPts val="600"/>
              <a:buChar char="●"/>
            </a:pPr>
            <a:r>
              <a:rPr lang="en" sz="600">
                <a:solidFill>
                  <a:schemeClr val="dk1"/>
                </a:solidFill>
              </a:rPr>
              <a:t>It is </a:t>
            </a:r>
            <a:r>
              <a:rPr b="1" lang="en" sz="600">
                <a:solidFill>
                  <a:schemeClr val="dk1"/>
                </a:solidFill>
              </a:rPr>
              <a:t>not a moment of doubt</a:t>
            </a:r>
            <a:r>
              <a:rPr lang="en" sz="600">
                <a:solidFill>
                  <a:schemeClr val="dk1"/>
                </a:solidFill>
              </a:rPr>
              <a:t>, fear, or spiritual struggle.</a:t>
            </a:r>
            <a:endParaRPr sz="600">
              <a:solidFill>
                <a:schemeClr val="dk1"/>
              </a:solidFill>
            </a:endParaRPr>
          </a:p>
          <a:p>
            <a:pPr indent="-266700" lvl="0" marL="457200" rtl="0" algn="l">
              <a:lnSpc>
                <a:spcPct val="100000"/>
              </a:lnSpc>
              <a:spcBef>
                <a:spcPts val="0"/>
              </a:spcBef>
              <a:spcAft>
                <a:spcPts val="0"/>
              </a:spcAft>
              <a:buClr>
                <a:schemeClr val="dk1"/>
              </a:buClr>
              <a:buSzPts val="600"/>
              <a:buChar char="●"/>
            </a:pPr>
            <a:r>
              <a:rPr lang="en" sz="600">
                <a:solidFill>
                  <a:schemeClr val="dk1"/>
                </a:solidFill>
              </a:rPr>
              <a:t>It is </a:t>
            </a:r>
            <a:r>
              <a:rPr b="1" lang="en" sz="600">
                <a:solidFill>
                  <a:schemeClr val="dk1"/>
                </a:solidFill>
              </a:rPr>
              <a:t>not ordinary sin or even serious sin</a:t>
            </a:r>
            <a:r>
              <a:rPr lang="en" sz="600">
                <a:solidFill>
                  <a:schemeClr val="dk1"/>
                </a:solidFill>
              </a:rPr>
              <a:t>.</a:t>
            </a:r>
            <a:endParaRPr sz="600">
              <a:solidFill>
                <a:schemeClr val="dk1"/>
              </a:solidFill>
            </a:endParaRPr>
          </a:p>
          <a:p>
            <a:pPr indent="-266700" lvl="0" marL="457200" rtl="0" algn="l">
              <a:lnSpc>
                <a:spcPct val="100000"/>
              </a:lnSpc>
              <a:spcBef>
                <a:spcPts val="0"/>
              </a:spcBef>
              <a:spcAft>
                <a:spcPts val="0"/>
              </a:spcAft>
              <a:buClr>
                <a:schemeClr val="dk1"/>
              </a:buClr>
              <a:buSzPts val="600"/>
              <a:buChar char="●"/>
            </a:pPr>
            <a:r>
              <a:rPr lang="en" sz="600">
                <a:solidFill>
                  <a:schemeClr val="dk1"/>
                </a:solidFill>
              </a:rPr>
              <a:t>It is </a:t>
            </a:r>
            <a:r>
              <a:rPr b="1" lang="en" sz="600">
                <a:solidFill>
                  <a:schemeClr val="dk1"/>
                </a:solidFill>
              </a:rPr>
              <a:t>not anger at God during suffering</a:t>
            </a:r>
            <a:r>
              <a:rPr lang="en" sz="600">
                <a:solidFill>
                  <a:schemeClr val="dk1"/>
                </a:solidFill>
              </a:rPr>
              <a:t>.</a:t>
            </a:r>
            <a:endParaRPr sz="600">
              <a:solidFill>
                <a:schemeClr val="dk1"/>
              </a:solidFill>
            </a:endParaRPr>
          </a:p>
          <a:p>
            <a:pPr indent="0" lvl="0" marL="0" rtl="0" algn="l">
              <a:lnSpc>
                <a:spcPct val="100000"/>
              </a:lnSpc>
              <a:spcBef>
                <a:spcPts val="1200"/>
              </a:spcBef>
              <a:spcAft>
                <a:spcPts val="0"/>
              </a:spcAft>
              <a:buNone/>
            </a:pPr>
            <a:r>
              <a:rPr lang="en" sz="600">
                <a:solidFill>
                  <a:schemeClr val="dk1"/>
                </a:solidFill>
              </a:rPr>
              <a:t>These can all be forgiven through confession and repentance.</a:t>
            </a:r>
            <a:endParaRPr sz="600">
              <a:solidFill>
                <a:schemeClr val="dk1"/>
              </a:solidFill>
            </a:endParaRPr>
          </a:p>
          <a:p>
            <a:pPr indent="0" lvl="0" marL="0" rtl="0" algn="l">
              <a:lnSpc>
                <a:spcPct val="100000"/>
              </a:lnSpc>
              <a:spcBef>
                <a:spcPts val="1200"/>
              </a:spcBef>
              <a:spcAft>
                <a:spcPts val="0"/>
              </a:spcAft>
              <a:buNone/>
            </a:pPr>
            <a:r>
              <a:t/>
            </a:r>
            <a:endParaRPr b="1" sz="600">
              <a:solidFill>
                <a:schemeClr val="dk1"/>
              </a:solidFill>
            </a:endParaRPr>
          </a:p>
          <a:p>
            <a:pPr indent="0" lvl="0" marL="0" rtl="0" algn="ctr">
              <a:lnSpc>
                <a:spcPct val="100000"/>
              </a:lnSpc>
              <a:spcBef>
                <a:spcPts val="1200"/>
              </a:spcBef>
              <a:spcAft>
                <a:spcPts val="0"/>
              </a:spcAft>
              <a:buNone/>
            </a:pPr>
            <a:r>
              <a:t/>
            </a:r>
            <a:endParaRPr sz="600"/>
          </a:p>
        </p:txBody>
      </p:sp>
      <p:sp>
        <p:nvSpPr>
          <p:cNvPr id="144" name="Google Shape;144;p23"/>
          <p:cNvSpPr/>
          <p:nvPr/>
        </p:nvSpPr>
        <p:spPr>
          <a:xfrm>
            <a:off x="6213900" y="2036600"/>
            <a:ext cx="2842776" cy="1729296"/>
          </a:xfrm>
          <a:prstGeom prst="cloud">
            <a:avLst/>
          </a:prstGeom>
          <a:gradFill>
            <a:gsLst>
              <a:gs pos="0">
                <a:srgbClr val="FDECDB"/>
              </a:gs>
              <a:gs pos="100000">
                <a:srgbClr val="F0AA63"/>
              </a:gs>
            </a:gsLst>
            <a:lin ang="5400012"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The Holy Spirit convicts the heart and calls the sinner to repentance. When this call is </a:t>
            </a:r>
            <a:r>
              <a:rPr b="1" lang="en" sz="1100">
                <a:solidFill>
                  <a:schemeClr val="dk1"/>
                </a:solidFill>
              </a:rPr>
              <a:t>fully and finally rejected</a:t>
            </a:r>
            <a:r>
              <a:rPr lang="en" sz="1100">
                <a:solidFill>
                  <a:schemeClr val="dk1"/>
                </a:solidFill>
              </a:rPr>
              <a:t>, no other path to salvation remains</a:t>
            </a:r>
            <a:endParaRPr>
              <a:solidFill>
                <a:schemeClr val="dk1"/>
              </a:solidFill>
            </a:endParaRPr>
          </a:p>
        </p:txBody>
      </p:sp>
      <p:sp>
        <p:nvSpPr>
          <p:cNvPr id="145" name="Google Shape;145;p23"/>
          <p:cNvSpPr/>
          <p:nvPr/>
        </p:nvSpPr>
        <p:spPr>
          <a:xfrm>
            <a:off x="3085250" y="1503400"/>
            <a:ext cx="2625000" cy="1613100"/>
          </a:xfrm>
          <a:prstGeom prst="snip2SameRect">
            <a:avLst>
              <a:gd fmla="val 16667" name="adj1"/>
              <a:gd fmla="val 0" name="adj2"/>
            </a:avLst>
          </a:prstGeom>
          <a:gradFill>
            <a:gsLst>
              <a:gs pos="0">
                <a:srgbClr val="FDECDB"/>
              </a:gs>
              <a:gs pos="100000">
                <a:srgbClr val="F0AA63"/>
              </a:gs>
            </a:gsLst>
            <a:lin ang="5400012"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1200"/>
              </a:spcBef>
              <a:spcAft>
                <a:spcPts val="0"/>
              </a:spcAft>
              <a:buNone/>
            </a:pPr>
            <a:r>
              <a:rPr b="1" lang="en" sz="900" u="sng">
                <a:solidFill>
                  <a:schemeClr val="dk1"/>
                </a:solidFill>
                <a:latin typeface="Old Standard TT"/>
                <a:ea typeface="Old Standard TT"/>
                <a:cs typeface="Old Standard TT"/>
                <a:sym typeface="Old Standard TT"/>
              </a:rPr>
              <a:t>Why Is It Unforgivable?</a:t>
            </a:r>
            <a:endParaRPr b="1" sz="900" u="sng">
              <a:solidFill>
                <a:schemeClr val="dk1"/>
              </a:solidFill>
              <a:latin typeface="Old Standard TT"/>
              <a:ea typeface="Old Standard TT"/>
              <a:cs typeface="Old Standard TT"/>
              <a:sym typeface="Old Standard TT"/>
            </a:endParaRPr>
          </a:p>
          <a:p>
            <a:pPr indent="0" lvl="0" marL="0" rtl="0" algn="l">
              <a:spcBef>
                <a:spcPts val="1200"/>
              </a:spcBef>
              <a:spcAft>
                <a:spcPts val="0"/>
              </a:spcAft>
              <a:buClr>
                <a:schemeClr val="dk1"/>
              </a:buClr>
              <a:buSzPts val="1100"/>
              <a:buFont typeface="Arial"/>
              <a:buNone/>
            </a:pPr>
            <a:r>
              <a:rPr b="1" lang="en" sz="600">
                <a:solidFill>
                  <a:schemeClr val="dk1"/>
                </a:solidFill>
              </a:rPr>
              <a:t>Because the person refuses the very means of forgiveness.</a:t>
            </a:r>
            <a:br>
              <a:rPr b="1" lang="en" sz="600">
                <a:solidFill>
                  <a:schemeClr val="dk1"/>
                </a:solidFill>
              </a:rPr>
            </a:br>
            <a:endParaRPr b="1" sz="600">
              <a:solidFill>
                <a:schemeClr val="dk1"/>
              </a:solidFill>
            </a:endParaRPr>
          </a:p>
          <a:p>
            <a:pPr indent="-266700" lvl="0" marL="457200" rtl="0" algn="l">
              <a:spcBef>
                <a:spcPts val="0"/>
              </a:spcBef>
              <a:spcAft>
                <a:spcPts val="0"/>
              </a:spcAft>
              <a:buClr>
                <a:schemeClr val="dk1"/>
              </a:buClr>
              <a:buSzPts val="600"/>
              <a:buChar char="●"/>
            </a:pPr>
            <a:r>
              <a:rPr lang="en" sz="600">
                <a:solidFill>
                  <a:schemeClr val="dk1"/>
                </a:solidFill>
              </a:rPr>
              <a:t>God </a:t>
            </a:r>
            <a:r>
              <a:rPr b="1" lang="en" sz="600">
                <a:solidFill>
                  <a:schemeClr val="dk1"/>
                </a:solidFill>
              </a:rPr>
              <a:t>does not override human free will</a:t>
            </a:r>
            <a:r>
              <a:rPr lang="en" sz="600">
                <a:solidFill>
                  <a:schemeClr val="dk1"/>
                </a:solidFill>
              </a:rPr>
              <a:t>.</a:t>
            </a:r>
            <a:endParaRPr sz="600">
              <a:solidFill>
                <a:schemeClr val="dk1"/>
              </a:solidFill>
            </a:endParaRPr>
          </a:p>
          <a:p>
            <a:pPr indent="-266700" lvl="0" marL="457200" rtl="0" algn="l">
              <a:spcBef>
                <a:spcPts val="0"/>
              </a:spcBef>
              <a:spcAft>
                <a:spcPts val="0"/>
              </a:spcAft>
              <a:buClr>
                <a:schemeClr val="dk1"/>
              </a:buClr>
              <a:buSzPts val="600"/>
              <a:buChar char="●"/>
            </a:pPr>
            <a:r>
              <a:rPr lang="en" sz="600">
                <a:solidFill>
                  <a:schemeClr val="dk1"/>
                </a:solidFill>
              </a:rPr>
              <a:t>If someone </a:t>
            </a:r>
            <a:r>
              <a:rPr b="1" lang="en" sz="600">
                <a:solidFill>
                  <a:schemeClr val="dk1"/>
                </a:solidFill>
              </a:rPr>
              <a:t>persistently and finally resists</a:t>
            </a:r>
            <a:r>
              <a:rPr lang="en" sz="600">
                <a:solidFill>
                  <a:schemeClr val="dk1"/>
                </a:solidFill>
              </a:rPr>
              <a:t> the Spirit’s work of:</a:t>
            </a:r>
            <a:br>
              <a:rPr lang="en" sz="600">
                <a:solidFill>
                  <a:schemeClr val="dk1"/>
                </a:solidFill>
              </a:rPr>
            </a:br>
            <a:endParaRPr sz="600">
              <a:solidFill>
                <a:schemeClr val="dk1"/>
              </a:solidFill>
            </a:endParaRPr>
          </a:p>
          <a:p>
            <a:pPr indent="-266700" lvl="1" marL="914400" rtl="0" algn="l">
              <a:spcBef>
                <a:spcPts val="0"/>
              </a:spcBef>
              <a:spcAft>
                <a:spcPts val="0"/>
              </a:spcAft>
              <a:buClr>
                <a:schemeClr val="dk1"/>
              </a:buClr>
              <a:buSzPts val="600"/>
              <a:buChar char="○"/>
            </a:pPr>
            <a:r>
              <a:rPr lang="en" sz="600">
                <a:solidFill>
                  <a:schemeClr val="dk1"/>
                </a:solidFill>
              </a:rPr>
              <a:t>Conviction</a:t>
            </a:r>
            <a:endParaRPr sz="600">
              <a:solidFill>
                <a:schemeClr val="dk1"/>
              </a:solidFill>
            </a:endParaRPr>
          </a:p>
          <a:p>
            <a:pPr indent="-266700" lvl="1" marL="914400" rtl="0" algn="l">
              <a:spcBef>
                <a:spcPts val="0"/>
              </a:spcBef>
              <a:spcAft>
                <a:spcPts val="0"/>
              </a:spcAft>
              <a:buClr>
                <a:schemeClr val="dk1"/>
              </a:buClr>
              <a:buSzPts val="600"/>
              <a:buChar char="○"/>
            </a:pPr>
            <a:r>
              <a:rPr lang="en" sz="600">
                <a:solidFill>
                  <a:schemeClr val="dk1"/>
                </a:solidFill>
              </a:rPr>
              <a:t>Illumination</a:t>
            </a:r>
            <a:endParaRPr sz="600">
              <a:solidFill>
                <a:schemeClr val="dk1"/>
              </a:solidFill>
            </a:endParaRPr>
          </a:p>
          <a:p>
            <a:pPr indent="-266700" lvl="1" marL="914400" rtl="0" algn="l">
              <a:spcBef>
                <a:spcPts val="0"/>
              </a:spcBef>
              <a:spcAft>
                <a:spcPts val="0"/>
              </a:spcAft>
              <a:buClr>
                <a:schemeClr val="dk1"/>
              </a:buClr>
              <a:buSzPts val="600"/>
              <a:buChar char="○"/>
            </a:pPr>
            <a:r>
              <a:rPr lang="en" sz="600">
                <a:solidFill>
                  <a:schemeClr val="dk1"/>
                </a:solidFill>
              </a:rPr>
              <a:t>Repentance</a:t>
            </a:r>
            <a:endParaRPr sz="600">
              <a:solidFill>
                <a:schemeClr val="dk1"/>
              </a:solidFill>
            </a:endParaRPr>
          </a:p>
          <a:p>
            <a:pPr indent="-266700" lvl="1" marL="914400" rtl="0" algn="l">
              <a:spcBef>
                <a:spcPts val="0"/>
              </a:spcBef>
              <a:spcAft>
                <a:spcPts val="0"/>
              </a:spcAft>
              <a:buClr>
                <a:schemeClr val="dk1"/>
              </a:buClr>
              <a:buSzPts val="600"/>
              <a:buChar char="○"/>
            </a:pPr>
            <a:r>
              <a:rPr lang="en" sz="600">
                <a:solidFill>
                  <a:schemeClr val="dk1"/>
                </a:solidFill>
              </a:rPr>
              <a:t>Renewal</a:t>
            </a:r>
            <a:endParaRPr sz="600">
              <a:solidFill>
                <a:schemeClr val="dk1"/>
              </a:solidFill>
            </a:endParaRPr>
          </a:p>
          <a:p>
            <a:pPr indent="0" lvl="0" marL="0" rtl="0" algn="l">
              <a:spcBef>
                <a:spcPts val="1200"/>
              </a:spcBef>
              <a:spcAft>
                <a:spcPts val="0"/>
              </a:spcAft>
              <a:buClr>
                <a:schemeClr val="dk1"/>
              </a:buClr>
              <a:buSzPts val="1100"/>
              <a:buFont typeface="Arial"/>
              <a:buNone/>
            </a:pPr>
            <a:r>
              <a:rPr lang="en" sz="600">
                <a:solidFill>
                  <a:schemeClr val="dk1"/>
                </a:solidFill>
              </a:rPr>
              <a:t>Then they </a:t>
            </a:r>
            <a:r>
              <a:rPr b="1" lang="en" sz="600">
                <a:solidFill>
                  <a:schemeClr val="dk1"/>
                </a:solidFill>
              </a:rPr>
              <a:t>cut themselves off</a:t>
            </a:r>
            <a:r>
              <a:rPr lang="en" sz="600">
                <a:solidFill>
                  <a:schemeClr val="dk1"/>
                </a:solidFill>
              </a:rPr>
              <a:t> from salvation.</a:t>
            </a:r>
            <a:endParaRPr sz="600">
              <a:solidFill>
                <a:schemeClr val="dk1"/>
              </a:solidFill>
            </a:endParaRPr>
          </a:p>
          <a:p>
            <a:pPr indent="0" lvl="0" marL="0" rtl="0" algn="ctr">
              <a:lnSpc>
                <a:spcPct val="100000"/>
              </a:lnSpc>
              <a:spcBef>
                <a:spcPts val="1200"/>
              </a:spcBef>
              <a:spcAft>
                <a:spcPts val="0"/>
              </a:spcAft>
              <a:buNone/>
            </a:pPr>
            <a:r>
              <a:t/>
            </a:r>
            <a:endParaRPr b="1" sz="9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311700" y="1803000"/>
            <a:ext cx="8520600" cy="15375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4800">
                <a:solidFill>
                  <a:schemeClr val="dk1"/>
                </a:solidFill>
              </a:rPr>
              <a:t>QUESTIONS? </a:t>
            </a:r>
            <a:endParaRPr sz="4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