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Default Extension="jpeg" ContentType="image/jpeg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e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e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e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e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e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e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e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e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e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e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e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jpe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jpe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jpe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jpe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jpe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jpe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jpe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jpe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jpe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jpe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jpe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jpe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jpe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jpe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/>
          <p:nvPr/>
        </p:nvSpPr>
        <p:spPr>
          <a:xfrm>
            <a:off x="1051560" y="1234440"/>
            <a:ext cx="10104120" cy="4297680"/>
          </a:xfrm>
          <a:prstGeom prst="roundRect">
            <a:avLst>
              <a:gd fmla="val 16667" name="adj"/>
            </a:avLst>
          </a:prstGeom>
          <a:noFill/>
          <a:ln cap="flat" cmpd="sng" w="15875">
            <a:solidFill>
              <a:srgbClr val="A66D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1417320" y="1920240"/>
            <a:ext cx="9372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 u="none" cap="none" strike="noStrike">
                <a:solidFill>
                  <a:srgbClr val="8B261F"/>
                </a:solidFill>
                <a:latin typeface="Georgia"/>
                <a:ea typeface="Georgia"/>
                <a:cs typeface="Georgia"/>
                <a:sym typeface="Georgia"/>
              </a:rPr>
              <a:t>Guarding Our Time and Senses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1828800" y="2697480"/>
            <a:ext cx="8595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100" u="none" cap="none" strike="noStrike">
                <a:solidFill>
                  <a:srgbClr val="2D6B34"/>
                </a:solidFill>
                <a:latin typeface="Georgia"/>
                <a:ea typeface="Georgia"/>
                <a:cs typeface="Georgia"/>
                <a:sym typeface="Georgia"/>
              </a:rPr>
              <a:t>Using Media Wisely as Orthodox Christians</a:t>
            </a:r>
            <a:endParaRPr/>
          </a:p>
        </p:txBody>
      </p:sp>
      <p:sp>
        <p:nvSpPr>
          <p:cNvPr id="88" name="Google Shape;88;p13"/>
          <p:cNvSpPr/>
          <p:nvPr/>
        </p:nvSpPr>
        <p:spPr>
          <a:xfrm>
            <a:off x="2971800" y="3703320"/>
            <a:ext cx="6263640" cy="10515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875">
            <a:solidFill>
              <a:srgbClr val="A66D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3227832" y="3849624"/>
            <a:ext cx="5751575" cy="5257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000" u="none" cap="none" strike="noStrike">
                <a:solidFill>
                  <a:srgbClr val="8B261F"/>
                </a:solidFill>
                <a:latin typeface="Georgia"/>
                <a:ea typeface="Georgia"/>
                <a:cs typeface="Georgia"/>
                <a:sym typeface="Georgia"/>
              </a:rPr>
              <a:t>“Redeeming the time, because the days are evil.”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3291840" y="4315967"/>
            <a:ext cx="5623559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2D6B34"/>
                </a:solidFill>
                <a:latin typeface="Arial"/>
                <a:ea typeface="Arial"/>
                <a:cs typeface="Arial"/>
                <a:sym typeface="Arial"/>
              </a:rPr>
              <a:t>Ephesians 5:16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731520" y="6473952"/>
            <a:ext cx="10744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750" u="none" cap="none" strike="noStrike">
                <a:solidFill>
                  <a:srgbClr val="6B4A15"/>
                </a:solidFill>
                <a:latin typeface="Arial"/>
                <a:ea typeface="Arial"/>
                <a:cs typeface="Arial"/>
                <a:sym typeface="Arial"/>
              </a:rPr>
              <a:t>Week 32 — TV and The Internet | Week 34 — The Value of Time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5105400" y="4953000"/>
            <a:ext cx="2159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By Dn Yonnas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7" name="Google Shape;9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640080" y="347472"/>
            <a:ext cx="10881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8B261F"/>
                </a:solidFill>
                <a:latin typeface="Georgia"/>
                <a:ea typeface="Georgia"/>
                <a:cs typeface="Georgia"/>
                <a:sym typeface="Georgia"/>
              </a:rPr>
              <a:t>Today’s Class: What We Will Learn</a:t>
            </a:r>
            <a:endParaRPr/>
          </a:p>
        </p:txBody>
      </p:sp>
      <p:sp>
        <p:nvSpPr>
          <p:cNvPr id="99" name="Google Shape;99;p14"/>
          <p:cNvSpPr/>
          <p:nvPr/>
        </p:nvSpPr>
        <p:spPr>
          <a:xfrm>
            <a:off x="868680" y="1234440"/>
            <a:ext cx="10469880" cy="4892040"/>
          </a:xfrm>
          <a:prstGeom prst="roundRect">
            <a:avLst>
              <a:gd fmla="val 16667" name="adj"/>
            </a:avLst>
          </a:prstGeom>
          <a:noFill/>
          <a:ln cap="flat" cmpd="sng" w="15875">
            <a:solidFill>
              <a:srgbClr val="A66D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4"/>
          <p:cNvSpPr txBox="1"/>
          <p:nvPr/>
        </p:nvSpPr>
        <p:spPr>
          <a:xfrm>
            <a:off x="1143000" y="1499616"/>
            <a:ext cx="9921300" cy="45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7315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5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Media has power: it shapes our thoughts, habits, desires, and behavior.</a:t>
            </a:r>
            <a:endParaRPr sz="2000"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245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Our senses are spiritual gates: what we watch, hear, and scroll can affect the heart.</a:t>
            </a:r>
            <a:endParaRPr sz="2000"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245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Time is a gift from God: once it passes, it cannot be recovered.</a:t>
            </a:r>
            <a:endParaRPr sz="2000"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245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Not all content is beneficial: Christians must be selective and spiritually awake.</a:t>
            </a:r>
            <a:endParaRPr sz="2000"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245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God must receive our best time: not only what is left over.</a:t>
            </a:r>
            <a:endParaRPr sz="2000"/>
          </a:p>
          <a:p>
            <a:pPr indent="0" lvl="0" marL="0" marR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b="0" i="0" lang="en-US" sz="245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We are called to holiness: even in how we use technology and entertainment.</a:t>
            </a:r>
            <a:endParaRPr sz="2000"/>
          </a:p>
        </p:txBody>
      </p:sp>
      <p:sp>
        <p:nvSpPr>
          <p:cNvPr id="101" name="Google Shape;101;p14"/>
          <p:cNvSpPr txBox="1"/>
          <p:nvPr/>
        </p:nvSpPr>
        <p:spPr>
          <a:xfrm>
            <a:off x="731520" y="6473952"/>
            <a:ext cx="10744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750" u="none" cap="none" strike="noStrike">
                <a:solidFill>
                  <a:srgbClr val="6B4A15"/>
                </a:solidFill>
                <a:latin typeface="Arial"/>
                <a:ea typeface="Arial"/>
                <a:cs typeface="Arial"/>
                <a:sym typeface="Arial"/>
              </a:rPr>
              <a:t>Week 32 &amp; 34 lesson sources | Orthodox Study Bible | Fr. Tadros Y. Malaty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6" name="Google Shape;10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5"/>
          <p:cNvSpPr txBox="1"/>
          <p:nvPr/>
        </p:nvSpPr>
        <p:spPr>
          <a:xfrm>
            <a:off x="640080" y="347472"/>
            <a:ext cx="10881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8B261F"/>
                </a:solidFill>
                <a:latin typeface="Georgia"/>
                <a:ea typeface="Georgia"/>
                <a:cs typeface="Georgia"/>
                <a:sym typeface="Georgia"/>
              </a:rPr>
              <a:t>Opening Discussion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1005840" y="896112"/>
            <a:ext cx="101498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2D6B34"/>
                </a:solidFill>
                <a:latin typeface="Georgia"/>
                <a:ea typeface="Georgia"/>
                <a:cs typeface="Georgia"/>
                <a:sym typeface="Georgia"/>
              </a:rPr>
              <a:t>Let’s be honest</a:t>
            </a:r>
            <a:endParaRPr/>
          </a:p>
        </p:txBody>
      </p:sp>
      <p:sp>
        <p:nvSpPr>
          <p:cNvPr id="109" name="Google Shape;109;p15"/>
          <p:cNvSpPr/>
          <p:nvPr/>
        </p:nvSpPr>
        <p:spPr>
          <a:xfrm>
            <a:off x="822960" y="1261872"/>
            <a:ext cx="6400800" cy="4892040"/>
          </a:xfrm>
          <a:prstGeom prst="roundRect">
            <a:avLst>
              <a:gd fmla="val 16667" name="adj"/>
            </a:avLst>
          </a:prstGeom>
          <a:noFill/>
          <a:ln cap="flat" cmpd="sng" w="15875">
            <a:solidFill>
              <a:srgbClr val="A66D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5"/>
          <p:cNvSpPr txBox="1"/>
          <p:nvPr/>
        </p:nvSpPr>
        <p:spPr>
          <a:xfrm>
            <a:off x="1078992" y="1536192"/>
            <a:ext cx="5852100" cy="44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7315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How much time do you spend daily on your phone, TV, YouTube, TikTok, games, or streaming?</a:t>
            </a:r>
            <a:endParaRPr sz="2100"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What kind of content do you watch the most?</a:t>
            </a:r>
            <a:endParaRPr sz="2100"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Does your media use bring you closer to God or distract you from Him?</a:t>
            </a:r>
            <a:endParaRPr sz="2100"/>
          </a:p>
          <a:p>
            <a:pPr indent="0" lvl="0" marL="0" marR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b="0" i="0" lang="en-US" sz="26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Do you control your screen time, or does your screen time control you?</a:t>
            </a:r>
            <a:endParaRPr sz="2100"/>
          </a:p>
        </p:txBody>
      </p:sp>
      <p:sp>
        <p:nvSpPr>
          <p:cNvPr id="111" name="Google Shape;111;p15"/>
          <p:cNvSpPr/>
          <p:nvPr/>
        </p:nvSpPr>
        <p:spPr>
          <a:xfrm>
            <a:off x="7452360" y="1828800"/>
            <a:ext cx="3886200" cy="3611880"/>
          </a:xfrm>
          <a:prstGeom prst="roundRect">
            <a:avLst>
              <a:gd fmla="val 16667" name="adj"/>
            </a:avLst>
          </a:prstGeom>
          <a:noFill/>
          <a:ln cap="flat" cmpd="sng" w="15875">
            <a:solidFill>
              <a:srgbClr val="A66D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5"/>
          <p:cNvSpPr txBox="1"/>
          <p:nvPr/>
        </p:nvSpPr>
        <p:spPr>
          <a:xfrm>
            <a:off x="7726679" y="2240280"/>
            <a:ext cx="33375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8B261F"/>
                </a:solidFill>
                <a:latin typeface="Georgia"/>
                <a:ea typeface="Georgia"/>
                <a:cs typeface="Georgia"/>
                <a:sym typeface="Georgia"/>
              </a:rPr>
              <a:t>Key Question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7818120" y="2788920"/>
            <a:ext cx="315468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B1D12"/>
                </a:solidFill>
                <a:latin typeface="Georgia"/>
                <a:ea typeface="Georgia"/>
                <a:cs typeface="Georgia"/>
                <a:sym typeface="Georgia"/>
              </a:rPr>
              <a:t>If someone looked at your media habits, what would they think you love most?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731520" y="6473952"/>
            <a:ext cx="10744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750" u="none" cap="none" strike="noStrike">
                <a:solidFill>
                  <a:srgbClr val="6B4A15"/>
                </a:solidFill>
                <a:latin typeface="Arial"/>
                <a:ea typeface="Arial"/>
                <a:cs typeface="Arial"/>
                <a:sym typeface="Arial"/>
              </a:rPr>
              <a:t>Week 32 &amp; 34 lesson sources | Orthodox Study Bible | Fr. Tadros Y. Malaty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9" name="Google Shape;11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6"/>
          <p:cNvSpPr txBox="1"/>
          <p:nvPr/>
        </p:nvSpPr>
        <p:spPr>
          <a:xfrm>
            <a:off x="640080" y="347472"/>
            <a:ext cx="10881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8B261F"/>
                </a:solidFill>
                <a:latin typeface="Georgia"/>
                <a:ea typeface="Georgia"/>
                <a:cs typeface="Georgia"/>
                <a:sym typeface="Georgia"/>
              </a:rPr>
              <a:t>Memory Verses</a:t>
            </a:r>
            <a:endParaRPr/>
          </a:p>
        </p:txBody>
      </p:sp>
      <p:sp>
        <p:nvSpPr>
          <p:cNvPr id="121" name="Google Shape;121;p16"/>
          <p:cNvSpPr/>
          <p:nvPr/>
        </p:nvSpPr>
        <p:spPr>
          <a:xfrm>
            <a:off x="1143000" y="1508760"/>
            <a:ext cx="4754880" cy="1325880"/>
          </a:xfrm>
          <a:prstGeom prst="roundRect">
            <a:avLst>
              <a:gd fmla="val 16667" name="adj"/>
            </a:avLst>
          </a:prstGeom>
          <a:noFill/>
          <a:ln cap="flat" cmpd="sng" w="15875">
            <a:solidFill>
              <a:srgbClr val="A66D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6"/>
          <p:cNvSpPr txBox="1"/>
          <p:nvPr/>
        </p:nvSpPr>
        <p:spPr>
          <a:xfrm>
            <a:off x="1399032" y="1655063"/>
            <a:ext cx="4242816" cy="66294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000" u="none" cap="none" strike="noStrike">
                <a:solidFill>
                  <a:srgbClr val="8B261F"/>
                </a:solidFill>
                <a:latin typeface="Georgia"/>
                <a:ea typeface="Georgia"/>
                <a:cs typeface="Georgia"/>
                <a:sym typeface="Georgia"/>
              </a:rPr>
              <a:t>“You shall be holy, for I am holy.”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1463040" y="2395727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2D6B34"/>
                </a:solidFill>
                <a:latin typeface="Arial"/>
                <a:ea typeface="Arial"/>
                <a:cs typeface="Arial"/>
                <a:sym typeface="Arial"/>
              </a:rPr>
              <a:t>Leviticus 11:44</a:t>
            </a:r>
            <a:endParaRPr/>
          </a:p>
        </p:txBody>
      </p:sp>
      <p:sp>
        <p:nvSpPr>
          <p:cNvPr id="124" name="Google Shape;124;p16"/>
          <p:cNvSpPr/>
          <p:nvPr/>
        </p:nvSpPr>
        <p:spPr>
          <a:xfrm>
            <a:off x="6263640" y="1508760"/>
            <a:ext cx="4754880" cy="1325880"/>
          </a:xfrm>
          <a:prstGeom prst="roundRect">
            <a:avLst>
              <a:gd fmla="val 16667" name="adj"/>
            </a:avLst>
          </a:prstGeom>
          <a:noFill/>
          <a:ln cap="flat" cmpd="sng" w="15875">
            <a:solidFill>
              <a:srgbClr val="A66D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6"/>
          <p:cNvSpPr txBox="1"/>
          <p:nvPr/>
        </p:nvSpPr>
        <p:spPr>
          <a:xfrm>
            <a:off x="6519672" y="1655063"/>
            <a:ext cx="4242816" cy="66294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000" u="none" cap="none" strike="noStrike">
                <a:solidFill>
                  <a:srgbClr val="8B261F"/>
                </a:solidFill>
                <a:latin typeface="Georgia"/>
                <a:ea typeface="Georgia"/>
                <a:cs typeface="Georgia"/>
                <a:sym typeface="Georgia"/>
              </a:rPr>
              <a:t>“Redeeming the time, because the days are evil.”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6583679" y="2395727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2D6B34"/>
                </a:solidFill>
                <a:latin typeface="Arial"/>
                <a:ea typeface="Arial"/>
                <a:cs typeface="Arial"/>
                <a:sym typeface="Arial"/>
              </a:rPr>
              <a:t>Ephesians 5:16</a:t>
            </a:r>
            <a:endParaRPr/>
          </a:p>
        </p:txBody>
      </p:sp>
      <p:sp>
        <p:nvSpPr>
          <p:cNvPr id="127" name="Google Shape;127;p16"/>
          <p:cNvSpPr/>
          <p:nvPr/>
        </p:nvSpPr>
        <p:spPr>
          <a:xfrm>
            <a:off x="2148840" y="3429000"/>
            <a:ext cx="7909560" cy="2057400"/>
          </a:xfrm>
          <a:prstGeom prst="roundRect">
            <a:avLst>
              <a:gd fmla="val 16667" name="adj"/>
            </a:avLst>
          </a:prstGeom>
          <a:noFill/>
          <a:ln cap="flat" cmpd="sng" w="15875">
            <a:solidFill>
              <a:srgbClr val="A66D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6"/>
          <p:cNvSpPr txBox="1"/>
          <p:nvPr/>
        </p:nvSpPr>
        <p:spPr>
          <a:xfrm>
            <a:off x="4434840" y="3703320"/>
            <a:ext cx="33375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8B261F"/>
                </a:solidFill>
                <a:latin typeface="Georgia"/>
                <a:ea typeface="Georgia"/>
                <a:cs typeface="Georgia"/>
                <a:sym typeface="Georgia"/>
              </a:rPr>
              <a:t>Lesson Focus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2788920" y="4160520"/>
            <a:ext cx="6629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God calls us to guard both: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4069080" y="4498848"/>
            <a:ext cx="4114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7315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Our purity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Our time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731520" y="6473952"/>
            <a:ext cx="10744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750" u="none" cap="none" strike="noStrike">
                <a:solidFill>
                  <a:srgbClr val="6B4A15"/>
                </a:solidFill>
                <a:latin typeface="Arial"/>
                <a:ea typeface="Arial"/>
                <a:cs typeface="Arial"/>
                <a:sym typeface="Arial"/>
              </a:rPr>
              <a:t>Leviticus 11:44 | Ephesians 5:16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6" name="Google Shape;13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7"/>
          <p:cNvSpPr txBox="1"/>
          <p:nvPr/>
        </p:nvSpPr>
        <p:spPr>
          <a:xfrm>
            <a:off x="640080" y="347472"/>
            <a:ext cx="10881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8B261F"/>
                </a:solidFill>
                <a:latin typeface="Georgia"/>
                <a:ea typeface="Georgia"/>
                <a:cs typeface="Georgia"/>
                <a:sym typeface="Georgia"/>
              </a:rPr>
              <a:t>Media Is Not Always Bad</a:t>
            </a:r>
            <a:endParaRPr/>
          </a:p>
        </p:txBody>
      </p:sp>
      <p:sp>
        <p:nvSpPr>
          <p:cNvPr id="138" name="Google Shape;138;p17"/>
          <p:cNvSpPr txBox="1"/>
          <p:nvPr/>
        </p:nvSpPr>
        <p:spPr>
          <a:xfrm>
            <a:off x="1005840" y="896112"/>
            <a:ext cx="101498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2D6B34"/>
                </a:solidFill>
                <a:latin typeface="Georgia"/>
                <a:ea typeface="Georgia"/>
                <a:cs typeface="Georgia"/>
                <a:sym typeface="Georgia"/>
              </a:rPr>
              <a:t>The issue is how we use it and what we allow it to do to our soul.</a:t>
            </a:r>
            <a:endParaRPr/>
          </a:p>
        </p:txBody>
      </p:sp>
      <p:sp>
        <p:nvSpPr>
          <p:cNvPr id="139" name="Google Shape;139;p17"/>
          <p:cNvSpPr/>
          <p:nvPr/>
        </p:nvSpPr>
        <p:spPr>
          <a:xfrm>
            <a:off x="868680" y="1234440"/>
            <a:ext cx="10469880" cy="4892040"/>
          </a:xfrm>
          <a:prstGeom prst="roundRect">
            <a:avLst>
              <a:gd fmla="val 16667" name="adj"/>
            </a:avLst>
          </a:prstGeom>
          <a:noFill/>
          <a:ln cap="flat" cmpd="sng" w="15875">
            <a:solidFill>
              <a:srgbClr val="A66D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7"/>
          <p:cNvSpPr txBox="1"/>
          <p:nvPr/>
        </p:nvSpPr>
        <p:spPr>
          <a:xfrm>
            <a:off x="1143000" y="1499616"/>
            <a:ext cx="9921300" cy="45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7315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Learn useful information</a:t>
            </a:r>
            <a:endParaRPr sz="2900"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Understand events happening in the world</a:t>
            </a:r>
            <a:endParaRPr sz="2900"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Watch Christian teaching and edifying messages</a:t>
            </a:r>
            <a:endParaRPr sz="2900"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Hear sermons, hymns, and spiritual reflections</a:t>
            </a:r>
            <a:endParaRPr sz="2900"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Communicate with others</a:t>
            </a:r>
            <a:endParaRPr sz="2900"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Grow in knowledge when used wisely</a:t>
            </a:r>
            <a:endParaRPr sz="2900"/>
          </a:p>
        </p:txBody>
      </p:sp>
      <p:sp>
        <p:nvSpPr>
          <p:cNvPr id="141" name="Google Shape;141;p17"/>
          <p:cNvSpPr txBox="1"/>
          <p:nvPr/>
        </p:nvSpPr>
        <p:spPr>
          <a:xfrm>
            <a:off x="731520" y="6473952"/>
            <a:ext cx="10744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750" u="none" cap="none" strike="noStrike">
                <a:solidFill>
                  <a:srgbClr val="6B4A15"/>
                </a:solidFill>
                <a:latin typeface="Arial"/>
                <a:ea typeface="Arial"/>
                <a:cs typeface="Arial"/>
                <a:sym typeface="Arial"/>
              </a:rPr>
              <a:t>Week 32 &amp; 34 lesson sources | Orthodox Study Bible | Fr. Tadros Y. Malaty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6" name="Google Shape;14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8"/>
          <p:cNvSpPr txBox="1"/>
          <p:nvPr/>
        </p:nvSpPr>
        <p:spPr>
          <a:xfrm>
            <a:off x="640080" y="347472"/>
            <a:ext cx="10881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8B261F"/>
                </a:solidFill>
                <a:latin typeface="Georgia"/>
                <a:ea typeface="Georgia"/>
                <a:cs typeface="Georgia"/>
                <a:sym typeface="Georgia"/>
              </a:rPr>
              <a:t>Media Can Be a Constructive Tool</a:t>
            </a:r>
            <a:endParaRPr/>
          </a:p>
        </p:txBody>
      </p:sp>
      <p:sp>
        <p:nvSpPr>
          <p:cNvPr id="148" name="Google Shape;148;p18"/>
          <p:cNvSpPr txBox="1"/>
          <p:nvPr/>
        </p:nvSpPr>
        <p:spPr>
          <a:xfrm>
            <a:off x="1005840" y="896112"/>
            <a:ext cx="101498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2D6B34"/>
                </a:solidFill>
                <a:latin typeface="Georgia"/>
                <a:ea typeface="Georgia"/>
                <a:cs typeface="Georgia"/>
                <a:sym typeface="Georgia"/>
              </a:rPr>
              <a:t>Media becomes useful when it serves a holy and meaningful purpose.</a:t>
            </a:r>
            <a:endParaRPr/>
          </a:p>
        </p:txBody>
      </p:sp>
      <p:sp>
        <p:nvSpPr>
          <p:cNvPr id="149" name="Google Shape;149;p18"/>
          <p:cNvSpPr/>
          <p:nvPr/>
        </p:nvSpPr>
        <p:spPr>
          <a:xfrm>
            <a:off x="868680" y="1234440"/>
            <a:ext cx="10469880" cy="4892040"/>
          </a:xfrm>
          <a:prstGeom prst="roundRect">
            <a:avLst>
              <a:gd fmla="val 16667" name="adj"/>
            </a:avLst>
          </a:prstGeom>
          <a:noFill/>
          <a:ln cap="flat" cmpd="sng" w="15875">
            <a:solidFill>
              <a:srgbClr val="A66D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>
            <a:off x="1143000" y="1499616"/>
            <a:ext cx="9921300" cy="461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7315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Learn history, science, language, and life skills</a:t>
            </a:r>
            <a:endParaRPr sz="2600"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Stay informed about important news</a:t>
            </a:r>
            <a:endParaRPr sz="2600"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Access Orthodox sermons, Bible studies, and hymns</a:t>
            </a:r>
            <a:endParaRPr sz="2600"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Share the faith with others</a:t>
            </a:r>
            <a:endParaRPr sz="2600"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Encourage others through good messages</a:t>
            </a:r>
            <a:endParaRPr sz="2600"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Use technology for school, work, ministry, and service</a:t>
            </a:r>
            <a:endParaRPr sz="2600"/>
          </a:p>
        </p:txBody>
      </p:sp>
      <p:sp>
        <p:nvSpPr>
          <p:cNvPr id="151" name="Google Shape;151;p18"/>
          <p:cNvSpPr txBox="1"/>
          <p:nvPr/>
        </p:nvSpPr>
        <p:spPr>
          <a:xfrm>
            <a:off x="731520" y="6473952"/>
            <a:ext cx="10744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750" u="none" cap="none" strike="noStrike">
                <a:solidFill>
                  <a:srgbClr val="6B4A15"/>
                </a:solidFill>
                <a:latin typeface="Arial"/>
                <a:ea typeface="Arial"/>
                <a:cs typeface="Arial"/>
                <a:sym typeface="Arial"/>
              </a:rPr>
              <a:t>Week 32 &amp; 34 lesson sources | Orthodox Study Bible | Fr. Tadros Y. Malaty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6" name="Google Shape;15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9"/>
          <p:cNvSpPr txBox="1"/>
          <p:nvPr/>
        </p:nvSpPr>
        <p:spPr>
          <a:xfrm>
            <a:off x="640080" y="347472"/>
            <a:ext cx="10881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8B261F"/>
                </a:solidFill>
                <a:latin typeface="Georgia"/>
                <a:ea typeface="Georgia"/>
                <a:cs typeface="Georgia"/>
                <a:sym typeface="Georgia"/>
              </a:rPr>
              <a:t>Media Can Also Be Destructive</a:t>
            </a:r>
            <a:endParaRPr/>
          </a:p>
        </p:txBody>
      </p:sp>
      <p:sp>
        <p:nvSpPr>
          <p:cNvPr id="158" name="Google Shape;158;p19"/>
          <p:cNvSpPr txBox="1"/>
          <p:nvPr/>
        </p:nvSpPr>
        <p:spPr>
          <a:xfrm>
            <a:off x="1005840" y="896112"/>
            <a:ext cx="101498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2D6B34"/>
                </a:solidFill>
                <a:latin typeface="Georgia"/>
                <a:ea typeface="Georgia"/>
                <a:cs typeface="Georgia"/>
                <a:sym typeface="Georgia"/>
              </a:rPr>
              <a:t>What enters the eyes and ears can settle in the heart.</a:t>
            </a:r>
            <a:endParaRPr/>
          </a:p>
        </p:txBody>
      </p:sp>
      <p:sp>
        <p:nvSpPr>
          <p:cNvPr id="159" name="Google Shape;159;p19"/>
          <p:cNvSpPr/>
          <p:nvPr/>
        </p:nvSpPr>
        <p:spPr>
          <a:xfrm>
            <a:off x="868680" y="1234440"/>
            <a:ext cx="10469880" cy="4892040"/>
          </a:xfrm>
          <a:prstGeom prst="roundRect">
            <a:avLst>
              <a:gd fmla="val 16667" name="adj"/>
            </a:avLst>
          </a:prstGeom>
          <a:noFill/>
          <a:ln cap="flat" cmpd="sng" w="15875">
            <a:solidFill>
              <a:srgbClr val="A66D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9"/>
          <p:cNvSpPr txBox="1"/>
          <p:nvPr/>
        </p:nvSpPr>
        <p:spPr>
          <a:xfrm>
            <a:off x="1143000" y="1499616"/>
            <a:ext cx="9921300" cy="45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7315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Sexual impurity</a:t>
            </a:r>
            <a:endParaRPr sz="2200"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Violence</a:t>
            </a:r>
            <a:endParaRPr sz="2200"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Dirty language</a:t>
            </a:r>
            <a:endParaRPr sz="2200"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Pride and vanity</a:t>
            </a:r>
            <a:endParaRPr sz="2200"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Addiction to entertainment</a:t>
            </a:r>
            <a:endParaRPr sz="2200"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Jealousy and comparison</a:t>
            </a:r>
            <a:endParaRPr sz="2200"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Laziness and wasted time</a:t>
            </a:r>
            <a:endParaRPr sz="2200"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Distraction from prayer and spiritual life</a:t>
            </a:r>
            <a:endParaRPr sz="2200"/>
          </a:p>
        </p:txBody>
      </p:sp>
      <p:sp>
        <p:nvSpPr>
          <p:cNvPr id="161" name="Google Shape;161;p19"/>
          <p:cNvSpPr txBox="1"/>
          <p:nvPr/>
        </p:nvSpPr>
        <p:spPr>
          <a:xfrm>
            <a:off x="731520" y="6473952"/>
            <a:ext cx="10744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750" u="none" cap="none" strike="noStrike">
                <a:solidFill>
                  <a:srgbClr val="6B4A15"/>
                </a:solidFill>
                <a:latin typeface="Arial"/>
                <a:ea typeface="Arial"/>
                <a:cs typeface="Arial"/>
                <a:sym typeface="Arial"/>
              </a:rPr>
              <a:t>Week 32 &amp; 34 lesson sources | Orthodox Study Bible | Fr. Tadros Y. Malaty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6" name="Google Shape;16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0"/>
          <p:cNvSpPr txBox="1"/>
          <p:nvPr/>
        </p:nvSpPr>
        <p:spPr>
          <a:xfrm>
            <a:off x="640080" y="347472"/>
            <a:ext cx="10881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8B261F"/>
                </a:solidFill>
                <a:latin typeface="Georgia"/>
                <a:ea typeface="Georgia"/>
                <a:cs typeface="Georgia"/>
                <a:sym typeface="Georgia"/>
              </a:rPr>
              <a:t>The Senses Are Gates to the Soul</a:t>
            </a:r>
            <a:endParaRPr/>
          </a:p>
        </p:txBody>
      </p:sp>
      <p:sp>
        <p:nvSpPr>
          <p:cNvPr id="168" name="Google Shape;168;p20"/>
          <p:cNvSpPr/>
          <p:nvPr/>
        </p:nvSpPr>
        <p:spPr>
          <a:xfrm>
            <a:off x="777240" y="1298448"/>
            <a:ext cx="5257800" cy="4800600"/>
          </a:xfrm>
          <a:prstGeom prst="roundRect">
            <a:avLst>
              <a:gd fmla="val 16667" name="adj"/>
            </a:avLst>
          </a:prstGeom>
          <a:noFill/>
          <a:ln cap="flat" cmpd="sng" w="15875">
            <a:solidFill>
              <a:srgbClr val="A66D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20"/>
          <p:cNvSpPr txBox="1"/>
          <p:nvPr/>
        </p:nvSpPr>
        <p:spPr>
          <a:xfrm>
            <a:off x="1005840" y="1627632"/>
            <a:ext cx="4800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8B261F"/>
                </a:solidFill>
                <a:latin typeface="Georgia"/>
                <a:ea typeface="Georgia"/>
                <a:cs typeface="Georgia"/>
                <a:sym typeface="Georgia"/>
              </a:rPr>
              <a:t>What media can shape</a:t>
            </a:r>
            <a:endParaRPr/>
          </a:p>
        </p:txBody>
      </p:sp>
      <p:sp>
        <p:nvSpPr>
          <p:cNvPr id="170" name="Google Shape;170;p20"/>
          <p:cNvSpPr txBox="1"/>
          <p:nvPr/>
        </p:nvSpPr>
        <p:spPr>
          <a:xfrm>
            <a:off x="1143000" y="2075688"/>
            <a:ext cx="44805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7315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Our thoughts</a:t>
            </a:r>
            <a:endParaRPr sz="2000"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Our imagination</a:t>
            </a:r>
            <a:endParaRPr sz="2000"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Our desires</a:t>
            </a:r>
            <a:endParaRPr sz="2000"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Our language</a:t>
            </a:r>
            <a:endParaRPr sz="2000"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Our emotions</a:t>
            </a:r>
            <a:endParaRPr sz="2000"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Our view of sin</a:t>
            </a:r>
            <a:endParaRPr sz="2000"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Our relationship with God</a:t>
            </a:r>
            <a:endParaRPr sz="2000"/>
          </a:p>
        </p:txBody>
      </p:sp>
      <p:sp>
        <p:nvSpPr>
          <p:cNvPr id="171" name="Google Shape;171;p20"/>
          <p:cNvSpPr/>
          <p:nvPr/>
        </p:nvSpPr>
        <p:spPr>
          <a:xfrm>
            <a:off x="6309360" y="1298448"/>
            <a:ext cx="5120640" cy="4800600"/>
          </a:xfrm>
          <a:prstGeom prst="roundRect">
            <a:avLst>
              <a:gd fmla="val 16667" name="adj"/>
            </a:avLst>
          </a:prstGeom>
          <a:noFill/>
          <a:ln cap="flat" cmpd="sng" w="15875">
            <a:solidFill>
              <a:srgbClr val="A66D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20"/>
          <p:cNvSpPr txBox="1"/>
          <p:nvPr/>
        </p:nvSpPr>
        <p:spPr>
          <a:xfrm>
            <a:off x="6537960" y="1691640"/>
            <a:ext cx="4663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2D6B34"/>
                </a:solidFill>
                <a:latin typeface="Georgia"/>
                <a:ea typeface="Georgia"/>
                <a:cs typeface="Georgia"/>
                <a:sym typeface="Georgia"/>
              </a:rPr>
              <a:t>Spiritual Truth</a:t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6720840" y="2331720"/>
            <a:ext cx="4297680" cy="2331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2B1D12"/>
                </a:solidFill>
                <a:latin typeface="Georgia"/>
                <a:ea typeface="Georgia"/>
                <a:cs typeface="Georgia"/>
                <a:sym typeface="Georgia"/>
              </a:rPr>
              <a:t>If we constantly feed the flesh, the flesh becomes stronger.</a:t>
            </a:r>
            <a:br>
              <a:rPr b="1" i="0" lang="en-US" sz="2300" u="none" cap="none" strike="noStrike">
                <a:solidFill>
                  <a:srgbClr val="2B1D12"/>
                </a:solidFill>
                <a:latin typeface="Georgia"/>
                <a:ea typeface="Georgia"/>
                <a:cs typeface="Georgia"/>
                <a:sym typeface="Georgia"/>
              </a:rPr>
            </a:br>
            <a:br>
              <a:rPr b="1" i="0" lang="en-US" sz="2300" u="none" cap="none" strike="noStrike">
                <a:solidFill>
                  <a:srgbClr val="2B1D12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b="1" i="0" lang="en-US" sz="2300" u="none" cap="none" strike="noStrike">
                <a:solidFill>
                  <a:srgbClr val="2B1D12"/>
                </a:solidFill>
                <a:latin typeface="Georgia"/>
                <a:ea typeface="Georgia"/>
                <a:cs typeface="Georgia"/>
                <a:sym typeface="Georgia"/>
              </a:rPr>
              <a:t>If we feed the spirit, the spiritual life becomes stronger.</a:t>
            </a:r>
            <a:endParaRPr/>
          </a:p>
        </p:txBody>
      </p:sp>
      <p:sp>
        <p:nvSpPr>
          <p:cNvPr id="174" name="Google Shape;174;p20"/>
          <p:cNvSpPr txBox="1"/>
          <p:nvPr/>
        </p:nvSpPr>
        <p:spPr>
          <a:xfrm>
            <a:off x="731520" y="6473952"/>
            <a:ext cx="10744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750" u="none" cap="none" strike="noStrike">
                <a:solidFill>
                  <a:srgbClr val="6B4A15"/>
                </a:solidFill>
                <a:latin typeface="Arial"/>
                <a:ea typeface="Arial"/>
                <a:cs typeface="Arial"/>
                <a:sym typeface="Arial"/>
              </a:rPr>
              <a:t>Week 32 &amp; 34 lesson sources | Orthodox Study Bible | Fr. Tadros Y. Malaty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9" name="Google Shape;17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1"/>
          <p:cNvSpPr txBox="1"/>
          <p:nvPr/>
        </p:nvSpPr>
        <p:spPr>
          <a:xfrm>
            <a:off x="640080" y="347472"/>
            <a:ext cx="10881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8B261F"/>
                </a:solidFill>
                <a:latin typeface="Georgia"/>
                <a:ea typeface="Georgia"/>
                <a:cs typeface="Georgia"/>
                <a:sym typeface="Georgia"/>
              </a:rPr>
              <a:t>Guard Your Heart</a:t>
            </a:r>
            <a:endParaRPr/>
          </a:p>
        </p:txBody>
      </p:sp>
      <p:sp>
        <p:nvSpPr>
          <p:cNvPr id="181" name="Google Shape;181;p21"/>
          <p:cNvSpPr/>
          <p:nvPr/>
        </p:nvSpPr>
        <p:spPr>
          <a:xfrm>
            <a:off x="1417320" y="1234440"/>
            <a:ext cx="9372600" cy="1143000"/>
          </a:xfrm>
          <a:prstGeom prst="roundRect">
            <a:avLst>
              <a:gd fmla="val 16667" name="adj"/>
            </a:avLst>
          </a:prstGeom>
          <a:noFill/>
          <a:ln cap="flat" cmpd="sng" w="15875">
            <a:solidFill>
              <a:srgbClr val="A66D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1"/>
          <p:cNvSpPr txBox="1"/>
          <p:nvPr/>
        </p:nvSpPr>
        <p:spPr>
          <a:xfrm>
            <a:off x="1673352" y="1380744"/>
            <a:ext cx="8860536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000" u="none" cap="none" strike="noStrike">
                <a:solidFill>
                  <a:srgbClr val="8B261F"/>
                </a:solidFill>
                <a:latin typeface="Georgia"/>
                <a:ea typeface="Georgia"/>
                <a:cs typeface="Georgia"/>
                <a:sym typeface="Georgia"/>
              </a:rPr>
              <a:t>“Keep your heart with all diligence, for out of it spring the issues of life.”</a:t>
            </a:r>
            <a:endParaRPr/>
          </a:p>
        </p:txBody>
      </p:sp>
      <p:sp>
        <p:nvSpPr>
          <p:cNvPr id="183" name="Google Shape;183;p21"/>
          <p:cNvSpPr txBox="1"/>
          <p:nvPr/>
        </p:nvSpPr>
        <p:spPr>
          <a:xfrm>
            <a:off x="1737360" y="1938528"/>
            <a:ext cx="8732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2D6B34"/>
                </a:solidFill>
                <a:latin typeface="Arial"/>
                <a:ea typeface="Arial"/>
                <a:cs typeface="Arial"/>
                <a:sym typeface="Arial"/>
              </a:rPr>
              <a:t>Proverbs 4:23</a:t>
            </a:r>
            <a:endParaRPr/>
          </a:p>
        </p:txBody>
      </p:sp>
      <p:sp>
        <p:nvSpPr>
          <p:cNvPr id="184" name="Google Shape;184;p21"/>
          <p:cNvSpPr/>
          <p:nvPr/>
        </p:nvSpPr>
        <p:spPr>
          <a:xfrm>
            <a:off x="1325880" y="2743200"/>
            <a:ext cx="9555480" cy="3246120"/>
          </a:xfrm>
          <a:prstGeom prst="roundRect">
            <a:avLst>
              <a:gd fmla="val 16667" name="adj"/>
            </a:avLst>
          </a:prstGeom>
          <a:noFill/>
          <a:ln cap="flat" cmpd="sng" w="15875">
            <a:solidFill>
              <a:srgbClr val="A66D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1"/>
          <p:cNvSpPr txBox="1"/>
          <p:nvPr/>
        </p:nvSpPr>
        <p:spPr>
          <a:xfrm>
            <a:off x="1600200" y="3063240"/>
            <a:ext cx="9006900" cy="27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7315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Is this making my heart cleaner or darker?</a:t>
            </a:r>
            <a:endParaRPr sz="2200"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Is this helping me love God more?</a:t>
            </a:r>
            <a:endParaRPr sz="2200"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Is this weakening my purity?</a:t>
            </a:r>
            <a:endParaRPr sz="2200"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Is this filling my mind with temptation?</a:t>
            </a:r>
            <a:endParaRPr sz="2200"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Would I watch this if Christ was sitting beside me?</a:t>
            </a:r>
            <a:endParaRPr sz="2200"/>
          </a:p>
        </p:txBody>
      </p:sp>
      <p:sp>
        <p:nvSpPr>
          <p:cNvPr id="186" name="Google Shape;186;p21"/>
          <p:cNvSpPr txBox="1"/>
          <p:nvPr/>
        </p:nvSpPr>
        <p:spPr>
          <a:xfrm>
            <a:off x="731520" y="6473952"/>
            <a:ext cx="10744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750" u="none" cap="none" strike="noStrike">
                <a:solidFill>
                  <a:srgbClr val="6B4A15"/>
                </a:solidFill>
                <a:latin typeface="Arial"/>
                <a:ea typeface="Arial"/>
                <a:cs typeface="Arial"/>
                <a:sym typeface="Arial"/>
              </a:rPr>
              <a:t>Proverbs 4:23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1" name="Google Shape;19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2"/>
          <p:cNvSpPr txBox="1"/>
          <p:nvPr/>
        </p:nvSpPr>
        <p:spPr>
          <a:xfrm>
            <a:off x="640080" y="347472"/>
            <a:ext cx="10881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8B261F"/>
                </a:solidFill>
                <a:latin typeface="Georgia"/>
                <a:ea typeface="Georgia"/>
                <a:cs typeface="Georgia"/>
                <a:sym typeface="Georgia"/>
              </a:rPr>
              <a:t>Not Everything Is Beneficial</a:t>
            </a:r>
            <a:endParaRPr/>
          </a:p>
        </p:txBody>
      </p:sp>
      <p:sp>
        <p:nvSpPr>
          <p:cNvPr id="193" name="Google Shape;193;p22"/>
          <p:cNvSpPr/>
          <p:nvPr/>
        </p:nvSpPr>
        <p:spPr>
          <a:xfrm>
            <a:off x="1325880" y="1207008"/>
            <a:ext cx="9555480" cy="1143000"/>
          </a:xfrm>
          <a:prstGeom prst="roundRect">
            <a:avLst>
              <a:gd fmla="val 16667" name="adj"/>
            </a:avLst>
          </a:prstGeom>
          <a:noFill/>
          <a:ln cap="flat" cmpd="sng" w="15875">
            <a:solidFill>
              <a:srgbClr val="A66D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2"/>
          <p:cNvSpPr txBox="1"/>
          <p:nvPr/>
        </p:nvSpPr>
        <p:spPr>
          <a:xfrm>
            <a:off x="1581912" y="1353312"/>
            <a:ext cx="9043415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000" u="none" cap="none" strike="noStrike">
                <a:solidFill>
                  <a:srgbClr val="8B261F"/>
                </a:solidFill>
                <a:latin typeface="Georgia"/>
                <a:ea typeface="Georgia"/>
                <a:cs typeface="Georgia"/>
                <a:sym typeface="Georgia"/>
              </a:rPr>
              <a:t>“All things are lawful for me, but all things are not helpful.”</a:t>
            </a:r>
            <a:endParaRPr/>
          </a:p>
        </p:txBody>
      </p:sp>
      <p:sp>
        <p:nvSpPr>
          <p:cNvPr id="195" name="Google Shape;195;p22"/>
          <p:cNvSpPr txBox="1"/>
          <p:nvPr/>
        </p:nvSpPr>
        <p:spPr>
          <a:xfrm>
            <a:off x="1645919" y="1911096"/>
            <a:ext cx="8915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2D6B34"/>
                </a:solidFill>
                <a:latin typeface="Arial"/>
                <a:ea typeface="Arial"/>
                <a:cs typeface="Arial"/>
                <a:sym typeface="Arial"/>
              </a:rPr>
              <a:t>1 Corinthians 6:12</a:t>
            </a:r>
            <a:endParaRPr/>
          </a:p>
        </p:txBody>
      </p:sp>
      <p:sp>
        <p:nvSpPr>
          <p:cNvPr id="196" name="Google Shape;196;p22"/>
          <p:cNvSpPr/>
          <p:nvPr/>
        </p:nvSpPr>
        <p:spPr>
          <a:xfrm>
            <a:off x="868680" y="2788920"/>
            <a:ext cx="5257800" cy="3108960"/>
          </a:xfrm>
          <a:prstGeom prst="roundRect">
            <a:avLst>
              <a:gd fmla="val 16667" name="adj"/>
            </a:avLst>
          </a:prstGeom>
          <a:noFill/>
          <a:ln cap="flat" cmpd="sng" w="15875">
            <a:solidFill>
              <a:srgbClr val="A66D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2"/>
          <p:cNvSpPr txBox="1"/>
          <p:nvPr/>
        </p:nvSpPr>
        <p:spPr>
          <a:xfrm>
            <a:off x="1143000" y="3154680"/>
            <a:ext cx="4709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8B261F"/>
                </a:solidFill>
                <a:latin typeface="Georgia"/>
                <a:ea typeface="Georgia"/>
                <a:cs typeface="Georgia"/>
                <a:sym typeface="Georgia"/>
              </a:rPr>
              <a:t>Do not only ask:</a:t>
            </a:r>
            <a:endParaRPr/>
          </a:p>
        </p:txBody>
      </p:sp>
      <p:sp>
        <p:nvSpPr>
          <p:cNvPr id="198" name="Google Shape;198;p22"/>
          <p:cNvSpPr txBox="1"/>
          <p:nvPr/>
        </p:nvSpPr>
        <p:spPr>
          <a:xfrm>
            <a:off x="1417320" y="3886200"/>
            <a:ext cx="4160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8B261F"/>
                </a:solidFill>
                <a:latin typeface="Georgia"/>
                <a:ea typeface="Georgia"/>
                <a:cs typeface="Georgia"/>
                <a:sym typeface="Georgia"/>
              </a:rPr>
              <a:t>“Is this allowed?”</a:t>
            </a:r>
            <a:endParaRPr/>
          </a:p>
        </p:txBody>
      </p:sp>
      <p:sp>
        <p:nvSpPr>
          <p:cNvPr id="199" name="Google Shape;199;p22"/>
          <p:cNvSpPr/>
          <p:nvPr/>
        </p:nvSpPr>
        <p:spPr>
          <a:xfrm>
            <a:off x="6446520" y="2788920"/>
            <a:ext cx="4892040" cy="3108960"/>
          </a:xfrm>
          <a:prstGeom prst="roundRect">
            <a:avLst>
              <a:gd fmla="val 16667" name="adj"/>
            </a:avLst>
          </a:prstGeom>
          <a:noFill/>
          <a:ln cap="flat" cmpd="sng" w="15875">
            <a:solidFill>
              <a:srgbClr val="A66D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2"/>
          <p:cNvSpPr txBox="1"/>
          <p:nvPr/>
        </p:nvSpPr>
        <p:spPr>
          <a:xfrm>
            <a:off x="6720840" y="3090672"/>
            <a:ext cx="4343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2D6B34"/>
                </a:solidFill>
                <a:latin typeface="Georgia"/>
                <a:ea typeface="Georgia"/>
                <a:cs typeface="Georgia"/>
                <a:sym typeface="Georgia"/>
              </a:rPr>
              <a:t>Also ask:</a:t>
            </a:r>
            <a:endParaRPr/>
          </a:p>
        </p:txBody>
      </p:sp>
      <p:sp>
        <p:nvSpPr>
          <p:cNvPr id="201" name="Google Shape;201;p22"/>
          <p:cNvSpPr txBox="1"/>
          <p:nvPr/>
        </p:nvSpPr>
        <p:spPr>
          <a:xfrm>
            <a:off x="6812280" y="3474720"/>
            <a:ext cx="4160400" cy="22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7315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Is this beneficial?</a:t>
            </a:r>
            <a:endParaRPr sz="1700"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Is this pure?</a:t>
            </a:r>
            <a:endParaRPr sz="1700"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Is this wise?</a:t>
            </a:r>
            <a:endParaRPr sz="1700"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Is this helping my salvation?</a:t>
            </a:r>
            <a:endParaRPr sz="1700"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Is this controlling me?</a:t>
            </a:r>
            <a:endParaRPr sz="1700"/>
          </a:p>
        </p:txBody>
      </p:sp>
      <p:sp>
        <p:nvSpPr>
          <p:cNvPr id="202" name="Google Shape;202;p22"/>
          <p:cNvSpPr txBox="1"/>
          <p:nvPr/>
        </p:nvSpPr>
        <p:spPr>
          <a:xfrm>
            <a:off x="731520" y="6473952"/>
            <a:ext cx="10744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750" u="none" cap="none" strike="noStrike">
                <a:solidFill>
                  <a:srgbClr val="6B4A15"/>
                </a:solidFill>
                <a:latin typeface="Arial"/>
                <a:ea typeface="Arial"/>
                <a:cs typeface="Arial"/>
                <a:sym typeface="Arial"/>
              </a:rPr>
              <a:t>1 Corinthians 6:12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7" name="Google Shape;20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3"/>
          <p:cNvSpPr txBox="1"/>
          <p:nvPr/>
        </p:nvSpPr>
        <p:spPr>
          <a:xfrm>
            <a:off x="640080" y="347472"/>
            <a:ext cx="10881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8B261F"/>
                </a:solidFill>
                <a:latin typeface="Georgia"/>
                <a:ea typeface="Georgia"/>
                <a:cs typeface="Georgia"/>
                <a:sym typeface="Georgia"/>
              </a:rPr>
              <a:t>Time Is a Gift from God</a:t>
            </a:r>
            <a:endParaRPr/>
          </a:p>
        </p:txBody>
      </p:sp>
      <p:sp>
        <p:nvSpPr>
          <p:cNvPr id="209" name="Google Shape;209;p23"/>
          <p:cNvSpPr/>
          <p:nvPr/>
        </p:nvSpPr>
        <p:spPr>
          <a:xfrm>
            <a:off x="822960" y="1371600"/>
            <a:ext cx="5440680" cy="4480560"/>
          </a:xfrm>
          <a:prstGeom prst="roundRect">
            <a:avLst>
              <a:gd fmla="val 16667" name="adj"/>
            </a:avLst>
          </a:prstGeom>
          <a:noFill/>
          <a:ln cap="flat" cmpd="sng" w="15875">
            <a:solidFill>
              <a:srgbClr val="A66D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3"/>
          <p:cNvSpPr txBox="1"/>
          <p:nvPr/>
        </p:nvSpPr>
        <p:spPr>
          <a:xfrm>
            <a:off x="1097280" y="1737360"/>
            <a:ext cx="4892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8B261F"/>
                </a:solidFill>
                <a:latin typeface="Georgia"/>
                <a:ea typeface="Georgia"/>
                <a:cs typeface="Georgia"/>
                <a:sym typeface="Georgia"/>
              </a:rPr>
              <a:t>Every day we receive</a:t>
            </a:r>
            <a:endParaRPr/>
          </a:p>
        </p:txBody>
      </p:sp>
      <p:sp>
        <p:nvSpPr>
          <p:cNvPr id="211" name="Google Shape;211;p23"/>
          <p:cNvSpPr txBox="1"/>
          <p:nvPr/>
        </p:nvSpPr>
        <p:spPr>
          <a:xfrm>
            <a:off x="1325880" y="2331720"/>
            <a:ext cx="4434900" cy="18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2D6B34"/>
                </a:solidFill>
                <a:latin typeface="Georgia"/>
                <a:ea typeface="Georgia"/>
                <a:cs typeface="Georgia"/>
                <a:sym typeface="Georgia"/>
              </a:rPr>
              <a:t>24 hours</a:t>
            </a:r>
            <a:br>
              <a:rPr b="1" i="0" lang="en-US" sz="3900" u="none" cap="none" strike="noStrike">
                <a:solidFill>
                  <a:srgbClr val="2D6B34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b="1" i="0" lang="en-US" sz="3900" u="none" cap="none" strike="noStrike">
                <a:solidFill>
                  <a:srgbClr val="2D6B34"/>
                </a:solidFill>
                <a:latin typeface="Georgia"/>
                <a:ea typeface="Georgia"/>
                <a:cs typeface="Georgia"/>
                <a:sym typeface="Georgia"/>
              </a:rPr>
              <a:t>1,440 minutes</a:t>
            </a:r>
            <a:br>
              <a:rPr b="1" i="0" lang="en-US" sz="3900" u="none" cap="none" strike="noStrike">
                <a:solidFill>
                  <a:srgbClr val="2D6B34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b="1" i="0" lang="en-US" sz="3900" u="none" cap="none" strike="noStrike">
                <a:solidFill>
                  <a:srgbClr val="2D6B34"/>
                </a:solidFill>
                <a:latin typeface="Georgia"/>
                <a:ea typeface="Georgia"/>
                <a:cs typeface="Georgia"/>
                <a:sym typeface="Georgia"/>
              </a:rPr>
              <a:t>86,400 seconds</a:t>
            </a:r>
            <a:endParaRPr sz="2300"/>
          </a:p>
        </p:txBody>
      </p:sp>
      <p:sp>
        <p:nvSpPr>
          <p:cNvPr id="212" name="Google Shape;212;p23"/>
          <p:cNvSpPr/>
          <p:nvPr/>
        </p:nvSpPr>
        <p:spPr>
          <a:xfrm>
            <a:off x="6537960" y="1371600"/>
            <a:ext cx="4800600" cy="4480560"/>
          </a:xfrm>
          <a:prstGeom prst="roundRect">
            <a:avLst>
              <a:gd fmla="val 16667" name="adj"/>
            </a:avLst>
          </a:prstGeom>
          <a:noFill/>
          <a:ln cap="flat" cmpd="sng" w="15875">
            <a:solidFill>
              <a:srgbClr val="A66D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3"/>
          <p:cNvSpPr txBox="1"/>
          <p:nvPr/>
        </p:nvSpPr>
        <p:spPr>
          <a:xfrm>
            <a:off x="6812280" y="1783080"/>
            <a:ext cx="4251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8B261F"/>
                </a:solidFill>
                <a:latin typeface="Georgia"/>
                <a:ea typeface="Georgia"/>
                <a:cs typeface="Georgia"/>
                <a:sym typeface="Georgia"/>
              </a:rPr>
              <a:t>But once time passes...</a:t>
            </a:r>
            <a:endParaRPr/>
          </a:p>
        </p:txBody>
      </p:sp>
      <p:sp>
        <p:nvSpPr>
          <p:cNvPr id="214" name="Google Shape;214;p23"/>
          <p:cNvSpPr txBox="1"/>
          <p:nvPr/>
        </p:nvSpPr>
        <p:spPr>
          <a:xfrm>
            <a:off x="6903720" y="2331720"/>
            <a:ext cx="4069200" cy="35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7315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Money can be regained.</a:t>
            </a:r>
            <a:endParaRPr sz="1900"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25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Possessions can be replaced.</a:t>
            </a:r>
            <a:endParaRPr sz="1900"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25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Lost time cannot be brought back.</a:t>
            </a:r>
            <a:endParaRPr sz="1900"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25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Time is one of the greatest treasures God gives us.</a:t>
            </a:r>
            <a:endParaRPr sz="1900"/>
          </a:p>
        </p:txBody>
      </p:sp>
      <p:sp>
        <p:nvSpPr>
          <p:cNvPr id="215" name="Google Shape;215;p23"/>
          <p:cNvSpPr txBox="1"/>
          <p:nvPr/>
        </p:nvSpPr>
        <p:spPr>
          <a:xfrm>
            <a:off x="731520" y="6473952"/>
            <a:ext cx="10744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750" u="none" cap="none" strike="noStrike">
                <a:solidFill>
                  <a:srgbClr val="6B4A15"/>
                </a:solidFill>
                <a:latin typeface="Arial"/>
                <a:ea typeface="Arial"/>
                <a:cs typeface="Arial"/>
                <a:sym typeface="Arial"/>
              </a:rPr>
              <a:t>Week 32 &amp; 34 lesson sources | Orthodox Study Bible | Fr. Tadros Y. Malaty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0" name="Google Shape;220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4"/>
          <p:cNvSpPr txBox="1"/>
          <p:nvPr/>
        </p:nvSpPr>
        <p:spPr>
          <a:xfrm>
            <a:off x="640080" y="347472"/>
            <a:ext cx="10881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8B261F"/>
                </a:solidFill>
                <a:latin typeface="Georgia"/>
                <a:ea typeface="Georgia"/>
                <a:cs typeface="Georgia"/>
                <a:sym typeface="Georgia"/>
              </a:rPr>
              <a:t>The Danger of Wasted Time</a:t>
            </a:r>
            <a:endParaRPr/>
          </a:p>
        </p:txBody>
      </p:sp>
      <p:sp>
        <p:nvSpPr>
          <p:cNvPr id="222" name="Google Shape;222;p24"/>
          <p:cNvSpPr txBox="1"/>
          <p:nvPr/>
        </p:nvSpPr>
        <p:spPr>
          <a:xfrm>
            <a:off x="1005840" y="896112"/>
            <a:ext cx="101498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2D6B34"/>
                </a:solidFill>
                <a:latin typeface="Georgia"/>
                <a:ea typeface="Georgia"/>
                <a:cs typeface="Georgia"/>
                <a:sym typeface="Georgia"/>
              </a:rPr>
              <a:t>Wasted time becomes dangerous when it replaces prayer, Scripture, service, family, study, and spiritual growth.</a:t>
            </a:r>
            <a:endParaRPr/>
          </a:p>
        </p:txBody>
      </p:sp>
      <p:sp>
        <p:nvSpPr>
          <p:cNvPr id="223" name="Google Shape;223;p24"/>
          <p:cNvSpPr/>
          <p:nvPr/>
        </p:nvSpPr>
        <p:spPr>
          <a:xfrm>
            <a:off x="868680" y="1234440"/>
            <a:ext cx="10469880" cy="4892040"/>
          </a:xfrm>
          <a:prstGeom prst="roundRect">
            <a:avLst>
              <a:gd fmla="val 16667" name="adj"/>
            </a:avLst>
          </a:prstGeom>
          <a:noFill/>
          <a:ln cap="flat" cmpd="sng" w="15875">
            <a:solidFill>
              <a:srgbClr val="A66D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4"/>
          <p:cNvSpPr txBox="1"/>
          <p:nvPr/>
        </p:nvSpPr>
        <p:spPr>
          <a:xfrm>
            <a:off x="1143000" y="1499616"/>
            <a:ext cx="9921300" cy="43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7315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Endless scrolling</a:t>
            </a:r>
            <a:endParaRPr sz="2600"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Binge-watching</a:t>
            </a:r>
            <a:endParaRPr sz="2600"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Gaming without limits</a:t>
            </a:r>
            <a:endParaRPr sz="2600"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Watching random videos for hours</a:t>
            </a:r>
            <a:endParaRPr sz="2600"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Following celebrity drama</a:t>
            </a:r>
            <a:endParaRPr sz="2600"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Talking online with no purpose</a:t>
            </a:r>
            <a:endParaRPr sz="2600"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Staying up late consuming useless content</a:t>
            </a:r>
            <a:endParaRPr sz="2600"/>
          </a:p>
        </p:txBody>
      </p:sp>
      <p:sp>
        <p:nvSpPr>
          <p:cNvPr id="225" name="Google Shape;225;p24"/>
          <p:cNvSpPr txBox="1"/>
          <p:nvPr/>
        </p:nvSpPr>
        <p:spPr>
          <a:xfrm>
            <a:off x="731520" y="6473952"/>
            <a:ext cx="10744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750" u="none" cap="none" strike="noStrike">
                <a:solidFill>
                  <a:srgbClr val="6B4A15"/>
                </a:solidFill>
                <a:latin typeface="Arial"/>
                <a:ea typeface="Arial"/>
                <a:cs typeface="Arial"/>
                <a:sym typeface="Arial"/>
              </a:rPr>
              <a:t>Week 32 &amp; 34 lesson sources | Orthodox Study Bible | Fr. Tadros Y. Malaty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0" name="Google Shape;230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5"/>
          <p:cNvSpPr txBox="1"/>
          <p:nvPr/>
        </p:nvSpPr>
        <p:spPr>
          <a:xfrm>
            <a:off x="640080" y="347472"/>
            <a:ext cx="10881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8B261F"/>
                </a:solidFill>
                <a:latin typeface="Georgia"/>
                <a:ea typeface="Georgia"/>
                <a:cs typeface="Georgia"/>
                <a:sym typeface="Georgia"/>
              </a:rPr>
              <a:t>Redeeming the Time</a:t>
            </a:r>
            <a:endParaRPr/>
          </a:p>
        </p:txBody>
      </p:sp>
      <p:sp>
        <p:nvSpPr>
          <p:cNvPr id="232" name="Google Shape;232;p25"/>
          <p:cNvSpPr txBox="1"/>
          <p:nvPr/>
        </p:nvSpPr>
        <p:spPr>
          <a:xfrm>
            <a:off x="1005840" y="896112"/>
            <a:ext cx="101498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2D6B34"/>
                </a:solidFill>
                <a:latin typeface="Georgia"/>
                <a:ea typeface="Georgia"/>
                <a:cs typeface="Georgia"/>
                <a:sym typeface="Georgia"/>
              </a:rPr>
              <a:t>“See then that you walk circumspectly… redeeming the time.” — Ephesians 5:15–16</a:t>
            </a:r>
            <a:endParaRPr/>
          </a:p>
        </p:txBody>
      </p:sp>
      <p:sp>
        <p:nvSpPr>
          <p:cNvPr id="233" name="Google Shape;233;p25"/>
          <p:cNvSpPr/>
          <p:nvPr/>
        </p:nvSpPr>
        <p:spPr>
          <a:xfrm>
            <a:off x="868680" y="1234440"/>
            <a:ext cx="10469880" cy="4892040"/>
          </a:xfrm>
          <a:prstGeom prst="roundRect">
            <a:avLst>
              <a:gd fmla="val 16667" name="adj"/>
            </a:avLst>
          </a:prstGeom>
          <a:noFill/>
          <a:ln cap="flat" cmpd="sng" w="15875">
            <a:solidFill>
              <a:srgbClr val="A66D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5"/>
          <p:cNvSpPr txBox="1"/>
          <p:nvPr/>
        </p:nvSpPr>
        <p:spPr>
          <a:xfrm>
            <a:off x="1143000" y="1499616"/>
            <a:ext cx="9921300" cy="39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7315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5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Use time wisely</a:t>
            </a:r>
            <a:endParaRPr sz="2800"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35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Do not live carelessly</a:t>
            </a:r>
            <a:endParaRPr sz="2800"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35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Do not delay repentance</a:t>
            </a:r>
            <a:endParaRPr sz="2800"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35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Do not waste your youth</a:t>
            </a:r>
            <a:endParaRPr sz="2800"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35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Do not let distractions steal your spiritual life</a:t>
            </a:r>
            <a:endParaRPr sz="2800"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35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Give God your best, not your leftovers</a:t>
            </a:r>
            <a:endParaRPr sz="2800"/>
          </a:p>
        </p:txBody>
      </p:sp>
      <p:sp>
        <p:nvSpPr>
          <p:cNvPr id="235" name="Google Shape;235;p25"/>
          <p:cNvSpPr txBox="1"/>
          <p:nvPr/>
        </p:nvSpPr>
        <p:spPr>
          <a:xfrm>
            <a:off x="731520" y="6473952"/>
            <a:ext cx="10744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750" u="none" cap="none" strike="noStrike">
                <a:solidFill>
                  <a:srgbClr val="6B4A15"/>
                </a:solidFill>
                <a:latin typeface="Arial"/>
                <a:ea typeface="Arial"/>
                <a:cs typeface="Arial"/>
                <a:sym typeface="Arial"/>
              </a:rPr>
              <a:t>Ephesians 5:15–16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0" name="Google Shape;240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6"/>
          <p:cNvSpPr txBox="1"/>
          <p:nvPr/>
        </p:nvSpPr>
        <p:spPr>
          <a:xfrm>
            <a:off x="640080" y="347472"/>
            <a:ext cx="10881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8B261F"/>
                </a:solidFill>
                <a:latin typeface="Georgia"/>
                <a:ea typeface="Georgia"/>
                <a:cs typeface="Georgia"/>
                <a:sym typeface="Georgia"/>
              </a:rPr>
              <a:t>Life Is Short</a:t>
            </a:r>
            <a:endParaRPr/>
          </a:p>
        </p:txBody>
      </p:sp>
      <p:sp>
        <p:nvSpPr>
          <p:cNvPr id="242" name="Google Shape;242;p26"/>
          <p:cNvSpPr/>
          <p:nvPr/>
        </p:nvSpPr>
        <p:spPr>
          <a:xfrm>
            <a:off x="1234440" y="1234440"/>
            <a:ext cx="9738360" cy="1207008"/>
          </a:xfrm>
          <a:prstGeom prst="roundRect">
            <a:avLst>
              <a:gd fmla="val 16667" name="adj"/>
            </a:avLst>
          </a:prstGeom>
          <a:noFill/>
          <a:ln cap="flat" cmpd="sng" w="15875">
            <a:solidFill>
              <a:srgbClr val="A66D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6"/>
          <p:cNvSpPr txBox="1"/>
          <p:nvPr/>
        </p:nvSpPr>
        <p:spPr>
          <a:xfrm>
            <a:off x="1490472" y="1380744"/>
            <a:ext cx="9226296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000" u="none" cap="none" strike="noStrike">
                <a:solidFill>
                  <a:srgbClr val="8B261F"/>
                </a:solidFill>
                <a:latin typeface="Georgia"/>
                <a:ea typeface="Georgia"/>
                <a:cs typeface="Georgia"/>
                <a:sym typeface="Georgia"/>
              </a:rPr>
              <a:t>“The days of our lives are seventy years; and if by reason of strength they are eighty years…”</a:t>
            </a:r>
            <a:endParaRPr/>
          </a:p>
        </p:txBody>
      </p:sp>
      <p:sp>
        <p:nvSpPr>
          <p:cNvPr id="244" name="Google Shape;244;p26"/>
          <p:cNvSpPr txBox="1"/>
          <p:nvPr/>
        </p:nvSpPr>
        <p:spPr>
          <a:xfrm>
            <a:off x="1554480" y="2002536"/>
            <a:ext cx="9098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2D6B34"/>
                </a:solidFill>
                <a:latin typeface="Arial"/>
                <a:ea typeface="Arial"/>
                <a:cs typeface="Arial"/>
                <a:sym typeface="Arial"/>
              </a:rPr>
              <a:t>Psalm 90:10</a:t>
            </a:r>
            <a:endParaRPr/>
          </a:p>
        </p:txBody>
      </p:sp>
      <p:sp>
        <p:nvSpPr>
          <p:cNvPr id="245" name="Google Shape;245;p26"/>
          <p:cNvSpPr/>
          <p:nvPr/>
        </p:nvSpPr>
        <p:spPr>
          <a:xfrm>
            <a:off x="1325880" y="2834640"/>
            <a:ext cx="9555480" cy="2834640"/>
          </a:xfrm>
          <a:prstGeom prst="roundRect">
            <a:avLst>
              <a:gd fmla="val 16667" name="adj"/>
            </a:avLst>
          </a:prstGeom>
          <a:noFill/>
          <a:ln cap="flat" cmpd="sng" w="15875">
            <a:solidFill>
              <a:srgbClr val="A66D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6"/>
          <p:cNvSpPr txBox="1"/>
          <p:nvPr/>
        </p:nvSpPr>
        <p:spPr>
          <a:xfrm>
            <a:off x="1600200" y="3154680"/>
            <a:ext cx="9006900" cy="243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7315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Our life on earth is temporary.</a:t>
            </a:r>
            <a:endParaRPr sz="2000"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This should not make us afraid; it should make us awake.</a:t>
            </a:r>
            <a:endParaRPr sz="2000"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We are not created only to be entertained.</a:t>
            </a:r>
            <a:endParaRPr sz="2000"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We are created to know God, love God, serve God, and prepare for eternal life.</a:t>
            </a:r>
            <a:endParaRPr sz="2000"/>
          </a:p>
        </p:txBody>
      </p:sp>
      <p:sp>
        <p:nvSpPr>
          <p:cNvPr id="247" name="Google Shape;247;p26"/>
          <p:cNvSpPr txBox="1"/>
          <p:nvPr/>
        </p:nvSpPr>
        <p:spPr>
          <a:xfrm>
            <a:off x="731520" y="6473952"/>
            <a:ext cx="10744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750" u="none" cap="none" strike="noStrike">
                <a:solidFill>
                  <a:srgbClr val="6B4A15"/>
                </a:solidFill>
                <a:latin typeface="Arial"/>
                <a:ea typeface="Arial"/>
                <a:cs typeface="Arial"/>
                <a:sym typeface="Arial"/>
              </a:rPr>
              <a:t>Psalm 90:10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2" name="Google Shape;252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7"/>
          <p:cNvSpPr txBox="1"/>
          <p:nvPr/>
        </p:nvSpPr>
        <p:spPr>
          <a:xfrm>
            <a:off x="640080" y="347472"/>
            <a:ext cx="10881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8B261F"/>
                </a:solidFill>
                <a:latin typeface="Georgia"/>
                <a:ea typeface="Georgia"/>
                <a:cs typeface="Georgia"/>
                <a:sym typeface="Georgia"/>
              </a:rPr>
              <a:t>God Deserves Time Daily</a:t>
            </a:r>
            <a:endParaRPr/>
          </a:p>
        </p:txBody>
      </p:sp>
      <p:sp>
        <p:nvSpPr>
          <p:cNvPr id="254" name="Google Shape;254;p27"/>
          <p:cNvSpPr/>
          <p:nvPr/>
        </p:nvSpPr>
        <p:spPr>
          <a:xfrm>
            <a:off x="868680" y="1234440"/>
            <a:ext cx="10469880" cy="4892040"/>
          </a:xfrm>
          <a:prstGeom prst="roundRect">
            <a:avLst>
              <a:gd fmla="val 16667" name="adj"/>
            </a:avLst>
          </a:prstGeom>
          <a:noFill/>
          <a:ln cap="flat" cmpd="sng" w="15875">
            <a:solidFill>
              <a:srgbClr val="A66D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7"/>
          <p:cNvSpPr txBox="1"/>
          <p:nvPr/>
        </p:nvSpPr>
        <p:spPr>
          <a:xfrm>
            <a:off x="1143000" y="1499616"/>
            <a:ext cx="9921300" cy="39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7315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Many people say, “I do not have time to pray.”</a:t>
            </a:r>
            <a:endParaRPr sz="2600"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But often we have time for social media, movies, shows, music, games, group chats, and random scrolling.</a:t>
            </a:r>
            <a:endParaRPr sz="2600"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The question is not only: “Do I have time?”</a:t>
            </a:r>
            <a:endParaRPr sz="2600"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The real question is: “What am I choosing to give my time to?”</a:t>
            </a:r>
            <a:endParaRPr sz="2600"/>
          </a:p>
        </p:txBody>
      </p:sp>
      <p:sp>
        <p:nvSpPr>
          <p:cNvPr id="256" name="Google Shape;256;p27"/>
          <p:cNvSpPr txBox="1"/>
          <p:nvPr/>
        </p:nvSpPr>
        <p:spPr>
          <a:xfrm>
            <a:off x="731520" y="6473952"/>
            <a:ext cx="10744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750" u="none" cap="none" strike="noStrike">
                <a:solidFill>
                  <a:srgbClr val="6B4A15"/>
                </a:solidFill>
                <a:latin typeface="Arial"/>
                <a:ea typeface="Arial"/>
                <a:cs typeface="Arial"/>
                <a:sym typeface="Arial"/>
              </a:rPr>
              <a:t>Week 32 &amp; 34 lesson sources | Orthodox Study Bible | Fr. Tadros Y. Malaty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1" name="Google Shape;261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8"/>
          <p:cNvSpPr txBox="1"/>
          <p:nvPr/>
        </p:nvSpPr>
        <p:spPr>
          <a:xfrm>
            <a:off x="640080" y="347472"/>
            <a:ext cx="10881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8B261F"/>
                </a:solidFill>
                <a:latin typeface="Georgia"/>
                <a:ea typeface="Georgia"/>
                <a:cs typeface="Georgia"/>
                <a:sym typeface="Georgia"/>
              </a:rPr>
              <a:t>Giving God the First and Best</a:t>
            </a:r>
            <a:endParaRPr/>
          </a:p>
        </p:txBody>
      </p:sp>
      <p:sp>
        <p:nvSpPr>
          <p:cNvPr id="263" name="Google Shape;263;p28"/>
          <p:cNvSpPr/>
          <p:nvPr/>
        </p:nvSpPr>
        <p:spPr>
          <a:xfrm>
            <a:off x="868680" y="1234440"/>
            <a:ext cx="10469880" cy="4892040"/>
          </a:xfrm>
          <a:prstGeom prst="roundRect">
            <a:avLst>
              <a:gd fmla="val 16667" name="adj"/>
            </a:avLst>
          </a:prstGeom>
          <a:noFill/>
          <a:ln cap="flat" cmpd="sng" w="15875">
            <a:solidFill>
              <a:srgbClr val="A66D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8"/>
          <p:cNvSpPr txBox="1"/>
          <p:nvPr/>
        </p:nvSpPr>
        <p:spPr>
          <a:xfrm>
            <a:off x="1143000" y="1499616"/>
            <a:ext cx="9921300" cy="424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7315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God should not receive only our leftover time.</a:t>
            </a:r>
            <a:endParaRPr sz="2300"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29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A spiritual person gives God priority.</a:t>
            </a:r>
            <a:endParaRPr sz="2300"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29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Set time for prayer.</a:t>
            </a:r>
            <a:endParaRPr sz="2300"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29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Set time for Scripture and spiritual reading.</a:t>
            </a:r>
            <a:endParaRPr sz="2300"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29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Set time for Church, confession, repentance, service, and silence with God.</a:t>
            </a:r>
            <a:endParaRPr sz="2300"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29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If God is first in our life, He must also be first in our schedule.</a:t>
            </a:r>
            <a:endParaRPr sz="2300"/>
          </a:p>
        </p:txBody>
      </p:sp>
      <p:sp>
        <p:nvSpPr>
          <p:cNvPr id="265" name="Google Shape;265;p28"/>
          <p:cNvSpPr txBox="1"/>
          <p:nvPr/>
        </p:nvSpPr>
        <p:spPr>
          <a:xfrm>
            <a:off x="731520" y="6473952"/>
            <a:ext cx="10744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750" u="none" cap="none" strike="noStrike">
                <a:solidFill>
                  <a:srgbClr val="6B4A15"/>
                </a:solidFill>
                <a:latin typeface="Arial"/>
                <a:ea typeface="Arial"/>
                <a:cs typeface="Arial"/>
                <a:sym typeface="Arial"/>
              </a:rPr>
              <a:t>Week 32 &amp; 34 lesson sources | Orthodox Study Bible | Fr. Tadros Y. Malaty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0" name="Google Shape;270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29"/>
          <p:cNvSpPr txBox="1"/>
          <p:nvPr/>
        </p:nvSpPr>
        <p:spPr>
          <a:xfrm>
            <a:off x="640080" y="347472"/>
            <a:ext cx="10881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8B261F"/>
                </a:solidFill>
                <a:latin typeface="Georgia"/>
                <a:ea typeface="Georgia"/>
                <a:cs typeface="Georgia"/>
                <a:sym typeface="Georgia"/>
              </a:rPr>
              <a:t>Set Goals According to God’s Will</a:t>
            </a:r>
            <a:endParaRPr/>
          </a:p>
        </p:txBody>
      </p:sp>
      <p:sp>
        <p:nvSpPr>
          <p:cNvPr id="272" name="Google Shape;272;p29"/>
          <p:cNvSpPr txBox="1"/>
          <p:nvPr/>
        </p:nvSpPr>
        <p:spPr>
          <a:xfrm>
            <a:off x="1005840" y="896112"/>
            <a:ext cx="101498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2D6B34"/>
                </a:solidFill>
                <a:latin typeface="Georgia"/>
                <a:ea typeface="Georgia"/>
                <a:cs typeface="Georgia"/>
                <a:sym typeface="Georgia"/>
              </a:rPr>
              <a:t>Spiritual maturity begins when we stop drifting and start living intentionally before God.</a:t>
            </a:r>
            <a:endParaRPr/>
          </a:p>
        </p:txBody>
      </p:sp>
      <p:sp>
        <p:nvSpPr>
          <p:cNvPr id="273" name="Google Shape;273;p29"/>
          <p:cNvSpPr/>
          <p:nvPr/>
        </p:nvSpPr>
        <p:spPr>
          <a:xfrm>
            <a:off x="868680" y="1234440"/>
            <a:ext cx="10469880" cy="4892040"/>
          </a:xfrm>
          <a:prstGeom prst="roundRect">
            <a:avLst>
              <a:gd fmla="val 16667" name="adj"/>
            </a:avLst>
          </a:prstGeom>
          <a:noFill/>
          <a:ln cap="flat" cmpd="sng" w="15875">
            <a:solidFill>
              <a:srgbClr val="A66D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9"/>
          <p:cNvSpPr txBox="1"/>
          <p:nvPr/>
        </p:nvSpPr>
        <p:spPr>
          <a:xfrm>
            <a:off x="1143000" y="1499616"/>
            <a:ext cx="9921300" cy="48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7315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8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What does God want from my life?</a:t>
            </a:r>
            <a:endParaRPr sz="3200"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38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What habits are helping me grow spiritually?</a:t>
            </a:r>
            <a:endParaRPr sz="3200"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38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What habits are pulling me away from Him?</a:t>
            </a:r>
            <a:endParaRPr sz="3200"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38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What should I stop?</a:t>
            </a:r>
            <a:endParaRPr sz="3200"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38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What should I start?</a:t>
            </a:r>
            <a:endParaRPr sz="3200"/>
          </a:p>
          <a:p>
            <a:pPr indent="0" lvl="0" marL="0" marR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b="0" i="0" lang="en-US" sz="38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What kind of person am I becoming?</a:t>
            </a:r>
            <a:endParaRPr sz="3200"/>
          </a:p>
        </p:txBody>
      </p:sp>
      <p:sp>
        <p:nvSpPr>
          <p:cNvPr id="275" name="Google Shape;275;p29"/>
          <p:cNvSpPr txBox="1"/>
          <p:nvPr/>
        </p:nvSpPr>
        <p:spPr>
          <a:xfrm>
            <a:off x="731520" y="6473952"/>
            <a:ext cx="10744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750" u="none" cap="none" strike="noStrike">
                <a:solidFill>
                  <a:srgbClr val="6B4A15"/>
                </a:solidFill>
                <a:latin typeface="Arial"/>
                <a:ea typeface="Arial"/>
                <a:cs typeface="Arial"/>
                <a:sym typeface="Arial"/>
              </a:rPr>
              <a:t>Week 32 &amp; 34 lesson sources | Orthodox Study Bible | Fr. Tadros Y. Malaty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0" name="Google Shape;280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30"/>
          <p:cNvSpPr txBox="1"/>
          <p:nvPr/>
        </p:nvSpPr>
        <p:spPr>
          <a:xfrm>
            <a:off x="640080" y="347472"/>
            <a:ext cx="10881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8B261F"/>
                </a:solidFill>
                <a:latin typeface="Georgia"/>
                <a:ea typeface="Georgia"/>
                <a:cs typeface="Georgia"/>
                <a:sym typeface="Georgia"/>
              </a:rPr>
              <a:t>Make Time for What Matters</a:t>
            </a:r>
            <a:endParaRPr/>
          </a:p>
        </p:txBody>
      </p:sp>
      <p:sp>
        <p:nvSpPr>
          <p:cNvPr id="282" name="Google Shape;282;p30"/>
          <p:cNvSpPr txBox="1"/>
          <p:nvPr/>
        </p:nvSpPr>
        <p:spPr>
          <a:xfrm>
            <a:off x="1005840" y="896112"/>
            <a:ext cx="101498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2D6B34"/>
                </a:solidFill>
                <a:latin typeface="Georgia"/>
                <a:ea typeface="Georgia"/>
                <a:cs typeface="Georgia"/>
                <a:sym typeface="Georgia"/>
              </a:rPr>
              <a:t>“To everything there is a season, a time for every purpose under heaven.” — Ecclesiastes 3:1</a:t>
            </a:r>
            <a:endParaRPr/>
          </a:p>
        </p:txBody>
      </p:sp>
      <p:sp>
        <p:nvSpPr>
          <p:cNvPr id="283" name="Google Shape;283;p30"/>
          <p:cNvSpPr/>
          <p:nvPr/>
        </p:nvSpPr>
        <p:spPr>
          <a:xfrm>
            <a:off x="868680" y="1234440"/>
            <a:ext cx="10469880" cy="4892040"/>
          </a:xfrm>
          <a:prstGeom prst="roundRect">
            <a:avLst>
              <a:gd fmla="val 16667" name="adj"/>
            </a:avLst>
          </a:prstGeom>
          <a:noFill/>
          <a:ln cap="flat" cmpd="sng" w="15875">
            <a:solidFill>
              <a:srgbClr val="A66D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30"/>
          <p:cNvSpPr txBox="1"/>
          <p:nvPr/>
        </p:nvSpPr>
        <p:spPr>
          <a:xfrm>
            <a:off x="1143000" y="1499616"/>
            <a:ext cx="9921300" cy="43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7315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God</a:t>
            </a:r>
            <a:endParaRPr sz="1800"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Family</a:t>
            </a:r>
            <a:endParaRPr sz="1800"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School or work</a:t>
            </a:r>
            <a:endParaRPr sz="1800"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Church</a:t>
            </a:r>
            <a:endParaRPr sz="1800"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Rest</a:t>
            </a:r>
            <a:endParaRPr sz="1800"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Service</a:t>
            </a:r>
            <a:endParaRPr sz="1800"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Health</a:t>
            </a:r>
            <a:endParaRPr sz="1800"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Spiritual growth</a:t>
            </a:r>
            <a:endParaRPr sz="1800"/>
          </a:p>
        </p:txBody>
      </p:sp>
      <p:sp>
        <p:nvSpPr>
          <p:cNvPr id="285" name="Google Shape;285;p30"/>
          <p:cNvSpPr txBox="1"/>
          <p:nvPr/>
        </p:nvSpPr>
        <p:spPr>
          <a:xfrm>
            <a:off x="731520" y="6473952"/>
            <a:ext cx="10744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750" u="none" cap="none" strike="noStrike">
                <a:solidFill>
                  <a:srgbClr val="6B4A15"/>
                </a:solidFill>
                <a:latin typeface="Arial"/>
                <a:ea typeface="Arial"/>
                <a:cs typeface="Arial"/>
                <a:sym typeface="Arial"/>
              </a:rPr>
              <a:t>Ecclesiastes 3:1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0" name="Google Shape;290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31"/>
          <p:cNvSpPr txBox="1"/>
          <p:nvPr/>
        </p:nvSpPr>
        <p:spPr>
          <a:xfrm>
            <a:off x="640080" y="347472"/>
            <a:ext cx="10881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8B261F"/>
                </a:solidFill>
                <a:latin typeface="Georgia"/>
                <a:ea typeface="Georgia"/>
                <a:cs typeface="Georgia"/>
                <a:sym typeface="Georgia"/>
              </a:rPr>
              <a:t>Prioritize God Before Distractions</a:t>
            </a:r>
            <a:endParaRPr/>
          </a:p>
        </p:txBody>
      </p:sp>
      <p:sp>
        <p:nvSpPr>
          <p:cNvPr id="292" name="Google Shape;292;p31"/>
          <p:cNvSpPr/>
          <p:nvPr/>
        </p:nvSpPr>
        <p:spPr>
          <a:xfrm>
            <a:off x="868680" y="1234440"/>
            <a:ext cx="10469880" cy="4892040"/>
          </a:xfrm>
          <a:prstGeom prst="roundRect">
            <a:avLst>
              <a:gd fmla="val 16667" name="adj"/>
            </a:avLst>
          </a:prstGeom>
          <a:noFill/>
          <a:ln cap="flat" cmpd="sng" w="15875">
            <a:solidFill>
              <a:srgbClr val="A66D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31"/>
          <p:cNvSpPr txBox="1"/>
          <p:nvPr/>
        </p:nvSpPr>
        <p:spPr>
          <a:xfrm>
            <a:off x="1143000" y="1499616"/>
            <a:ext cx="9921300" cy="41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7315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4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Many people finish everything else and then give God whatever energy remains.</a:t>
            </a:r>
            <a:endParaRPr sz="2700"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34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By the end of the day, they are too tired to pray or read Scripture.</a:t>
            </a:r>
            <a:endParaRPr sz="2700"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34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Do not give God the weakest part of your day.</a:t>
            </a:r>
            <a:endParaRPr sz="2700"/>
          </a:p>
          <a:p>
            <a:pPr indent="0" lvl="0" marL="0" marR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b="0" i="0" lang="en-US" sz="34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Give Him time when your mind is awake, your heart is attentive, and your spirit is ready.</a:t>
            </a:r>
            <a:endParaRPr sz="2700"/>
          </a:p>
        </p:txBody>
      </p:sp>
      <p:sp>
        <p:nvSpPr>
          <p:cNvPr id="294" name="Google Shape;294;p31"/>
          <p:cNvSpPr txBox="1"/>
          <p:nvPr/>
        </p:nvSpPr>
        <p:spPr>
          <a:xfrm>
            <a:off x="731520" y="6473952"/>
            <a:ext cx="10744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750" u="none" cap="none" strike="noStrike">
                <a:solidFill>
                  <a:srgbClr val="6B4A15"/>
                </a:solidFill>
                <a:latin typeface="Arial"/>
                <a:ea typeface="Arial"/>
                <a:cs typeface="Arial"/>
                <a:sym typeface="Arial"/>
              </a:rPr>
              <a:t>Week 32 &amp; 34 lesson sources | Orthodox Study Bible | Fr. Tadros Y. Malaty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9" name="Google Shape;299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32"/>
          <p:cNvSpPr txBox="1"/>
          <p:nvPr/>
        </p:nvSpPr>
        <p:spPr>
          <a:xfrm>
            <a:off x="640080" y="347472"/>
            <a:ext cx="10881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8B261F"/>
                </a:solidFill>
                <a:latin typeface="Georgia"/>
                <a:ea typeface="Georgia"/>
                <a:cs typeface="Georgia"/>
                <a:sym typeface="Georgia"/>
              </a:rPr>
              <a:t>The Screen-Time Test</a:t>
            </a:r>
            <a:endParaRPr/>
          </a:p>
        </p:txBody>
      </p:sp>
      <p:sp>
        <p:nvSpPr>
          <p:cNvPr id="301" name="Google Shape;301;p32"/>
          <p:cNvSpPr txBox="1"/>
          <p:nvPr/>
        </p:nvSpPr>
        <p:spPr>
          <a:xfrm>
            <a:off x="1005840" y="896112"/>
            <a:ext cx="101498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2D6B34"/>
                </a:solidFill>
                <a:latin typeface="Georgia"/>
                <a:ea typeface="Georgia"/>
                <a:cs typeface="Georgia"/>
                <a:sym typeface="Georgia"/>
              </a:rPr>
              <a:t>Your screen time may reveal your spiritual priorities.</a:t>
            </a:r>
            <a:endParaRPr/>
          </a:p>
        </p:txBody>
      </p:sp>
      <p:sp>
        <p:nvSpPr>
          <p:cNvPr id="302" name="Google Shape;302;p32"/>
          <p:cNvSpPr/>
          <p:nvPr/>
        </p:nvSpPr>
        <p:spPr>
          <a:xfrm>
            <a:off x="868680" y="1234440"/>
            <a:ext cx="10469880" cy="4892040"/>
          </a:xfrm>
          <a:prstGeom prst="roundRect">
            <a:avLst>
              <a:gd fmla="val 16667" name="adj"/>
            </a:avLst>
          </a:prstGeom>
          <a:noFill/>
          <a:ln cap="flat" cmpd="sng" w="15875">
            <a:solidFill>
              <a:srgbClr val="A66D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32"/>
          <p:cNvSpPr txBox="1"/>
          <p:nvPr/>
        </p:nvSpPr>
        <p:spPr>
          <a:xfrm>
            <a:off x="1143000" y="1499616"/>
            <a:ext cx="9921300" cy="43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7315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4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How much time did I spend with God?</a:t>
            </a:r>
            <a:endParaRPr sz="2800"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34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How much time did I spend on entertainment?</a:t>
            </a:r>
            <a:endParaRPr sz="2800"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34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What content affected my thoughts the most?</a:t>
            </a:r>
            <a:endParaRPr sz="2800"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34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What did I watch that I should not have watched?</a:t>
            </a:r>
            <a:endParaRPr sz="2800"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34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What did I listen to that weakened my spirit?</a:t>
            </a:r>
            <a:endParaRPr sz="2800"/>
          </a:p>
          <a:p>
            <a:pPr indent="0" lvl="0" marL="0" marR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b="0" i="0" lang="en-US" sz="34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What did I consume that brought me closer to God?</a:t>
            </a:r>
            <a:endParaRPr sz="2800"/>
          </a:p>
        </p:txBody>
      </p:sp>
      <p:sp>
        <p:nvSpPr>
          <p:cNvPr id="304" name="Google Shape;304;p32"/>
          <p:cNvSpPr txBox="1"/>
          <p:nvPr/>
        </p:nvSpPr>
        <p:spPr>
          <a:xfrm>
            <a:off x="731520" y="6473952"/>
            <a:ext cx="10744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750" u="none" cap="none" strike="noStrike">
                <a:solidFill>
                  <a:srgbClr val="6B4A15"/>
                </a:solidFill>
                <a:latin typeface="Arial"/>
                <a:ea typeface="Arial"/>
                <a:cs typeface="Arial"/>
                <a:sym typeface="Arial"/>
              </a:rPr>
              <a:t>Week 32 &amp; 34 lesson sources | Orthodox Study Bible | Fr. Tadros Y. Malaty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9" name="Google Shape;309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33"/>
          <p:cNvSpPr txBox="1"/>
          <p:nvPr/>
        </p:nvSpPr>
        <p:spPr>
          <a:xfrm>
            <a:off x="640080" y="347472"/>
            <a:ext cx="10881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8B261F"/>
                </a:solidFill>
                <a:latin typeface="Georgia"/>
                <a:ea typeface="Georgia"/>
                <a:cs typeface="Georgia"/>
                <a:sym typeface="Georgia"/>
              </a:rPr>
              <a:t>How to Avoid the Destructive Impact of Media</a:t>
            </a:r>
            <a:endParaRPr/>
          </a:p>
        </p:txBody>
      </p:sp>
      <p:sp>
        <p:nvSpPr>
          <p:cNvPr id="311" name="Google Shape;311;p33"/>
          <p:cNvSpPr/>
          <p:nvPr/>
        </p:nvSpPr>
        <p:spPr>
          <a:xfrm>
            <a:off x="868680" y="1234440"/>
            <a:ext cx="10469880" cy="4892040"/>
          </a:xfrm>
          <a:prstGeom prst="roundRect">
            <a:avLst>
              <a:gd fmla="val 16667" name="adj"/>
            </a:avLst>
          </a:prstGeom>
          <a:noFill/>
          <a:ln cap="flat" cmpd="sng" w="15875">
            <a:solidFill>
              <a:srgbClr val="A66D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33"/>
          <p:cNvSpPr txBox="1"/>
          <p:nvPr/>
        </p:nvSpPr>
        <p:spPr>
          <a:xfrm>
            <a:off x="1143000" y="1499616"/>
            <a:ext cx="9921300" cy="44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7315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5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Fill your free time with God and His Word.</a:t>
            </a:r>
            <a:endParaRPr sz="2400"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295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Set limits on entertainment and scrolling.</a:t>
            </a:r>
            <a:endParaRPr sz="2400"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295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Be selective about what you watch and hear.</a:t>
            </a:r>
            <a:endParaRPr sz="2400"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295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Avoid content that weakens purity.</a:t>
            </a:r>
            <a:endParaRPr sz="2400"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295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Replace harmful content with spiritual content.</a:t>
            </a:r>
            <a:endParaRPr sz="2400"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295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Do not browse without purpose.</a:t>
            </a:r>
            <a:endParaRPr sz="2400"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295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Protect your heart before small sins become strong habits.</a:t>
            </a:r>
            <a:endParaRPr sz="2400"/>
          </a:p>
        </p:txBody>
      </p:sp>
      <p:sp>
        <p:nvSpPr>
          <p:cNvPr id="313" name="Google Shape;313;p33"/>
          <p:cNvSpPr txBox="1"/>
          <p:nvPr/>
        </p:nvSpPr>
        <p:spPr>
          <a:xfrm>
            <a:off x="731520" y="6473952"/>
            <a:ext cx="10744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750" u="none" cap="none" strike="noStrike">
                <a:solidFill>
                  <a:srgbClr val="6B4A15"/>
                </a:solidFill>
                <a:latin typeface="Arial"/>
                <a:ea typeface="Arial"/>
                <a:cs typeface="Arial"/>
                <a:sym typeface="Arial"/>
              </a:rPr>
              <a:t>Week 32 &amp; 34 lesson sources | Orthodox Study Bible | Fr. Tadros Y. Malaty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18" name="Google Shape;318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34"/>
          <p:cNvSpPr txBox="1"/>
          <p:nvPr/>
        </p:nvSpPr>
        <p:spPr>
          <a:xfrm>
            <a:off x="640080" y="347472"/>
            <a:ext cx="10881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8B261F"/>
                </a:solidFill>
                <a:latin typeface="Georgia"/>
                <a:ea typeface="Georgia"/>
                <a:cs typeface="Georgia"/>
                <a:sym typeface="Georgia"/>
              </a:rPr>
              <a:t>A Christian Media Filter</a:t>
            </a:r>
            <a:endParaRPr/>
          </a:p>
        </p:txBody>
      </p:sp>
      <p:sp>
        <p:nvSpPr>
          <p:cNvPr id="320" name="Google Shape;320;p34"/>
          <p:cNvSpPr txBox="1"/>
          <p:nvPr/>
        </p:nvSpPr>
        <p:spPr>
          <a:xfrm>
            <a:off x="1005840" y="896112"/>
            <a:ext cx="101498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2D6B34"/>
                </a:solidFill>
                <a:latin typeface="Georgia"/>
                <a:ea typeface="Georgia"/>
                <a:cs typeface="Georgia"/>
                <a:sym typeface="Georgia"/>
              </a:rPr>
              <a:t>If it weakens your soul, it is not worth your time.</a:t>
            </a:r>
            <a:endParaRPr/>
          </a:p>
        </p:txBody>
      </p:sp>
      <p:sp>
        <p:nvSpPr>
          <p:cNvPr id="321" name="Google Shape;321;p34"/>
          <p:cNvSpPr/>
          <p:nvPr/>
        </p:nvSpPr>
        <p:spPr>
          <a:xfrm>
            <a:off x="868680" y="1234440"/>
            <a:ext cx="10469880" cy="4892040"/>
          </a:xfrm>
          <a:prstGeom prst="roundRect">
            <a:avLst>
              <a:gd fmla="val 16667" name="adj"/>
            </a:avLst>
          </a:prstGeom>
          <a:noFill/>
          <a:ln cap="flat" cmpd="sng" w="15875">
            <a:solidFill>
              <a:srgbClr val="A66D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34"/>
          <p:cNvSpPr txBox="1"/>
          <p:nvPr/>
        </p:nvSpPr>
        <p:spPr>
          <a:xfrm>
            <a:off x="1143000" y="1499616"/>
            <a:ext cx="9921300" cy="43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7315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3200" u="none" cap="none" strike="noStrike">
                <a:solidFill>
                  <a:srgbClr val="2B1D12"/>
                </a:solidFill>
              </a:rPr>
              <a:t>• Is it pure?</a:t>
            </a:r>
            <a:endParaRPr sz="2400"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i="0" lang="en-US" sz="3200" u="none" cap="none" strike="noStrike">
                <a:solidFill>
                  <a:srgbClr val="2B1D12"/>
                </a:solidFill>
              </a:rPr>
              <a:t>• Is it useful?</a:t>
            </a:r>
            <a:endParaRPr sz="2400"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i="0" lang="en-US" sz="3200" u="none" cap="none" strike="noStrike">
                <a:solidFill>
                  <a:srgbClr val="2B1D12"/>
                </a:solidFill>
              </a:rPr>
              <a:t>• Is it controlling me?</a:t>
            </a:r>
            <a:endParaRPr sz="2400"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i="0" lang="en-US" sz="3200" u="none" cap="none" strike="noStrike">
                <a:solidFill>
                  <a:srgbClr val="2B1D12"/>
                </a:solidFill>
              </a:rPr>
              <a:t>• Is it wasting time?</a:t>
            </a:r>
            <a:endParaRPr sz="2400"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i="0" lang="en-US" sz="3200" u="none" cap="none" strike="noStrike">
                <a:solidFill>
                  <a:srgbClr val="2B1D12"/>
                </a:solidFill>
              </a:rPr>
              <a:t>• Is it leading me toward sin?</a:t>
            </a:r>
            <a:endParaRPr sz="2400"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i="0" lang="en-US" sz="3200" u="none" cap="none" strike="noStrike">
                <a:solidFill>
                  <a:srgbClr val="2B1D12"/>
                </a:solidFill>
              </a:rPr>
              <a:t>• Is it helping me grow?</a:t>
            </a:r>
            <a:endParaRPr sz="2400"/>
          </a:p>
          <a:p>
            <a:pPr indent="0" lvl="0" marL="0" marR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i="0" lang="en-US" sz="3200" u="none" cap="none" strike="noStrike">
                <a:solidFill>
                  <a:srgbClr val="2B1D12"/>
                </a:solidFill>
              </a:rPr>
              <a:t>• Would I be comfortable bringing this before God?</a:t>
            </a:r>
            <a:endParaRPr sz="2400"/>
          </a:p>
        </p:txBody>
      </p:sp>
      <p:sp>
        <p:nvSpPr>
          <p:cNvPr id="323" name="Google Shape;323;p34"/>
          <p:cNvSpPr txBox="1"/>
          <p:nvPr/>
        </p:nvSpPr>
        <p:spPr>
          <a:xfrm>
            <a:off x="731520" y="6473952"/>
            <a:ext cx="10744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750" u="none" cap="none" strike="noStrike">
                <a:solidFill>
                  <a:srgbClr val="6B4A15"/>
                </a:solidFill>
                <a:latin typeface="Arial"/>
                <a:ea typeface="Arial"/>
                <a:cs typeface="Arial"/>
                <a:sym typeface="Arial"/>
              </a:rPr>
              <a:t>Week 32 &amp; 34 lesson sources | Orthodox Study Bible | Fr. Tadros Y. Malaty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28" name="Google Shape;328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35"/>
          <p:cNvSpPr txBox="1"/>
          <p:nvPr/>
        </p:nvSpPr>
        <p:spPr>
          <a:xfrm>
            <a:off x="640080" y="347472"/>
            <a:ext cx="10881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8B261F"/>
                </a:solidFill>
                <a:latin typeface="Georgia"/>
                <a:ea typeface="Georgia"/>
                <a:cs typeface="Georgia"/>
                <a:sym typeface="Georgia"/>
              </a:rPr>
              <a:t>The Orthodox Way of Using Technology</a:t>
            </a:r>
            <a:endParaRPr/>
          </a:p>
        </p:txBody>
      </p:sp>
      <p:sp>
        <p:nvSpPr>
          <p:cNvPr id="330" name="Google Shape;330;p35"/>
          <p:cNvSpPr/>
          <p:nvPr/>
        </p:nvSpPr>
        <p:spPr>
          <a:xfrm>
            <a:off x="868680" y="1234440"/>
            <a:ext cx="10469880" cy="4892040"/>
          </a:xfrm>
          <a:prstGeom prst="roundRect">
            <a:avLst>
              <a:gd fmla="val 16667" name="adj"/>
            </a:avLst>
          </a:prstGeom>
          <a:noFill/>
          <a:ln cap="flat" cmpd="sng" w="15875">
            <a:solidFill>
              <a:srgbClr val="A66D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35"/>
          <p:cNvSpPr txBox="1"/>
          <p:nvPr/>
        </p:nvSpPr>
        <p:spPr>
          <a:xfrm>
            <a:off x="1143000" y="1499616"/>
            <a:ext cx="9921300" cy="468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7315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Technology should be a servant, not a master.</a:t>
            </a:r>
            <a:endParaRPr sz="2300"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Use media for learning, communication, ministry, encouragement, spiritual growth, evangelism, creativity, and work.</a:t>
            </a:r>
            <a:endParaRPr sz="2300"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Never allow technology to rule your thoughts.</a:t>
            </a:r>
            <a:endParaRPr sz="2300"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Never allow technology to steal your peace.</a:t>
            </a:r>
            <a:endParaRPr sz="2300"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Never allow technology to pollute your senses.</a:t>
            </a:r>
            <a:endParaRPr sz="2300"/>
          </a:p>
          <a:p>
            <a:pPr indent="0" lvl="0" marL="0" marR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b="0" i="0" lang="en-US" sz="285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Never allow technology to replace your relationship with God.</a:t>
            </a:r>
            <a:endParaRPr sz="2300"/>
          </a:p>
        </p:txBody>
      </p:sp>
      <p:sp>
        <p:nvSpPr>
          <p:cNvPr id="332" name="Google Shape;332;p35"/>
          <p:cNvSpPr txBox="1"/>
          <p:nvPr/>
        </p:nvSpPr>
        <p:spPr>
          <a:xfrm>
            <a:off x="731520" y="6473952"/>
            <a:ext cx="10744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750" u="none" cap="none" strike="noStrike">
                <a:solidFill>
                  <a:srgbClr val="6B4A15"/>
                </a:solidFill>
                <a:latin typeface="Arial"/>
                <a:ea typeface="Arial"/>
                <a:cs typeface="Arial"/>
                <a:sym typeface="Arial"/>
              </a:rPr>
              <a:t>Week 32 &amp; 34 lesson sources | Orthodox Study Bible | Fr. Tadros Y. Malaty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37" name="Google Shape;337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36"/>
          <p:cNvSpPr txBox="1"/>
          <p:nvPr/>
        </p:nvSpPr>
        <p:spPr>
          <a:xfrm>
            <a:off x="640080" y="347472"/>
            <a:ext cx="10881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8B261F"/>
                </a:solidFill>
                <a:latin typeface="Georgia"/>
                <a:ea typeface="Georgia"/>
                <a:cs typeface="Georgia"/>
                <a:sym typeface="Georgia"/>
              </a:rPr>
              <a:t>Practical Application: This Week’s Challenge</a:t>
            </a:r>
            <a:endParaRPr/>
          </a:p>
        </p:txBody>
      </p:sp>
      <p:sp>
        <p:nvSpPr>
          <p:cNvPr id="339" name="Google Shape;339;p36"/>
          <p:cNvSpPr txBox="1"/>
          <p:nvPr/>
        </p:nvSpPr>
        <p:spPr>
          <a:xfrm>
            <a:off x="1005840" y="896112"/>
            <a:ext cx="101498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2D6B34"/>
                </a:solidFill>
                <a:latin typeface="Georgia"/>
                <a:ea typeface="Georgia"/>
                <a:cs typeface="Georgia"/>
                <a:sym typeface="Georgia"/>
              </a:rPr>
              <a:t>The 7-Day Guard Your Time Challenge: reduce bad habits and replace them with holy habits.</a:t>
            </a:r>
            <a:endParaRPr/>
          </a:p>
        </p:txBody>
      </p:sp>
      <p:sp>
        <p:nvSpPr>
          <p:cNvPr id="340" name="Google Shape;340;p36"/>
          <p:cNvSpPr/>
          <p:nvPr/>
        </p:nvSpPr>
        <p:spPr>
          <a:xfrm>
            <a:off x="868680" y="1234440"/>
            <a:ext cx="10469880" cy="4892040"/>
          </a:xfrm>
          <a:prstGeom prst="roundRect">
            <a:avLst>
              <a:gd fmla="val 16667" name="adj"/>
            </a:avLst>
          </a:prstGeom>
          <a:noFill/>
          <a:ln cap="flat" cmpd="sng" w="15875">
            <a:solidFill>
              <a:srgbClr val="A66D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36"/>
          <p:cNvSpPr txBox="1"/>
          <p:nvPr/>
        </p:nvSpPr>
        <p:spPr>
          <a:xfrm>
            <a:off x="1143000" y="1499616"/>
            <a:ext cx="9921300" cy="43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7315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5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Limit unnecessary screen time.</a:t>
            </a:r>
            <a:endParaRPr sz="2400"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295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Avoid one type of content that weakens your purity.</a:t>
            </a:r>
            <a:endParaRPr sz="2400"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295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Spend at least 10 minutes daily in prayer.</a:t>
            </a:r>
            <a:endParaRPr sz="2400"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295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Read one passage of Scripture each day.</a:t>
            </a:r>
            <a:endParaRPr sz="2400"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295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Replace one entertainment habit with something spiritually useful.</a:t>
            </a:r>
            <a:endParaRPr sz="2400"/>
          </a:p>
          <a:p>
            <a:pPr indent="0" lvl="0" marL="0" marR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b="0" i="0" lang="en-US" sz="295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Track how much time you spend with God compared to media.</a:t>
            </a:r>
            <a:endParaRPr sz="2400"/>
          </a:p>
        </p:txBody>
      </p:sp>
      <p:sp>
        <p:nvSpPr>
          <p:cNvPr id="342" name="Google Shape;342;p36"/>
          <p:cNvSpPr txBox="1"/>
          <p:nvPr/>
        </p:nvSpPr>
        <p:spPr>
          <a:xfrm>
            <a:off x="731520" y="6473952"/>
            <a:ext cx="10744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750" u="none" cap="none" strike="noStrike">
                <a:solidFill>
                  <a:srgbClr val="6B4A15"/>
                </a:solidFill>
                <a:latin typeface="Arial"/>
                <a:ea typeface="Arial"/>
                <a:cs typeface="Arial"/>
                <a:sym typeface="Arial"/>
              </a:rPr>
              <a:t>Week 32 &amp; 34 lesson sources | Orthodox Study Bible | Fr. Tadros Y. Malaty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47" name="Google Shape;347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37"/>
          <p:cNvSpPr txBox="1"/>
          <p:nvPr/>
        </p:nvSpPr>
        <p:spPr>
          <a:xfrm>
            <a:off x="640080" y="347472"/>
            <a:ext cx="10881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8B261F"/>
                </a:solidFill>
                <a:latin typeface="Georgia"/>
                <a:ea typeface="Georgia"/>
                <a:cs typeface="Georgia"/>
                <a:sym typeface="Georgia"/>
              </a:rPr>
              <a:t>Group Discussion Questions</a:t>
            </a:r>
            <a:endParaRPr/>
          </a:p>
        </p:txBody>
      </p:sp>
      <p:sp>
        <p:nvSpPr>
          <p:cNvPr id="349" name="Google Shape;349;p37"/>
          <p:cNvSpPr/>
          <p:nvPr/>
        </p:nvSpPr>
        <p:spPr>
          <a:xfrm>
            <a:off x="868680" y="1234440"/>
            <a:ext cx="10469880" cy="4892040"/>
          </a:xfrm>
          <a:prstGeom prst="roundRect">
            <a:avLst>
              <a:gd fmla="val 16667" name="adj"/>
            </a:avLst>
          </a:prstGeom>
          <a:noFill/>
          <a:ln cap="flat" cmpd="sng" w="15875">
            <a:solidFill>
              <a:srgbClr val="A66D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37"/>
          <p:cNvSpPr txBox="1"/>
          <p:nvPr/>
        </p:nvSpPr>
        <p:spPr>
          <a:xfrm>
            <a:off x="1143000" y="1499616"/>
            <a:ext cx="9921300" cy="43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7315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5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What type of media wastes the most time for young people today?</a:t>
            </a:r>
            <a:endParaRPr sz="2400"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295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Why is it dangerous to say, “It is just entertainment”?</a:t>
            </a:r>
            <a:endParaRPr sz="2400"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295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How can media slowly affect purity and spiritual desire?</a:t>
            </a:r>
            <a:endParaRPr sz="2400"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295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What does it mean to “redeem the time”?</a:t>
            </a:r>
            <a:endParaRPr sz="2400"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295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Why should God receive our best time, not our leftover time?</a:t>
            </a:r>
            <a:endParaRPr sz="2400"/>
          </a:p>
          <a:p>
            <a:pPr indent="0" lvl="0" marL="0" marR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b="0" i="0" lang="en-US" sz="295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What is one practical change you can make this week?</a:t>
            </a:r>
            <a:endParaRPr sz="2400"/>
          </a:p>
        </p:txBody>
      </p:sp>
      <p:sp>
        <p:nvSpPr>
          <p:cNvPr id="351" name="Google Shape;351;p37"/>
          <p:cNvSpPr txBox="1"/>
          <p:nvPr/>
        </p:nvSpPr>
        <p:spPr>
          <a:xfrm>
            <a:off x="731520" y="6473952"/>
            <a:ext cx="10744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750" u="none" cap="none" strike="noStrike">
                <a:solidFill>
                  <a:srgbClr val="6B4A15"/>
                </a:solidFill>
                <a:latin typeface="Arial"/>
                <a:ea typeface="Arial"/>
                <a:cs typeface="Arial"/>
                <a:sym typeface="Arial"/>
              </a:rPr>
              <a:t>Week 32 &amp; 34 lesson sources | Orthodox Study Bible | Fr. Tadros Y. Malaty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56" name="Google Shape;356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38"/>
          <p:cNvSpPr txBox="1"/>
          <p:nvPr/>
        </p:nvSpPr>
        <p:spPr>
          <a:xfrm>
            <a:off x="640080" y="347472"/>
            <a:ext cx="10881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8B261F"/>
                </a:solidFill>
                <a:latin typeface="Georgia"/>
                <a:ea typeface="Georgia"/>
                <a:cs typeface="Georgia"/>
                <a:sym typeface="Georgia"/>
              </a:rPr>
              <a:t>Final Reflection</a:t>
            </a:r>
            <a:endParaRPr/>
          </a:p>
        </p:txBody>
      </p:sp>
      <p:sp>
        <p:nvSpPr>
          <p:cNvPr id="358" name="Google Shape;358;p38"/>
          <p:cNvSpPr/>
          <p:nvPr/>
        </p:nvSpPr>
        <p:spPr>
          <a:xfrm>
            <a:off x="1143000" y="1508760"/>
            <a:ext cx="9921240" cy="4480560"/>
          </a:xfrm>
          <a:prstGeom prst="roundRect">
            <a:avLst>
              <a:gd fmla="val 16667" name="adj"/>
            </a:avLst>
          </a:prstGeom>
          <a:noFill/>
          <a:ln cap="flat" cmpd="sng" w="15875">
            <a:solidFill>
              <a:srgbClr val="A66D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38"/>
          <p:cNvSpPr txBox="1"/>
          <p:nvPr/>
        </p:nvSpPr>
        <p:spPr>
          <a:xfrm>
            <a:off x="1600200" y="1920240"/>
            <a:ext cx="9006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8B261F"/>
                </a:solidFill>
                <a:latin typeface="Georgia"/>
                <a:ea typeface="Georgia"/>
                <a:cs typeface="Georgia"/>
                <a:sym typeface="Georgia"/>
              </a:rPr>
              <a:t>So… When, Where, How, and For How Long Will You Meet With God?</a:t>
            </a:r>
            <a:endParaRPr/>
          </a:p>
        </p:txBody>
      </p:sp>
      <p:sp>
        <p:nvSpPr>
          <p:cNvPr id="360" name="Google Shape;360;p38"/>
          <p:cNvSpPr txBox="1"/>
          <p:nvPr/>
        </p:nvSpPr>
        <p:spPr>
          <a:xfrm>
            <a:off x="1828800" y="2926080"/>
            <a:ext cx="8549700" cy="308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7315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Do not answer this only in words.</a:t>
            </a:r>
            <a:endParaRPr sz="1600"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Answer it with your schedule.</a:t>
            </a:r>
            <a:endParaRPr sz="1600"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Answer it with your habits.</a:t>
            </a:r>
            <a:endParaRPr sz="1600"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Answer it with what you choose to watch, hear, avoid, and prioritize.</a:t>
            </a:r>
            <a:endParaRPr sz="1600"/>
          </a:p>
          <a:p>
            <a:pPr indent="0" lvl="0" marL="0" marR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b="0" i="0" lang="en-US" sz="23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Today is the only day you truly have. Tomorrow is not promised.</a:t>
            </a:r>
            <a:endParaRPr sz="1600"/>
          </a:p>
        </p:txBody>
      </p:sp>
      <p:sp>
        <p:nvSpPr>
          <p:cNvPr id="361" name="Google Shape;361;p38"/>
          <p:cNvSpPr txBox="1"/>
          <p:nvPr/>
        </p:nvSpPr>
        <p:spPr>
          <a:xfrm>
            <a:off x="731520" y="6473952"/>
            <a:ext cx="10744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750" u="none" cap="none" strike="noStrike">
                <a:solidFill>
                  <a:srgbClr val="6B4A15"/>
                </a:solidFill>
                <a:latin typeface="Arial"/>
                <a:ea typeface="Arial"/>
                <a:cs typeface="Arial"/>
                <a:sym typeface="Arial"/>
              </a:rPr>
              <a:t>Week 34 — The Value of Time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66" name="Google Shape;366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39"/>
          <p:cNvSpPr txBox="1"/>
          <p:nvPr/>
        </p:nvSpPr>
        <p:spPr>
          <a:xfrm>
            <a:off x="640080" y="347472"/>
            <a:ext cx="10881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8B261F"/>
                </a:solidFill>
                <a:latin typeface="Georgia"/>
                <a:ea typeface="Georgia"/>
                <a:cs typeface="Georgia"/>
                <a:sym typeface="Georgia"/>
              </a:rPr>
              <a:t>Conclusion</a:t>
            </a:r>
            <a:endParaRPr/>
          </a:p>
        </p:txBody>
      </p:sp>
      <p:sp>
        <p:nvSpPr>
          <p:cNvPr id="368" name="Google Shape;368;p39"/>
          <p:cNvSpPr/>
          <p:nvPr/>
        </p:nvSpPr>
        <p:spPr>
          <a:xfrm>
            <a:off x="914400" y="1325880"/>
            <a:ext cx="10378440" cy="2971800"/>
          </a:xfrm>
          <a:prstGeom prst="roundRect">
            <a:avLst>
              <a:gd fmla="val 16667" name="adj"/>
            </a:avLst>
          </a:prstGeom>
          <a:noFill/>
          <a:ln cap="flat" cmpd="sng" w="15875">
            <a:solidFill>
              <a:srgbClr val="A66D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39"/>
          <p:cNvSpPr txBox="1"/>
          <p:nvPr/>
        </p:nvSpPr>
        <p:spPr>
          <a:xfrm>
            <a:off x="1234440" y="1645920"/>
            <a:ext cx="9738300" cy="25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7315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TV, the internet, and media have a powerful impact on our lives, thoughts, behavior, and spiritual condition.</a:t>
            </a:r>
            <a:endParaRPr sz="1800"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As Orthodox Christians, we are called to be awake, selective, pure, and wise.</a:t>
            </a:r>
            <a:endParaRPr sz="1800"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We must guard our senses, protect our hearts, and redeem the time God has given us.</a:t>
            </a:r>
            <a:endParaRPr sz="1800"/>
          </a:p>
        </p:txBody>
      </p:sp>
      <p:sp>
        <p:nvSpPr>
          <p:cNvPr id="370" name="Google Shape;370;p39"/>
          <p:cNvSpPr/>
          <p:nvPr/>
        </p:nvSpPr>
        <p:spPr>
          <a:xfrm>
            <a:off x="1874519" y="4572000"/>
            <a:ext cx="8458200" cy="1234440"/>
          </a:xfrm>
          <a:prstGeom prst="roundRect">
            <a:avLst>
              <a:gd fmla="val 16667" name="adj"/>
            </a:avLst>
          </a:prstGeom>
          <a:noFill/>
          <a:ln cap="flat" cmpd="sng" w="15875">
            <a:solidFill>
              <a:srgbClr val="A66D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39"/>
          <p:cNvSpPr txBox="1"/>
          <p:nvPr/>
        </p:nvSpPr>
        <p:spPr>
          <a:xfrm>
            <a:off x="2148840" y="4791456"/>
            <a:ext cx="79095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2D6B34"/>
                </a:solidFill>
                <a:latin typeface="Georgia"/>
                <a:ea typeface="Georgia"/>
                <a:cs typeface="Georgia"/>
                <a:sym typeface="Georgia"/>
              </a:rPr>
              <a:t>Use media without being ruled by it.</a:t>
            </a:r>
            <a:br>
              <a:rPr b="1" i="0" lang="en-US" sz="2200" u="none" cap="none" strike="noStrike">
                <a:solidFill>
                  <a:srgbClr val="2D6B34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b="1" i="0" lang="en-US" sz="2200" u="none" cap="none" strike="noStrike">
                <a:solidFill>
                  <a:srgbClr val="2D6B34"/>
                </a:solidFill>
                <a:latin typeface="Georgia"/>
                <a:ea typeface="Georgia"/>
                <a:cs typeface="Georgia"/>
                <a:sym typeface="Georgia"/>
              </a:rPr>
              <a:t>Use time without wasting it.</a:t>
            </a:r>
            <a:br>
              <a:rPr b="1" i="0" lang="en-US" sz="2200" u="none" cap="none" strike="noStrike">
                <a:solidFill>
                  <a:srgbClr val="2D6B34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b="1" i="0" lang="en-US" sz="2200" u="none" cap="none" strike="noStrike">
                <a:solidFill>
                  <a:srgbClr val="2D6B34"/>
                </a:solidFill>
                <a:latin typeface="Georgia"/>
                <a:ea typeface="Georgia"/>
                <a:cs typeface="Georgia"/>
                <a:sym typeface="Georgia"/>
              </a:rPr>
              <a:t>Live holy, because God is holy.</a:t>
            </a:r>
            <a:endParaRPr/>
          </a:p>
        </p:txBody>
      </p:sp>
      <p:sp>
        <p:nvSpPr>
          <p:cNvPr id="372" name="Google Shape;372;p39"/>
          <p:cNvSpPr txBox="1"/>
          <p:nvPr/>
        </p:nvSpPr>
        <p:spPr>
          <a:xfrm>
            <a:off x="731520" y="6473952"/>
            <a:ext cx="10744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750" u="none" cap="none" strike="noStrike">
                <a:solidFill>
                  <a:srgbClr val="6B4A15"/>
                </a:solidFill>
                <a:latin typeface="Arial"/>
                <a:ea typeface="Arial"/>
                <a:cs typeface="Arial"/>
                <a:sym typeface="Arial"/>
              </a:rPr>
              <a:t>Week 32 &amp; 34 lesson sources | Orthodox Study Bible | Fr. Tadros Y. Malaty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77" name="Google Shape;377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40"/>
          <p:cNvSpPr txBox="1"/>
          <p:nvPr/>
        </p:nvSpPr>
        <p:spPr>
          <a:xfrm>
            <a:off x="640080" y="347472"/>
            <a:ext cx="10881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8B261F"/>
                </a:solidFill>
                <a:latin typeface="Georgia"/>
                <a:ea typeface="Georgia"/>
                <a:cs typeface="Georgia"/>
                <a:sym typeface="Georgia"/>
              </a:rPr>
              <a:t>Sources</a:t>
            </a:r>
            <a:endParaRPr/>
          </a:p>
        </p:txBody>
      </p:sp>
      <p:sp>
        <p:nvSpPr>
          <p:cNvPr id="379" name="Google Shape;379;p40"/>
          <p:cNvSpPr/>
          <p:nvPr/>
        </p:nvSpPr>
        <p:spPr>
          <a:xfrm>
            <a:off x="868680" y="1325880"/>
            <a:ext cx="5303520" cy="4754880"/>
          </a:xfrm>
          <a:prstGeom prst="roundRect">
            <a:avLst>
              <a:gd fmla="val 16667" name="adj"/>
            </a:avLst>
          </a:prstGeom>
          <a:solidFill>
            <a:srgbClr val="FFFDF4"/>
          </a:solidFill>
          <a:ln cap="flat" cmpd="sng" w="15875">
            <a:solidFill>
              <a:srgbClr val="A66D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40"/>
          <p:cNvSpPr txBox="1"/>
          <p:nvPr/>
        </p:nvSpPr>
        <p:spPr>
          <a:xfrm>
            <a:off x="1143000" y="1691640"/>
            <a:ext cx="4754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8B261F"/>
                </a:solidFill>
                <a:latin typeface="Georgia"/>
                <a:ea typeface="Georgia"/>
                <a:cs typeface="Georgia"/>
                <a:sym typeface="Georgia"/>
              </a:rPr>
              <a:t>Primary lesson sources</a:t>
            </a:r>
            <a:endParaRPr/>
          </a:p>
        </p:txBody>
      </p:sp>
      <p:sp>
        <p:nvSpPr>
          <p:cNvPr id="381" name="Google Shape;381;p40"/>
          <p:cNvSpPr txBox="1"/>
          <p:nvPr/>
        </p:nvSpPr>
        <p:spPr>
          <a:xfrm>
            <a:off x="1143000" y="2148840"/>
            <a:ext cx="4709100" cy="26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7315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2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Week 32 — TV and The Internet (Kesis Solomon)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172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Week 34 — The Value of Time (</a:t>
            </a:r>
            <a:r>
              <a:rPr lang="en-US" sz="1720">
                <a:solidFill>
                  <a:srgbClr val="2B1D12"/>
                </a:solidFill>
              </a:rPr>
              <a:t>Kesis Solomon)</a:t>
            </a:r>
            <a:endParaRPr sz="1720">
              <a:solidFill>
                <a:srgbClr val="2B1D12"/>
              </a:solidFill>
            </a:endParaRPr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172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Fr. Tadros Y. Malaty, Let Me Grow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172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Fr. Tadros Y. Malaty, Worshiping the Devil in the Present Age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172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Orthodox Study Bible</a:t>
            </a:r>
            <a:endParaRPr/>
          </a:p>
        </p:txBody>
      </p:sp>
      <p:sp>
        <p:nvSpPr>
          <p:cNvPr id="382" name="Google Shape;382;p40"/>
          <p:cNvSpPr/>
          <p:nvPr/>
        </p:nvSpPr>
        <p:spPr>
          <a:xfrm>
            <a:off x="6400800" y="1325880"/>
            <a:ext cx="4983480" cy="4754880"/>
          </a:xfrm>
          <a:prstGeom prst="roundRect">
            <a:avLst>
              <a:gd fmla="val 16667" name="adj"/>
            </a:avLst>
          </a:prstGeom>
          <a:solidFill>
            <a:srgbClr val="FFFDF4"/>
          </a:solidFill>
          <a:ln cap="flat" cmpd="sng" w="15875">
            <a:solidFill>
              <a:srgbClr val="A66D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40"/>
          <p:cNvSpPr txBox="1"/>
          <p:nvPr/>
        </p:nvSpPr>
        <p:spPr>
          <a:xfrm>
            <a:off x="6629400" y="1691640"/>
            <a:ext cx="4526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2D6B34"/>
                </a:solidFill>
                <a:latin typeface="Georgia"/>
                <a:ea typeface="Georgia"/>
                <a:cs typeface="Georgia"/>
                <a:sym typeface="Georgia"/>
              </a:rPr>
              <a:t>Scripture references used</a:t>
            </a:r>
            <a:endParaRPr/>
          </a:p>
        </p:txBody>
      </p:sp>
      <p:sp>
        <p:nvSpPr>
          <p:cNvPr id="384" name="Google Shape;384;p40"/>
          <p:cNvSpPr txBox="1"/>
          <p:nvPr/>
        </p:nvSpPr>
        <p:spPr>
          <a:xfrm>
            <a:off x="6720840" y="2148840"/>
            <a:ext cx="4343400" cy="3108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7315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Leviticus 11:44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Ephesians 5:15–17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1 Corinthians 6:12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Proverbs 4:23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Psalm 90:10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Ecclesiastes 3:1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B1D12"/>
                </a:solidFill>
                <a:latin typeface="Arial"/>
                <a:ea typeface="Arial"/>
                <a:cs typeface="Arial"/>
                <a:sym typeface="Arial"/>
              </a:rPr>
              <a:t>• Malachi 3:7–10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