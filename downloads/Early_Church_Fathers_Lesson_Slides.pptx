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e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972A1A-B713-4213-B36F-DB3B6F185A4C}">
  <a:tblStyle styleId="{F0972A1A-B713-4213-B36F-DB3B6F185A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c8db964e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c8db964e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8db964e0_1_2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8db964e0_1_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d5d3697b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8d5d3697b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8d5d3697b3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8d5d3697b3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8d5d3697b3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8d5d3697b3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8d5d3697b3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8d5d3697b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8d5d3697b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8d5d3697b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8d5d3697b3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8d5d3697b3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8d5d3697b3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8d5d3697b3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8d5d3697b3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8d5d3697b3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d5d3697b3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8d5d3697b3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d5d3697b3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8d5d3697b3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8d5d3697b3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8d5d3697b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8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51915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880">
                <a:solidFill>
                  <a:schemeClr val="lt1"/>
                </a:solidFill>
              </a:rPr>
              <a:t>The Ancient Faith: Early Church Fathers and the Path of the Tewahedo Church</a:t>
            </a:r>
            <a:endParaRPr sz="3880">
              <a:solidFill>
                <a:schemeClr val="lt1"/>
              </a:solidFill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By Dn Yonnas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r>
              <a:rPr lang="en"/>
              <a:t>Apostolic Roots &amp; The Pentarchy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52975" y="1017725"/>
            <a:ext cx="3677700" cy="37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b="1" lang="en" sz="12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Early Church Structure</a:t>
            </a:r>
            <a:endParaRPr b="1" sz="12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432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35"/>
              <a:buChar char="●"/>
            </a:pP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earliest Church was an organic network of local communities. Authority gradually consolidated around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Apostolic Sees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—Cities where the Apostles or their immediate disciples founded major, influential churches.</a:t>
            </a:r>
            <a:b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0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43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35"/>
              <a:buChar char="●"/>
            </a:pP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By the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4th century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(Council of Nicaea, 325 AD), three Sees held primary jurisdiction across broad regions: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Rome, Alexandria, and Antioch .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These were the indisputable ancient powerhouses.</a:t>
            </a:r>
            <a:endParaRPr sz="10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SzPts val="935"/>
              <a:buNone/>
            </a:pPr>
            <a:r>
              <a:rPr b="1" lang="en" sz="116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Imperial </a:t>
            </a:r>
            <a:r>
              <a:rPr b="1" lang="en" sz="116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Addition</a:t>
            </a:r>
            <a:r>
              <a:rPr b="1" lang="en" sz="116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: The Pentarchy</a:t>
            </a:r>
            <a:endParaRPr b="1" sz="116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432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35"/>
              <a:buChar char="●"/>
            </a:pP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Pentarchy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(rule of five) was a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later imperial plan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to formalize the five supreme Sees, strategically adding Constantinople and Jerusalem.</a:t>
            </a:r>
            <a:b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b="1" sz="12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43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35"/>
              <a:buChar char="●"/>
            </a:pP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system was based on the belief that these Patriarchs, acting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collectively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safeguarded the universal faith, with authority residing in the </a:t>
            </a:r>
            <a:r>
              <a:rPr b="1"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Ecumenical Councils</a:t>
            </a:r>
            <a:r>
              <a:rPr lang="en" sz="10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not in the singular power of any one See.</a:t>
            </a:r>
            <a:endParaRPr sz="10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b="1" sz="12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5879463" y="2316175"/>
            <a:ext cx="1276500" cy="783300"/>
          </a:xfrm>
          <a:prstGeom prst="rect">
            <a:avLst/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Jerusalem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St. James the Just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63" name="Google Shape;63;p14"/>
          <p:cNvSpPr/>
          <p:nvPr/>
        </p:nvSpPr>
        <p:spPr>
          <a:xfrm>
            <a:off x="4314800" y="2027575"/>
            <a:ext cx="1459800" cy="13605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Alexandria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900">
                <a:solidFill>
                  <a:schemeClr val="dk1"/>
                </a:solidFill>
              </a:rPr>
              <a:t>St. Mark the Evangelist </a:t>
            </a:r>
            <a:endParaRPr i="1" sz="900">
              <a:solidFill>
                <a:schemeClr val="dk1"/>
              </a:solidFill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5770025" y="728300"/>
            <a:ext cx="1459800" cy="13605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Rome</a:t>
            </a:r>
            <a:br>
              <a:rPr lang="en">
                <a:solidFill>
                  <a:schemeClr val="dk1"/>
                </a:solidFill>
              </a:rPr>
            </a:br>
            <a:r>
              <a:rPr i="1" lang="en" sz="900">
                <a:solidFill>
                  <a:schemeClr val="dk1"/>
                </a:solidFill>
              </a:rPr>
              <a:t>St. Peter and St. Paul</a:t>
            </a:r>
            <a:r>
              <a:rPr i="1" lang="en" sz="900">
                <a:solidFill>
                  <a:schemeClr val="dk1"/>
                </a:solidFill>
              </a:rPr>
              <a:t> </a:t>
            </a:r>
            <a:endParaRPr i="1" sz="900">
              <a:solidFill>
                <a:schemeClr val="dk1"/>
              </a:solidFill>
            </a:endParaRPr>
          </a:p>
        </p:txBody>
      </p:sp>
      <p:sp>
        <p:nvSpPr>
          <p:cNvPr id="65" name="Google Shape;65;p14"/>
          <p:cNvSpPr/>
          <p:nvPr/>
        </p:nvSpPr>
        <p:spPr>
          <a:xfrm>
            <a:off x="7262075" y="2027575"/>
            <a:ext cx="1459800" cy="13605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Antioch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900">
                <a:solidFill>
                  <a:schemeClr val="dk1"/>
                </a:solidFill>
              </a:rPr>
              <a:t>St. Peter</a:t>
            </a:r>
            <a:r>
              <a:rPr i="1" lang="en" sz="900">
                <a:solidFill>
                  <a:schemeClr val="dk1"/>
                </a:solidFill>
              </a:rPr>
              <a:t> </a:t>
            </a:r>
            <a:endParaRPr i="1" sz="900">
              <a:solidFill>
                <a:schemeClr val="dk1"/>
              </a:solidFill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5787825" y="3287125"/>
            <a:ext cx="1459800" cy="13605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Constantinople</a:t>
            </a:r>
            <a:endParaRPr b="1" sz="10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Andrew the Apostle</a:t>
            </a:r>
            <a:endParaRPr i="1" sz="11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20"/>
              <a:t>1,600 Years of Unity: Alexandria and the Ethiopian Episcopal Line</a:t>
            </a:r>
            <a:endParaRPr sz="2220"/>
          </a:p>
        </p:txBody>
      </p:sp>
      <p:sp>
        <p:nvSpPr>
          <p:cNvPr id="72" name="Google Shape;72;p15"/>
          <p:cNvSpPr txBox="1"/>
          <p:nvPr/>
        </p:nvSpPr>
        <p:spPr>
          <a:xfrm>
            <a:off x="446850" y="1231250"/>
            <a:ext cx="8112300" cy="1711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Primacy of Alexandria</a:t>
            </a:r>
            <a:endParaRPr b="1"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Patriarchate of Alexandria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(the Coptic Church) was one of the three original and most influential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Apostolic Sees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(along with Rome and Antioch).</a:t>
            </a:r>
            <a:b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It was traditionally founded by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Mark the Evangelist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the author of the Gospel of Mark. Alexandria became the intellectual and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theological capital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of early Christianity, wielding immense authority over all of Africa and establishing the standards for biblical scholarship and doctrine.</a:t>
            </a:r>
            <a:endParaRPr sz="11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446850" y="2942750"/>
            <a:ext cx="8112300" cy="1711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Ethiopia's Indivisible Link</a:t>
            </a:r>
            <a:endParaRPr b="1"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First Bishop: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This link began when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Frumentius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(Abune Selama) was consecrated as the first Bishop of Aksum by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Athanasius, Pope of Alexandria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around 330 AD.</a:t>
            </a:r>
            <a:b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Church in the Aksumite Kingdom (modern Ethiopia/Eritrea) was directly under Alexandria's spiritual jurisdiction for </a:t>
            </a:r>
            <a:r>
              <a:rPr b="1"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over 1,600 years</a:t>
            </a:r>
            <a: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br>
              <a:rPr lang="en" sz="11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139025" y="445025"/>
            <a:ext cx="9095700" cy="83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Accepted Councils (Nicaea I, Constantinople I, Ephesus I)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383100" y="1336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{F0972A1A-B713-4213-B36F-DB3B6F185A4C}</a:tableStyleId>
              </a:tblPr>
              <a:tblGrid>
                <a:gridCol w="1053300"/>
                <a:gridCol w="616400"/>
                <a:gridCol w="2185275"/>
                <a:gridCol w="4528625"/>
              </a:tblGrid>
              <a:tr h="1840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Council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Date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Key Heresy/Issue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Key Theological Affirmation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91425" marL="9142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5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Nicaea I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325 AD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Arianism (Christ was a created being)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Christ is Fully God: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Jesus is of the </a:t>
                      </a: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same divine nature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as God the Father.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91425" marL="9142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5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Constantinople I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381 AD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Macedonianism (denied the divinity of the Holy Spirit)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The Holy Spirit is Fully God: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The Father, Son, and Holy Spirit are </a:t>
                      </a: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three distinct Persons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who are </a:t>
                      </a: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equally divine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.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91425" marL="9142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56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Ephesus I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431 AD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Times"/>
                          <a:ea typeface="Times"/>
                          <a:cs typeface="Times"/>
                          <a:sym typeface="Times"/>
                        </a:rPr>
                        <a:t>Nestorianism (divided Christ into two separate persons)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28575" marL="2857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Christ is One Person: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God and Man are perfectly and inseparably united in Jesus Christ. Mary is called </a:t>
                      </a:r>
                      <a:r>
                        <a:rPr b="1"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Theotokos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Times"/>
                          <a:ea typeface="Times"/>
                          <a:cs typeface="Times"/>
                          <a:sym typeface="Times"/>
                        </a:rPr>
                        <a:t> (God-bearer) because she gave birth to the one Person who is God.</a:t>
                      </a:r>
                      <a:endParaRPr sz="1000">
                        <a:latin typeface="Times"/>
                        <a:ea typeface="Times"/>
                        <a:cs typeface="Times"/>
                        <a:sym typeface="Times"/>
                      </a:endParaRPr>
                    </a:p>
                  </a:txBody>
                  <a:tcPr marT="19050" marB="19050" marR="91425" marL="91425" anchor="b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282450" y="3264900"/>
            <a:ext cx="8579100" cy="18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500" u="sng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Shared Foundation of Faith</a:t>
            </a:r>
            <a:endParaRPr b="1" sz="1500" u="sng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All major ancient Christian Churches—Oriental Orthodox, Eastern Orthodox, and Roman Catholic—share and uphold the definitions set forth by the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first three Ecumenical Councils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Tewahedo Church uses these councils as the undisputed foundation for its doctrine on the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Trinity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and the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Incarnation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Great Theological Conflict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311700" y="1152475"/>
            <a:ext cx="4464300" cy="349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Pivotal Question</a:t>
            </a:r>
            <a:endParaRPr b="1" sz="16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After the first three councils affirmed that Christ is </a:t>
            </a:r>
            <a: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fully God</a:t>
            </a: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and </a:t>
            </a:r>
            <a: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fully Man</a:t>
            </a: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(and </a:t>
            </a:r>
            <a: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Person</a:t>
            </a: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), a crucial question remained:</a:t>
            </a:r>
            <a:b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b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How exactly are His Divine nature and Human nature united in that one Person?</a:t>
            </a:r>
            <a:b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b="1" sz="14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This debate was known as the </a:t>
            </a:r>
            <a:r>
              <a:rPr b="1"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Christological Controversy</a:t>
            </a:r>
            <a:r>
              <a:rPr lang="en" sz="14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 Disagreeing on the precise wording to describe this union led directly to the first major split in the ancient Church.</a:t>
            </a:r>
            <a:endParaRPr sz="14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>
              <a:latin typeface="Times"/>
              <a:ea typeface="Times"/>
              <a:cs typeface="Times"/>
              <a:sym typeface="Times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4075" y="1017725"/>
            <a:ext cx="3327800" cy="33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Christology Dilema 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3" name="Google Shape;93;p18"/>
          <p:cNvSpPr txBox="1"/>
          <p:nvPr>
            <p:ph idx="1" type="body"/>
          </p:nvPr>
        </p:nvSpPr>
        <p:spPr>
          <a:xfrm>
            <a:off x="311700" y="1017725"/>
            <a:ext cx="8520600" cy="36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SzPts val="935"/>
              <a:buNone/>
            </a:pPr>
            <a:r>
              <a:rPr b="1" lang="en" sz="14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Two Main Camps</a:t>
            </a:r>
            <a:endParaRPr b="1" sz="14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By the mid-5th century, two main schools of thought dominated the debate:</a:t>
            </a:r>
            <a:endParaRPr i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7818" lvl="0" marL="457200" rtl="0"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405"/>
              <a:buFont typeface="Times"/>
              <a:buAutoNum type="arabicPeriod"/>
            </a:pPr>
            <a:r>
              <a:rPr b="1" lang="en" sz="14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Alexandrian School (Tewahedo/Miaphysite)</a:t>
            </a:r>
            <a:endParaRPr b="1" sz="14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Focus: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Emphasized the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complete unity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of the natures after the Incarnation. They feared any language that seemed to separate Christ's divinity and humanity.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Doctrine: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Argued that the natures are made "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 and work together as a single Divine-Human entity (</a:t>
            </a:r>
            <a:r>
              <a:rPr i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Miaphysitism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or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).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Key Figure: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Cyril of Alexandria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(whose formula was central to the Council of Ephesus).</a:t>
            </a:r>
            <a:b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b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7818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5"/>
              <a:buFont typeface="Times"/>
              <a:buAutoNum type="arabicPeriod"/>
            </a:pPr>
            <a:r>
              <a:rPr b="1" lang="en" sz="14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Antiochian/Western School (Dyophysite)</a:t>
            </a:r>
            <a:endParaRPr b="1" sz="14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Focus: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Emphasized the need to clearly affirm that Christ's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divinity and humanity remained distinct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after the Incarnation. They feared language that suggested the Divine swallowed up or confused the Human nature.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Doctrine: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Maintained that Christ exists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"in two natures"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Dyophysitism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).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Key Figure: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</a:t>
            </a: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Pope Leo I of Rome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(whose </a:t>
            </a:r>
            <a:r>
              <a:rPr i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Tome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was central to the Council of Chalcedon).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830"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Council of Chalcedon (451 AD)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516325" y="1152475"/>
            <a:ext cx="8316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SzPts val="688"/>
              <a:buNone/>
            </a:pPr>
            <a:r>
              <a:rPr b="1" lang="en" sz="136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Chalcedonian Definition (451 AD)</a:t>
            </a:r>
            <a:endParaRPr b="1" sz="136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688"/>
              <a:buNone/>
            </a:pPr>
            <a:r>
              <a:rPr b="1" lang="en" sz="111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Imperial Mandate</a:t>
            </a:r>
            <a:endParaRPr b="1" sz="111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88"/>
              <a:buChar char="●"/>
            </a:pP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Convened by the Roman Emperor </a:t>
            </a: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Marcian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in 451 AD, the Council was called to definitively resolve the Christological conflict between Alexandria and Antioch.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88"/>
              <a:buChar char="●"/>
            </a:pP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Council affirmed the doctrine that Christ is "</a:t>
            </a: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and the same Son... acknowledged in two natures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 (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in duabus naturis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88"/>
              <a:buChar char="●"/>
            </a:pP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This core statement is known as </a:t>
            </a: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Dyophysitism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(Greek for "</a:t>
            </a: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two natures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").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688"/>
              <a:buNone/>
            </a:pPr>
            <a:r>
              <a:rPr b="1" lang="en" sz="111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</a:t>
            </a:r>
            <a:r>
              <a:rPr b="1" lang="en" sz="111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Definition</a:t>
            </a:r>
            <a:r>
              <a:rPr b="1" lang="en" sz="1113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Critical Compromise</a:t>
            </a:r>
            <a:endParaRPr b="1" sz="111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Chalcedonian Definition sought to be a balanced compromise by defining 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how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two natures exist within Christ, using </a:t>
            </a: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four negative adverbs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to guard against heresy.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natures were united: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88"/>
              <a:buAutoNum type="arabicPeriod"/>
            </a:pP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Without Confusion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Asynchytos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): To guard against the Alexandrian extreme (which the Dyophysites called "Eutychianism").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88"/>
              <a:buAutoNum type="arabicPeriod"/>
            </a:pP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Without Change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Atreptos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): To guard against the idea that the Divine Nature was altered.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88"/>
              <a:buAutoNum type="arabicPeriod"/>
            </a:pP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Without Division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Adiairetos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): To guard against the Antiochian extreme (Nestorianism).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130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88"/>
              <a:buAutoNum type="arabicPeriod"/>
            </a:pPr>
            <a:r>
              <a:rPr b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Without Separation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Achoristos</a:t>
            </a:r>
            <a:r>
              <a:rPr lang="en" sz="988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): To guard against the final separation of the Person.</a:t>
            </a:r>
            <a:endParaRPr sz="988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b="1" sz="111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299244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Times"/>
              <a:buChar char="●"/>
            </a:pPr>
            <a:r>
              <a:t/>
            </a:r>
            <a:endParaRPr b="1" sz="1113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t/>
            </a:r>
            <a:endParaRPr sz="1425"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Tewahedo Objection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98700" y="1072400"/>
            <a:ext cx="8946600" cy="3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    </a:t>
            </a:r>
            <a:r>
              <a:rPr b="1" lang="en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Alexandrian Rejection</a:t>
            </a:r>
            <a:endParaRPr b="1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Alexandrian (Coptic) delegation, led by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Pope Dioscorus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absolutely rejected the Chalcedonian phrase "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in two natures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 (</a:t>
            </a:r>
            <a:r>
              <a:rPr i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en duo physeis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Theological Fear: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They argued that this wording risked a return to the heresy of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Nestorianism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(which divided Christ into two separate persons/subjects).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Core Doctrine: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Alexandria insisted on the formula of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Cyril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: "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Incarnate Nature of God the Word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," believing that </a:t>
            </a:r>
            <a:r>
              <a:rPr i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after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Incarnation, the two natures became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unified reality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(Tewahedo/Miaphysite).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Schism: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Council illegally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deposed and exiled Pope Dioscorus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effectively marking the permanent administrative and theological schism.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    </a:t>
            </a:r>
            <a:r>
              <a:rPr b="1" lang="en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Result</a:t>
            </a:r>
            <a:endParaRPr b="1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Churches that rejected the Council of Chalcedon became known historically as the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Non-Chalcedonian Churches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(or the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Oriental Orthodox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family).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This marks the moment the ancient Apostolic Sees of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Alexandria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(Coptic),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Antioch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(Syriac), and </a:t>
            </a:r>
            <a:r>
              <a:rPr b="1"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Aksum</a:t>
            </a:r>
            <a:r>
              <a:rPr lang="en" sz="12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(Tewahedo) officially separated from the Patriarchates of Rome, Constantinople, and Jerusalem.</a:t>
            </a:r>
            <a:endParaRPr sz="12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Tewahedo Christological Stance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1152475"/>
            <a:ext cx="5159100" cy="356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b="1" lang="en" sz="13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Miaphysitism: The Doctrine of Unity</a:t>
            </a:r>
            <a:endParaRPr b="1" sz="13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theological position of the Tewahedo Church and the entire Oriental Orthodox family is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Miaphysitism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(Greek for "one nature").</a:t>
            </a:r>
            <a:b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This doctrine affirms that, after the Incarnation, Christ possesses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unified Divine-Human nature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</a:t>
            </a:r>
            <a:r>
              <a:rPr i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physis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).</a:t>
            </a:r>
            <a:b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Font typeface="Times"/>
              <a:buChar char="●"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two natures are perfectly and perpetually joined, making them a single reality.</a:t>
            </a: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b="1" lang="en" sz="13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Defining Formula</a:t>
            </a:r>
            <a:endParaRPr b="1" sz="13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Miaphysitism is based on the formula of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St. Cyril of Alexandria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:</a:t>
            </a:r>
            <a:b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"One Incarnate Nature of God the Word."</a:t>
            </a:r>
            <a:b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b="1"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To visualize this union, the Tewahedo Fathers used the analogy of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fire and iron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: The fire and iron become one glowing, inseparable piece, but the iron does not cease to be iron, and the fire does not cease to be fire.</a:t>
            </a: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730">
              <a:latin typeface="Times"/>
              <a:ea typeface="Times"/>
              <a:cs typeface="Times"/>
              <a:sym typeface="Times"/>
            </a:endParaRPr>
          </a:p>
        </p:txBody>
      </p:sp>
      <p:pic>
        <p:nvPicPr>
          <p:cNvPr id="112" name="Google Shape;11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31075" y="1017725"/>
            <a:ext cx="3207649" cy="3564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Ge'ez Term: Tewahedo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18" name="Google Shape;118;p22"/>
          <p:cNvSpPr txBox="1"/>
          <p:nvPr>
            <p:ph idx="1" type="body"/>
          </p:nvPr>
        </p:nvSpPr>
        <p:spPr>
          <a:xfrm>
            <a:off x="391150" y="1142550"/>
            <a:ext cx="8247600" cy="35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What is </a:t>
            </a:r>
            <a:r>
              <a:rPr b="1" i="1" lang="en" sz="15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</a:t>
            </a:r>
            <a:r>
              <a:rPr b="1" lang="en" sz="15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?</a:t>
            </a:r>
            <a:endParaRPr b="1" sz="15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term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is the Ge'ez word (the ancient liturgical language of the Ethiopian and Eritrean Churches) that translates directly to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"made one"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or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"unity."</a:t>
            </a:r>
            <a:endParaRPr b="1"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It is the native theological equivalent of the Greek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Miaphysitism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term is so central to the Church's identity that it is part of its official name: The Ethiopian/Eritrean Orthodox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Church.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Theological Significance</a:t>
            </a:r>
            <a:endParaRPr b="1" sz="15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expresses the core belief that the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Divine Nature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and the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Human Nature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of Jesus Christ are permanently and perfectly united into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Person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and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One Nature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This unity is understood to be </a:t>
            </a:r>
            <a:r>
              <a:rPr b="1"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without separation, without confusion, and without change</a:t>
            </a:r>
            <a:r>
              <a:rPr lang="en"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—both natures remain distinct in their properties but are inseparable in their existence within Christ.</a:t>
            </a:r>
            <a:endParaRPr sz="13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40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"/>
                <a:ea typeface="Times"/>
                <a:cs typeface="Times"/>
                <a:sym typeface="Times"/>
              </a:rPr>
              <a:t>The Nine Saints &amp; Monasticism</a:t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450725" y="1073050"/>
            <a:ext cx="8178000" cy="40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65106"/>
              <a:buFont typeface="Arial"/>
              <a:buNone/>
            </a:pPr>
            <a:r>
              <a:rPr b="1" lang="en" sz="16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Exiles of Faith and Missionaries</a:t>
            </a:r>
            <a:endParaRPr b="1" sz="16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Period: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late 5th and early 6th centuries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right after the theological turmoil of the Council of Chalcedon (451 AD).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Identity: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 revered group of missionaries, traditionally numbering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Nine Saints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who arrived in the Aksumite Kingdom.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Context: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Many were believed to be Byzantine monks or clerics who fled the Roman Empire due to their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rejection of the Chalcedonian Dyophysite doctrine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 They sought refuge and a fertile ground for their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Miaphysite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faith.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65106"/>
              <a:buFont typeface="Arial"/>
              <a:buNone/>
            </a:pPr>
            <a:r>
              <a:rPr b="1" lang="en" sz="16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Securing the Tewahedo Identity</a:t>
            </a:r>
            <a:endParaRPr b="1" sz="16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Their arrival was critical in solidly establishing the Alexandrian theological position in the Ethiopian Highlands. They were missionaries of the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Tewahedo faith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Monasticism: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They introduced and formalized the structures of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intensive monasticism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creating spiritual centers that became essential for preserving the faith during later centuries of isolation.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89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Scripture: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The saints were instrumental in finalizing and standardizing the translation of the Bible and key liturgical texts into the classical Ethiopian language, </a:t>
            </a:r>
            <a:r>
              <a:rPr b="1"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Ge'ez</a:t>
            </a:r>
            <a:r>
              <a:rPr lang="en" sz="149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49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Monasteries and the Nine Founding Fathers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505125" y="1290850"/>
            <a:ext cx="5103900" cy="32766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b="1" lang="en" sz="130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Centers of Faith and Learning</a:t>
            </a:r>
            <a:endParaRPr b="1" sz="130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Each saint is associated with establishing a key monastery that served as a center for theology, education, and cultural preservation, primarily located in the regions of Tigray (Ethiopia) and Eritrea. These monasteries became the strongholds of the Miaphysite faith:</a:t>
            </a: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Debre Damo: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Founded by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Aragawi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this is one of Ethiopia's oldest monasteries, famously located on a flat-topped mountain accessible only by a rope.</a:t>
            </a:r>
            <a:b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Garima Monastery: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Founded by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Garima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this monastery is the custodian of the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Garima Gospels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, some of the oldest illuminated Christian manuscripts in the world, dated to the 5th–7th centuries.</a:t>
            </a:r>
            <a:b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</a:b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067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Debre Zewayt/Qorqor: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Associated with figures like </a:t>
            </a:r>
            <a:r>
              <a:rPr b="1"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Aftse</a:t>
            </a:r>
            <a:r>
              <a:rPr lang="en" sz="11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.</a:t>
            </a:r>
            <a:endParaRPr sz="11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630"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31" name="Google Shape;131;p24"/>
          <p:cNvSpPr txBox="1"/>
          <p:nvPr/>
        </p:nvSpPr>
        <p:spPr>
          <a:xfrm>
            <a:off x="506400" y="1568850"/>
            <a:ext cx="2894400" cy="28098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i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The Tewahedo tradition venerates these specific figures as the fathers of Ethiopian monasticism. They are traditionally named:</a:t>
            </a:r>
            <a:endParaRPr i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Aftse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Alef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Aragawi</a:t>
            </a:r>
            <a:r>
              <a:rPr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 (or Za-Mika’el)</a:t>
            </a:r>
            <a:endParaRPr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Garima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Guba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Liqanos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Pantelewon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Sehma</a:t>
            </a:r>
            <a:endParaRPr b="1" sz="12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 indent="-307023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35"/>
              <a:buFont typeface="Times"/>
              <a:buChar char="●"/>
            </a:pPr>
            <a:r>
              <a:rPr b="1" lang="en" sz="1235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Abba Yem'ata</a:t>
            </a:r>
            <a:endParaRPr b="1" sz="1035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Foundational Fathers</a:t>
            </a:r>
            <a:endParaRPr/>
          </a:p>
        </p:txBody>
      </p:sp>
      <p:graphicFrame>
        <p:nvGraphicFramePr>
          <p:cNvPr id="137" name="Google Shape;137;p25"/>
          <p:cNvGraphicFramePr/>
          <p:nvPr/>
        </p:nvGraphicFramePr>
        <p:xfrm>
          <a:off x="509038" y="1017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{F0972A1A-B713-4213-B36F-DB3B6F185A4C}</a:tableStyleId>
              </a:tblPr>
              <a:tblGrid>
                <a:gridCol w="1454625"/>
                <a:gridCol w="851525"/>
                <a:gridCol w="1725600"/>
                <a:gridCol w="4094175"/>
              </a:tblGrid>
              <a:tr h="4137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Church Father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Life (Approx.)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Key Work / Contribution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Relevance to Tewahedo Faith</a:t>
                      </a:r>
                      <a:endParaRPr b="1"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9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St. Ignatius of Antioch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c. 35 – c. 108 AD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Seven Epistles: Early defender of the reality of Christ's flesh.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His fierce defense of the undivided unity of Christ's person laid the groundwork for Miaphysite theology.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6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St. Athanasius of Alexandria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c. 296 – 373 AD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On the Incarnation of the Word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Consecrated the first Bishop of Aksum (St. Frumentius), establishing the Alexandrian authority over the Tewahedo Church.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34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St. Cyril of Alexandria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c. 376 – 444 AD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Twelve Anathemas (against Nestorius)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His formula, "One Incarnate Nature of God the Word," is the canonical basis for the Tewahedo doctrine.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53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Pope Dioscorus I of Alexandria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d. 454 AD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Defense at Chalcedon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The primary figure who rejected the Chalcedonian Creed and was deposed, causing the official schism between the Oriental Orthodox and the rest of the Church.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5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The Nine Saints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Late 5th Century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Founding Monastic Orders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Solidified the Miaphysite position in the Ethiopian Highlands and finalized the translation of the Ge'ez Bible.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242200" y="2086050"/>
            <a:ext cx="8520600" cy="9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5520">
                <a:latin typeface="Times"/>
                <a:ea typeface="Times"/>
                <a:cs typeface="Times"/>
                <a:sym typeface="Times"/>
              </a:rPr>
              <a:t>QUESTIONS?</a:t>
            </a:r>
            <a:endParaRPr sz="5520"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