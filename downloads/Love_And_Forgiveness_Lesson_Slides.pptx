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Default Extension="jpeg" ContentType="image/jpeg"/>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77aa0d2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77aa0d2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77aa0d2b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77aa0d2b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77aa0d2b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77aa0d2b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77aa0d2b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77aa0d2b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77aa0d2b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77aa0d2b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77aa0d2b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77aa0d2b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77aa0d2bc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77aa0d2bc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77aa0d2bc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77aa0d2b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77aa0d2bc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77aa0d2b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e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Love and Forgiveness: The Transforming Cycle of Grace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Dn Yonnas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t>
            </a:r>
            <a:r>
              <a:rPr lang="en"/>
              <a:t>he Original Sin and God's Profound Hurt</a:t>
            </a:r>
            <a:endParaRPr/>
          </a:p>
        </p:txBody>
      </p:sp>
      <p:sp>
        <p:nvSpPr>
          <p:cNvPr id="61" name="Google Shape;61;p14"/>
          <p:cNvSpPr txBox="1"/>
          <p:nvPr>
            <p:ph idx="1" type="body"/>
          </p:nvPr>
        </p:nvSpPr>
        <p:spPr>
          <a:xfrm>
            <a:off x="311700" y="1152475"/>
            <a:ext cx="6151800" cy="36951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935"/>
              <a:buNone/>
            </a:pPr>
            <a:r>
              <a:rPr lang="en" sz="1135">
                <a:solidFill>
                  <a:schemeClr val="dk1"/>
                </a:solidFill>
              </a:rPr>
              <a:t>When Adam and Eve sinned, God was not just upset—He was </a:t>
            </a:r>
            <a:r>
              <a:rPr b="1" lang="en" sz="1135">
                <a:solidFill>
                  <a:schemeClr val="dk1"/>
                </a:solidFill>
              </a:rPr>
              <a:t>hurt.</a:t>
            </a:r>
            <a:endParaRPr sz="1135">
              <a:solidFill>
                <a:schemeClr val="dk1"/>
              </a:solidFill>
            </a:endParaRPr>
          </a:p>
          <a:p>
            <a:pPr indent="-300672" lvl="0" marL="457200" rtl="0" algn="l">
              <a:lnSpc>
                <a:spcPct val="95000"/>
              </a:lnSpc>
              <a:spcBef>
                <a:spcPts val="1200"/>
              </a:spcBef>
              <a:spcAft>
                <a:spcPts val="0"/>
              </a:spcAft>
              <a:buClr>
                <a:schemeClr val="dk1"/>
              </a:buClr>
              <a:buSzPts val="1135"/>
              <a:buChar char="●"/>
            </a:pPr>
            <a:r>
              <a:rPr lang="en" sz="1135">
                <a:solidFill>
                  <a:schemeClr val="dk1"/>
                </a:solidFill>
              </a:rPr>
              <a:t>Adam and Eve are </a:t>
            </a:r>
            <a:r>
              <a:rPr b="1" lang="en" sz="1135">
                <a:solidFill>
                  <a:schemeClr val="dk1"/>
                </a:solidFill>
              </a:rPr>
              <a:t>His children</a:t>
            </a:r>
            <a:r>
              <a:rPr lang="en" sz="1135">
                <a:solidFill>
                  <a:schemeClr val="dk1"/>
                </a:solidFill>
              </a:rPr>
              <a:t> (created in His image).</a:t>
            </a:r>
            <a:br>
              <a:rPr lang="en" sz="1135">
                <a:solidFill>
                  <a:schemeClr val="dk1"/>
                </a:solidFill>
              </a:rPr>
            </a:br>
            <a:endParaRPr sz="1135">
              <a:solidFill>
                <a:schemeClr val="dk1"/>
              </a:solidFill>
            </a:endParaRPr>
          </a:p>
          <a:p>
            <a:pPr indent="-300672" lvl="0" marL="457200" rtl="0" algn="l">
              <a:lnSpc>
                <a:spcPct val="95000"/>
              </a:lnSpc>
              <a:spcBef>
                <a:spcPts val="0"/>
              </a:spcBef>
              <a:spcAft>
                <a:spcPts val="0"/>
              </a:spcAft>
              <a:buClr>
                <a:schemeClr val="dk1"/>
              </a:buClr>
              <a:buSzPts val="1135"/>
              <a:buChar char="●"/>
            </a:pPr>
            <a:r>
              <a:rPr lang="en" sz="1135">
                <a:solidFill>
                  <a:schemeClr val="dk1"/>
                </a:solidFill>
              </a:rPr>
              <a:t>He desired </a:t>
            </a:r>
            <a:r>
              <a:rPr b="1" lang="en" sz="1135">
                <a:solidFill>
                  <a:schemeClr val="dk1"/>
                </a:solidFill>
              </a:rPr>
              <a:t>companionship and union</a:t>
            </a:r>
            <a:r>
              <a:rPr lang="en" sz="1135">
                <a:solidFill>
                  <a:schemeClr val="dk1"/>
                </a:solidFill>
              </a:rPr>
              <a:t> with them.</a:t>
            </a:r>
            <a:br>
              <a:rPr lang="en" sz="1135">
                <a:solidFill>
                  <a:schemeClr val="dk1"/>
                </a:solidFill>
              </a:rPr>
            </a:br>
            <a:endParaRPr sz="1135">
              <a:solidFill>
                <a:schemeClr val="dk1"/>
              </a:solidFill>
            </a:endParaRPr>
          </a:p>
          <a:p>
            <a:pPr indent="-300672" lvl="0" marL="457200" rtl="0" algn="l">
              <a:lnSpc>
                <a:spcPct val="95000"/>
              </a:lnSpc>
              <a:spcBef>
                <a:spcPts val="0"/>
              </a:spcBef>
              <a:spcAft>
                <a:spcPts val="0"/>
              </a:spcAft>
              <a:buClr>
                <a:schemeClr val="dk1"/>
              </a:buClr>
              <a:buSzPts val="1135"/>
              <a:buChar char="●"/>
            </a:pPr>
            <a:r>
              <a:rPr lang="en" sz="1135">
                <a:solidFill>
                  <a:schemeClr val="dk1"/>
                </a:solidFill>
              </a:rPr>
              <a:t>The Fall of Adam and Eve was a spiritual separation, grieving the heart of a loving Father who desired </a:t>
            </a:r>
            <a:r>
              <a:rPr b="1" lang="en" sz="1135">
                <a:solidFill>
                  <a:schemeClr val="dk1"/>
                </a:solidFill>
              </a:rPr>
              <a:t>companionship</a:t>
            </a:r>
            <a:r>
              <a:rPr lang="en" sz="1135">
                <a:solidFill>
                  <a:schemeClr val="dk1"/>
                </a:solidFill>
              </a:rPr>
              <a:t>.</a:t>
            </a:r>
            <a:br>
              <a:rPr b="1" lang="en" sz="1135">
                <a:solidFill>
                  <a:schemeClr val="dk1"/>
                </a:solidFill>
              </a:rPr>
            </a:br>
            <a:endParaRPr b="1" sz="1135">
              <a:solidFill>
                <a:schemeClr val="dk1"/>
              </a:solidFill>
            </a:endParaRPr>
          </a:p>
          <a:p>
            <a:pPr indent="0" lvl="0" marL="0" rtl="0" algn="l">
              <a:lnSpc>
                <a:spcPct val="95000"/>
              </a:lnSpc>
              <a:spcBef>
                <a:spcPts val="1200"/>
              </a:spcBef>
              <a:spcAft>
                <a:spcPts val="0"/>
              </a:spcAft>
              <a:buClr>
                <a:schemeClr val="dk1"/>
              </a:buClr>
              <a:buSzPts val="935"/>
              <a:buFont typeface="Arial"/>
              <a:buNone/>
            </a:pPr>
            <a:r>
              <a:rPr lang="en" sz="1135">
                <a:solidFill>
                  <a:schemeClr val="dk1"/>
                </a:solidFill>
              </a:rPr>
              <a:t>In Genesis 3, notice the shame:</a:t>
            </a:r>
            <a:endParaRPr sz="1135">
              <a:solidFill>
                <a:schemeClr val="dk1"/>
              </a:solidFill>
            </a:endParaRPr>
          </a:p>
          <a:p>
            <a:pPr indent="-300672" lvl="0" marL="457200" rtl="0" algn="l">
              <a:lnSpc>
                <a:spcPct val="95000"/>
              </a:lnSpc>
              <a:spcBef>
                <a:spcPts val="1200"/>
              </a:spcBef>
              <a:spcAft>
                <a:spcPts val="0"/>
              </a:spcAft>
              <a:buClr>
                <a:schemeClr val="dk1"/>
              </a:buClr>
              <a:buSzPts val="1135"/>
              <a:buChar char="●"/>
            </a:pPr>
            <a:r>
              <a:rPr lang="en" sz="1135">
                <a:solidFill>
                  <a:schemeClr val="dk1"/>
                </a:solidFill>
              </a:rPr>
              <a:t>They hide.</a:t>
            </a:r>
            <a:br>
              <a:rPr lang="en" sz="1135">
                <a:solidFill>
                  <a:schemeClr val="dk1"/>
                </a:solidFill>
              </a:rPr>
            </a:br>
            <a:endParaRPr sz="1135">
              <a:solidFill>
                <a:schemeClr val="dk1"/>
              </a:solidFill>
            </a:endParaRPr>
          </a:p>
          <a:p>
            <a:pPr indent="-300672" lvl="0" marL="457200" rtl="0" algn="l">
              <a:lnSpc>
                <a:spcPct val="95000"/>
              </a:lnSpc>
              <a:spcBef>
                <a:spcPts val="0"/>
              </a:spcBef>
              <a:spcAft>
                <a:spcPts val="0"/>
              </a:spcAft>
              <a:buClr>
                <a:schemeClr val="dk1"/>
              </a:buClr>
              <a:buSzPts val="1135"/>
              <a:buChar char="●"/>
            </a:pPr>
            <a:r>
              <a:rPr lang="en" sz="1135">
                <a:solidFill>
                  <a:schemeClr val="dk1"/>
                </a:solidFill>
              </a:rPr>
              <a:t>They blame.</a:t>
            </a:r>
            <a:endParaRPr sz="1135">
              <a:solidFill>
                <a:schemeClr val="dk1"/>
              </a:solidFill>
            </a:endParaRPr>
          </a:p>
          <a:p>
            <a:pPr indent="0" lvl="0" marL="0" rtl="0" algn="l">
              <a:lnSpc>
                <a:spcPct val="95000"/>
              </a:lnSpc>
              <a:spcBef>
                <a:spcPts val="1200"/>
              </a:spcBef>
              <a:spcAft>
                <a:spcPts val="0"/>
              </a:spcAft>
              <a:buSzPts val="935"/>
              <a:buNone/>
            </a:pPr>
            <a:br>
              <a:rPr lang="en" sz="1135">
                <a:solidFill>
                  <a:schemeClr val="dk1"/>
                </a:solidFill>
              </a:rPr>
            </a:br>
            <a:r>
              <a:rPr b="1" lang="en" sz="1135">
                <a:solidFill>
                  <a:schemeClr val="dk1"/>
                </a:solidFill>
              </a:rPr>
              <a:t>Genesis 3:9</a:t>
            </a:r>
            <a:r>
              <a:rPr lang="en" sz="1135">
                <a:solidFill>
                  <a:schemeClr val="dk1"/>
                </a:solidFill>
              </a:rPr>
              <a:t>:</a:t>
            </a:r>
            <a:endParaRPr sz="1135">
              <a:solidFill>
                <a:schemeClr val="dk1"/>
              </a:solidFill>
            </a:endParaRPr>
          </a:p>
          <a:p>
            <a:pPr indent="0" lvl="0" marL="381000" marR="381000" rtl="0" algn="l">
              <a:lnSpc>
                <a:spcPct val="95000"/>
              </a:lnSpc>
              <a:spcBef>
                <a:spcPts val="1200"/>
              </a:spcBef>
              <a:spcAft>
                <a:spcPts val="0"/>
              </a:spcAft>
              <a:buSzPts val="935"/>
              <a:buNone/>
            </a:pPr>
            <a:r>
              <a:rPr b="1" lang="en" sz="1135">
                <a:solidFill>
                  <a:schemeClr val="dk1"/>
                </a:solidFill>
              </a:rPr>
              <a:t>“Then the LORD God called to Adam and said to him, ‘Where are you?’”</a:t>
            </a:r>
            <a:endParaRPr b="1" sz="1135">
              <a:solidFill>
                <a:schemeClr val="dk1"/>
              </a:solidFill>
            </a:endParaRPr>
          </a:p>
          <a:p>
            <a:pPr indent="0" lvl="0" marL="0" rtl="0" algn="l">
              <a:lnSpc>
                <a:spcPct val="95000"/>
              </a:lnSpc>
              <a:spcBef>
                <a:spcPts val="1200"/>
              </a:spcBef>
              <a:spcAft>
                <a:spcPts val="1200"/>
              </a:spcAft>
              <a:buSzPts val="935"/>
              <a:buNone/>
            </a:pPr>
            <a:r>
              <a:t/>
            </a:r>
            <a:endParaRPr sz="1729"/>
          </a:p>
        </p:txBody>
      </p:sp>
      <p:pic>
        <p:nvPicPr>
          <p:cNvPr id="62" name="Google Shape;62;p14"/>
          <p:cNvPicPr preferRelativeResize="0"/>
          <p:nvPr/>
        </p:nvPicPr>
        <p:blipFill>
          <a:blip r:embed="rId3">
            <a:alphaModFix/>
          </a:blip>
          <a:stretch>
            <a:fillRect/>
          </a:stretch>
        </p:blipFill>
        <p:spPr>
          <a:xfrm>
            <a:off x="6881863" y="1536700"/>
            <a:ext cx="1724025" cy="2647950"/>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dilemma: How can the unholy live with God?</a:t>
            </a:r>
            <a:endParaRPr/>
          </a:p>
        </p:txBody>
      </p:sp>
      <p:sp>
        <p:nvSpPr>
          <p:cNvPr id="68" name="Google Shape;68;p15"/>
          <p:cNvSpPr txBox="1"/>
          <p:nvPr>
            <p:ph idx="1" type="body"/>
          </p:nvPr>
        </p:nvSpPr>
        <p:spPr>
          <a:xfrm>
            <a:off x="311700" y="1152475"/>
            <a:ext cx="5735700" cy="3416400"/>
          </a:xfrm>
          <a:prstGeom prst="rect">
            <a:avLst/>
          </a:prstGeom>
        </p:spPr>
        <p:txBody>
          <a:bodyPr anchorCtr="0" anchor="t" bIns="91425" lIns="91425" spcFirstLastPara="1" rIns="91425" wrap="square" tIns="91425">
            <a:noAutofit/>
          </a:bodyPr>
          <a:lstStyle/>
          <a:p>
            <a:pPr indent="-311150" lvl="0" marL="457200" rtl="0" algn="l">
              <a:lnSpc>
                <a:spcPct val="105000"/>
              </a:lnSpc>
              <a:spcBef>
                <a:spcPts val="1200"/>
              </a:spcBef>
              <a:spcAft>
                <a:spcPts val="0"/>
              </a:spcAft>
              <a:buClr>
                <a:schemeClr val="dk1"/>
              </a:buClr>
              <a:buSzPts val="1300"/>
              <a:buChar char="●"/>
            </a:pPr>
            <a:r>
              <a:rPr lang="en" sz="1300">
                <a:solidFill>
                  <a:schemeClr val="dk1"/>
                </a:solidFill>
              </a:rPr>
              <a:t>A profound dilemma was formed:</a:t>
            </a:r>
            <a:br>
              <a:rPr lang="en" sz="1300">
                <a:solidFill>
                  <a:schemeClr val="dk1"/>
                </a:solidFill>
              </a:rPr>
            </a:br>
            <a:endParaRPr sz="1300">
              <a:solidFill>
                <a:schemeClr val="dk1"/>
              </a:solidFill>
            </a:endParaRPr>
          </a:p>
          <a:p>
            <a:pPr indent="0" lvl="0" marL="457200" rtl="0" algn="l">
              <a:lnSpc>
                <a:spcPct val="105000"/>
              </a:lnSpc>
              <a:spcBef>
                <a:spcPts val="1200"/>
              </a:spcBef>
              <a:spcAft>
                <a:spcPts val="0"/>
              </a:spcAft>
              <a:buNone/>
            </a:pPr>
            <a:r>
              <a:rPr b="1" lang="en" sz="1300">
                <a:solidFill>
                  <a:schemeClr val="dk1"/>
                </a:solidFill>
              </a:rPr>
              <a:t>God is perfectly Holy     Humanity became unholy.</a:t>
            </a:r>
            <a:endParaRPr b="1" sz="1300">
              <a:solidFill>
                <a:schemeClr val="dk1"/>
              </a:solidFill>
            </a:endParaRPr>
          </a:p>
          <a:p>
            <a:pPr indent="0" lvl="0" marL="0" rtl="0" algn="l">
              <a:lnSpc>
                <a:spcPct val="105000"/>
              </a:lnSpc>
              <a:spcBef>
                <a:spcPts val="1200"/>
              </a:spcBef>
              <a:spcAft>
                <a:spcPts val="0"/>
              </a:spcAft>
              <a:buNone/>
            </a:pPr>
            <a:br>
              <a:rPr b="1" lang="en" sz="1300">
                <a:solidFill>
                  <a:schemeClr val="dk1"/>
                </a:solidFill>
              </a:rPr>
            </a:br>
            <a:r>
              <a:rPr b="1" lang="en" sz="1300">
                <a:solidFill>
                  <a:schemeClr val="dk1"/>
                </a:solidFill>
              </a:rPr>
              <a:t>The Question:</a:t>
            </a:r>
            <a:r>
              <a:rPr lang="en" sz="1300">
                <a:solidFill>
                  <a:schemeClr val="dk1"/>
                </a:solidFill>
              </a:rPr>
              <a:t> How can the unholy live in </a:t>
            </a:r>
            <a:r>
              <a:rPr lang="en" sz="1300">
                <a:solidFill>
                  <a:schemeClr val="dk1"/>
                </a:solidFill>
              </a:rPr>
              <a:t>God's</a:t>
            </a:r>
            <a:r>
              <a:rPr lang="en" sz="1300">
                <a:solidFill>
                  <a:schemeClr val="dk1"/>
                </a:solidFill>
              </a:rPr>
              <a:t> </a:t>
            </a:r>
            <a:r>
              <a:rPr lang="en" sz="1300">
                <a:solidFill>
                  <a:schemeClr val="dk1"/>
                </a:solidFill>
              </a:rPr>
              <a:t>presence</a:t>
            </a:r>
            <a:r>
              <a:rPr lang="en" sz="1300">
                <a:solidFill>
                  <a:schemeClr val="dk1"/>
                </a:solidFill>
              </a:rPr>
              <a:t> ? </a:t>
            </a:r>
            <a:endParaRPr sz="1300">
              <a:solidFill>
                <a:schemeClr val="dk1"/>
              </a:solidFill>
            </a:endParaRPr>
          </a:p>
          <a:p>
            <a:pPr indent="0" lvl="0" marL="0" rtl="0" algn="l">
              <a:lnSpc>
                <a:spcPct val="105000"/>
              </a:lnSpc>
              <a:spcBef>
                <a:spcPts val="1200"/>
              </a:spcBef>
              <a:spcAft>
                <a:spcPts val="0"/>
              </a:spcAft>
              <a:buNone/>
            </a:pPr>
            <a:r>
              <a:t/>
            </a:r>
            <a:endParaRPr sz="1300">
              <a:solidFill>
                <a:schemeClr val="dk1"/>
              </a:solidFill>
            </a:endParaRPr>
          </a:p>
          <a:p>
            <a:pPr indent="0" lvl="0" marL="0" rtl="0" algn="l">
              <a:lnSpc>
                <a:spcPct val="105000"/>
              </a:lnSpc>
              <a:spcBef>
                <a:spcPts val="1200"/>
              </a:spcBef>
              <a:spcAft>
                <a:spcPts val="0"/>
              </a:spcAft>
              <a:buNone/>
            </a:pPr>
            <a:r>
              <a:rPr b="1" lang="en" sz="1300">
                <a:solidFill>
                  <a:schemeClr val="dk1"/>
                </a:solidFill>
              </a:rPr>
              <a:t>Genesis 3:23–24</a:t>
            </a:r>
            <a:endParaRPr b="1" sz="1300">
              <a:solidFill>
                <a:schemeClr val="dk1"/>
              </a:solidFill>
            </a:endParaRPr>
          </a:p>
          <a:p>
            <a:pPr indent="0" lvl="0" marL="0" marR="381000" rtl="0" algn="l">
              <a:lnSpc>
                <a:spcPct val="105000"/>
              </a:lnSpc>
              <a:spcBef>
                <a:spcPts val="1200"/>
              </a:spcBef>
              <a:spcAft>
                <a:spcPts val="0"/>
              </a:spcAft>
              <a:buNone/>
            </a:pPr>
            <a:r>
              <a:rPr lang="en" sz="1300">
                <a:solidFill>
                  <a:schemeClr val="dk1"/>
                </a:solidFill>
              </a:rPr>
              <a:t>“Therefore the LORD God sent him out of the garden of Eden… So He drove out the man; and He placed cherubim… and a flaming sword… to guard the way to the tree of life.”</a:t>
            </a:r>
            <a:endParaRPr sz="1300">
              <a:solidFill>
                <a:schemeClr val="dk1"/>
              </a:solidFill>
            </a:endParaRPr>
          </a:p>
          <a:p>
            <a:pPr indent="0" lvl="0" marL="0" rtl="0" algn="l">
              <a:lnSpc>
                <a:spcPct val="105000"/>
              </a:lnSpc>
              <a:spcBef>
                <a:spcPts val="1200"/>
              </a:spcBef>
              <a:spcAft>
                <a:spcPts val="0"/>
              </a:spcAft>
              <a:buClr>
                <a:schemeClr val="dk1"/>
              </a:buClr>
              <a:buSzPts val="1100"/>
              <a:buFont typeface="Arial"/>
              <a:buNone/>
            </a:pPr>
            <a:r>
              <a:t/>
            </a:r>
            <a:endParaRPr b="1" sz="1300">
              <a:solidFill>
                <a:schemeClr val="dk1"/>
              </a:solidFill>
            </a:endParaRPr>
          </a:p>
          <a:p>
            <a:pPr indent="0" lvl="0" marL="0" rtl="0" algn="l">
              <a:lnSpc>
                <a:spcPct val="105000"/>
              </a:lnSpc>
              <a:spcBef>
                <a:spcPts val="1200"/>
              </a:spcBef>
              <a:spcAft>
                <a:spcPts val="1200"/>
              </a:spcAft>
              <a:buNone/>
            </a:pPr>
            <a:r>
              <a:t/>
            </a:r>
            <a:endParaRPr b="1" sz="1100">
              <a:solidFill>
                <a:schemeClr val="dk1"/>
              </a:solidFill>
            </a:endParaRPr>
          </a:p>
        </p:txBody>
      </p:sp>
      <p:pic>
        <p:nvPicPr>
          <p:cNvPr id="69" name="Google Shape;69;p15"/>
          <p:cNvPicPr preferRelativeResize="0"/>
          <p:nvPr/>
        </p:nvPicPr>
        <p:blipFill>
          <a:blip r:embed="rId3">
            <a:alphaModFix/>
          </a:blip>
          <a:stretch>
            <a:fillRect/>
          </a:stretch>
        </p:blipFill>
        <p:spPr>
          <a:xfrm>
            <a:off x="6105725" y="1672475"/>
            <a:ext cx="2921399" cy="2170975"/>
          </a:xfrm>
          <a:prstGeom prst="rect">
            <a:avLst/>
          </a:prstGeom>
          <a:noFill/>
          <a:ln cap="flat" cmpd="sng" w="19050">
            <a:solidFill>
              <a:schemeClr val="dk2"/>
            </a:solidFill>
            <a:prstDash val="solid"/>
            <a:round/>
            <a:headEnd len="sm" w="sm" type="none"/>
            <a:tailEnd len="sm" w="sm" type="none"/>
          </a:ln>
        </p:spPr>
      </p:pic>
      <p:sp>
        <p:nvSpPr>
          <p:cNvPr id="70" name="Google Shape;70;p15"/>
          <p:cNvSpPr/>
          <p:nvPr/>
        </p:nvSpPr>
        <p:spPr>
          <a:xfrm>
            <a:off x="2563050" y="1874125"/>
            <a:ext cx="102300" cy="80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1" name="Google Shape;71;p15" title="Screenshot 2025-12-05 at 12.26.55 PM.png"/>
          <p:cNvPicPr preferRelativeResize="0"/>
          <p:nvPr/>
        </p:nvPicPr>
        <p:blipFill>
          <a:blip r:embed="rId4">
            <a:alphaModFix/>
          </a:blip>
          <a:stretch>
            <a:fillRect/>
          </a:stretch>
        </p:blipFill>
        <p:spPr>
          <a:xfrm>
            <a:off x="8514625" y="2746625"/>
            <a:ext cx="195350" cy="326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Plan From The Beginning </a:t>
            </a:r>
            <a:endParaRPr/>
          </a:p>
        </p:txBody>
      </p:sp>
      <p:sp>
        <p:nvSpPr>
          <p:cNvPr id="77" name="Google Shape;77;p16"/>
          <p:cNvSpPr txBox="1"/>
          <p:nvPr>
            <p:ph idx="1" type="body"/>
          </p:nvPr>
        </p:nvSpPr>
        <p:spPr>
          <a:xfrm>
            <a:off x="311700" y="1152475"/>
            <a:ext cx="8520600" cy="3795900"/>
          </a:xfrm>
          <a:prstGeom prst="rect">
            <a:avLst/>
          </a:prstGeom>
        </p:spPr>
        <p:txBody>
          <a:bodyPr anchorCtr="0" anchor="t" bIns="91425" lIns="91425" spcFirstLastPara="1" rIns="91425" wrap="square" tIns="91425">
            <a:noAutofit/>
          </a:bodyPr>
          <a:lstStyle/>
          <a:p>
            <a:pPr indent="-301783" lvl="0" marL="457200" rtl="0" algn="l">
              <a:lnSpc>
                <a:spcPct val="105000"/>
              </a:lnSpc>
              <a:spcBef>
                <a:spcPts val="1200"/>
              </a:spcBef>
              <a:spcAft>
                <a:spcPts val="0"/>
              </a:spcAft>
              <a:buClr>
                <a:schemeClr val="dk1"/>
              </a:buClr>
              <a:buSzPts val="1153"/>
              <a:buChar char="●"/>
            </a:pPr>
            <a:r>
              <a:rPr lang="en" sz="1152">
                <a:solidFill>
                  <a:schemeClr val="dk1"/>
                </a:solidFill>
              </a:rPr>
              <a:t>Punishment was justly handed down. Communion was broken, and Adam and Eve were exiled from the Garden.</a:t>
            </a:r>
            <a:br>
              <a:rPr lang="en" sz="1152">
                <a:solidFill>
                  <a:schemeClr val="dk1"/>
                </a:solidFill>
              </a:rPr>
            </a:br>
            <a:endParaRPr sz="1152">
              <a:solidFill>
                <a:schemeClr val="dk1"/>
              </a:solidFill>
            </a:endParaRPr>
          </a:p>
          <a:p>
            <a:pPr indent="-301783" lvl="0" marL="457200" rtl="0" algn="l">
              <a:lnSpc>
                <a:spcPct val="105000"/>
              </a:lnSpc>
              <a:spcBef>
                <a:spcPts val="0"/>
              </a:spcBef>
              <a:spcAft>
                <a:spcPts val="0"/>
              </a:spcAft>
              <a:buClr>
                <a:schemeClr val="dk1"/>
              </a:buClr>
              <a:buSzPts val="1153"/>
              <a:buChar char="-"/>
            </a:pPr>
            <a:r>
              <a:rPr lang="en" sz="1152">
                <a:solidFill>
                  <a:schemeClr val="dk1"/>
                </a:solidFill>
              </a:rPr>
              <a:t>But in the </a:t>
            </a:r>
            <a:r>
              <a:rPr i="1" lang="en" sz="1152">
                <a:solidFill>
                  <a:schemeClr val="dk1"/>
                </a:solidFill>
              </a:rPr>
              <a:t>same moment</a:t>
            </a:r>
            <a:r>
              <a:rPr lang="en" sz="1152">
                <a:solidFill>
                  <a:schemeClr val="dk1"/>
                </a:solidFill>
              </a:rPr>
              <a:t> of judgment, God’s profound love provided a path to salvation.</a:t>
            </a:r>
            <a:endParaRPr sz="1152">
              <a:solidFill>
                <a:schemeClr val="dk1"/>
              </a:solidFill>
            </a:endParaRPr>
          </a:p>
          <a:p>
            <a:pPr indent="-301783" lvl="0" marL="457200" rtl="0" algn="l">
              <a:lnSpc>
                <a:spcPct val="105000"/>
              </a:lnSpc>
              <a:spcBef>
                <a:spcPts val="0"/>
              </a:spcBef>
              <a:spcAft>
                <a:spcPts val="0"/>
              </a:spcAft>
              <a:buClr>
                <a:schemeClr val="dk1"/>
              </a:buClr>
              <a:buSzPts val="1153"/>
              <a:buChar char="-"/>
            </a:pPr>
            <a:r>
              <a:rPr lang="en" sz="1152">
                <a:solidFill>
                  <a:schemeClr val="dk1"/>
                </a:solidFill>
              </a:rPr>
              <a:t>He did not abandon His children. He did not want to throw us away. He had a plan for us to come back to Him.</a:t>
            </a:r>
            <a:endParaRPr sz="1152">
              <a:solidFill>
                <a:schemeClr val="dk1"/>
              </a:solidFill>
            </a:endParaRPr>
          </a:p>
          <a:p>
            <a:pPr indent="0" lvl="0" marL="0" rtl="0" algn="l">
              <a:lnSpc>
                <a:spcPct val="105000"/>
              </a:lnSpc>
              <a:spcBef>
                <a:spcPts val="1200"/>
              </a:spcBef>
              <a:spcAft>
                <a:spcPts val="0"/>
              </a:spcAft>
              <a:buSzPts val="852"/>
              <a:buNone/>
            </a:pPr>
            <a:r>
              <a:t/>
            </a:r>
            <a:endParaRPr sz="1152">
              <a:solidFill>
                <a:schemeClr val="dk1"/>
              </a:solidFill>
            </a:endParaRPr>
          </a:p>
          <a:p>
            <a:pPr indent="0" lvl="0" marL="0" rtl="0" algn="l">
              <a:lnSpc>
                <a:spcPct val="105000"/>
              </a:lnSpc>
              <a:spcBef>
                <a:spcPts val="1200"/>
              </a:spcBef>
              <a:spcAft>
                <a:spcPts val="0"/>
              </a:spcAft>
              <a:buSzPts val="852"/>
              <a:buNone/>
            </a:pPr>
            <a:r>
              <a:rPr b="1" lang="en" sz="1152" u="sng">
                <a:solidFill>
                  <a:schemeClr val="dk1"/>
                </a:solidFill>
              </a:rPr>
              <a:t>The 5,500-Year Prophecy (The Deferral of Life)</a:t>
            </a:r>
            <a:endParaRPr b="1" sz="1152" u="sng">
              <a:solidFill>
                <a:schemeClr val="dk1"/>
              </a:solidFill>
            </a:endParaRPr>
          </a:p>
          <a:p>
            <a:pPr indent="0" lvl="0" marL="0" rtl="0" algn="l">
              <a:lnSpc>
                <a:spcPct val="105000"/>
              </a:lnSpc>
              <a:spcBef>
                <a:spcPts val="1200"/>
              </a:spcBef>
              <a:spcAft>
                <a:spcPts val="0"/>
              </a:spcAft>
              <a:buSzPts val="852"/>
              <a:buNone/>
            </a:pPr>
            <a:br>
              <a:rPr lang="en" sz="1152">
                <a:solidFill>
                  <a:schemeClr val="dk1"/>
                </a:solidFill>
              </a:rPr>
            </a:br>
            <a:r>
              <a:rPr lang="en" sz="1152">
                <a:solidFill>
                  <a:schemeClr val="dk1"/>
                </a:solidFill>
              </a:rPr>
              <a:t>"O Adam, as to the fruit on the Tree of Life that you have asked for, I will not give it to you now, but only when the 5500 years are fulfilled. At that time I will give you fruit from the Tree of Life, and you will eat, and live forever, you, and Eve, and your righteous descendants.”- </a:t>
            </a:r>
            <a:r>
              <a:rPr b="1" i="1" lang="en" sz="1152">
                <a:solidFill>
                  <a:schemeClr val="dk1"/>
                </a:solidFill>
              </a:rPr>
              <a:t>The First Book of Adam and Eve</a:t>
            </a:r>
            <a:r>
              <a:rPr b="1" lang="en" sz="1152">
                <a:solidFill>
                  <a:schemeClr val="dk1"/>
                </a:solidFill>
              </a:rPr>
              <a:t> 38:2</a:t>
            </a:r>
            <a:endParaRPr b="1" sz="1152">
              <a:solidFill>
                <a:schemeClr val="dk1"/>
              </a:solidFill>
            </a:endParaRPr>
          </a:p>
          <a:p>
            <a:pPr indent="0" lvl="0" marL="0" rtl="0" algn="l">
              <a:lnSpc>
                <a:spcPct val="105000"/>
              </a:lnSpc>
              <a:spcBef>
                <a:spcPts val="1200"/>
              </a:spcBef>
              <a:spcAft>
                <a:spcPts val="0"/>
              </a:spcAft>
              <a:buSzPts val="852"/>
              <a:buNone/>
            </a:pPr>
            <a:br>
              <a:rPr b="1" lang="en" sz="1152" u="sng">
                <a:solidFill>
                  <a:schemeClr val="dk1"/>
                </a:solidFill>
              </a:rPr>
            </a:br>
            <a:r>
              <a:rPr b="1" lang="en" sz="1152" u="sng">
                <a:solidFill>
                  <a:schemeClr val="dk1"/>
                </a:solidFill>
              </a:rPr>
              <a:t>Foreshadowing</a:t>
            </a:r>
            <a:r>
              <a:rPr b="1" lang="en" sz="1152" u="sng">
                <a:solidFill>
                  <a:schemeClr val="dk1"/>
                </a:solidFill>
              </a:rPr>
              <a:t> In </a:t>
            </a:r>
            <a:r>
              <a:rPr b="1" lang="en" sz="1152" u="sng">
                <a:solidFill>
                  <a:schemeClr val="dk1"/>
                </a:solidFill>
              </a:rPr>
              <a:t>Genesis</a:t>
            </a:r>
            <a:r>
              <a:rPr b="1" lang="en" sz="1152" u="sng">
                <a:solidFill>
                  <a:schemeClr val="dk1"/>
                </a:solidFill>
              </a:rPr>
              <a:t>: </a:t>
            </a:r>
            <a:endParaRPr b="1" sz="1152" u="sng">
              <a:solidFill>
                <a:schemeClr val="dk1"/>
              </a:solidFill>
            </a:endParaRPr>
          </a:p>
          <a:p>
            <a:pPr indent="0" lvl="0" marL="0" rtl="0" algn="l">
              <a:lnSpc>
                <a:spcPct val="105000"/>
              </a:lnSpc>
              <a:spcBef>
                <a:spcPts val="1200"/>
              </a:spcBef>
              <a:spcAft>
                <a:spcPts val="0"/>
              </a:spcAft>
              <a:buClr>
                <a:schemeClr val="dk1"/>
              </a:buClr>
              <a:buSzPts val="852"/>
              <a:buFont typeface="Arial"/>
              <a:buNone/>
            </a:pPr>
            <a:r>
              <a:rPr lang="en" sz="1152">
                <a:solidFill>
                  <a:schemeClr val="dk1"/>
                </a:solidFill>
              </a:rPr>
              <a:t>"And I will put enmity between you and the woman, and between your seed and her Seed; He shall bruise your head, and you shall bruise His heel." - </a:t>
            </a:r>
            <a:r>
              <a:rPr b="1" lang="en" sz="1152">
                <a:solidFill>
                  <a:schemeClr val="dk1"/>
                </a:solidFill>
              </a:rPr>
              <a:t>Genesis 3:15</a:t>
            </a:r>
            <a:endParaRPr b="1" sz="1152">
              <a:solidFill>
                <a:schemeClr val="dk1"/>
              </a:solidFill>
            </a:endParaRPr>
          </a:p>
          <a:p>
            <a:pPr indent="0" lvl="0" marL="0" rtl="0" algn="l">
              <a:lnSpc>
                <a:spcPct val="105000"/>
              </a:lnSpc>
              <a:spcBef>
                <a:spcPts val="1200"/>
              </a:spcBef>
              <a:spcAft>
                <a:spcPts val="0"/>
              </a:spcAft>
              <a:buClr>
                <a:schemeClr val="dk1"/>
              </a:buClr>
              <a:buSzPts val="852"/>
              <a:buFont typeface="Arial"/>
              <a:buNone/>
            </a:pPr>
            <a:r>
              <a:t/>
            </a:r>
            <a:endParaRPr sz="1152">
              <a:solidFill>
                <a:schemeClr val="dk1"/>
              </a:solidFill>
            </a:endParaRPr>
          </a:p>
          <a:p>
            <a:pPr indent="0" lvl="0" marL="0" rtl="0" algn="l">
              <a:lnSpc>
                <a:spcPct val="105000"/>
              </a:lnSpc>
              <a:spcBef>
                <a:spcPts val="0"/>
              </a:spcBef>
              <a:spcAft>
                <a:spcPts val="1200"/>
              </a:spcAft>
              <a:buSzPts val="852"/>
              <a:buNone/>
            </a:pPr>
            <a:r>
              <a:t/>
            </a:r>
            <a:endParaRPr sz="169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Love x Suffering</a:t>
            </a:r>
            <a:endParaRPr/>
          </a:p>
        </p:txBody>
      </p:sp>
      <p:sp>
        <p:nvSpPr>
          <p:cNvPr id="83" name="Google Shape;83;p17"/>
          <p:cNvSpPr txBox="1"/>
          <p:nvPr>
            <p:ph idx="1" type="body"/>
          </p:nvPr>
        </p:nvSpPr>
        <p:spPr>
          <a:xfrm>
            <a:off x="311700" y="1152475"/>
            <a:ext cx="6146700" cy="3416400"/>
          </a:xfrm>
          <a:prstGeom prst="rect">
            <a:avLst/>
          </a:prstGeom>
        </p:spPr>
        <p:txBody>
          <a:bodyPr anchorCtr="0" anchor="t" bIns="91425" lIns="91425" spcFirstLastPara="1" rIns="91425" wrap="square" tIns="91425">
            <a:normAutofit lnSpcReduction="20000"/>
          </a:bodyPr>
          <a:lstStyle/>
          <a:p>
            <a:pPr indent="-298450" lvl="0" marL="457200" rtl="0" algn="l">
              <a:spcBef>
                <a:spcPts val="0"/>
              </a:spcBef>
              <a:spcAft>
                <a:spcPts val="0"/>
              </a:spcAft>
              <a:buClr>
                <a:schemeClr val="dk1"/>
              </a:buClr>
              <a:buSzPts val="1100"/>
              <a:buChar char="●"/>
            </a:pPr>
            <a:r>
              <a:rPr lang="en" sz="1100">
                <a:solidFill>
                  <a:schemeClr val="dk1"/>
                </a:solidFill>
              </a:rPr>
              <a:t>Love is </a:t>
            </a:r>
            <a:r>
              <a:rPr b="1" lang="en" sz="1100">
                <a:solidFill>
                  <a:schemeClr val="dk1"/>
                </a:solidFill>
              </a:rPr>
              <a:t>constant</a:t>
            </a:r>
            <a:r>
              <a:rPr lang="en" sz="1100">
                <a:solidFill>
                  <a:schemeClr val="dk1"/>
                </a:solidFill>
              </a:rPr>
              <a:t>, not conditional. Therefore love inevitably carries pain.</a:t>
            </a:r>
            <a:endParaRPr sz="1100">
              <a:solidFill>
                <a:schemeClr val="dk1"/>
              </a:solidFill>
            </a:endParaRPr>
          </a:p>
          <a:p>
            <a:pPr indent="0" lvl="0" marL="0" rtl="0" algn="l">
              <a:spcBef>
                <a:spcPts val="1200"/>
              </a:spcBef>
              <a:spcAft>
                <a:spcPts val="0"/>
              </a:spcAft>
              <a:buNone/>
            </a:pPr>
            <a:r>
              <a:t/>
            </a:r>
            <a:endParaRPr b="1" sz="1100">
              <a:solidFill>
                <a:schemeClr val="dk1"/>
              </a:solidFill>
            </a:endParaRPr>
          </a:p>
          <a:p>
            <a:pPr indent="0" lvl="0" marL="0" rtl="0" algn="l">
              <a:spcBef>
                <a:spcPts val="1200"/>
              </a:spcBef>
              <a:spcAft>
                <a:spcPts val="0"/>
              </a:spcAft>
              <a:buNone/>
            </a:pPr>
            <a:r>
              <a:rPr b="1" lang="en" sz="1100">
                <a:solidFill>
                  <a:schemeClr val="dk1"/>
                </a:solidFill>
              </a:rPr>
              <a:t>The Mother Analogy:</a:t>
            </a:r>
            <a:r>
              <a:rPr lang="en" sz="1100">
                <a:solidFill>
                  <a:schemeClr val="dk1"/>
                </a:solidFill>
              </a:rPr>
              <a:t> Does a mother not suffer in childbirth, raising, and worrying over her child? She does not see this as suffering, but as </a:t>
            </a:r>
            <a:r>
              <a:rPr b="1" lang="en" sz="1100">
                <a:solidFill>
                  <a:schemeClr val="dk1"/>
                </a:solidFill>
              </a:rPr>
              <a:t>love.</a:t>
            </a:r>
            <a:endParaRPr b="1"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Love is not just a feeling - Love is a choice, a </a:t>
            </a:r>
            <a:r>
              <a:rPr b="1" lang="en" sz="1100">
                <a:solidFill>
                  <a:schemeClr val="dk1"/>
                </a:solidFill>
              </a:rPr>
              <a:t>decision, a way of doing and living for ourselves, but also for others. </a:t>
            </a:r>
            <a:endParaRPr b="1" sz="1100">
              <a:solidFill>
                <a:schemeClr val="dk1"/>
              </a:solidFill>
            </a:endParaRPr>
          </a:p>
          <a:p>
            <a:pPr indent="0" lvl="0" marL="0" rtl="0" algn="l">
              <a:spcBef>
                <a:spcPts val="1200"/>
              </a:spcBef>
              <a:spcAft>
                <a:spcPts val="0"/>
              </a:spcAft>
              <a:buNone/>
            </a:pPr>
            <a:r>
              <a:rPr b="1" lang="en" sz="1100">
                <a:solidFill>
                  <a:schemeClr val="dk1"/>
                </a:solidFill>
              </a:rPr>
              <a:t>Verse:</a:t>
            </a:r>
            <a:endParaRPr sz="1100">
              <a:solidFill>
                <a:schemeClr val="dk1"/>
              </a:solidFill>
            </a:endParaRPr>
          </a:p>
          <a:p>
            <a:pPr indent="0" lvl="0" marL="0" rtl="0" algn="l">
              <a:spcBef>
                <a:spcPts val="1200"/>
              </a:spcBef>
              <a:spcAft>
                <a:spcPts val="0"/>
              </a:spcAft>
              <a:buNone/>
            </a:pPr>
            <a:r>
              <a:rPr lang="en" sz="1100">
                <a:solidFill>
                  <a:schemeClr val="dk1"/>
                </a:solidFill>
              </a:rPr>
              <a:t>"Greater love has no one than this, than to lay down one’s life for his friends." - </a:t>
            </a:r>
            <a:r>
              <a:rPr b="1" lang="en" sz="1100">
                <a:solidFill>
                  <a:schemeClr val="dk1"/>
                </a:solidFill>
              </a:rPr>
              <a:t>John 15:13</a:t>
            </a:r>
            <a:endParaRPr b="1"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The greatest Form of Love is </a:t>
            </a:r>
            <a:r>
              <a:rPr b="1" lang="en" sz="1100">
                <a:solidFill>
                  <a:schemeClr val="dk1"/>
                </a:solidFill>
              </a:rPr>
              <a:t>Sacrificial</a:t>
            </a:r>
            <a:r>
              <a:rPr b="1" lang="en" sz="1100">
                <a:solidFill>
                  <a:schemeClr val="dk1"/>
                </a:solidFill>
              </a:rPr>
              <a:t>. </a:t>
            </a:r>
            <a:endParaRPr b="1" sz="11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1200"/>
              </a:spcAft>
              <a:buNone/>
            </a:pPr>
            <a:r>
              <a:t/>
            </a:r>
            <a:endParaRPr/>
          </a:p>
        </p:txBody>
      </p:sp>
      <p:pic>
        <p:nvPicPr>
          <p:cNvPr id="84" name="Google Shape;84;p17"/>
          <p:cNvPicPr preferRelativeResize="0"/>
          <p:nvPr/>
        </p:nvPicPr>
        <p:blipFill>
          <a:blip r:embed="rId3">
            <a:alphaModFix/>
          </a:blip>
          <a:stretch>
            <a:fillRect/>
          </a:stretch>
        </p:blipFill>
        <p:spPr>
          <a:xfrm>
            <a:off x="6603050" y="1670275"/>
            <a:ext cx="2380800" cy="2380800"/>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Ultimate Expression of Love</a:t>
            </a:r>
            <a:endParaRPr/>
          </a:p>
        </p:txBody>
      </p:sp>
      <p:sp>
        <p:nvSpPr>
          <p:cNvPr id="90" name="Google Shape;90;p18"/>
          <p:cNvSpPr txBox="1"/>
          <p:nvPr>
            <p:ph idx="1" type="body"/>
          </p:nvPr>
        </p:nvSpPr>
        <p:spPr>
          <a:xfrm>
            <a:off x="311700" y="1152475"/>
            <a:ext cx="5553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solidFill>
                  <a:schemeClr val="dk1"/>
                </a:solidFill>
              </a:rPr>
              <a:t>God's Great Sacrifice</a:t>
            </a:r>
            <a:endParaRPr b="1"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God's love is so immense that He gave His only begotten Son.</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This was His solution to the Dilemma.</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He did this for us "even when we were in the wrong, even when we did not deserve it."</a:t>
            </a:r>
            <a:br>
              <a:rPr lang="en" sz="1300">
                <a:solidFill>
                  <a:schemeClr val="dk1"/>
                </a:solidFill>
              </a:rPr>
            </a:br>
            <a:endParaRPr sz="1300">
              <a:solidFill>
                <a:schemeClr val="dk1"/>
              </a:solidFill>
            </a:endParaRPr>
          </a:p>
          <a:p>
            <a:pPr indent="0" lvl="0" marL="457200" rtl="0" algn="l">
              <a:spcBef>
                <a:spcPts val="1200"/>
              </a:spcBef>
              <a:spcAft>
                <a:spcPts val="0"/>
              </a:spcAft>
              <a:buNone/>
            </a:pPr>
            <a:r>
              <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Verse:</a:t>
            </a:r>
            <a:endParaRPr sz="1300">
              <a:solidFill>
                <a:schemeClr val="dk1"/>
              </a:solidFill>
            </a:endParaRPr>
          </a:p>
          <a:p>
            <a:pPr indent="0" lvl="0" marL="0" rtl="0" algn="l">
              <a:spcBef>
                <a:spcPts val="1200"/>
              </a:spcBef>
              <a:spcAft>
                <a:spcPts val="1200"/>
              </a:spcAft>
              <a:buNone/>
            </a:pPr>
            <a:r>
              <a:rPr lang="en" sz="1300">
                <a:solidFill>
                  <a:schemeClr val="dk1"/>
                </a:solidFill>
              </a:rPr>
              <a:t>"For God so loved the world that He gave His only begotten Son, that whoever believes in Him should not perish but have everlasting life." - </a:t>
            </a:r>
            <a:r>
              <a:rPr b="1" lang="en" sz="1300">
                <a:solidFill>
                  <a:schemeClr val="dk1"/>
                </a:solidFill>
              </a:rPr>
              <a:t>John 3:16</a:t>
            </a:r>
            <a:endParaRPr sz="2000"/>
          </a:p>
        </p:txBody>
      </p:sp>
      <p:pic>
        <p:nvPicPr>
          <p:cNvPr id="91" name="Google Shape;91;p18"/>
          <p:cNvPicPr preferRelativeResize="0"/>
          <p:nvPr/>
        </p:nvPicPr>
        <p:blipFill>
          <a:blip r:embed="rId3">
            <a:alphaModFix/>
          </a:blip>
          <a:stretch>
            <a:fillRect/>
          </a:stretch>
        </p:blipFill>
        <p:spPr>
          <a:xfrm>
            <a:off x="6293633" y="1152476"/>
            <a:ext cx="2397167" cy="3416402"/>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Cost of Our Forgiveness</a:t>
            </a:r>
            <a:endParaRPr/>
          </a:p>
        </p:txBody>
      </p:sp>
      <p:sp>
        <p:nvSpPr>
          <p:cNvPr id="97" name="Google Shape;97;p19"/>
          <p:cNvSpPr txBox="1"/>
          <p:nvPr>
            <p:ph idx="1" type="body"/>
          </p:nvPr>
        </p:nvSpPr>
        <p:spPr>
          <a:xfrm>
            <a:off x="311700" y="1152475"/>
            <a:ext cx="8520600" cy="572700"/>
          </a:xfrm>
          <a:prstGeom prst="rect">
            <a:avLst/>
          </a:prstGeom>
        </p:spPr>
        <p:txBody>
          <a:bodyPr anchorCtr="0" anchor="t" bIns="91425" lIns="91425" spcFirstLastPara="1" rIns="91425" wrap="square" tIns="91425">
            <a:noAutofit/>
          </a:bodyPr>
          <a:lstStyle/>
          <a:p>
            <a:pPr indent="-291306" lvl="0" marL="457200" rtl="0" algn="l">
              <a:spcBef>
                <a:spcPts val="0"/>
              </a:spcBef>
              <a:spcAft>
                <a:spcPts val="0"/>
              </a:spcAft>
              <a:buClr>
                <a:schemeClr val="dk1"/>
              </a:buClr>
              <a:buSzPts val="988"/>
              <a:buChar char="●"/>
            </a:pPr>
            <a:r>
              <a:rPr lang="en" sz="987">
                <a:solidFill>
                  <a:schemeClr val="dk1"/>
                </a:solidFill>
              </a:rPr>
              <a:t>This was not a simple act. The cost of our sin was paid by Christ in every conceivable way—spiritually, psychologically, and physically—to </a:t>
            </a:r>
            <a:r>
              <a:rPr b="1" lang="en" sz="987">
                <a:solidFill>
                  <a:schemeClr val="dk1"/>
                </a:solidFill>
              </a:rPr>
              <a:t>redeem humanity</a:t>
            </a:r>
            <a:r>
              <a:rPr lang="en" sz="987">
                <a:solidFill>
                  <a:schemeClr val="dk1"/>
                </a:solidFill>
              </a:rPr>
              <a:t>.</a:t>
            </a:r>
            <a:endParaRPr sz="687">
              <a:solidFill>
                <a:schemeClr val="dk1"/>
              </a:solidFill>
            </a:endParaRPr>
          </a:p>
        </p:txBody>
      </p:sp>
      <p:sp>
        <p:nvSpPr>
          <p:cNvPr id="98" name="Google Shape;98;p19"/>
          <p:cNvSpPr txBox="1"/>
          <p:nvPr/>
        </p:nvSpPr>
        <p:spPr>
          <a:xfrm>
            <a:off x="72000" y="1760475"/>
            <a:ext cx="3000000" cy="2385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n" sz="1000" u="sng">
                <a:solidFill>
                  <a:schemeClr val="dk1"/>
                </a:solidFill>
              </a:rPr>
              <a:t>1. The Spiritual Agony (Gethsemane)</a:t>
            </a:r>
            <a:endParaRPr b="1" sz="1000" u="sng">
              <a:solidFill>
                <a:schemeClr val="dk1"/>
              </a:solidFill>
            </a:endParaRPr>
          </a:p>
          <a:p>
            <a:pPr indent="0" lvl="0" marL="0" rtl="0" algn="l">
              <a:lnSpc>
                <a:spcPct val="115000"/>
              </a:lnSpc>
              <a:spcBef>
                <a:spcPts val="1200"/>
              </a:spcBef>
              <a:spcAft>
                <a:spcPts val="0"/>
              </a:spcAft>
              <a:buNone/>
            </a:pPr>
            <a:r>
              <a:rPr lang="en" sz="1000">
                <a:solidFill>
                  <a:schemeClr val="dk1"/>
                </a:solidFill>
              </a:rPr>
              <a:t>The suffering began before the physical torture. Christ took upon Himself the full weight, horror, and filth of every sin committed.</a:t>
            </a:r>
            <a:endParaRPr sz="1000">
              <a:solidFill>
                <a:schemeClr val="dk1"/>
              </a:solidFill>
            </a:endParaRPr>
          </a:p>
          <a:p>
            <a:pPr indent="0" lvl="0" marL="0" rtl="0" algn="l">
              <a:lnSpc>
                <a:spcPct val="115000"/>
              </a:lnSpc>
              <a:spcBef>
                <a:spcPts val="1200"/>
              </a:spcBef>
              <a:spcAft>
                <a:spcPts val="0"/>
              </a:spcAft>
              <a:buNone/>
            </a:pPr>
            <a:r>
              <a:t/>
            </a:r>
            <a:endParaRPr sz="1000">
              <a:solidFill>
                <a:schemeClr val="dk1"/>
              </a:solidFill>
            </a:endParaRPr>
          </a:p>
          <a:p>
            <a:pPr indent="0" lvl="0" marL="0" rtl="0" algn="l">
              <a:lnSpc>
                <a:spcPct val="115000"/>
              </a:lnSpc>
              <a:spcBef>
                <a:spcPts val="1200"/>
              </a:spcBef>
              <a:spcAft>
                <a:spcPts val="0"/>
              </a:spcAft>
              <a:buNone/>
            </a:pPr>
            <a:r>
              <a:rPr b="1" lang="en" sz="1000">
                <a:solidFill>
                  <a:schemeClr val="dk1"/>
                </a:solidFill>
              </a:rPr>
              <a:t>Anguish:</a:t>
            </a:r>
            <a:r>
              <a:rPr lang="en" sz="1000">
                <a:solidFill>
                  <a:schemeClr val="dk1"/>
                </a:solidFill>
              </a:rPr>
              <a:t> The anguish was so profound that His body reacted with </a:t>
            </a:r>
            <a:r>
              <a:rPr b="1" lang="en" sz="1000">
                <a:solidFill>
                  <a:schemeClr val="dk1"/>
                </a:solidFill>
              </a:rPr>
              <a:t>Hematidrosis</a:t>
            </a:r>
            <a:r>
              <a:rPr lang="en" sz="1000">
                <a:solidFill>
                  <a:schemeClr val="dk1"/>
                </a:solidFill>
              </a:rPr>
              <a:t>—sweating "great drops of blood." - 2 Corinthians 5:21</a:t>
            </a:r>
            <a:endParaRPr sz="10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
        <p:nvSpPr>
          <p:cNvPr id="99" name="Google Shape;99;p19"/>
          <p:cNvSpPr txBox="1"/>
          <p:nvPr/>
        </p:nvSpPr>
        <p:spPr>
          <a:xfrm>
            <a:off x="3072000" y="1760488"/>
            <a:ext cx="3000000" cy="2385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n" sz="1000" u="sng">
                <a:solidFill>
                  <a:schemeClr val="dk1"/>
                </a:solidFill>
              </a:rPr>
              <a:t>2. The Physical Torture (The Praetorium)</a:t>
            </a:r>
            <a:endParaRPr b="1" sz="1000" u="sng">
              <a:solidFill>
                <a:schemeClr val="dk1"/>
              </a:solidFill>
            </a:endParaRPr>
          </a:p>
          <a:p>
            <a:pPr indent="0" lvl="0" marL="0" rtl="0" algn="l">
              <a:lnSpc>
                <a:spcPct val="115000"/>
              </a:lnSpc>
              <a:spcBef>
                <a:spcPts val="1200"/>
              </a:spcBef>
              <a:spcAft>
                <a:spcPts val="0"/>
              </a:spcAft>
              <a:buNone/>
            </a:pPr>
            <a:r>
              <a:rPr lang="en" sz="1000">
                <a:solidFill>
                  <a:schemeClr val="dk1"/>
                </a:solidFill>
              </a:rPr>
              <a:t>The goal of the Roman scourging was to bring the victim to the point of death.</a:t>
            </a:r>
            <a:endParaRPr sz="1000">
              <a:solidFill>
                <a:schemeClr val="dk1"/>
              </a:solidFill>
            </a:endParaRPr>
          </a:p>
          <a:p>
            <a:pPr indent="0" lvl="0" marL="0" rtl="0" algn="l">
              <a:lnSpc>
                <a:spcPct val="115000"/>
              </a:lnSpc>
              <a:spcBef>
                <a:spcPts val="1200"/>
              </a:spcBef>
              <a:spcAft>
                <a:spcPts val="0"/>
              </a:spcAft>
              <a:buNone/>
            </a:pPr>
            <a:r>
              <a:rPr b="1" lang="en" sz="1000">
                <a:solidFill>
                  <a:schemeClr val="dk1"/>
                </a:solidFill>
              </a:rPr>
              <a:t>The Scourging:</a:t>
            </a:r>
            <a:r>
              <a:rPr lang="en" sz="1000">
                <a:solidFill>
                  <a:schemeClr val="dk1"/>
                </a:solidFill>
              </a:rPr>
              <a:t> He was beaten with the Roman </a:t>
            </a:r>
            <a:r>
              <a:rPr i="1" lang="en" sz="1000">
                <a:solidFill>
                  <a:schemeClr val="dk1"/>
                </a:solidFill>
              </a:rPr>
              <a:t>flagrum</a:t>
            </a:r>
            <a:r>
              <a:rPr lang="en" sz="1000">
                <a:solidFill>
                  <a:schemeClr val="dk1"/>
                </a:solidFill>
              </a:rPr>
              <a:t> (a whip with bone and metal). </a:t>
            </a:r>
            <a:endParaRPr sz="1000">
              <a:solidFill>
                <a:schemeClr val="dk1"/>
              </a:solidFill>
            </a:endParaRPr>
          </a:p>
          <a:p>
            <a:pPr indent="0" lvl="0" marL="0" rtl="0" algn="l">
              <a:lnSpc>
                <a:spcPct val="115000"/>
              </a:lnSpc>
              <a:spcBef>
                <a:spcPts val="1200"/>
              </a:spcBef>
              <a:spcAft>
                <a:spcPts val="0"/>
              </a:spcAft>
              <a:buNone/>
            </a:pPr>
            <a:r>
              <a:rPr b="1" lang="en" sz="1000">
                <a:solidFill>
                  <a:schemeClr val="dk1"/>
                </a:solidFill>
              </a:rPr>
              <a:t>Beatings and Slaps:</a:t>
            </a:r>
            <a:r>
              <a:rPr lang="en" sz="1000">
                <a:solidFill>
                  <a:schemeClr val="dk1"/>
                </a:solidFill>
              </a:rPr>
              <a:t> He endured countless slaps and beatings from the temple guards and Roman soldiers, often focused on His face and head.</a:t>
            </a:r>
            <a:endParaRPr sz="1000">
              <a:solidFill>
                <a:schemeClr val="dk1"/>
              </a:solidFill>
            </a:endParaRPr>
          </a:p>
          <a:p>
            <a:pPr indent="0" lvl="0" marL="0" rtl="0" algn="l">
              <a:lnSpc>
                <a:spcPct val="115000"/>
              </a:lnSpc>
              <a:spcBef>
                <a:spcPts val="1200"/>
              </a:spcBef>
              <a:spcAft>
                <a:spcPts val="1200"/>
              </a:spcAft>
              <a:buNone/>
            </a:pPr>
            <a:r>
              <a:t/>
            </a:r>
            <a:endParaRPr b="1" sz="1100">
              <a:solidFill>
                <a:schemeClr val="dk1"/>
              </a:solidFill>
            </a:endParaRPr>
          </a:p>
        </p:txBody>
      </p:sp>
      <p:sp>
        <p:nvSpPr>
          <p:cNvPr id="100" name="Google Shape;100;p19"/>
          <p:cNvSpPr txBox="1"/>
          <p:nvPr/>
        </p:nvSpPr>
        <p:spPr>
          <a:xfrm>
            <a:off x="6072000" y="1745200"/>
            <a:ext cx="3000000" cy="2416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rPr b="1" lang="en" sz="1000" u="sng">
                <a:solidFill>
                  <a:schemeClr val="dk1"/>
                </a:solidFill>
              </a:rPr>
              <a:t>The Public Humiliation (Golgotha)</a:t>
            </a:r>
            <a:endParaRPr b="1" sz="1000" u="sng">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000">
                <a:solidFill>
                  <a:schemeClr val="dk1"/>
                </a:solidFill>
              </a:rPr>
              <a:t>The Crowning:</a:t>
            </a:r>
            <a:r>
              <a:rPr lang="en" sz="1000">
                <a:solidFill>
                  <a:schemeClr val="dk1"/>
                </a:solidFill>
              </a:rPr>
              <a:t> A thick "crown" of sharp thorns was pressed into His scalp, mocking His Kingship and inflicting continuous pain.</a:t>
            </a:r>
            <a:endParaRPr sz="1000">
              <a:solidFill>
                <a:schemeClr val="dk1"/>
              </a:solidFill>
            </a:endParaRPr>
          </a:p>
          <a:p>
            <a:pPr indent="0" lvl="0" marL="0" rtl="0" algn="l">
              <a:lnSpc>
                <a:spcPct val="115000"/>
              </a:lnSpc>
              <a:spcBef>
                <a:spcPts val="1200"/>
              </a:spcBef>
              <a:spcAft>
                <a:spcPts val="1200"/>
              </a:spcAft>
              <a:buNone/>
            </a:pPr>
            <a:r>
              <a:rPr b="1" lang="en" sz="1000">
                <a:solidFill>
                  <a:schemeClr val="dk1"/>
                </a:solidFill>
              </a:rPr>
              <a:t>Humiliation:</a:t>
            </a:r>
            <a:r>
              <a:rPr lang="en" sz="1000">
                <a:solidFill>
                  <a:schemeClr val="dk1"/>
                </a:solidFill>
              </a:rPr>
              <a:t> He was stripped naked, mocked, and forced to carry the cross. Crucifixion was the ultimate death of shame, reserved for traitors and the worst criminals.</a:t>
            </a:r>
            <a:br>
              <a:rPr lang="en" sz="1000">
                <a:solidFill>
                  <a:schemeClr val="dk1"/>
                </a:solidFill>
              </a:rPr>
            </a:br>
            <a:r>
              <a:rPr b="1" lang="en" sz="1000">
                <a:solidFill>
                  <a:schemeClr val="dk1"/>
                </a:solidFill>
              </a:rPr>
              <a:t>The Death:</a:t>
            </a:r>
            <a:r>
              <a:rPr lang="en" sz="1000">
                <a:solidFill>
                  <a:schemeClr val="dk1"/>
                </a:solidFill>
              </a:rPr>
              <a:t> He was pierced with nails, suffering hours of agonizing asphyxiation, having to push up on the nails just to breathe.</a:t>
            </a:r>
            <a:endParaRPr b="1" sz="1000">
              <a:solidFill>
                <a:schemeClr val="dk1"/>
              </a:solidFill>
            </a:endParaRPr>
          </a:p>
        </p:txBody>
      </p:sp>
      <p:sp>
        <p:nvSpPr>
          <p:cNvPr id="101" name="Google Shape;101;p19"/>
          <p:cNvSpPr txBox="1"/>
          <p:nvPr/>
        </p:nvSpPr>
        <p:spPr>
          <a:xfrm>
            <a:off x="92100" y="4181700"/>
            <a:ext cx="8959800" cy="89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Verse:</a:t>
            </a:r>
            <a:endParaRPr sz="1100">
              <a:solidFill>
                <a:schemeClr val="dk1"/>
              </a:solidFill>
            </a:endParaRPr>
          </a:p>
          <a:p>
            <a:pPr indent="0" lvl="0" marL="0" rtl="0" algn="l">
              <a:lnSpc>
                <a:spcPct val="115000"/>
              </a:lnSpc>
              <a:spcBef>
                <a:spcPts val="1200"/>
              </a:spcBef>
              <a:spcAft>
                <a:spcPts val="1200"/>
              </a:spcAft>
              <a:buNone/>
            </a:pPr>
            <a:r>
              <a:rPr lang="en" sz="1100">
                <a:solidFill>
                  <a:schemeClr val="dk1"/>
                </a:solidFill>
              </a:rPr>
              <a:t>"But He was wounded for our transgressions, He was bruised for our iniquities; the chastisement for our peace was upon Him, and by His stripes we are healed."</a:t>
            </a:r>
            <a:r>
              <a:rPr b="1" lang="en" sz="1100">
                <a:solidFill>
                  <a:schemeClr val="dk1"/>
                </a:solidFill>
              </a:rPr>
              <a:t> - </a:t>
            </a:r>
            <a:r>
              <a:rPr b="1" lang="en" sz="1100">
                <a:solidFill>
                  <a:schemeClr val="dk1"/>
                </a:solidFill>
              </a:rPr>
              <a:t>Isaiah 53:5</a:t>
            </a:r>
            <a:endParaRPr b="1"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 Much To Ask? </a:t>
            </a:r>
            <a:endParaRPr/>
          </a:p>
        </p:txBody>
      </p:sp>
      <p:sp>
        <p:nvSpPr>
          <p:cNvPr id="107" name="Google Shape;107;p20"/>
          <p:cNvSpPr txBox="1"/>
          <p:nvPr>
            <p:ph idx="1" type="body"/>
          </p:nvPr>
        </p:nvSpPr>
        <p:spPr>
          <a:xfrm>
            <a:off x="108425" y="1152475"/>
            <a:ext cx="8797200" cy="17439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en" sz="1100">
                <a:solidFill>
                  <a:schemeClr val="dk1"/>
                </a:solidFill>
              </a:rPr>
              <a:t>God asks us to love Him and love others. This dual love is the central requirement of the Christian life.</a:t>
            </a:r>
            <a:endParaRPr sz="1100">
              <a:solidFill>
                <a:schemeClr val="dk1"/>
              </a:solidFill>
            </a:endParaRPr>
          </a:p>
          <a:p>
            <a:pPr indent="0" lvl="0" marL="0" rtl="0" algn="l">
              <a:spcBef>
                <a:spcPts val="1200"/>
              </a:spcBef>
              <a:spcAft>
                <a:spcPts val="0"/>
              </a:spcAft>
              <a:buNone/>
            </a:pPr>
            <a:r>
              <a:rPr b="1" lang="en" sz="1100">
                <a:solidFill>
                  <a:schemeClr val="dk1"/>
                </a:solidFill>
              </a:rPr>
              <a:t>Question for Reflection:</a:t>
            </a:r>
            <a:r>
              <a:rPr lang="en" sz="1100">
                <a:solidFill>
                  <a:schemeClr val="dk1"/>
                </a:solidFill>
              </a:rPr>
              <a:t> Having seen the depths of His love, is love </a:t>
            </a:r>
            <a:r>
              <a:rPr i="1" lang="en" sz="1100">
                <a:solidFill>
                  <a:schemeClr val="dk1"/>
                </a:solidFill>
              </a:rPr>
              <a:t>too much to ask</a:t>
            </a:r>
            <a:r>
              <a:rPr lang="en" sz="1100">
                <a:solidFill>
                  <a:schemeClr val="dk1"/>
                </a:solidFill>
              </a:rPr>
              <a:t>?</a:t>
            </a:r>
            <a:endParaRPr sz="1100">
              <a:solidFill>
                <a:schemeClr val="dk1"/>
              </a:solidFill>
            </a:endParaRPr>
          </a:p>
          <a:p>
            <a:pPr indent="0" lvl="0" marL="0" rtl="0" algn="l">
              <a:spcBef>
                <a:spcPts val="1200"/>
              </a:spcBef>
              <a:spcAft>
                <a:spcPts val="0"/>
              </a:spcAft>
              <a:buNone/>
            </a:pPr>
            <a:r>
              <a:rPr b="1" lang="en" sz="1100">
                <a:solidFill>
                  <a:schemeClr val="dk1"/>
                </a:solidFill>
              </a:rPr>
              <a:t>Verse:</a:t>
            </a:r>
            <a:endParaRPr sz="1100">
              <a:solidFill>
                <a:schemeClr val="dk1"/>
              </a:solidFill>
            </a:endParaRPr>
          </a:p>
          <a:p>
            <a:pPr indent="0" lvl="0" marL="0" rtl="0" algn="l">
              <a:spcBef>
                <a:spcPts val="1200"/>
              </a:spcBef>
              <a:spcAft>
                <a:spcPts val="1200"/>
              </a:spcAft>
              <a:buNone/>
            </a:pPr>
            <a:r>
              <a:rPr lang="en" sz="1100">
                <a:solidFill>
                  <a:schemeClr val="dk1"/>
                </a:solidFill>
              </a:rPr>
              <a:t>"Jesus said to him, ‘You shall love the Lord your God with all your heart, and with all your soul, and with all your mind.’ This is the first and great commandment. And the second is like it: ‘You shall love your neighbor as yourself.’" - </a:t>
            </a:r>
            <a:r>
              <a:rPr b="1" lang="en" sz="1100">
                <a:solidFill>
                  <a:schemeClr val="dk1"/>
                </a:solidFill>
              </a:rPr>
              <a:t>Matthew 22:37-39</a:t>
            </a:r>
            <a:endParaRPr/>
          </a:p>
        </p:txBody>
      </p:sp>
      <p:sp>
        <p:nvSpPr>
          <p:cNvPr id="108" name="Google Shape;108;p20"/>
          <p:cNvSpPr txBox="1"/>
          <p:nvPr>
            <p:ph idx="1" type="body"/>
          </p:nvPr>
        </p:nvSpPr>
        <p:spPr>
          <a:xfrm>
            <a:off x="108425" y="2996900"/>
            <a:ext cx="8797200" cy="20985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rmAutofit lnSpcReduction="20000"/>
          </a:bodyPr>
          <a:lstStyle/>
          <a:p>
            <a:pPr indent="-298450" lvl="0" marL="457200" rtl="0" algn="l">
              <a:spcBef>
                <a:spcPts val="1200"/>
              </a:spcBef>
              <a:spcAft>
                <a:spcPts val="0"/>
              </a:spcAft>
              <a:buClr>
                <a:schemeClr val="dk1"/>
              </a:buClr>
              <a:buSzPts val="1100"/>
              <a:buChar char="●"/>
            </a:pPr>
            <a:r>
              <a:rPr lang="en" sz="1100">
                <a:solidFill>
                  <a:schemeClr val="dk1"/>
                </a:solidFill>
              </a:rPr>
              <a:t>Our "suffering" is the daily, necessary process of </a:t>
            </a:r>
            <a:r>
              <a:rPr b="1" lang="en" sz="1100">
                <a:solidFill>
                  <a:schemeClr val="dk1"/>
                </a:solidFill>
              </a:rPr>
              <a:t>dying to self</a:t>
            </a:r>
            <a:r>
              <a:rPr lang="en" sz="1100">
                <a:solidFill>
                  <a:schemeClr val="dk1"/>
                </a:solidFill>
              </a:rPr>
              <a:t>—crucifying the flesh and resisting the desires that keep us separated from God.</a:t>
            </a:r>
            <a:endParaRPr b="1"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Question for Reflection:</a:t>
            </a:r>
            <a:r>
              <a:rPr lang="en" sz="1100">
                <a:solidFill>
                  <a:schemeClr val="dk1"/>
                </a:solidFill>
              </a:rPr>
              <a:t> </a:t>
            </a:r>
            <a:r>
              <a:rPr i="1" lang="en" sz="1100">
                <a:solidFill>
                  <a:schemeClr val="dk1"/>
                </a:solidFill>
              </a:rPr>
              <a:t>Can the suffering of trying to abstain from sin be equated to His suffering?</a:t>
            </a:r>
            <a:r>
              <a:rPr lang="en" sz="1100">
                <a:solidFill>
                  <a:schemeClr val="dk1"/>
                </a:solidFill>
              </a:rPr>
              <a:t> </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Denying our pride, our anger, and our worldly desires.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Fasting, Prayer, Early Liturgy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This struggle is our</a:t>
            </a:r>
            <a:r>
              <a:rPr b="1" lang="en" sz="1100">
                <a:solidFill>
                  <a:schemeClr val="dk1"/>
                </a:solidFill>
              </a:rPr>
              <a:t> </a:t>
            </a:r>
            <a:r>
              <a:rPr b="1" lang="en" sz="1100">
                <a:solidFill>
                  <a:schemeClr val="dk1"/>
                </a:solidFill>
              </a:rPr>
              <a:t>necessary</a:t>
            </a:r>
            <a:r>
              <a:rPr b="1" lang="en" sz="1100">
                <a:solidFill>
                  <a:schemeClr val="dk1"/>
                </a:solidFill>
              </a:rPr>
              <a:t> participation</a:t>
            </a:r>
            <a:r>
              <a:rPr lang="en" sz="1100">
                <a:solidFill>
                  <a:schemeClr val="dk1"/>
                </a:solidFill>
              </a:rPr>
              <a:t> in the </a:t>
            </a:r>
            <a:r>
              <a:rPr i="1" lang="en" sz="1100">
                <a:solidFill>
                  <a:schemeClr val="dk1"/>
                </a:solidFill>
              </a:rPr>
              <a:t>principle</a:t>
            </a:r>
            <a:r>
              <a:rPr lang="en" sz="1100">
                <a:solidFill>
                  <a:schemeClr val="dk1"/>
                </a:solidFill>
              </a:rPr>
              <a:t> of His great love. It is the cost of becoming God-like (Theosis).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Verse:</a:t>
            </a:r>
            <a:endParaRPr sz="1100">
              <a:solidFill>
                <a:schemeClr val="dk1"/>
              </a:solidFill>
            </a:endParaRPr>
          </a:p>
          <a:p>
            <a:pPr indent="0" lvl="0" marL="0" rtl="0" algn="l">
              <a:spcBef>
                <a:spcPts val="1200"/>
              </a:spcBef>
              <a:spcAft>
                <a:spcPts val="1200"/>
              </a:spcAft>
              <a:buNone/>
            </a:pPr>
            <a:r>
              <a:rPr lang="en" sz="1100">
                <a:solidFill>
                  <a:schemeClr val="dk1"/>
                </a:solidFill>
              </a:rPr>
              <a:t>"I have been crucified with Christ; it is no longer I who live, but Christ lives in me..."- </a:t>
            </a:r>
            <a:r>
              <a:rPr b="1" lang="en" sz="1100">
                <a:solidFill>
                  <a:schemeClr val="dk1"/>
                </a:solidFill>
              </a:rPr>
              <a:t>Galatians 2:20</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Forgiveness </a:t>
            </a:r>
            <a:endParaRPr/>
          </a:p>
        </p:txBody>
      </p:sp>
      <p:sp>
        <p:nvSpPr>
          <p:cNvPr id="114" name="Google Shape;11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chemeClr val="dk1"/>
                </a:solidFill>
              </a:rPr>
              <a:t>The Prerequisite for Grace</a:t>
            </a:r>
            <a:endParaRPr b="1"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Before you ask God to forgive you, make sure you have forgiven your neighbor.</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How can you ask God for forgiveness and not forgive others?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Our ability to receive God's mercy is </a:t>
            </a:r>
            <a:r>
              <a:rPr lang="en" sz="1500">
                <a:solidFill>
                  <a:schemeClr val="dk1"/>
                </a:solidFill>
              </a:rPr>
              <a:t>directly </a:t>
            </a:r>
            <a:r>
              <a:rPr lang="en" sz="1500">
                <a:solidFill>
                  <a:schemeClr val="dk1"/>
                </a:solidFill>
              </a:rPr>
              <a:t>tied to our willingness to </a:t>
            </a:r>
            <a:r>
              <a:rPr i="1" lang="en" sz="1500">
                <a:solidFill>
                  <a:schemeClr val="dk1"/>
                </a:solidFill>
              </a:rPr>
              <a:t>give</a:t>
            </a:r>
            <a:r>
              <a:rPr lang="en" sz="1500">
                <a:solidFill>
                  <a:schemeClr val="dk1"/>
                </a:solidFill>
              </a:rPr>
              <a:t> mercy.</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Verse:</a:t>
            </a:r>
            <a:endParaRPr sz="1500">
              <a:solidFill>
                <a:schemeClr val="dk1"/>
              </a:solidFill>
            </a:endParaRPr>
          </a:p>
          <a:p>
            <a:pPr indent="0" lvl="0" marL="0" rtl="0" algn="l">
              <a:spcBef>
                <a:spcPts val="1200"/>
              </a:spcBef>
              <a:spcAft>
                <a:spcPts val="1200"/>
              </a:spcAft>
              <a:buNone/>
            </a:pPr>
            <a:r>
              <a:rPr lang="en" sz="1500">
                <a:solidFill>
                  <a:schemeClr val="dk1"/>
                </a:solidFill>
              </a:rPr>
              <a:t>"For if you forgive men their trespasses, your heavenly Father will also forgive you. But if you do not forgive men their trespasses, neither will your Father forgive your trespasses." - </a:t>
            </a:r>
            <a:r>
              <a:rPr b="1" lang="en" sz="1500">
                <a:solidFill>
                  <a:schemeClr val="dk1"/>
                </a:solidFill>
              </a:rPr>
              <a:t>Matthew 6:14-15 </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Goal: A Transformed Life</a:t>
            </a:r>
            <a:endParaRPr/>
          </a:p>
        </p:txBody>
      </p:sp>
      <p:sp>
        <p:nvSpPr>
          <p:cNvPr id="120" name="Google Shape;120;p22"/>
          <p:cNvSpPr txBox="1"/>
          <p:nvPr>
            <p:ph idx="1" type="body"/>
          </p:nvPr>
        </p:nvSpPr>
        <p:spPr>
          <a:xfrm>
            <a:off x="311700" y="1152475"/>
            <a:ext cx="5589300" cy="38037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sz="1100">
                <a:solidFill>
                  <a:schemeClr val="dk1"/>
                </a:solidFill>
              </a:rPr>
              <a:t>Theosis: Becoming God-like</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The goal is not just to be forgiven, but to be </a:t>
            </a:r>
            <a:r>
              <a:rPr b="1" lang="en" sz="1100">
                <a:solidFill>
                  <a:schemeClr val="dk1"/>
                </a:solidFill>
              </a:rPr>
              <a:t>transformed.</a:t>
            </a: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We must </a:t>
            </a:r>
            <a:r>
              <a:rPr b="1" lang="en" sz="1100">
                <a:solidFill>
                  <a:schemeClr val="dk1"/>
                </a:solidFill>
              </a:rPr>
              <a:t>Learn</a:t>
            </a:r>
            <a:r>
              <a:rPr lang="en" sz="1100">
                <a:solidFill>
                  <a:schemeClr val="dk1"/>
                </a:solidFill>
              </a:rPr>
              <a:t> God's nature, </a:t>
            </a:r>
            <a:r>
              <a:rPr b="1" lang="en" sz="1100">
                <a:solidFill>
                  <a:schemeClr val="dk1"/>
                </a:solidFill>
              </a:rPr>
              <a:t>Experience</a:t>
            </a:r>
            <a:r>
              <a:rPr lang="en" sz="1100">
                <a:solidFill>
                  <a:schemeClr val="dk1"/>
                </a:solidFill>
              </a:rPr>
              <a:t> it, and </a:t>
            </a:r>
            <a:r>
              <a:rPr b="1" lang="en" sz="1100">
                <a:solidFill>
                  <a:schemeClr val="dk1"/>
                </a:solidFill>
              </a:rPr>
              <a:t>Emulate</a:t>
            </a:r>
            <a:r>
              <a:rPr lang="en" sz="1100">
                <a:solidFill>
                  <a:schemeClr val="dk1"/>
                </a:solidFill>
              </a:rPr>
              <a:t> it.</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 This is how His love has a profound impact on our lives.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Love Embodies:</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Sympathy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Forgiveness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Understanding</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Patience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Fair Judgement</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Verse:</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"Beloved, let us love one another, for love is of God; and everyone who loves is born of God and knows God." - </a:t>
            </a:r>
            <a:r>
              <a:rPr b="1" lang="en" sz="1100">
                <a:solidFill>
                  <a:schemeClr val="dk1"/>
                </a:solidFill>
              </a:rPr>
              <a:t>1 John 4:7</a:t>
            </a:r>
            <a:endParaRPr b="1" sz="1100">
              <a:solidFill>
                <a:schemeClr val="dk1"/>
              </a:solidFill>
            </a:endParaRPr>
          </a:p>
          <a:p>
            <a:pPr indent="0" lvl="0" marL="0" rtl="0" algn="l">
              <a:spcBef>
                <a:spcPts val="1200"/>
              </a:spcBef>
              <a:spcAft>
                <a:spcPts val="1200"/>
              </a:spcAft>
              <a:buNone/>
            </a:pPr>
            <a:r>
              <a:t/>
            </a:r>
            <a:endParaRPr/>
          </a:p>
        </p:txBody>
      </p:sp>
      <p:sp>
        <p:nvSpPr>
          <p:cNvPr id="121" name="Google Shape;121;p22"/>
          <p:cNvSpPr txBox="1"/>
          <p:nvPr/>
        </p:nvSpPr>
        <p:spPr>
          <a:xfrm>
            <a:off x="6086825" y="2200075"/>
            <a:ext cx="2708700" cy="1708500"/>
          </a:xfrm>
          <a:prstGeom prst="rect">
            <a:avLst/>
          </a:prstGeom>
          <a:noFill/>
          <a:ln cap="flat" cmpd="sng" w="19050">
            <a:solidFill>
              <a:srgbClr val="000000"/>
            </a:solidFill>
            <a:prstDash val="lg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"Love suffers long and is kind; love does not envy; love does not parade itself, is not puffed up; does not behave rudely, does not seek its own, is not provoked, thinks no evil; does not rejoice in iniquity, but </a:t>
            </a:r>
            <a:r>
              <a:rPr b="1" lang="en" sz="1100">
                <a:solidFill>
                  <a:schemeClr val="dk1"/>
                </a:solidFill>
              </a:rPr>
              <a:t>rejoices in the truth</a:t>
            </a:r>
            <a:r>
              <a:rPr lang="en" sz="1100">
                <a:solidFill>
                  <a:schemeClr val="dk1"/>
                </a:solidFill>
              </a:rPr>
              <a:t>; </a:t>
            </a:r>
            <a:r>
              <a:rPr b="1" lang="en" sz="1100">
                <a:solidFill>
                  <a:schemeClr val="dk1"/>
                </a:solidFill>
              </a:rPr>
              <a:t>bears all things, believes all things, hopes all things, endures all things.</a:t>
            </a:r>
            <a:r>
              <a:rPr lang="en" sz="1100">
                <a:solidFill>
                  <a:schemeClr val="dk1"/>
                </a:solidFill>
              </a:rPr>
              <a:t> Love never fails." - 1 Corinthians 13:4-8</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