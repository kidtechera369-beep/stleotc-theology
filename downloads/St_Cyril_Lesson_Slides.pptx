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D84393-C46A-48D1-AA02-639400E7DE14}">
  <a:tblStyle styleId="{D8D84393-C46A-48D1-AA02-639400E7DE1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e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57195" y="2828705"/>
            <a:ext cx="8229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02800"/>
                </a:solidFill>
                <a:latin typeface="Calibri"/>
                <a:ea typeface="Calibri"/>
                <a:cs typeface="Calibri"/>
                <a:sym typeface="Calibri"/>
              </a:rPr>
              <a:t>St. Cyril of Alexandria: The Seal of the Fathers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914400" y="1828800"/>
            <a:ext cx="822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225750" y="4318000"/>
            <a:ext cx="3606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Dn Yonnas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e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731520" y="64008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02800"/>
                </a:solidFill>
                <a:latin typeface="Calibri"/>
                <a:ea typeface="Calibri"/>
                <a:cs typeface="Calibri"/>
                <a:sym typeface="Calibri"/>
              </a:rPr>
              <a:t>Who Was St. Cyril (Abba Kirillos)?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314625" y="1477975"/>
            <a:ext cx="82296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The Pillar of Faith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24th Pope and Patriarch of Alexandria (412–444 AD)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Nephew of Theophilus of Alexandria, a powerful defender of the Orthodox faith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Raised and trained within Church leadership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The Connection: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Alexandria is the Mother Church of Ethiopia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Our faith flows through his teachings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Legacy: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Called “The Seal of the Fathers”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He preserved and completed the teachings before him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e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731520" y="640080"/>
            <a:ext cx="822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502800"/>
                </a:solidFill>
                <a:latin typeface="Calibri"/>
                <a:ea typeface="Calibri"/>
                <a:cs typeface="Calibri"/>
                <a:sym typeface="Calibri"/>
              </a:rPr>
              <a:t>The Foundation Of Our Salvation 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291975" y="1398750"/>
            <a:ext cx="82296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200" u="none" cap="none" strike="noStrike">
              <a:solidFill>
                <a:srgbClr val="1E1E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Question: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Is Jesus Christ one person or two?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Is He God, man, or both?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200" u="none" cap="none" strike="noStrike">
              <a:solidFill>
                <a:srgbClr val="1E1E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Tewahedo Answer: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He is one united nature (Tewahedo) and one person — the incarnate Word of God. Fully Go</a:t>
            </a:r>
            <a:r>
              <a:rPr lang="en-US" sz="220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and fully Man.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200" u="none" cap="none" strike="noStrike">
              <a:solidFill>
                <a:srgbClr val="1E1E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it matters: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If Christ is divided, His suffering cannot save us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To know Christ correctly is to know God correctly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eg" id="106" name="Google Shape;10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 txBox="1"/>
          <p:nvPr/>
        </p:nvSpPr>
        <p:spPr>
          <a:xfrm>
            <a:off x="731520" y="64008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02800"/>
                </a:solidFill>
                <a:latin typeface="Calibri"/>
                <a:ea typeface="Calibri"/>
                <a:cs typeface="Calibri"/>
                <a:sym typeface="Calibri"/>
              </a:rPr>
              <a:t>The Core Issue: Who is Christ?</a:t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291950" y="1364825"/>
            <a:ext cx="8229600" cy="3140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The Great Question of the Early Church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How are Christ’s divinity and humanity united?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Is He divided?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Is He one?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How can God truly become man?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This question led to a major theological conflict</a:t>
            </a:r>
            <a:endParaRPr i="1"/>
          </a:p>
        </p:txBody>
      </p:sp>
      <p:sp>
        <p:nvSpPr>
          <p:cNvPr id="109" name="Google Shape;109;p16"/>
          <p:cNvSpPr txBox="1"/>
          <p:nvPr/>
        </p:nvSpPr>
        <p:spPr>
          <a:xfrm>
            <a:off x="785300" y="4583300"/>
            <a:ext cx="7242900" cy="1899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The Nestorian Controversy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The Christological Controversy of the 5th Century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b="1" lang="en-US" sz="1100">
                <a:solidFill>
                  <a:schemeClr val="dk1"/>
                </a:solidFill>
              </a:rPr>
              <a:t>The Debate over the Nature of Christ</a:t>
            </a:r>
            <a:br>
              <a:rPr b="1" lang="en-US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eg" id="114" name="Google Shape;1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7"/>
          <p:cNvSpPr txBox="1"/>
          <p:nvPr/>
        </p:nvSpPr>
        <p:spPr>
          <a:xfrm>
            <a:off x="731520" y="64008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02800"/>
                </a:solidFill>
                <a:latin typeface="Calibri"/>
                <a:ea typeface="Calibri"/>
                <a:cs typeface="Calibri"/>
                <a:sym typeface="Calibri"/>
              </a:rPr>
              <a:t>Who Was Nestorius?</a:t>
            </a: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269325" y="1613800"/>
            <a:ext cx="54684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The Bishop of Constantinople</a:t>
            </a:r>
            <a:br>
              <a:rPr b="1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Patriarch of Constantinople (one of the highest Church positions)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Influential preacher and teacher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His teachings spread quickly across the empire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His Approach:</a:t>
            </a:r>
            <a:br>
              <a:rPr b="1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Relied heavily on human reasoning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Struggled to accept the mystery of God becoming man</a:t>
            </a:r>
            <a:endParaRPr/>
          </a:p>
        </p:txBody>
      </p:sp>
      <p:sp>
        <p:nvSpPr>
          <p:cNvPr id="117" name="Google Shape;117;p17"/>
          <p:cNvSpPr txBox="1"/>
          <p:nvPr/>
        </p:nvSpPr>
        <p:spPr>
          <a:xfrm>
            <a:off x="5488675" y="1997850"/>
            <a:ext cx="3000000" cy="2862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The 5 Ancient Church Sees (The Pentarchy)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Rome</a:t>
            </a:r>
            <a:br>
              <a:rPr b="1" lang="en-US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Constantinople</a:t>
            </a:r>
            <a:br>
              <a:rPr b="1" lang="en-US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Alexandria</a:t>
            </a:r>
            <a:br>
              <a:rPr b="1" lang="en-US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Antioch</a:t>
            </a:r>
            <a:br>
              <a:rPr b="1" lang="en-US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Jerusalem</a:t>
            </a:r>
            <a:br>
              <a:rPr b="1" lang="en-US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eg" id="122" name="Google Shape;1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 txBox="1"/>
          <p:nvPr/>
        </p:nvSpPr>
        <p:spPr>
          <a:xfrm>
            <a:off x="731520" y="64008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02800"/>
                </a:solidFill>
                <a:latin typeface="Calibri"/>
                <a:ea typeface="Calibri"/>
                <a:cs typeface="Calibri"/>
                <a:sym typeface="Calibri"/>
              </a:rPr>
              <a:t>Nestorius’ False Argument</a:t>
            </a:r>
            <a:endParaRPr/>
          </a:p>
        </p:txBody>
      </p:sp>
      <p:sp>
        <p:nvSpPr>
          <p:cNvPr id="124" name="Google Shape;124;p18"/>
          <p:cNvSpPr txBox="1"/>
          <p:nvPr/>
        </p:nvSpPr>
        <p:spPr>
          <a:xfrm>
            <a:off x="348550" y="1613800"/>
            <a:ext cx="82296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“Two-Person” Error</a:t>
            </a:r>
            <a:br>
              <a:rPr b="1"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Christ is two separate persons: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One human (Jesus)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One divine (Son of God)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God only “dwelt in” the man Jesus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200" u="none" cap="none" strike="noStrike">
              <a:solidFill>
                <a:srgbClr val="1E1E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Like a person living in a house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200" u="none" cap="none" strike="noStrike">
              <a:solidFill>
                <a:srgbClr val="1E1E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Problem:</a:t>
            </a:r>
            <a:b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i="0" sz="2200" u="none" cap="none" strike="noStrike">
              <a:solidFill>
                <a:srgbClr val="1E1E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creates two Sons instead of one Christ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eg" id="129" name="Google Shape;12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/>
          <p:cNvSpPr txBox="1"/>
          <p:nvPr/>
        </p:nvSpPr>
        <p:spPr>
          <a:xfrm>
            <a:off x="731520" y="64008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02800"/>
                </a:solidFill>
                <a:latin typeface="Calibri"/>
                <a:ea typeface="Calibri"/>
                <a:cs typeface="Calibri"/>
                <a:sym typeface="Calibri"/>
              </a:rPr>
              <a:t>The Rejection of Theotokos</a:t>
            </a:r>
            <a:endParaRPr/>
          </a:p>
        </p:txBody>
      </p:sp>
      <p:sp>
        <p:nvSpPr>
          <p:cNvPr id="131" name="Google Shape;131;p19"/>
          <p:cNvSpPr txBox="1"/>
          <p:nvPr/>
        </p:nvSpPr>
        <p:spPr>
          <a:xfrm>
            <a:off x="201425" y="1534575"/>
            <a:ext cx="8229600" cy="3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5028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Theotokos</a:t>
            </a:r>
            <a:r>
              <a:rPr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(Mother of God)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Nestorius rejected the title Theotokos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200" u="none" cap="none" strike="noStrike">
              <a:solidFill>
                <a:srgbClr val="1E1E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 claim: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Mary gave birth only to the human Jesus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200" u="none" cap="none" strike="noStrike">
              <a:solidFill>
                <a:srgbClr val="1E1E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danger: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200" u="none" cap="none" strike="noStrike">
              <a:solidFill>
                <a:srgbClr val="1E1E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Mary is not the Mother of God, then the one born is not truly God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i="0" sz="2200" u="none" cap="none" strike="noStrike">
              <a:solidFill>
                <a:srgbClr val="1E1E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divides Christ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eg" id="136" name="Google Shape;13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 txBox="1"/>
          <p:nvPr/>
        </p:nvSpPr>
        <p:spPr>
          <a:xfrm>
            <a:off x="731520" y="64008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02800"/>
                </a:solidFill>
                <a:latin typeface="Calibri"/>
                <a:ea typeface="Calibri"/>
                <a:cs typeface="Calibri"/>
                <a:sym typeface="Calibri"/>
              </a:rPr>
              <a:t>The Problem with a Divided Christ</a:t>
            </a:r>
            <a:endParaRPr/>
          </a:p>
        </p:txBody>
      </p:sp>
      <p:sp>
        <p:nvSpPr>
          <p:cNvPr id="138" name="Google Shape;138;p20"/>
          <p:cNvSpPr txBox="1"/>
          <p:nvPr/>
        </p:nvSpPr>
        <p:spPr>
          <a:xfrm>
            <a:off x="405150" y="1636425"/>
            <a:ext cx="82296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Why Nestorius Was Condemned</a:t>
            </a:r>
            <a:br>
              <a:rPr b="1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A “mere man” cannot save the world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A “mere man” cannot forgive sins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If God did not truly suffer for us, we are not truly saved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Tewahedo Truth: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God the Word suffered in the flesh for us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eg" id="143" name="Google Shape;14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 txBox="1"/>
          <p:nvPr/>
        </p:nvSpPr>
        <p:spPr>
          <a:xfrm>
            <a:off x="731520" y="64008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02800"/>
                </a:solidFill>
                <a:latin typeface="Calibri"/>
                <a:ea typeface="Calibri"/>
                <a:cs typeface="Calibri"/>
                <a:sym typeface="Calibri"/>
              </a:rPr>
              <a:t>St. Cyril’s Argument</a:t>
            </a:r>
            <a:endParaRPr/>
          </a:p>
        </p:txBody>
      </p:sp>
      <p:sp>
        <p:nvSpPr>
          <p:cNvPr id="145" name="Google Shape;145;p21"/>
          <p:cNvSpPr txBox="1"/>
          <p:nvPr/>
        </p:nvSpPr>
        <p:spPr>
          <a:xfrm>
            <a:off x="382525" y="1693000"/>
            <a:ext cx="82296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Miracle of the Union (Tewahedo)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200" u="none" cap="none" strike="noStrike">
              <a:solidFill>
                <a:srgbClr val="1E1E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Christ is ONE — not two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200" u="none" cap="none" strike="noStrike">
              <a:solidFill>
                <a:srgbClr val="1E1E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Fully God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Fully man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200" u="none" cap="none" strike="noStrike">
              <a:solidFill>
                <a:srgbClr val="1E1E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Incarnation:</a:t>
            </a:r>
            <a:br>
              <a:rPr b="1"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 Word did not visit a man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 Word became man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200" u="none" cap="none" strike="noStrike">
              <a:solidFill>
                <a:srgbClr val="1E1E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unified Christ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eg" id="150" name="Google Shape;15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/>
        </p:nvSpPr>
        <p:spPr>
          <a:xfrm>
            <a:off x="731520" y="64008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02800"/>
                </a:solidFill>
                <a:latin typeface="Calibri"/>
                <a:ea typeface="Calibri"/>
                <a:cs typeface="Calibri"/>
                <a:sym typeface="Calibri"/>
              </a:rPr>
              <a:t>The Analogy of Iron and Fire</a:t>
            </a:r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280675" y="1308225"/>
            <a:ext cx="82296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Tewahedo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Iron placed in fire becomes red-hot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200" u="none" cap="none" strike="noStrike">
              <a:solidFill>
                <a:srgbClr val="1E1E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Unity: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 iron and fire are united and act as one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200" u="none" cap="none" strike="noStrike">
              <a:solidFill>
                <a:srgbClr val="1E1E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confusion: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Fire does not become iron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Iron does not become fire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200" u="none" cap="none" strike="noStrike">
              <a:solidFill>
                <a:srgbClr val="1E1E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separation: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You cannot strike the iron without touching the heat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200" u="none" cap="none" strike="noStrike">
              <a:solidFill>
                <a:srgbClr val="1E1E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Christ: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united reality out of two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eg" id="157" name="Google Shape;1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 txBox="1"/>
          <p:nvPr/>
        </p:nvSpPr>
        <p:spPr>
          <a:xfrm>
            <a:off x="731520" y="64008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02800"/>
                </a:solidFill>
                <a:latin typeface="Calibri"/>
                <a:ea typeface="Calibri"/>
                <a:cs typeface="Calibri"/>
                <a:sym typeface="Calibri"/>
              </a:rPr>
              <a:t>Defending the Theotokos</a:t>
            </a:r>
            <a:endParaRPr/>
          </a:p>
        </p:txBody>
      </p:sp>
      <p:sp>
        <p:nvSpPr>
          <p:cNvPr id="159" name="Google Shape;159;p23"/>
          <p:cNvSpPr txBox="1"/>
          <p:nvPr/>
        </p:nvSpPr>
        <p:spPr>
          <a:xfrm>
            <a:off x="382500" y="1647750"/>
            <a:ext cx="82296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Mary: The Gate of Light</a:t>
            </a:r>
            <a:br>
              <a:rPr b="1" i="0" lang="en-US" sz="24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Christ is God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Mary gave birth to Christ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240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4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Therefore: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Mary is the Mother of God (Theotokos)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rgbClr val="1E1E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Truth: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rgbClr val="1E1E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Honoring Mary protects the truth about Christ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eg" id="164" name="Google Shape;16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4"/>
          <p:cNvSpPr txBox="1"/>
          <p:nvPr/>
        </p:nvSpPr>
        <p:spPr>
          <a:xfrm>
            <a:off x="731520" y="64008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02800"/>
                </a:solidFill>
                <a:latin typeface="Calibri"/>
                <a:ea typeface="Calibri"/>
                <a:cs typeface="Calibri"/>
                <a:sym typeface="Calibri"/>
              </a:rPr>
              <a:t>The Key Difference</a:t>
            </a:r>
            <a:endParaRPr/>
          </a:p>
        </p:txBody>
      </p:sp>
      <p:graphicFrame>
        <p:nvGraphicFramePr>
          <p:cNvPr id="166" name="Google Shape;166;p24"/>
          <p:cNvGraphicFramePr/>
          <p:nvPr/>
        </p:nvGraphicFramePr>
        <p:xfrm>
          <a:off x="454575" y="168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{D8D84393-C46A-48D1-AA02-639400E7DE14}</a:tableStyleId>
              </a:tblPr>
              <a:tblGrid>
                <a:gridCol w="3840175"/>
                <a:gridCol w="3840175"/>
              </a:tblGrid>
              <a:tr h="69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Nestorius (Error)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St. Cyril (Tewahedo)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Two persons 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One Person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Separation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Perfect Unit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Mary = Mother of a man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Mary = </a:t>
                      </a: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Mother of God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Salvation weakened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Salvation complete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eg" id="171" name="Google Shape;17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5"/>
          <p:cNvSpPr txBox="1"/>
          <p:nvPr/>
        </p:nvSpPr>
        <p:spPr>
          <a:xfrm>
            <a:off x="731520" y="64008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02800"/>
                </a:solidFill>
                <a:latin typeface="Calibri"/>
                <a:ea typeface="Calibri"/>
                <a:cs typeface="Calibri"/>
                <a:sym typeface="Calibri"/>
              </a:rPr>
              <a:t>Council of Ephesus (431 AD)</a:t>
            </a:r>
            <a:endParaRPr/>
          </a:p>
        </p:txBody>
      </p:sp>
      <p:sp>
        <p:nvSpPr>
          <p:cNvPr id="173" name="Google Shape;173;p25"/>
          <p:cNvSpPr txBox="1"/>
          <p:nvPr/>
        </p:nvSpPr>
        <p:spPr>
          <a:xfrm>
            <a:off x="371200" y="1828800"/>
            <a:ext cx="82296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Victory of Truth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7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200 bishops gathered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7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Led by St. Cyril of Alexandria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700" u="none" cap="none" strike="noStrike">
              <a:solidFill>
                <a:srgbClr val="1E1E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7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Nestorius rejected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7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Theotokos affirmed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7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Christ declared ONE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eg" id="178" name="Google Shape;17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6"/>
          <p:cNvSpPr txBox="1"/>
          <p:nvPr/>
        </p:nvSpPr>
        <p:spPr>
          <a:xfrm>
            <a:off x="731520" y="64008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02800"/>
                </a:solidFill>
                <a:latin typeface="Calibri"/>
                <a:ea typeface="Calibri"/>
                <a:cs typeface="Calibri"/>
                <a:sym typeface="Calibri"/>
              </a:rPr>
              <a:t>Did This Cause a Church Split?</a:t>
            </a:r>
            <a:endParaRPr/>
          </a:p>
        </p:txBody>
      </p:sp>
      <p:sp>
        <p:nvSpPr>
          <p:cNvPr id="180" name="Google Shape;180;p26"/>
          <p:cNvSpPr txBox="1"/>
          <p:nvPr/>
        </p:nvSpPr>
        <p:spPr>
          <a:xfrm>
            <a:off x="457200" y="1828800"/>
            <a:ext cx="822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6"/>
          <p:cNvSpPr txBox="1"/>
          <p:nvPr/>
        </p:nvSpPr>
        <p:spPr>
          <a:xfrm>
            <a:off x="656375" y="1290100"/>
            <a:ext cx="3858900" cy="4842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Ephesus (431 AD):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Nestorius was rejected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Church remained united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Chalcedon (451 AD):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split happened later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Agreement: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Christ is fully God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Christ is fully man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2" name="Google Shape;182;p26"/>
          <p:cNvSpPr txBox="1"/>
          <p:nvPr/>
        </p:nvSpPr>
        <p:spPr>
          <a:xfrm>
            <a:off x="4787000" y="2203900"/>
            <a:ext cx="3000000" cy="3014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Difference: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describe Christ’s union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Expressions: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Tewahedo: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One united nature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Chalcedon: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Two natures united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eg" id="187" name="Google Shape;18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7"/>
          <p:cNvSpPr txBox="1"/>
          <p:nvPr/>
        </p:nvSpPr>
        <p:spPr>
          <a:xfrm>
            <a:off x="731520" y="64008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02800"/>
                </a:solidFill>
                <a:latin typeface="Calibri"/>
                <a:ea typeface="Calibri"/>
                <a:cs typeface="Calibri"/>
                <a:sym typeface="Calibri"/>
              </a:rPr>
              <a:t>What We Confess Today</a:t>
            </a:r>
            <a:endParaRPr/>
          </a:p>
        </p:txBody>
      </p:sp>
      <p:sp>
        <p:nvSpPr>
          <p:cNvPr id="189" name="Google Shape;189;p27"/>
          <p:cNvSpPr txBox="1"/>
          <p:nvPr/>
        </p:nvSpPr>
        <p:spPr>
          <a:xfrm>
            <a:off x="212750" y="1625100"/>
            <a:ext cx="8229600" cy="40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Faith of the Church</a:t>
            </a:r>
            <a:br>
              <a:rPr b="1" i="0" lang="en-US" sz="25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5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One Lord Jesus Christ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5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Perfect in His divinity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5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Perfect in His humanity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500" u="none" cap="none" strike="noStrike">
              <a:solidFill>
                <a:srgbClr val="1E1E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Important:</a:t>
            </a:r>
            <a:br>
              <a:rPr b="1" i="0" lang="en-US" sz="25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5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We do not speak of Christ as divided after the union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500" u="none" cap="none" strike="noStrike">
              <a:solidFill>
                <a:srgbClr val="1E1E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500" u="sng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 is ONE!</a:t>
            </a:r>
            <a:endParaRPr sz="17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eg" id="194" name="Google Shape;19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8"/>
          <p:cNvSpPr txBox="1"/>
          <p:nvPr/>
        </p:nvSpPr>
        <p:spPr>
          <a:xfrm>
            <a:off x="731520" y="640080"/>
            <a:ext cx="8229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02800"/>
                </a:solidFill>
                <a:latin typeface="Calibri"/>
                <a:ea typeface="Calibri"/>
                <a:cs typeface="Calibri"/>
                <a:sym typeface="Calibri"/>
              </a:rPr>
              <a:t>One Incarnate Nature</a:t>
            </a:r>
            <a:endParaRPr/>
          </a:p>
        </p:txBody>
      </p:sp>
      <p:sp>
        <p:nvSpPr>
          <p:cNvPr id="196" name="Google Shape;196;p28"/>
          <p:cNvSpPr txBox="1"/>
          <p:nvPr/>
        </p:nvSpPr>
        <p:spPr>
          <a:xfrm>
            <a:off x="258000" y="1681700"/>
            <a:ext cx="8229600" cy="43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Mia Physis Formula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500" u="none" cap="none" strike="noStrike">
              <a:solidFill>
                <a:srgbClr val="1E1E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5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“One incarnate nature of God the Word”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500" u="none" cap="none" strike="noStrike">
              <a:solidFill>
                <a:srgbClr val="1E1E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the union works: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5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No mixing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5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No confusion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5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No alteration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500" u="none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No division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500" u="none" cap="none" strike="noStrike">
              <a:solidFill>
                <a:srgbClr val="1E1E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500" u="sng" cap="none" strike="noStrike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Perfect unity!</a:t>
            </a:r>
            <a:endParaRPr sz="17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eg" id="201" name="Google Shape;20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9"/>
          <p:cNvSpPr txBox="1"/>
          <p:nvPr/>
        </p:nvSpPr>
        <p:spPr>
          <a:xfrm>
            <a:off x="731520" y="64008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02800"/>
                </a:solidFill>
                <a:latin typeface="Calibri"/>
                <a:ea typeface="Calibri"/>
                <a:cs typeface="Calibri"/>
                <a:sym typeface="Calibri"/>
              </a:rPr>
              <a:t>The Ethiopian Tewahedo Identity</a:t>
            </a:r>
            <a:endParaRPr/>
          </a:p>
        </p:txBody>
      </p:sp>
      <p:sp>
        <p:nvSpPr>
          <p:cNvPr id="203" name="Google Shape;203;p29"/>
          <p:cNvSpPr txBox="1"/>
          <p:nvPr/>
        </p:nvSpPr>
        <p:spPr>
          <a:xfrm>
            <a:off x="303300" y="1715625"/>
            <a:ext cx="82296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Our Connection to St. Cyril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Our Church is called Tewahedo because of this belief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Our Liturgy (Kidassie):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Teaches the unity of Christ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The Eucharist: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We receive the true Body and Blood of the one united Christ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eg" id="208" name="Google Shape;20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0"/>
          <p:cNvSpPr txBox="1"/>
          <p:nvPr/>
        </p:nvSpPr>
        <p:spPr>
          <a:xfrm>
            <a:off x="731520" y="64008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02800"/>
                </a:solidFill>
                <a:latin typeface="Calibri"/>
                <a:ea typeface="Calibri"/>
                <a:cs typeface="Calibri"/>
                <a:sym typeface="Calibri"/>
              </a:rPr>
              <a:t>Why Cyril Matters Today</a:t>
            </a:r>
            <a:endParaRPr/>
          </a:p>
        </p:txBody>
      </p:sp>
      <p:sp>
        <p:nvSpPr>
          <p:cNvPr id="210" name="Google Shape;210;p30"/>
          <p:cNvSpPr txBox="1"/>
          <p:nvPr/>
        </p:nvSpPr>
        <p:spPr>
          <a:xfrm>
            <a:off x="190100" y="1670375"/>
            <a:ext cx="82296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Protecting Your Faith</a:t>
            </a:r>
            <a:br>
              <a:rPr b="1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Many today say Jesus was just a prophet or teacher</a:t>
            </a:r>
            <a:endParaRPr b="0" i="0" sz="2200" u="none" cap="none" strike="noStrike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If Jesus is not God, we have no salvation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2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200" u="none" cap="none" strike="noStrike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Lesson: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Truth is worth defending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eg" id="215" name="Google Shape;21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1"/>
          <p:cNvSpPr txBox="1"/>
          <p:nvPr/>
        </p:nvSpPr>
        <p:spPr>
          <a:xfrm>
            <a:off x="731520" y="64008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02800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/>
          </a:p>
        </p:txBody>
      </p:sp>
      <p:sp>
        <p:nvSpPr>
          <p:cNvPr id="217" name="Google Shape;217;p31"/>
          <p:cNvSpPr txBox="1"/>
          <p:nvPr/>
        </p:nvSpPr>
        <p:spPr>
          <a:xfrm>
            <a:off x="280675" y="1715625"/>
            <a:ext cx="8229600" cy="3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Christ is ONE, not two</a:t>
            </a:r>
            <a:br>
              <a:rPr b="1" i="0" lang="en-US" sz="33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2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Divinity and humanity are united</a:t>
            </a:r>
            <a:br>
              <a:rPr b="1" i="0" lang="en-US" sz="33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2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Theotokos protects Christ’s identity</a:t>
            </a:r>
            <a:br>
              <a:rPr b="1" i="0" lang="en-US" sz="33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2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Tewahedo = unity</a:t>
            </a:r>
            <a:endParaRPr b="1" sz="25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eg" id="222" name="Google Shape;22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2"/>
          <p:cNvSpPr txBox="1"/>
          <p:nvPr/>
        </p:nvSpPr>
        <p:spPr>
          <a:xfrm>
            <a:off x="731520" y="64008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02800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/>
          </a:p>
        </p:txBody>
      </p:sp>
      <p:sp>
        <p:nvSpPr>
          <p:cNvPr id="224" name="Google Shape;224;p32"/>
          <p:cNvSpPr txBox="1"/>
          <p:nvPr/>
        </p:nvSpPr>
        <p:spPr>
          <a:xfrm>
            <a:off x="224075" y="1828800"/>
            <a:ext cx="8229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How does knowing Christ is both God and man change your faith?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Why is “Tewahedo” important to our identity?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• How can you defend your faith today?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eg" id="229" name="Google Shape;22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3"/>
          <p:cNvSpPr txBox="1"/>
          <p:nvPr/>
        </p:nvSpPr>
        <p:spPr>
          <a:xfrm>
            <a:off x="731520" y="64008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02800"/>
                </a:solidFill>
                <a:latin typeface="Calibri"/>
                <a:ea typeface="Calibri"/>
                <a:cs typeface="Calibri"/>
                <a:sym typeface="Calibri"/>
              </a:rPr>
              <a:t>Closing</a:t>
            </a:r>
            <a:endParaRPr/>
          </a:p>
        </p:txBody>
      </p:sp>
      <p:sp>
        <p:nvSpPr>
          <p:cNvPr id="231" name="Google Shape;231;p33"/>
          <p:cNvSpPr txBox="1"/>
          <p:nvPr/>
        </p:nvSpPr>
        <p:spPr>
          <a:xfrm>
            <a:off x="291975" y="1828800"/>
            <a:ext cx="8229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“He made His humanity one with His divinity, without mixture, without confusion, without change, without division.”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(From the Ethiopian Liturgy)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Glory be to the Father, the Son, and the Holy Spirit. Amen.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