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16bada0c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16bada0c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16bada0c1_0_1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16bada0c1_0_1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16bada0c1_0_1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16bada0c1_0_1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16bada0c1_0_1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16bada0c1_0_1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82b26c11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82b26c11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096300" y="1779600"/>
            <a:ext cx="2951400" cy="158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80">
                <a:latin typeface="Times New Roman"/>
                <a:ea typeface="Times New Roman"/>
                <a:cs typeface="Times New Roman"/>
                <a:sym typeface="Times New Roman"/>
              </a:rPr>
              <a:t>The Purpose and Practice of Fasting in the Orthodox Christian Faith</a:t>
            </a:r>
            <a:endParaRPr sz="23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286000" y="4371975"/>
            <a:ext cx="457200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FFFFFF"/>
                </a:solidFill>
              </a:rPr>
              <a:t>By Dn Yonnas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 The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Beginning…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143100" y="1127825"/>
            <a:ext cx="8857800" cy="691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51AB2A"/>
              </a:gs>
              <a:gs pos="100000">
                <a:srgbClr val="203E13"/>
              </a:gs>
            </a:gsLst>
            <a:lin ang="5400012" scaled="0"/>
          </a:gra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“And the </a:t>
            </a:r>
            <a:r>
              <a:rPr i="1" lang="en" sz="1100" cap="small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Lord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God commanded the man, “You are free to eat from any tree in the garden; </a:t>
            </a:r>
            <a:r>
              <a:rPr baseline="30000"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you must not eat from the tree of the knowledge of good and evil, for when you eat from it you will certainly die.”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 Genesis 2:16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3775" y="2128600"/>
            <a:ext cx="3777851" cy="276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62" name="Google Shape;62;p14"/>
          <p:cNvSpPr/>
          <p:nvPr/>
        </p:nvSpPr>
        <p:spPr>
          <a:xfrm>
            <a:off x="238625" y="2128600"/>
            <a:ext cx="4762800" cy="2767800"/>
          </a:xfrm>
          <a:prstGeom prst="rect">
            <a:avLst/>
          </a:prstGeom>
          <a:gradFill>
            <a:gsLst>
              <a:gs pos="0">
                <a:srgbClr val="51AB2A"/>
              </a:gs>
              <a:gs pos="100000">
                <a:srgbClr val="203E13"/>
              </a:gs>
            </a:gsLst>
            <a:lin ang="5400012" scaled="0"/>
          </a:gra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God granted Adam and Eve permission to eat from the trees within the Garden of Eden.</a:t>
            </a:r>
            <a:b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God provided a rich and abundant plant-based diet for humans in the Garden.</a:t>
            </a:r>
            <a:b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Humanity was originally designed to live on a plant-based diet.</a:t>
            </a:r>
            <a:b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beginning, God intended for humans to thrive on fruits, vegetables, and herbs, in harmony with nature.</a:t>
            </a:r>
            <a:b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Animals were also given permission to eat plant-based food.</a:t>
            </a:r>
            <a:b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Genesis 1:30 states that God provided every green herb as meat for animals, signifying that they too lived on a plant-based diet </a:t>
            </a:r>
            <a:b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Before the time of Noah, humans and animals were both</a:t>
            </a: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plant-based.</a:t>
            </a:r>
            <a:b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 to the Flood, there is no mention of humans eating animals. Both humans and animals consumed only plant-based foods as God intended.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Lineage of Adam to Noah: The Shift in Diet from Plants to Meat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119300" y="2224375"/>
            <a:ext cx="954600" cy="5154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Seth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119300" y="3235925"/>
            <a:ext cx="954600" cy="5154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Enosh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119300" y="4247475"/>
            <a:ext cx="954600" cy="5154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Kenan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1559875" y="4247463"/>
            <a:ext cx="954600" cy="5154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Mahalalel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3046125" y="4247475"/>
            <a:ext cx="954600" cy="5154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Jared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4520650" y="4247475"/>
            <a:ext cx="954600" cy="5154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Enoch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5983450" y="4247475"/>
            <a:ext cx="954600" cy="5154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Methuselah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1135350" y="4385925"/>
            <a:ext cx="317400" cy="23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2621600" y="4385925"/>
            <a:ext cx="317400" cy="23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477800" y="1803125"/>
            <a:ext cx="237600" cy="320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477800" y="2827800"/>
            <a:ext cx="237600" cy="320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477800" y="3829725"/>
            <a:ext cx="237600" cy="320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4107850" y="4385925"/>
            <a:ext cx="317400" cy="23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7008975" y="4385925"/>
            <a:ext cx="317400" cy="23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5570650" y="4385925"/>
            <a:ext cx="317400" cy="23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7326375" y="4008675"/>
            <a:ext cx="1145400" cy="754200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1076D2"/>
              </a:gs>
              <a:gs pos="100000">
                <a:srgbClr val="09305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Noah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121100" y="1154375"/>
            <a:ext cx="951000" cy="512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076D2"/>
              </a:gs>
              <a:gs pos="100000">
                <a:srgbClr val="093053"/>
              </a:gs>
            </a:gsLst>
            <a:lin ang="5400012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Adam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1269475" y="1279025"/>
            <a:ext cx="7301700" cy="2300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Adam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The first human created by God.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Seth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The son of Adam and Eve, born after the death of Abel.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Enosh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Son of Seth.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Kenan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Son of Enosh.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Mahalalel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Son of Kenan.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Jared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Son of Mahalalel.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Enoch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Son of Jared. Enoch "walked with God," and he was taken by God without experiencing death.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Methuselah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Son of Enoch. Methuselah lived 969 years, the longest recorded lifespan in the Bible.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Lamech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Son of Methuselah.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Noah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Son of Lamech. Noah is the righteous man chosen by God to survive the Great Flood and repopulate the Earth after the floodwaters receded.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1945600" y="3315975"/>
            <a:ext cx="6104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"Every moving thing that liveth shall be meat for you; even as the green herb have I given you all things." - </a:t>
            </a:r>
            <a:r>
              <a:rPr b="1" lang="en" sz="1100">
                <a:solidFill>
                  <a:schemeClr val="dk1"/>
                </a:solidFill>
              </a:rPr>
              <a:t>Genesis 9:3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Why Do We Fast?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353150" y="1326750"/>
            <a:ext cx="4476600" cy="31020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to the Original State:</a:t>
            </a:r>
            <a:r>
              <a:rPr lang="en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way to return to the pure state of humanity before the Fall, mirroring the diet God gave to Adam and Eve.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Spiritual Purification: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Fasting cleanses the body and soul, helping believers detach from worldly desires and focus on spiritual growth.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Imitation of Christ and the Prophets:</a:t>
            </a:r>
            <a:r>
              <a:rPr lang="en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fasting, Orthodox Christians follow the example set by Jesus Christ and the prophets, who practiced fasting as a means of drawing closer to God.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Self-Control and Discipline:</a:t>
            </a:r>
            <a:r>
              <a:rPr lang="en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Fasting cultivates self-control and discipline, empowering believers to overcome temptations and strengthen their willpower.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Preparation for Holy Feasts:</a:t>
            </a:r>
            <a:r>
              <a:rPr lang="en" sz="11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Fasting prepares the faithful for major feasts by focusing on prayer, reflection, and renewal of faith.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5000" y="967263"/>
            <a:ext cx="2999162" cy="3820975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94" name="Google Shape;94;p16"/>
          <p:cNvSpPr txBox="1"/>
          <p:nvPr/>
        </p:nvSpPr>
        <p:spPr>
          <a:xfrm>
            <a:off x="5800700" y="597825"/>
            <a:ext cx="20523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Matthew 4:6.</a:t>
            </a:r>
            <a:endParaRPr sz="12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11700" y="205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Hidden Beauty in SufferinG 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2672250" y="3771900"/>
            <a:ext cx="1188600" cy="11886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BEBEBE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Suffering </a:t>
            </a:r>
            <a:r>
              <a:rPr lang="en" sz="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5283150" y="3771900"/>
            <a:ext cx="1188600" cy="11886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BEBEBE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Challenges </a:t>
            </a: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977700" y="1103650"/>
            <a:ext cx="1188600" cy="11886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BEBEBE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Perseverance</a:t>
            </a: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3" name="Google Shape;103;p17"/>
          <p:cNvCxnSpPr>
            <a:stCxn id="101" idx="2"/>
            <a:endCxn id="100" idx="6"/>
          </p:cNvCxnSpPr>
          <p:nvPr/>
        </p:nvCxnSpPr>
        <p:spPr>
          <a:xfrm rot="10800000">
            <a:off x="3860850" y="4366200"/>
            <a:ext cx="14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7"/>
          <p:cNvCxnSpPr>
            <a:stCxn id="102" idx="5"/>
            <a:endCxn id="101" idx="0"/>
          </p:cNvCxnSpPr>
          <p:nvPr/>
        </p:nvCxnSpPr>
        <p:spPr>
          <a:xfrm>
            <a:off x="4992234" y="2118184"/>
            <a:ext cx="885300" cy="165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7"/>
          <p:cNvCxnSpPr>
            <a:stCxn id="100" idx="0"/>
            <a:endCxn id="102" idx="3"/>
          </p:cNvCxnSpPr>
          <p:nvPr/>
        </p:nvCxnSpPr>
        <p:spPr>
          <a:xfrm flipH="1" rot="10800000">
            <a:off x="3266550" y="2118300"/>
            <a:ext cx="885300" cy="165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" name="Google Shape;106;p17"/>
          <p:cNvSpPr/>
          <p:nvPr/>
        </p:nvSpPr>
        <p:spPr>
          <a:xfrm>
            <a:off x="3977700" y="2786575"/>
            <a:ext cx="1188600" cy="985200"/>
          </a:xfrm>
          <a:prstGeom prst="bevel">
            <a:avLst>
              <a:gd fmla="val 12500" name="adj"/>
            </a:avLst>
          </a:prstGeom>
          <a:gradFill>
            <a:gsLst>
              <a:gs pos="0">
                <a:srgbClr val="FFC102"/>
              </a:gs>
              <a:gs pos="100000">
                <a:srgbClr val="795C04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GROWTH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8825" y="921975"/>
            <a:ext cx="3310200" cy="27066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and suffering are part of life.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Life has up and downs </a:t>
            </a:r>
            <a:br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Perspective shapes experience.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challenges as opportunities.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 makes hardship easier.</a:t>
            </a:r>
            <a:br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Perseverance overcomes hardship.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journey is what matters, not the end goal.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Growth comes through struggle.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5784975" y="924075"/>
            <a:ext cx="3309300" cy="27024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Suffering That Bring Good Things: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Mother Giving Birth:</a:t>
            </a:r>
            <a:r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pain and sacrifice of childbirth bring the joy of new life and the deep bond between mother and child.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Training and Muscle Growth:</a:t>
            </a:r>
            <a:r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Enduring pain and fatigue during exercise leads to stronger muscles and improved health.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Self-Discipline and Freedom:</a:t>
            </a:r>
            <a:r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discomfort of self-discipline leads to freedom from harmful habits and greater control over one’s life.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Fasting and Spiritual Growth:</a:t>
            </a:r>
            <a:r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discomfort of hunger and self-denial during fasting leads to spiritual purification, heightened self-control, and a closer connection to God.</a:t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122425" y="19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7 Orthodox Fasts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301825" y="878125"/>
            <a:ext cx="3846600" cy="4132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Weekly Fasts: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Wednesday and Friday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(except during the Fifty Days after the Feast of Resurrection)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Char char="●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Char char="○"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Wednesday: To remember the betrayal of Judas.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Char char="○"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Friday: To remember the Crucifixion of Christ.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Fast of Gehad (Epiphany):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Duration: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day, on the eve of the Feast of Epiphany.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prepare for the celebration of the Epiphany.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The Fast of Jonah (3 Days):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Duration: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days, two weeks before the Great Lent.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Commemorates Jonah’s time in the whale’s belly and God’s salvation.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4572000" y="419825"/>
            <a:ext cx="4317900" cy="4591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Great Lent (55 Days):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Duration: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55 days before the Feast of Resurrection.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Char char="●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Includes: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Preparation Week: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Precedes the 40 days.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Days of Fasting: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Reflecting Christ's fast in the wilderness.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Pascha Week (Holy Week):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Leading up to the Resurrection.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Engages the faithful in reflection on Christ's suffering, teachings, and ultimate Crucifixion &amp; Resurrection.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The Fast of the Apostles: (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lasting between 10 to 40 days.</a:t>
            </a: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Duration: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Varies; from the day after Pentecost to July 12 (Feast of the Apostles).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Commemorates the Apostles' fasting after receiving the Holy Spirit, as they prepared for their mission to spread the Gospel.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The Holy Virgin Mary Fast (15 Days):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Duration: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August 7 - August 22 (Feast of the Virgin Mary).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Honors the Assumption of the Virgin Mary's body into heaven.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The Nativity Fast (43-44 Days):</a:t>
            </a:r>
            <a:endParaRPr b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Duration: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43 (or 44) days before the Feast of Nativity.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spiritually prepare for the birth of Christ.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