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f971712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f971712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f97171229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f9717122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f9717122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f9717122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f97171229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f97171229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f97171229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f97171229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f97171229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f97171229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86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St. Luke The </a:t>
            </a:r>
            <a:r>
              <a:rPr lang="en"/>
              <a:t>Apostle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Life</a:t>
            </a:r>
            <a:r>
              <a:rPr lang="en">
                <a:solidFill>
                  <a:schemeClr val="dk1"/>
                </a:solidFill>
              </a:rPr>
              <a:t> &amp; Legacy of St. Luke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286000" y="4371975"/>
            <a:ext cx="45720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FFFFFF"/>
                </a:solidFill>
              </a:rPr>
              <a:t>By Dn Yonnas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Was Saint Luke?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88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28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9"/>
              <a:buAutoNum type="arabicPeriod"/>
            </a:pPr>
            <a:r>
              <a:rPr b="1" lang="en" sz="1169">
                <a:solidFill>
                  <a:srgbClr val="7F6000"/>
                </a:solidFill>
              </a:rPr>
              <a:t>Not One of the Twelve Apostles: </a:t>
            </a:r>
            <a:r>
              <a:rPr lang="en" sz="1169">
                <a:solidFill>
                  <a:schemeClr val="dk1"/>
                </a:solidFill>
              </a:rPr>
              <a:t>Luke was not among the original twelve apostles of Jesus. Instead, he is believed to have been a Gentile convert.</a:t>
            </a:r>
            <a:br>
              <a:rPr lang="en" sz="1169">
                <a:solidFill>
                  <a:schemeClr val="dk1"/>
                </a:solidFill>
              </a:rPr>
            </a:br>
            <a:endParaRPr sz="1169">
              <a:solidFill>
                <a:schemeClr val="dk1"/>
              </a:solidFill>
            </a:endParaRPr>
          </a:p>
          <a:p>
            <a:pPr indent="-3028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9"/>
              <a:buAutoNum type="arabicPeriod"/>
            </a:pPr>
            <a:r>
              <a:rPr b="1" lang="en" sz="1169">
                <a:solidFill>
                  <a:srgbClr val="7F6000"/>
                </a:solidFill>
              </a:rPr>
              <a:t>A Physician:</a:t>
            </a:r>
            <a:r>
              <a:rPr lang="en" sz="1169">
                <a:solidFill>
                  <a:schemeClr val="dk1"/>
                </a:solidFill>
              </a:rPr>
              <a:t> Colossians 4:14 refers to him as “the beloved physician” (ὁ ἰατρὸς ὁ ἀγαπητὸς).</a:t>
            </a:r>
            <a:br>
              <a:rPr lang="en" sz="1169">
                <a:solidFill>
                  <a:schemeClr val="dk1"/>
                </a:solidFill>
              </a:rPr>
            </a:br>
            <a:endParaRPr sz="1169">
              <a:solidFill>
                <a:schemeClr val="dk1"/>
              </a:solidFill>
            </a:endParaRPr>
          </a:p>
          <a:p>
            <a:pPr indent="-3028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9"/>
              <a:buAutoNum type="arabicPeriod"/>
            </a:pPr>
            <a:r>
              <a:rPr b="1" lang="en" sz="1169">
                <a:solidFill>
                  <a:srgbClr val="7F6000"/>
                </a:solidFill>
              </a:rPr>
              <a:t>Companion of Saint Paul:</a:t>
            </a:r>
            <a:r>
              <a:rPr lang="en" sz="1169">
                <a:solidFill>
                  <a:srgbClr val="7F6000"/>
                </a:solidFill>
              </a:rPr>
              <a:t> </a:t>
            </a:r>
            <a:r>
              <a:rPr lang="en" sz="1169">
                <a:solidFill>
                  <a:schemeClr val="dk1"/>
                </a:solidFill>
              </a:rPr>
              <a:t>He traveled with Saint Paul on his missionary journeys and was one of Paul's most trusted followers. In </a:t>
            </a:r>
            <a:r>
              <a:rPr b="1" lang="en" sz="1169">
                <a:solidFill>
                  <a:schemeClr val="dk1"/>
                </a:solidFill>
              </a:rPr>
              <a:t>2 Timothy 4:11</a:t>
            </a:r>
            <a:r>
              <a:rPr lang="en" sz="1169">
                <a:solidFill>
                  <a:schemeClr val="dk1"/>
                </a:solidFill>
              </a:rPr>
              <a:t>, Paul states, </a:t>
            </a:r>
            <a:r>
              <a:rPr i="1" lang="en" sz="1169">
                <a:solidFill>
                  <a:schemeClr val="dk1"/>
                </a:solidFill>
              </a:rPr>
              <a:t>“Only Luke is with me.”</a:t>
            </a:r>
            <a:br>
              <a:rPr i="1" lang="en" sz="1169">
                <a:solidFill>
                  <a:schemeClr val="dk1"/>
                </a:solidFill>
              </a:rPr>
            </a:br>
            <a:endParaRPr i="1" sz="1169">
              <a:solidFill>
                <a:schemeClr val="dk1"/>
              </a:solidFill>
            </a:endParaRPr>
          </a:p>
          <a:p>
            <a:pPr indent="-3028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9"/>
              <a:buAutoNum type="arabicPeriod"/>
            </a:pPr>
            <a:r>
              <a:rPr b="1" lang="en" sz="1169">
                <a:solidFill>
                  <a:srgbClr val="7F6000"/>
                </a:solidFill>
              </a:rPr>
              <a:t>Highly Educated:</a:t>
            </a:r>
            <a:r>
              <a:rPr lang="en" sz="1169">
                <a:solidFill>
                  <a:srgbClr val="7F6000"/>
                </a:solidFill>
              </a:rPr>
              <a:t> </a:t>
            </a:r>
            <a:r>
              <a:rPr lang="en" sz="1169">
                <a:solidFill>
                  <a:schemeClr val="dk1"/>
                </a:solidFill>
              </a:rPr>
              <a:t>His writings in Greek are among the most refined in the New Testament, suggesting he was well-educated.</a:t>
            </a:r>
            <a:endParaRPr sz="116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5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800" y="1039175"/>
            <a:ext cx="3646800" cy="364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aint Luke’s Gospel and Its Unique Characteristics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42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Gospel of Luke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third book in the New Testament and has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distinct themes:</a:t>
            </a:r>
            <a:endParaRPr sz="11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Saint Luke provided the world with a well-researched and orderly account of Jesus Christ’s ancestry, birth, and earthly life, followed by a structured narrative of His ministry, highlighting key teachings and events.</a:t>
            </a:r>
            <a:b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56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Arial"/>
              <a:buAutoNum type="arabicPeriod"/>
            </a:pPr>
            <a:r>
              <a:rPr b="1" lang="en" sz="1117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Focus on Christ’s Compassion: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Luke’s Gospel emphasizes Jesus’ love for sinners, the poor, women, and Gentiles.</a:t>
            </a:r>
            <a:endParaRPr sz="11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5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Arial"/>
              <a:buAutoNum type="arabicPeriod"/>
            </a:pPr>
            <a:r>
              <a:rPr b="1" lang="en" sz="1117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A Universal Gospel: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Unlike Matthew, which was written for a Jewish audience, Luke’s Gospel presents Jesus as the Savior of </a:t>
            </a:r>
            <a:r>
              <a:rPr i="1"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people, both Jews and Gentiles.</a:t>
            </a:r>
            <a:endParaRPr sz="11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5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Arial"/>
              <a:buAutoNum type="arabicPeriod"/>
            </a:pPr>
            <a:r>
              <a:rPr b="1" lang="en" sz="1117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Emphasis on Prayer and the Holy Spirit:</a:t>
            </a:r>
            <a:r>
              <a:rPr lang="en" sz="1117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1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Luke frequently mentions Jesus praying and emphasizes the work of the Holy Spirit.</a:t>
            </a:r>
            <a:endParaRPr sz="11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5898750" y="1152475"/>
            <a:ext cx="3102000" cy="31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Luke 4:18-19 (NKJV)</a:t>
            </a:r>
            <a:endParaRPr b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"The Spirit of the Lord is upon Me,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He has anointed Me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preach the gospel to the poor;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has sent Me to heal the brokenhearted,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proclaim liberty to the captives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recovery of sight to the blind,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set at liberty those who are oppressed;</a:t>
            </a:r>
            <a:endParaRPr i="1" sz="11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i="1" lang="en" sz="11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proclaim the acceptable year of the Lord."</a:t>
            </a:r>
            <a:endParaRPr sz="172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775" y="3931825"/>
            <a:ext cx="2069950" cy="12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What Does Luke’s Gospel Include?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5606100" cy="36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Font typeface="Arial"/>
              <a:buAutoNum type="arabicPeriod"/>
            </a:pPr>
            <a:r>
              <a:rPr b="1"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Jesus Christs Ancestry</a:t>
            </a:r>
            <a: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7F6000"/>
              </a:solidFill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 in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Luke 3:23-38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tracing Jesus' lineage back to Adam (unlike Matthew, which traces it back to Abraham).</a:t>
            </a:r>
            <a:b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135"/>
              <a:buFont typeface="Arial"/>
              <a:buAutoNum type="arabicPeriod"/>
            </a:pPr>
            <a:r>
              <a:rPr b="1"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Jesus’ Birth and Early Life</a:t>
            </a:r>
            <a: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7F6000"/>
              </a:solidFill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detailed account of the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Annunciation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Nativity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Jesus’ childhood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(Luke 1–2).</a:t>
            </a:r>
            <a:br>
              <a:rPr lang="en" sz="1135">
                <a:solidFill>
                  <a:schemeClr val="dk1"/>
                </a:solidFill>
              </a:rPr>
            </a:br>
            <a:br>
              <a:rPr lang="en" sz="1135">
                <a:solidFill>
                  <a:schemeClr val="dk1"/>
                </a:solidFill>
              </a:rPr>
            </a:br>
            <a:br>
              <a:rPr lang="en" sz="1135">
                <a:solidFill>
                  <a:schemeClr val="dk1"/>
                </a:solidFill>
              </a:rPr>
            </a:br>
            <a:endParaRPr sz="113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135"/>
              <a:buFont typeface="Arial"/>
              <a:buAutoNum type="arabicPeriod"/>
            </a:pPr>
            <a: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1"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esus Christ  Ministry</a:t>
            </a:r>
            <a: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35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7F6000"/>
              </a:solidFill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 parables and miracles, emphasizing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Jesus' compassion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inclusion of Gentiles and outcasts</a:t>
            </a:r>
            <a:r>
              <a:rPr lang="en" sz="113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3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775" y="3931825"/>
            <a:ext cx="2069950" cy="12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6443100" y="2289875"/>
            <a:ext cx="20133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Luke 1:3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“It seemed good to me also, having had perfect understanding of all things from the very first, to write to you an orderly account, most excellent Theophilus.”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075" y="445025"/>
            <a:ext cx="2784375" cy="16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Miracles and Parables Found Only in the Gospel of Luke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87150"/>
            <a:ext cx="3869100" cy="34164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lt1"/>
                </a:solidFill>
              </a:rPr>
              <a:t>Miracles</a:t>
            </a:r>
            <a:endParaRPr b="1" sz="1400" u="sng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The Great Catch of Fish &amp; Calling of the First Disciples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5:1-11</a:t>
            </a:r>
            <a:endParaRPr i="1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Raising of the Widow’s Son at Nain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7:11-16</a:t>
            </a:r>
            <a:endParaRPr i="1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Healing of a Crippled Woman on the Sabbath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13:10-17</a:t>
            </a:r>
            <a:endParaRPr i="1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Healing of a Man with Dropsy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14:1-6</a:t>
            </a:r>
            <a:endParaRPr i="1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Cleansing of the Ten Lepers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17:11-19</a:t>
            </a:r>
            <a:endParaRPr i="1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>
                <a:solidFill>
                  <a:schemeClr val="lt1"/>
                </a:solidFill>
              </a:rPr>
              <a:t>Healing of the High Priest’s Servant’s Ear</a:t>
            </a:r>
            <a:r>
              <a:rPr lang="en">
                <a:solidFill>
                  <a:schemeClr val="lt1"/>
                </a:solidFill>
              </a:rPr>
              <a:t> – </a:t>
            </a:r>
            <a:r>
              <a:rPr i="1" lang="en">
                <a:solidFill>
                  <a:schemeClr val="lt1"/>
                </a:solidFill>
              </a:rPr>
              <a:t>Luke 22:49-51</a:t>
            </a:r>
            <a:endParaRPr i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963200" y="1287150"/>
            <a:ext cx="3869100" cy="34164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lt1"/>
                </a:solidFill>
              </a:rPr>
              <a:t>Parables</a:t>
            </a:r>
            <a:endParaRPr b="1" sz="1400" u="sng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Two Debtors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7:41-43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Good Samaritan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10:25-37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Friend at Midnight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11:5-8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Rich Fool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12:16-21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Barren Fig Tree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13:6-9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Great Banquet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14:7-24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Cost of Discipleship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14:28-33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Lost Coin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15:8-10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Prodigal Son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15:11-32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Unjust Steward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16:1-9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Rich Man and Lazarus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16:19-31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Persistent Widow (Unjust Judge)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18:1-8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Pharisee and the Tax Collector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18:9-14</a:t>
            </a:r>
            <a:endParaRPr i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en" sz="1100">
                <a:solidFill>
                  <a:schemeClr val="lt1"/>
                </a:solidFill>
              </a:rPr>
              <a:t>The Ten Minas</a:t>
            </a:r>
            <a:r>
              <a:rPr lang="en" sz="1100">
                <a:solidFill>
                  <a:schemeClr val="lt1"/>
                </a:solidFill>
              </a:rPr>
              <a:t> – </a:t>
            </a:r>
            <a:r>
              <a:rPr i="1" lang="en" sz="1100">
                <a:solidFill>
                  <a:schemeClr val="lt1"/>
                </a:solidFill>
              </a:rPr>
              <a:t>Luke 19:11-27</a:t>
            </a: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Acts of the Apostles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69425" y="1017725"/>
            <a:ext cx="5538000" cy="3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The </a:t>
            </a:r>
            <a:r>
              <a:rPr b="1" lang="en" sz="1300">
                <a:solidFill>
                  <a:srgbClr val="7F6000"/>
                </a:solidFill>
              </a:rPr>
              <a:t>Acts of the Apostles</a:t>
            </a:r>
            <a:r>
              <a:rPr lang="en" sz="1300">
                <a:solidFill>
                  <a:schemeClr val="dk1"/>
                </a:solidFill>
              </a:rPr>
              <a:t>, also written by Saint Luke, is a continuation of his Gospel. It details: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Written by </a:t>
            </a:r>
            <a:r>
              <a:rPr b="1" lang="en" sz="1100">
                <a:solidFill>
                  <a:schemeClr val="dk1"/>
                </a:solidFill>
              </a:rPr>
              <a:t>St. Luke</a:t>
            </a:r>
            <a:r>
              <a:rPr lang="en" sz="1100">
                <a:solidFill>
                  <a:schemeClr val="dk1"/>
                </a:solidFill>
              </a:rPr>
              <a:t>, the book of Acts provides a detailed account of the </a:t>
            </a:r>
            <a:r>
              <a:rPr b="1" lang="en" sz="1100">
                <a:solidFill>
                  <a:schemeClr val="dk1"/>
                </a:solidFill>
              </a:rPr>
              <a:t>Great Commission</a:t>
            </a:r>
            <a:r>
              <a:rPr lang="en" sz="1100">
                <a:solidFill>
                  <a:schemeClr val="dk1"/>
                </a:solidFill>
              </a:rPr>
              <a:t>, where Jesus commands His disciples to spread the Gospel to the world.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Luke, a </a:t>
            </a:r>
            <a:r>
              <a:rPr b="1" lang="en" sz="1100">
                <a:solidFill>
                  <a:schemeClr val="dk1"/>
                </a:solidFill>
              </a:rPr>
              <a:t>close companion of St. Paul</a:t>
            </a:r>
            <a:r>
              <a:rPr lang="en" sz="1100">
                <a:solidFill>
                  <a:schemeClr val="dk1"/>
                </a:solidFill>
              </a:rPr>
              <a:t>, was an </a:t>
            </a:r>
            <a:r>
              <a:rPr b="1" lang="en" sz="1100">
                <a:solidFill>
                  <a:schemeClr val="dk1"/>
                </a:solidFill>
              </a:rPr>
              <a:t>eyewitness</a:t>
            </a:r>
            <a:r>
              <a:rPr lang="en" sz="1100">
                <a:solidFill>
                  <a:schemeClr val="dk1"/>
                </a:solidFill>
              </a:rPr>
              <a:t> to events in </a:t>
            </a:r>
            <a:r>
              <a:rPr b="1" lang="en" sz="1100">
                <a:solidFill>
                  <a:srgbClr val="BF9000"/>
                </a:solidFill>
              </a:rPr>
              <a:t>Acts 13-28</a:t>
            </a:r>
            <a:r>
              <a:rPr lang="en" sz="1100">
                <a:solidFill>
                  <a:srgbClr val="BF9000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accompanying Paul on many of his missionary journeys.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For </a:t>
            </a:r>
            <a:r>
              <a:rPr b="1" lang="en" sz="1100">
                <a:solidFill>
                  <a:srgbClr val="7F6000"/>
                </a:solidFill>
              </a:rPr>
              <a:t>Acts 1-12</a:t>
            </a:r>
            <a:r>
              <a:rPr lang="en" sz="1100">
                <a:solidFill>
                  <a:srgbClr val="7F6000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he likely interviewed key figures such as </a:t>
            </a:r>
            <a:r>
              <a:rPr b="1" lang="en" sz="1100">
                <a:solidFill>
                  <a:schemeClr val="dk1"/>
                </a:solidFill>
              </a:rPr>
              <a:t>St. Peter and St. John</a:t>
            </a:r>
            <a:r>
              <a:rPr lang="en" sz="1100">
                <a:solidFill>
                  <a:schemeClr val="dk1"/>
                </a:solidFill>
              </a:rPr>
              <a:t> to document the early Church’s growth.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Acts was written between </a:t>
            </a:r>
            <a:r>
              <a:rPr b="1" lang="en" sz="1100">
                <a:solidFill>
                  <a:schemeClr val="dk1"/>
                </a:solidFill>
              </a:rPr>
              <a:t>62 AD and the mid-2nd century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Both the </a:t>
            </a:r>
            <a:r>
              <a:rPr b="1" lang="en" sz="1100">
                <a:solidFill>
                  <a:schemeClr val="dk1"/>
                </a:solidFill>
              </a:rPr>
              <a:t>Gospel of Luke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Acts</a:t>
            </a:r>
            <a:r>
              <a:rPr lang="en" sz="1100">
                <a:solidFill>
                  <a:schemeClr val="dk1"/>
                </a:solidFill>
              </a:rPr>
              <a:t> were addressed to </a:t>
            </a:r>
            <a:r>
              <a:rPr b="1" lang="en" sz="1100">
                <a:solidFill>
                  <a:schemeClr val="dk1"/>
                </a:solidFill>
              </a:rPr>
              <a:t>Theophilus</a:t>
            </a:r>
            <a:r>
              <a:rPr lang="en" sz="1100">
                <a:solidFill>
                  <a:schemeClr val="dk1"/>
                </a:solidFill>
              </a:rPr>
              <a:t>, a Gentile, showing Luke’s intent to present a well-researched, orderly account of Christianity’s beginnings </a:t>
            </a:r>
            <a:r>
              <a:rPr lang="en" sz="1100">
                <a:solidFill>
                  <a:srgbClr val="7F6000"/>
                </a:solidFill>
              </a:rPr>
              <a:t>(</a:t>
            </a:r>
            <a:r>
              <a:rPr b="1" lang="en" sz="1100">
                <a:solidFill>
                  <a:srgbClr val="7F6000"/>
                </a:solidFill>
              </a:rPr>
              <a:t>Acts 1:1</a:t>
            </a:r>
            <a:r>
              <a:rPr lang="en" sz="1100">
                <a:solidFill>
                  <a:srgbClr val="7F6000"/>
                </a:solidFill>
              </a:rPr>
              <a:t>).</a:t>
            </a:r>
            <a:endParaRPr sz="1300">
              <a:solidFill>
                <a:srgbClr val="7F6000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500" y="1588950"/>
            <a:ext cx="2949475" cy="26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The Martyrdom of St. Luke</a:t>
            </a:r>
            <a:endParaRPr sz="2500"/>
          </a:p>
        </p:txBody>
      </p:sp>
      <p:sp>
        <p:nvSpPr>
          <p:cNvPr id="99" name="Google Shape;99;p19"/>
          <p:cNvSpPr/>
          <p:nvPr/>
        </p:nvSpPr>
        <p:spPr>
          <a:xfrm>
            <a:off x="860075" y="1450975"/>
            <a:ext cx="1828800" cy="14631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After the martyrdom of St. Peter and St. Paul, St. Luke continued preaching in Rome, leading many to Christ.</a:t>
            </a:r>
            <a:endParaRPr b="1" sz="1000"/>
          </a:p>
        </p:txBody>
      </p:sp>
      <p:sp>
        <p:nvSpPr>
          <p:cNvPr id="100" name="Google Shape;100;p19"/>
          <p:cNvSpPr/>
          <p:nvPr/>
        </p:nvSpPr>
        <p:spPr>
          <a:xfrm>
            <a:off x="3603875" y="1450963"/>
            <a:ext cx="1828800" cy="14631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Idol worshippers and non-believing Jews reported him to Emperor Nero, leading to his imprisonment.</a:t>
            </a:r>
            <a:endParaRPr b="1" sz="1000"/>
          </a:p>
        </p:txBody>
      </p:sp>
      <p:sp>
        <p:nvSpPr>
          <p:cNvPr id="101" name="Google Shape;101;p19"/>
          <p:cNvSpPr/>
          <p:nvPr/>
        </p:nvSpPr>
        <p:spPr>
          <a:xfrm>
            <a:off x="6347675" y="1450975"/>
            <a:ext cx="1828800" cy="14631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Before his capture, he entrusted his writings to a fisherman, saying they would lead him to God’s way.</a:t>
            </a:r>
            <a:endParaRPr b="1" sz="1000"/>
          </a:p>
        </p:txBody>
      </p:sp>
      <p:sp>
        <p:nvSpPr>
          <p:cNvPr id="102" name="Google Shape;102;p19"/>
          <p:cNvSpPr/>
          <p:nvPr/>
        </p:nvSpPr>
        <p:spPr>
          <a:xfrm>
            <a:off x="895650" y="3308200"/>
            <a:ext cx="1828800" cy="14631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Nero ordered Luke’s hand severed, but he miraculously reattached it and then separated it again, leading 276 people, including the Emperor’s cabinet head and wife, to believe in Christ.</a:t>
            </a:r>
            <a:endParaRPr b="1" sz="1000"/>
          </a:p>
        </p:txBody>
      </p:sp>
      <p:sp>
        <p:nvSpPr>
          <p:cNvPr id="103" name="Google Shape;103;p19"/>
          <p:cNvSpPr/>
          <p:nvPr/>
        </p:nvSpPr>
        <p:spPr>
          <a:xfrm>
            <a:off x="3615738" y="3308200"/>
            <a:ext cx="1828800" cy="14631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Enraged, Nero ordered St. Luke and the new converts to be beheaded, granting him the crown of martyrdom on 22nd Tahisas (December 31).</a:t>
            </a:r>
            <a:endParaRPr b="1" sz="1000"/>
          </a:p>
        </p:txBody>
      </p:sp>
      <p:sp>
        <p:nvSpPr>
          <p:cNvPr id="104" name="Google Shape;104;p19"/>
          <p:cNvSpPr/>
          <p:nvPr/>
        </p:nvSpPr>
        <p:spPr>
          <a:xfrm>
            <a:off x="6371425" y="3308200"/>
            <a:ext cx="1828800" cy="1463100"/>
          </a:xfrm>
          <a:prstGeom prst="rect">
            <a:avLst/>
          </a:prstGeom>
          <a:solidFill>
            <a:srgbClr val="FFF2CC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His body was thrown into the sea in a sack but was later found and buried with great honor on an island by a believer.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05" name="Google Shape;105;p19"/>
          <p:cNvSpPr/>
          <p:nvPr/>
        </p:nvSpPr>
        <p:spPr>
          <a:xfrm>
            <a:off x="2941925" y="1984975"/>
            <a:ext cx="408900" cy="2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5685725" y="1984975"/>
            <a:ext cx="408900" cy="2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2965650" y="3765225"/>
            <a:ext cx="408900" cy="2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5685725" y="3765225"/>
            <a:ext cx="408900" cy="2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9700" y="84113"/>
            <a:ext cx="972725" cy="9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