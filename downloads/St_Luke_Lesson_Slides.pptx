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2af9717122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2af9717122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2af97171229_0_2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2af97171229_0_2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2af97171229_0_2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2af97171229_0_2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2af97171229_0_4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2af97171229_0_4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2af97171229_0_4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2af97171229_0_4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2af97171229_0_5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2af97171229_0_5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38691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lphaLcPeriod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romanLcPeriod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lphaLcPeriod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romanLcPeriod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lphaLcPeriod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romanLcPeriod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dark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6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St. Luke The </a:t>
            </a:r>
            <a:r>
              <a:rPr lang="en"/>
              <a:t>Apostle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The Life</a:t>
            </a:r>
            <a:r>
              <a:rPr lang="en">
                <a:solidFill>
                  <a:schemeClr val="dk1"/>
                </a:solidFill>
              </a:rPr>
              <a:t> &amp; Legacy of St. Luke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2286000" y="4371975"/>
            <a:ext cx="4572000" cy="5143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FFFFFF"/>
                </a:solidFill>
              </a:rPr>
              <a:t>By Dn Yonnas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Who Was Saint Luke?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48807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2848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69"/>
              <a:buAutoNum type="arabicPeriod"/>
            </a:pPr>
            <a:r>
              <a:rPr b="1" lang="en" sz="1169">
                <a:solidFill>
                  <a:srgbClr val="7F6000"/>
                </a:solidFill>
              </a:rPr>
              <a:t>Not One of the Twelve Apostles: </a:t>
            </a:r>
            <a:r>
              <a:rPr lang="en" sz="1169">
                <a:solidFill>
                  <a:schemeClr val="dk1"/>
                </a:solidFill>
              </a:rPr>
              <a:t>Luke was not among the original twelve apostles of Jesus. Instead, he is believed to have been a Gentile convert.</a:t>
            </a:r>
            <a:br>
              <a:rPr lang="en" sz="1169">
                <a:solidFill>
                  <a:schemeClr val="dk1"/>
                </a:solidFill>
              </a:rPr>
            </a:br>
            <a:endParaRPr sz="1169">
              <a:solidFill>
                <a:schemeClr val="dk1"/>
              </a:solidFill>
            </a:endParaRPr>
          </a:p>
          <a:p>
            <a:pPr indent="-302848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69"/>
              <a:buAutoNum type="arabicPeriod"/>
            </a:pPr>
            <a:r>
              <a:rPr b="1" lang="en" sz="1169">
                <a:solidFill>
                  <a:srgbClr val="7F6000"/>
                </a:solidFill>
              </a:rPr>
              <a:t>A Physician:</a:t>
            </a:r>
            <a:r>
              <a:rPr lang="en" sz="1169">
                <a:solidFill>
                  <a:schemeClr val="dk1"/>
                </a:solidFill>
              </a:rPr>
              <a:t> Colossians 4:14 refers to him as “the beloved physician” (ὁ ἰατρὸς ὁ ἀγαπητὸς).</a:t>
            </a:r>
            <a:br>
              <a:rPr lang="en" sz="1169">
                <a:solidFill>
                  <a:schemeClr val="dk1"/>
                </a:solidFill>
              </a:rPr>
            </a:br>
            <a:endParaRPr sz="1169">
              <a:solidFill>
                <a:schemeClr val="dk1"/>
              </a:solidFill>
            </a:endParaRPr>
          </a:p>
          <a:p>
            <a:pPr indent="-302848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69"/>
              <a:buAutoNum type="arabicPeriod"/>
            </a:pPr>
            <a:r>
              <a:rPr b="1" lang="en" sz="1169">
                <a:solidFill>
                  <a:srgbClr val="7F6000"/>
                </a:solidFill>
              </a:rPr>
              <a:t>Companion of Saint Paul:</a:t>
            </a:r>
            <a:r>
              <a:rPr lang="en" sz="1169">
                <a:solidFill>
                  <a:srgbClr val="7F6000"/>
                </a:solidFill>
              </a:rPr>
              <a:t> </a:t>
            </a:r>
            <a:r>
              <a:rPr lang="en" sz="1169">
                <a:solidFill>
                  <a:schemeClr val="dk1"/>
                </a:solidFill>
              </a:rPr>
              <a:t>He traveled with Saint Paul on his missionary journeys and was one of Paul's most trusted followers. In </a:t>
            </a:r>
            <a:r>
              <a:rPr b="1" lang="en" sz="1169">
                <a:solidFill>
                  <a:schemeClr val="dk1"/>
                </a:solidFill>
              </a:rPr>
              <a:t>2 Timothy 4:11</a:t>
            </a:r>
            <a:r>
              <a:rPr lang="en" sz="1169">
                <a:solidFill>
                  <a:schemeClr val="dk1"/>
                </a:solidFill>
              </a:rPr>
              <a:t>, Paul states, </a:t>
            </a:r>
            <a:r>
              <a:rPr i="1" lang="en" sz="1169">
                <a:solidFill>
                  <a:schemeClr val="dk1"/>
                </a:solidFill>
              </a:rPr>
              <a:t>“Only Luke is with me.”</a:t>
            </a:r>
            <a:br>
              <a:rPr i="1" lang="en" sz="1169">
                <a:solidFill>
                  <a:schemeClr val="dk1"/>
                </a:solidFill>
              </a:rPr>
            </a:br>
            <a:endParaRPr i="1" sz="1169">
              <a:solidFill>
                <a:schemeClr val="dk1"/>
              </a:solidFill>
            </a:endParaRPr>
          </a:p>
          <a:p>
            <a:pPr indent="-302848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69"/>
              <a:buAutoNum type="arabicPeriod"/>
            </a:pPr>
            <a:r>
              <a:rPr b="1" lang="en" sz="1169">
                <a:solidFill>
                  <a:srgbClr val="7F6000"/>
                </a:solidFill>
              </a:rPr>
              <a:t>Highly Educated:</a:t>
            </a:r>
            <a:r>
              <a:rPr lang="en" sz="1169">
                <a:solidFill>
                  <a:srgbClr val="7F6000"/>
                </a:solidFill>
              </a:rPr>
              <a:t> </a:t>
            </a:r>
            <a:r>
              <a:rPr lang="en" sz="1169">
                <a:solidFill>
                  <a:schemeClr val="dk1"/>
                </a:solidFill>
              </a:rPr>
              <a:t>His writings in Greek are among the most refined in the New Testament, suggesting he was well-educated.</a:t>
            </a:r>
            <a:endParaRPr sz="1169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850"/>
          </a:p>
        </p:txBody>
      </p:sp>
      <p:pic>
        <p:nvPicPr>
          <p:cNvPr id="62" name="Google Shape;62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44800" y="1039175"/>
            <a:ext cx="3646800" cy="36430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</a:t>
            </a:r>
            <a:r>
              <a:rPr lang="en"/>
              <a:t>aint Luke’s Gospel and Its Unique Characteristics</a:t>
            </a:r>
            <a:endParaRPr/>
          </a:p>
        </p:txBody>
      </p:sp>
      <p:sp>
        <p:nvSpPr>
          <p:cNvPr id="68" name="Google Shape;68;p15"/>
          <p:cNvSpPr txBox="1"/>
          <p:nvPr>
            <p:ph idx="1" type="body"/>
          </p:nvPr>
        </p:nvSpPr>
        <p:spPr>
          <a:xfrm>
            <a:off x="311700" y="1152475"/>
            <a:ext cx="4422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en" sz="1117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b="1" lang="en" sz="1117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Gospel of Luke</a:t>
            </a:r>
            <a:r>
              <a:rPr lang="en" sz="1117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is the third book in the New Testament and has</a:t>
            </a:r>
            <a:r>
              <a:rPr lang="en" sz="1117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117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distinct themes:</a:t>
            </a:r>
            <a:endParaRPr sz="111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en" sz="1117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Saint Luke provided the world with a well-researched and orderly account of Jesus Christ’s ancestry, birth, and earthly life, followed by a structured narrative of His ministry, highlighting key teachings and events.</a:t>
            </a:r>
            <a:br>
              <a:rPr lang="en" sz="1117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sz="111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9561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18"/>
              <a:buFont typeface="Arial"/>
              <a:buAutoNum type="arabicPeriod"/>
            </a:pPr>
            <a:r>
              <a:rPr b="1" lang="en" sz="1117">
                <a:solidFill>
                  <a:srgbClr val="7F6000"/>
                </a:solidFill>
                <a:latin typeface="Arial"/>
                <a:ea typeface="Arial"/>
                <a:cs typeface="Arial"/>
                <a:sym typeface="Arial"/>
              </a:rPr>
              <a:t>Focus on Christ’s Compassion:</a:t>
            </a:r>
            <a:r>
              <a:rPr lang="en" sz="1117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Luke’s Gospel emphasizes Jesus’ love for sinners, the poor, women, and Gentiles.</a:t>
            </a:r>
            <a:endParaRPr sz="111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9561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18"/>
              <a:buFont typeface="Arial"/>
              <a:buAutoNum type="arabicPeriod"/>
            </a:pPr>
            <a:r>
              <a:rPr b="1" lang="en" sz="1117">
                <a:solidFill>
                  <a:srgbClr val="7F6000"/>
                </a:solidFill>
                <a:latin typeface="Arial"/>
                <a:ea typeface="Arial"/>
                <a:cs typeface="Arial"/>
                <a:sym typeface="Arial"/>
              </a:rPr>
              <a:t>A Universal Gospel:</a:t>
            </a:r>
            <a:r>
              <a:rPr lang="en" sz="1117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Unlike Matthew, which was written for a Jewish audience, Luke’s Gospel presents Jesus as the Savior of </a:t>
            </a:r>
            <a:r>
              <a:rPr i="1" lang="en" sz="1117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all</a:t>
            </a:r>
            <a:r>
              <a:rPr lang="en" sz="1117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people, both Jews and Gentiles.</a:t>
            </a:r>
            <a:endParaRPr sz="111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9561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18"/>
              <a:buFont typeface="Arial"/>
              <a:buAutoNum type="arabicPeriod"/>
            </a:pPr>
            <a:r>
              <a:rPr b="1" lang="en" sz="1117">
                <a:solidFill>
                  <a:srgbClr val="7F6000"/>
                </a:solidFill>
                <a:latin typeface="Arial"/>
                <a:ea typeface="Arial"/>
                <a:cs typeface="Arial"/>
                <a:sym typeface="Arial"/>
              </a:rPr>
              <a:t>Emphasis on Prayer and the Holy Spirit:</a:t>
            </a:r>
            <a:r>
              <a:rPr lang="en" sz="1117">
                <a:solidFill>
                  <a:srgbClr val="7F6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117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Luke frequently mentions Jesus praying and emphasizes the work of the Holy Spirit.</a:t>
            </a:r>
            <a:endParaRPr sz="111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SzPts val="1018"/>
              <a:buNone/>
            </a:pPr>
            <a:r>
              <a:t/>
            </a:r>
            <a:endParaRPr sz="1765">
              <a:solidFill>
                <a:schemeClr val="dk1"/>
              </a:solidFill>
            </a:endParaRPr>
          </a:p>
        </p:txBody>
      </p:sp>
      <p:sp>
        <p:nvSpPr>
          <p:cNvPr id="69" name="Google Shape;69;p15"/>
          <p:cNvSpPr txBox="1"/>
          <p:nvPr>
            <p:ph idx="1" type="body"/>
          </p:nvPr>
        </p:nvSpPr>
        <p:spPr>
          <a:xfrm>
            <a:off x="5898750" y="1152475"/>
            <a:ext cx="3102000" cy="312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" sz="1135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Luke 4:18-19 (NKJV)</a:t>
            </a:r>
            <a:endParaRPr b="1" sz="1135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935"/>
              <a:buNone/>
            </a:pPr>
            <a:r>
              <a:rPr i="1" lang="en" sz="1135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"The Spirit of the Lord is upon Me,</a:t>
            </a:r>
            <a:endParaRPr i="1" sz="1135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935"/>
              <a:buNone/>
            </a:pPr>
            <a:r>
              <a:rPr i="1" lang="en" sz="1135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Because He has anointed Me</a:t>
            </a:r>
            <a:endParaRPr i="1" sz="1135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935"/>
              <a:buNone/>
            </a:pPr>
            <a:r>
              <a:rPr i="1" lang="en" sz="1135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 preach the gospel to the poor;</a:t>
            </a:r>
            <a:endParaRPr i="1" sz="1135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935"/>
              <a:buNone/>
            </a:pPr>
            <a:r>
              <a:rPr i="1" lang="en" sz="1135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He has sent Me to heal the brokenhearted,</a:t>
            </a:r>
            <a:endParaRPr i="1" sz="1135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935"/>
              <a:buNone/>
            </a:pPr>
            <a:r>
              <a:rPr i="1" lang="en" sz="1135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 proclaim liberty to the captives</a:t>
            </a:r>
            <a:endParaRPr i="1" sz="1135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935"/>
              <a:buNone/>
            </a:pPr>
            <a:r>
              <a:rPr i="1" lang="en" sz="1135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And recovery of sight to the blind,</a:t>
            </a:r>
            <a:endParaRPr i="1" sz="1135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935"/>
              <a:buNone/>
            </a:pPr>
            <a:r>
              <a:rPr i="1" lang="en" sz="1135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 set at liberty those who are oppressed;</a:t>
            </a:r>
            <a:endParaRPr i="1" sz="1135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935"/>
              <a:buNone/>
            </a:pPr>
            <a:r>
              <a:rPr i="1" lang="en" sz="1135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 proclaim the acceptable year of the Lord."</a:t>
            </a:r>
            <a:endParaRPr sz="1729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70" name="Google Shape;7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14775" y="3931825"/>
            <a:ext cx="2069950" cy="1211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latin typeface="Arial"/>
                <a:ea typeface="Arial"/>
                <a:cs typeface="Arial"/>
                <a:sym typeface="Arial"/>
              </a:rPr>
              <a:t>What Does Luke’s Gospel Include?</a:t>
            </a:r>
            <a:endParaRPr sz="2500"/>
          </a:p>
        </p:txBody>
      </p:sp>
      <p:sp>
        <p:nvSpPr>
          <p:cNvPr id="76" name="Google Shape;76;p16"/>
          <p:cNvSpPr txBox="1"/>
          <p:nvPr>
            <p:ph idx="1" type="body"/>
          </p:nvPr>
        </p:nvSpPr>
        <p:spPr>
          <a:xfrm>
            <a:off x="311700" y="1152475"/>
            <a:ext cx="5606100" cy="362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0672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35"/>
              <a:buFont typeface="Arial"/>
              <a:buAutoNum type="arabicPeriod"/>
            </a:pPr>
            <a:r>
              <a:rPr b="1" lang="en" sz="1135">
                <a:solidFill>
                  <a:srgbClr val="7F6000"/>
                </a:solidFill>
                <a:latin typeface="Arial"/>
                <a:ea typeface="Arial"/>
                <a:cs typeface="Arial"/>
                <a:sym typeface="Arial"/>
              </a:rPr>
              <a:t>Jesus Christs Ancestry</a:t>
            </a:r>
            <a:r>
              <a:rPr lang="en" sz="1135">
                <a:solidFill>
                  <a:srgbClr val="7F6000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br>
              <a:rPr lang="en" sz="1135">
                <a:solidFill>
                  <a:srgbClr val="7F6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35">
              <a:solidFill>
                <a:srgbClr val="7F6000"/>
              </a:solidFill>
            </a:endParaRPr>
          </a:p>
          <a:p>
            <a:pPr indent="-300672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35"/>
              <a:buFont typeface="Arial"/>
              <a:buChar char="●"/>
            </a:pPr>
            <a:r>
              <a:rPr lang="en" sz="113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Found in </a:t>
            </a:r>
            <a:r>
              <a:rPr b="1" lang="en" sz="113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Luke 3:23-38</a:t>
            </a:r>
            <a:r>
              <a:rPr lang="en" sz="113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tracing Jesus' lineage back to Adam (unlike Matthew, which traces it back to Abraham).</a:t>
            </a:r>
            <a:br>
              <a:rPr lang="en" sz="113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" sz="113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" sz="113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sz="1135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0672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7F6000"/>
              </a:buClr>
              <a:buSzPts val="1135"/>
              <a:buFont typeface="Arial"/>
              <a:buAutoNum type="arabicPeriod"/>
            </a:pPr>
            <a:r>
              <a:rPr b="1" lang="en" sz="1135">
                <a:solidFill>
                  <a:srgbClr val="7F6000"/>
                </a:solidFill>
                <a:latin typeface="Arial"/>
                <a:ea typeface="Arial"/>
                <a:cs typeface="Arial"/>
                <a:sym typeface="Arial"/>
              </a:rPr>
              <a:t>Jesus’ Birth and Early Life</a:t>
            </a:r>
            <a:r>
              <a:rPr lang="en" sz="1135">
                <a:solidFill>
                  <a:srgbClr val="7F6000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br>
              <a:rPr lang="en" sz="1135">
                <a:solidFill>
                  <a:srgbClr val="7F6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35">
              <a:solidFill>
                <a:srgbClr val="7F6000"/>
              </a:solidFill>
            </a:endParaRPr>
          </a:p>
          <a:p>
            <a:pPr indent="-300672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35"/>
              <a:buChar char="●"/>
            </a:pPr>
            <a:r>
              <a:rPr lang="en" sz="113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most detailed account of the </a:t>
            </a:r>
            <a:r>
              <a:rPr b="1" lang="en" sz="113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Annunciation</a:t>
            </a:r>
            <a:r>
              <a:rPr lang="en" sz="113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1" lang="en" sz="113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Nativity</a:t>
            </a:r>
            <a:r>
              <a:rPr lang="en" sz="113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and </a:t>
            </a:r>
            <a:r>
              <a:rPr b="1" lang="en" sz="113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Jesus’ childhood</a:t>
            </a:r>
            <a:r>
              <a:rPr lang="en" sz="113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(Luke 1–2).</a:t>
            </a:r>
            <a:br>
              <a:rPr lang="en" sz="1135">
                <a:solidFill>
                  <a:schemeClr val="dk1"/>
                </a:solidFill>
              </a:rPr>
            </a:br>
            <a:br>
              <a:rPr lang="en" sz="1135">
                <a:solidFill>
                  <a:schemeClr val="dk1"/>
                </a:solidFill>
              </a:rPr>
            </a:br>
            <a:br>
              <a:rPr lang="en" sz="1135">
                <a:solidFill>
                  <a:schemeClr val="dk1"/>
                </a:solidFill>
              </a:rPr>
            </a:br>
            <a:endParaRPr sz="1135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0672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7F6000"/>
              </a:buClr>
              <a:buSzPts val="1135"/>
              <a:buFont typeface="Arial"/>
              <a:buAutoNum type="arabicPeriod"/>
            </a:pPr>
            <a:r>
              <a:rPr lang="en" sz="1135">
                <a:solidFill>
                  <a:srgbClr val="7F6000"/>
                </a:solidFill>
                <a:latin typeface="Arial"/>
                <a:ea typeface="Arial"/>
                <a:cs typeface="Arial"/>
                <a:sym typeface="Arial"/>
              </a:rPr>
              <a:t>J</a:t>
            </a:r>
            <a:r>
              <a:rPr b="1" lang="en" sz="1135">
                <a:solidFill>
                  <a:srgbClr val="7F6000"/>
                </a:solidFill>
                <a:latin typeface="Arial"/>
                <a:ea typeface="Arial"/>
                <a:cs typeface="Arial"/>
                <a:sym typeface="Arial"/>
              </a:rPr>
              <a:t>esus Christ  Ministry</a:t>
            </a:r>
            <a:r>
              <a:rPr lang="en" sz="1135">
                <a:solidFill>
                  <a:srgbClr val="7F6000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br>
              <a:rPr lang="en" sz="1135">
                <a:solidFill>
                  <a:srgbClr val="7F6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35">
              <a:solidFill>
                <a:srgbClr val="7F6000"/>
              </a:solidFill>
            </a:endParaRPr>
          </a:p>
          <a:p>
            <a:pPr indent="-300672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35"/>
              <a:buFont typeface="Arial"/>
              <a:buChar char="●"/>
            </a:pPr>
            <a:r>
              <a:rPr lang="en" sz="113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Unique parables and miracles, emphasizing </a:t>
            </a:r>
            <a:r>
              <a:rPr b="1" lang="en" sz="113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Jesus' compassion</a:t>
            </a:r>
            <a:r>
              <a:rPr lang="en" sz="113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b="1" lang="en" sz="113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inclusion of Gentiles and outcasts</a:t>
            </a:r>
            <a:r>
              <a:rPr lang="en" sz="113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135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935"/>
              <a:buNone/>
            </a:pPr>
            <a:r>
              <a:t/>
            </a:r>
            <a:endParaRPr sz="1729">
              <a:solidFill>
                <a:schemeClr val="dk1"/>
              </a:solidFill>
            </a:endParaRPr>
          </a:p>
        </p:txBody>
      </p:sp>
      <p:pic>
        <p:nvPicPr>
          <p:cNvPr id="77" name="Google Shape;7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14775" y="3931825"/>
            <a:ext cx="2069950" cy="1211675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 txBox="1"/>
          <p:nvPr/>
        </p:nvSpPr>
        <p:spPr>
          <a:xfrm>
            <a:off x="6443100" y="2289875"/>
            <a:ext cx="2013300" cy="26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Luke 1:3</a:t>
            </a:r>
            <a:r>
              <a:rPr lang="en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  <a:br>
              <a:rPr lang="en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i="1" lang="en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“It seemed good to me also, having had perfect understanding of all things from the very first, to write to you an orderly account, most excellent Theophilus.”</a:t>
            </a:r>
            <a:endParaRPr i="1" sz="11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11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11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11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11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79" name="Google Shape;79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96075" y="445025"/>
            <a:ext cx="2784375" cy="1670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Miracles and Parables Found Only in the Gospel of Luke</a:t>
            </a:r>
            <a:endParaRPr/>
          </a:p>
        </p:txBody>
      </p:sp>
      <p:sp>
        <p:nvSpPr>
          <p:cNvPr id="85" name="Google Shape;85;p17"/>
          <p:cNvSpPr txBox="1"/>
          <p:nvPr>
            <p:ph idx="1" type="body"/>
          </p:nvPr>
        </p:nvSpPr>
        <p:spPr>
          <a:xfrm>
            <a:off x="311700" y="1287150"/>
            <a:ext cx="3869100" cy="3416400"/>
          </a:xfrm>
          <a:prstGeom prst="rect">
            <a:avLst/>
          </a:prstGeom>
          <a:solidFill>
            <a:srgbClr val="FFF2CC"/>
          </a:solidFill>
          <a:ln cap="flat" cmpd="sng" w="76200">
            <a:solidFill>
              <a:srgbClr val="7F6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400" u="sng">
                <a:solidFill>
                  <a:schemeClr val="lt1"/>
                </a:solidFill>
              </a:rPr>
              <a:t>Miracles</a:t>
            </a:r>
            <a:endParaRPr b="1" sz="1400" u="sng">
              <a:solidFill>
                <a:schemeClr val="lt1"/>
              </a:solidFill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AutoNum type="arabicPeriod"/>
            </a:pPr>
            <a:r>
              <a:rPr b="1" lang="en">
                <a:solidFill>
                  <a:schemeClr val="lt1"/>
                </a:solidFill>
              </a:rPr>
              <a:t>The Great Catch of Fish &amp; Calling of the First Disciples</a:t>
            </a:r>
            <a:r>
              <a:rPr lang="en">
                <a:solidFill>
                  <a:schemeClr val="lt1"/>
                </a:solidFill>
              </a:rPr>
              <a:t> – </a:t>
            </a:r>
            <a:r>
              <a:rPr i="1" lang="en">
                <a:solidFill>
                  <a:schemeClr val="lt1"/>
                </a:solidFill>
              </a:rPr>
              <a:t>Luke 5:1-11</a:t>
            </a:r>
            <a:endParaRPr i="1">
              <a:solidFill>
                <a:schemeClr val="lt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AutoNum type="arabicPeriod"/>
            </a:pPr>
            <a:r>
              <a:rPr b="1" lang="en">
                <a:solidFill>
                  <a:schemeClr val="lt1"/>
                </a:solidFill>
              </a:rPr>
              <a:t>Raising of the Widow’s Son at Nain</a:t>
            </a:r>
            <a:r>
              <a:rPr lang="en">
                <a:solidFill>
                  <a:schemeClr val="lt1"/>
                </a:solidFill>
              </a:rPr>
              <a:t> – </a:t>
            </a:r>
            <a:r>
              <a:rPr i="1" lang="en">
                <a:solidFill>
                  <a:schemeClr val="lt1"/>
                </a:solidFill>
              </a:rPr>
              <a:t>Luke 7:11-16</a:t>
            </a:r>
            <a:endParaRPr i="1">
              <a:solidFill>
                <a:schemeClr val="lt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AutoNum type="arabicPeriod"/>
            </a:pPr>
            <a:r>
              <a:rPr b="1" lang="en">
                <a:solidFill>
                  <a:schemeClr val="lt1"/>
                </a:solidFill>
              </a:rPr>
              <a:t>Healing of a Crippled Woman on the Sabbath</a:t>
            </a:r>
            <a:r>
              <a:rPr lang="en">
                <a:solidFill>
                  <a:schemeClr val="lt1"/>
                </a:solidFill>
              </a:rPr>
              <a:t> – </a:t>
            </a:r>
            <a:r>
              <a:rPr i="1" lang="en">
                <a:solidFill>
                  <a:schemeClr val="lt1"/>
                </a:solidFill>
              </a:rPr>
              <a:t>Luke 13:10-17</a:t>
            </a:r>
            <a:endParaRPr i="1">
              <a:solidFill>
                <a:schemeClr val="lt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AutoNum type="arabicPeriod"/>
            </a:pPr>
            <a:r>
              <a:rPr b="1" lang="en">
                <a:solidFill>
                  <a:schemeClr val="lt1"/>
                </a:solidFill>
              </a:rPr>
              <a:t>Healing of a Man with Dropsy</a:t>
            </a:r>
            <a:r>
              <a:rPr lang="en">
                <a:solidFill>
                  <a:schemeClr val="lt1"/>
                </a:solidFill>
              </a:rPr>
              <a:t> – </a:t>
            </a:r>
            <a:r>
              <a:rPr i="1" lang="en">
                <a:solidFill>
                  <a:schemeClr val="lt1"/>
                </a:solidFill>
              </a:rPr>
              <a:t>Luke 14:1-6</a:t>
            </a:r>
            <a:endParaRPr i="1">
              <a:solidFill>
                <a:schemeClr val="lt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AutoNum type="arabicPeriod"/>
            </a:pPr>
            <a:r>
              <a:rPr b="1" lang="en">
                <a:solidFill>
                  <a:schemeClr val="lt1"/>
                </a:solidFill>
              </a:rPr>
              <a:t>Cleansing of the Ten Lepers</a:t>
            </a:r>
            <a:r>
              <a:rPr lang="en">
                <a:solidFill>
                  <a:schemeClr val="lt1"/>
                </a:solidFill>
              </a:rPr>
              <a:t> – </a:t>
            </a:r>
            <a:r>
              <a:rPr i="1" lang="en">
                <a:solidFill>
                  <a:schemeClr val="lt1"/>
                </a:solidFill>
              </a:rPr>
              <a:t>Luke 17:11-19</a:t>
            </a:r>
            <a:endParaRPr i="1">
              <a:solidFill>
                <a:schemeClr val="lt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AutoNum type="arabicPeriod"/>
            </a:pPr>
            <a:r>
              <a:rPr b="1" lang="en">
                <a:solidFill>
                  <a:schemeClr val="lt1"/>
                </a:solidFill>
              </a:rPr>
              <a:t>Healing of the High Priest’s Servant’s Ear</a:t>
            </a:r>
            <a:r>
              <a:rPr lang="en">
                <a:solidFill>
                  <a:schemeClr val="lt1"/>
                </a:solidFill>
              </a:rPr>
              <a:t> – </a:t>
            </a:r>
            <a:r>
              <a:rPr i="1" lang="en">
                <a:solidFill>
                  <a:schemeClr val="lt1"/>
                </a:solidFill>
              </a:rPr>
              <a:t>Luke 22:49-51</a:t>
            </a:r>
            <a:endParaRPr i="1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86" name="Google Shape;86;p17"/>
          <p:cNvSpPr txBox="1"/>
          <p:nvPr>
            <p:ph idx="1" type="body"/>
          </p:nvPr>
        </p:nvSpPr>
        <p:spPr>
          <a:xfrm>
            <a:off x="4963200" y="1287150"/>
            <a:ext cx="3869100" cy="3416400"/>
          </a:xfrm>
          <a:prstGeom prst="rect">
            <a:avLst/>
          </a:prstGeom>
          <a:solidFill>
            <a:srgbClr val="FFF2CC"/>
          </a:solidFill>
          <a:ln cap="flat" cmpd="sng" w="76200">
            <a:solidFill>
              <a:srgbClr val="7F6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400" u="sng">
                <a:solidFill>
                  <a:schemeClr val="lt1"/>
                </a:solidFill>
              </a:rPr>
              <a:t>Parables</a:t>
            </a:r>
            <a:endParaRPr b="1" sz="1400" u="sng">
              <a:solidFill>
                <a:schemeClr val="lt1"/>
              </a:solidFill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AutoNum type="arabicPeriod"/>
            </a:pPr>
            <a:r>
              <a:rPr b="1" lang="en" sz="1100">
                <a:solidFill>
                  <a:schemeClr val="lt1"/>
                </a:solidFill>
              </a:rPr>
              <a:t>The Two Debtors</a:t>
            </a:r>
            <a:r>
              <a:rPr lang="en" sz="1100">
                <a:solidFill>
                  <a:schemeClr val="lt1"/>
                </a:solidFill>
              </a:rPr>
              <a:t> – </a:t>
            </a:r>
            <a:r>
              <a:rPr i="1" lang="en" sz="1100">
                <a:solidFill>
                  <a:schemeClr val="lt1"/>
                </a:solidFill>
              </a:rPr>
              <a:t>Luke 7:41-43</a:t>
            </a:r>
            <a:endParaRPr i="1" sz="1100">
              <a:solidFill>
                <a:schemeClr val="lt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AutoNum type="arabicPeriod"/>
            </a:pPr>
            <a:r>
              <a:rPr b="1" lang="en" sz="1100">
                <a:solidFill>
                  <a:schemeClr val="lt1"/>
                </a:solidFill>
              </a:rPr>
              <a:t>The Good Samaritan</a:t>
            </a:r>
            <a:r>
              <a:rPr lang="en" sz="1100">
                <a:solidFill>
                  <a:schemeClr val="lt1"/>
                </a:solidFill>
              </a:rPr>
              <a:t> – </a:t>
            </a:r>
            <a:r>
              <a:rPr i="1" lang="en" sz="1100">
                <a:solidFill>
                  <a:schemeClr val="lt1"/>
                </a:solidFill>
              </a:rPr>
              <a:t>Luke 10:25-37</a:t>
            </a:r>
            <a:endParaRPr i="1" sz="1100">
              <a:solidFill>
                <a:schemeClr val="lt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AutoNum type="arabicPeriod"/>
            </a:pPr>
            <a:r>
              <a:rPr b="1" lang="en" sz="1100">
                <a:solidFill>
                  <a:schemeClr val="lt1"/>
                </a:solidFill>
              </a:rPr>
              <a:t>The Friend at Midnight</a:t>
            </a:r>
            <a:r>
              <a:rPr lang="en" sz="1100">
                <a:solidFill>
                  <a:schemeClr val="lt1"/>
                </a:solidFill>
              </a:rPr>
              <a:t> – </a:t>
            </a:r>
            <a:r>
              <a:rPr i="1" lang="en" sz="1100">
                <a:solidFill>
                  <a:schemeClr val="lt1"/>
                </a:solidFill>
              </a:rPr>
              <a:t>Luke 11:5-8</a:t>
            </a:r>
            <a:endParaRPr i="1" sz="1100">
              <a:solidFill>
                <a:schemeClr val="lt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AutoNum type="arabicPeriod"/>
            </a:pPr>
            <a:r>
              <a:rPr b="1" lang="en" sz="1100">
                <a:solidFill>
                  <a:schemeClr val="lt1"/>
                </a:solidFill>
              </a:rPr>
              <a:t>The Rich Fool</a:t>
            </a:r>
            <a:r>
              <a:rPr lang="en" sz="1100">
                <a:solidFill>
                  <a:schemeClr val="lt1"/>
                </a:solidFill>
              </a:rPr>
              <a:t> – </a:t>
            </a:r>
            <a:r>
              <a:rPr i="1" lang="en" sz="1100">
                <a:solidFill>
                  <a:schemeClr val="lt1"/>
                </a:solidFill>
              </a:rPr>
              <a:t>Luke 12:16-21</a:t>
            </a:r>
            <a:endParaRPr i="1" sz="1100">
              <a:solidFill>
                <a:schemeClr val="lt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AutoNum type="arabicPeriod"/>
            </a:pPr>
            <a:r>
              <a:rPr b="1" lang="en" sz="1100">
                <a:solidFill>
                  <a:schemeClr val="lt1"/>
                </a:solidFill>
              </a:rPr>
              <a:t>The Barren Fig Tree</a:t>
            </a:r>
            <a:r>
              <a:rPr lang="en" sz="1100">
                <a:solidFill>
                  <a:schemeClr val="lt1"/>
                </a:solidFill>
              </a:rPr>
              <a:t> – </a:t>
            </a:r>
            <a:r>
              <a:rPr i="1" lang="en" sz="1100">
                <a:solidFill>
                  <a:schemeClr val="lt1"/>
                </a:solidFill>
              </a:rPr>
              <a:t>Luke 13:6-9</a:t>
            </a:r>
            <a:endParaRPr i="1" sz="1100">
              <a:solidFill>
                <a:schemeClr val="lt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AutoNum type="arabicPeriod"/>
            </a:pPr>
            <a:r>
              <a:rPr b="1" lang="en" sz="1100">
                <a:solidFill>
                  <a:schemeClr val="lt1"/>
                </a:solidFill>
              </a:rPr>
              <a:t>The Great Banquet</a:t>
            </a:r>
            <a:r>
              <a:rPr lang="en" sz="1100">
                <a:solidFill>
                  <a:schemeClr val="lt1"/>
                </a:solidFill>
              </a:rPr>
              <a:t> – </a:t>
            </a:r>
            <a:r>
              <a:rPr i="1" lang="en" sz="1100">
                <a:solidFill>
                  <a:schemeClr val="lt1"/>
                </a:solidFill>
              </a:rPr>
              <a:t>Luke 14:7-24</a:t>
            </a:r>
            <a:endParaRPr i="1" sz="1100">
              <a:solidFill>
                <a:schemeClr val="lt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AutoNum type="arabicPeriod"/>
            </a:pPr>
            <a:r>
              <a:rPr b="1" lang="en" sz="1100">
                <a:solidFill>
                  <a:schemeClr val="lt1"/>
                </a:solidFill>
              </a:rPr>
              <a:t>The Cost of Discipleship</a:t>
            </a:r>
            <a:r>
              <a:rPr lang="en" sz="1100">
                <a:solidFill>
                  <a:schemeClr val="lt1"/>
                </a:solidFill>
              </a:rPr>
              <a:t> – </a:t>
            </a:r>
            <a:r>
              <a:rPr i="1" lang="en" sz="1100">
                <a:solidFill>
                  <a:schemeClr val="lt1"/>
                </a:solidFill>
              </a:rPr>
              <a:t>Luke 14:28-33</a:t>
            </a:r>
            <a:endParaRPr i="1" sz="1100">
              <a:solidFill>
                <a:schemeClr val="lt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AutoNum type="arabicPeriod"/>
            </a:pPr>
            <a:r>
              <a:rPr b="1" lang="en" sz="1100">
                <a:solidFill>
                  <a:schemeClr val="lt1"/>
                </a:solidFill>
              </a:rPr>
              <a:t>The Lost Coin</a:t>
            </a:r>
            <a:r>
              <a:rPr lang="en" sz="1100">
                <a:solidFill>
                  <a:schemeClr val="lt1"/>
                </a:solidFill>
              </a:rPr>
              <a:t> – </a:t>
            </a:r>
            <a:r>
              <a:rPr i="1" lang="en" sz="1100">
                <a:solidFill>
                  <a:schemeClr val="lt1"/>
                </a:solidFill>
              </a:rPr>
              <a:t>Luke 15:8-10</a:t>
            </a:r>
            <a:endParaRPr i="1" sz="1100">
              <a:solidFill>
                <a:schemeClr val="lt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AutoNum type="arabicPeriod"/>
            </a:pPr>
            <a:r>
              <a:rPr b="1" lang="en" sz="1100">
                <a:solidFill>
                  <a:schemeClr val="lt1"/>
                </a:solidFill>
              </a:rPr>
              <a:t>The Prodigal Son</a:t>
            </a:r>
            <a:r>
              <a:rPr lang="en" sz="1100">
                <a:solidFill>
                  <a:schemeClr val="lt1"/>
                </a:solidFill>
              </a:rPr>
              <a:t> – </a:t>
            </a:r>
            <a:r>
              <a:rPr i="1" lang="en" sz="1100">
                <a:solidFill>
                  <a:schemeClr val="lt1"/>
                </a:solidFill>
              </a:rPr>
              <a:t>Luke 15:11-32</a:t>
            </a:r>
            <a:endParaRPr i="1" sz="1100">
              <a:solidFill>
                <a:schemeClr val="lt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AutoNum type="arabicPeriod"/>
            </a:pPr>
            <a:r>
              <a:rPr b="1" lang="en" sz="1100">
                <a:solidFill>
                  <a:schemeClr val="lt1"/>
                </a:solidFill>
              </a:rPr>
              <a:t>The Unjust Steward</a:t>
            </a:r>
            <a:r>
              <a:rPr lang="en" sz="1100">
                <a:solidFill>
                  <a:schemeClr val="lt1"/>
                </a:solidFill>
              </a:rPr>
              <a:t> – </a:t>
            </a:r>
            <a:r>
              <a:rPr i="1" lang="en" sz="1100">
                <a:solidFill>
                  <a:schemeClr val="lt1"/>
                </a:solidFill>
              </a:rPr>
              <a:t>Luke 16:1-9</a:t>
            </a:r>
            <a:endParaRPr i="1" sz="1100">
              <a:solidFill>
                <a:schemeClr val="lt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AutoNum type="arabicPeriod"/>
            </a:pPr>
            <a:r>
              <a:rPr b="1" lang="en" sz="1100">
                <a:solidFill>
                  <a:schemeClr val="lt1"/>
                </a:solidFill>
              </a:rPr>
              <a:t>The Rich Man and Lazarus</a:t>
            </a:r>
            <a:r>
              <a:rPr lang="en" sz="1100">
                <a:solidFill>
                  <a:schemeClr val="lt1"/>
                </a:solidFill>
              </a:rPr>
              <a:t> – </a:t>
            </a:r>
            <a:r>
              <a:rPr i="1" lang="en" sz="1100">
                <a:solidFill>
                  <a:schemeClr val="lt1"/>
                </a:solidFill>
              </a:rPr>
              <a:t>Luke 16:19-31</a:t>
            </a:r>
            <a:endParaRPr i="1" sz="1100">
              <a:solidFill>
                <a:schemeClr val="lt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AutoNum type="arabicPeriod"/>
            </a:pPr>
            <a:r>
              <a:rPr b="1" lang="en" sz="1100">
                <a:solidFill>
                  <a:schemeClr val="lt1"/>
                </a:solidFill>
              </a:rPr>
              <a:t>The Persistent Widow (Unjust Judge)</a:t>
            </a:r>
            <a:r>
              <a:rPr lang="en" sz="1100">
                <a:solidFill>
                  <a:schemeClr val="lt1"/>
                </a:solidFill>
              </a:rPr>
              <a:t> – </a:t>
            </a:r>
            <a:r>
              <a:rPr i="1" lang="en" sz="1100">
                <a:solidFill>
                  <a:schemeClr val="lt1"/>
                </a:solidFill>
              </a:rPr>
              <a:t>Luke 18:1-8</a:t>
            </a:r>
            <a:endParaRPr i="1" sz="1100">
              <a:solidFill>
                <a:schemeClr val="lt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AutoNum type="arabicPeriod"/>
            </a:pPr>
            <a:r>
              <a:rPr b="1" lang="en" sz="1100">
                <a:solidFill>
                  <a:schemeClr val="lt1"/>
                </a:solidFill>
              </a:rPr>
              <a:t>The Pharisee and the Tax Collector</a:t>
            </a:r>
            <a:r>
              <a:rPr lang="en" sz="1100">
                <a:solidFill>
                  <a:schemeClr val="lt1"/>
                </a:solidFill>
              </a:rPr>
              <a:t> – </a:t>
            </a:r>
            <a:r>
              <a:rPr i="1" lang="en" sz="1100">
                <a:solidFill>
                  <a:schemeClr val="lt1"/>
                </a:solidFill>
              </a:rPr>
              <a:t>Luke 18:9-14</a:t>
            </a:r>
            <a:endParaRPr i="1" sz="1100">
              <a:solidFill>
                <a:schemeClr val="lt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AutoNum type="arabicPeriod"/>
            </a:pPr>
            <a:r>
              <a:rPr b="1" lang="en" sz="1100">
                <a:solidFill>
                  <a:schemeClr val="lt1"/>
                </a:solidFill>
              </a:rPr>
              <a:t>The Ten Minas</a:t>
            </a:r>
            <a:r>
              <a:rPr lang="en" sz="1100">
                <a:solidFill>
                  <a:schemeClr val="lt1"/>
                </a:solidFill>
              </a:rPr>
              <a:t> – </a:t>
            </a:r>
            <a:r>
              <a:rPr i="1" lang="en" sz="1100">
                <a:solidFill>
                  <a:schemeClr val="lt1"/>
                </a:solidFill>
              </a:rPr>
              <a:t>Luke 19:11-27</a:t>
            </a:r>
            <a:endParaRPr i="1" sz="11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11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Acts of the Apostles</a:t>
            </a:r>
            <a:endParaRPr/>
          </a:p>
        </p:txBody>
      </p:sp>
      <p:sp>
        <p:nvSpPr>
          <p:cNvPr id="92" name="Google Shape;92;p18"/>
          <p:cNvSpPr txBox="1"/>
          <p:nvPr/>
        </p:nvSpPr>
        <p:spPr>
          <a:xfrm>
            <a:off x="369425" y="1017725"/>
            <a:ext cx="5538000" cy="381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</a:rPr>
              <a:t>The </a:t>
            </a:r>
            <a:r>
              <a:rPr b="1" lang="en" sz="1300">
                <a:solidFill>
                  <a:srgbClr val="7F6000"/>
                </a:solidFill>
              </a:rPr>
              <a:t>Acts of the Apostles</a:t>
            </a:r>
            <a:r>
              <a:rPr lang="en" sz="1300">
                <a:solidFill>
                  <a:schemeClr val="dk1"/>
                </a:solidFill>
              </a:rPr>
              <a:t>, also written by Saint Luke, is a continuation of his Gospel. It details: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100">
                <a:solidFill>
                  <a:schemeClr val="dk1"/>
                </a:solidFill>
              </a:rPr>
              <a:t>Written by </a:t>
            </a:r>
            <a:r>
              <a:rPr b="1" lang="en" sz="1100">
                <a:solidFill>
                  <a:schemeClr val="dk1"/>
                </a:solidFill>
              </a:rPr>
              <a:t>St. Luke</a:t>
            </a:r>
            <a:r>
              <a:rPr lang="en" sz="1100">
                <a:solidFill>
                  <a:schemeClr val="dk1"/>
                </a:solidFill>
              </a:rPr>
              <a:t>, the book of Acts provides a detailed account of the </a:t>
            </a:r>
            <a:r>
              <a:rPr b="1" lang="en" sz="1100">
                <a:solidFill>
                  <a:schemeClr val="dk1"/>
                </a:solidFill>
              </a:rPr>
              <a:t>Great Commission</a:t>
            </a:r>
            <a:r>
              <a:rPr lang="en" sz="1100">
                <a:solidFill>
                  <a:schemeClr val="dk1"/>
                </a:solidFill>
              </a:rPr>
              <a:t>, where Jesus commands His disciples to spread the Gospel to the world.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100">
                <a:solidFill>
                  <a:schemeClr val="dk1"/>
                </a:solidFill>
              </a:rPr>
              <a:t>Luke, a </a:t>
            </a:r>
            <a:r>
              <a:rPr b="1" lang="en" sz="1100">
                <a:solidFill>
                  <a:schemeClr val="dk1"/>
                </a:solidFill>
              </a:rPr>
              <a:t>close companion of St. Paul</a:t>
            </a:r>
            <a:r>
              <a:rPr lang="en" sz="1100">
                <a:solidFill>
                  <a:schemeClr val="dk1"/>
                </a:solidFill>
              </a:rPr>
              <a:t>, was an </a:t>
            </a:r>
            <a:r>
              <a:rPr b="1" lang="en" sz="1100">
                <a:solidFill>
                  <a:schemeClr val="dk1"/>
                </a:solidFill>
              </a:rPr>
              <a:t>eyewitness</a:t>
            </a:r>
            <a:r>
              <a:rPr lang="en" sz="1100">
                <a:solidFill>
                  <a:schemeClr val="dk1"/>
                </a:solidFill>
              </a:rPr>
              <a:t> to events in </a:t>
            </a:r>
            <a:r>
              <a:rPr b="1" lang="en" sz="1100">
                <a:solidFill>
                  <a:srgbClr val="BF9000"/>
                </a:solidFill>
              </a:rPr>
              <a:t>Acts 13-28</a:t>
            </a:r>
            <a:r>
              <a:rPr lang="en" sz="1100">
                <a:solidFill>
                  <a:srgbClr val="BF9000"/>
                </a:solidFill>
              </a:rPr>
              <a:t>,</a:t>
            </a:r>
            <a:r>
              <a:rPr lang="en" sz="1100">
                <a:solidFill>
                  <a:schemeClr val="dk1"/>
                </a:solidFill>
              </a:rPr>
              <a:t> accompanying Paul on many of his missionary journeys.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100">
                <a:solidFill>
                  <a:schemeClr val="dk1"/>
                </a:solidFill>
              </a:rPr>
              <a:t>For </a:t>
            </a:r>
            <a:r>
              <a:rPr b="1" lang="en" sz="1100">
                <a:solidFill>
                  <a:srgbClr val="7F6000"/>
                </a:solidFill>
              </a:rPr>
              <a:t>Acts 1-12</a:t>
            </a:r>
            <a:r>
              <a:rPr lang="en" sz="1100">
                <a:solidFill>
                  <a:srgbClr val="7F6000"/>
                </a:solidFill>
              </a:rPr>
              <a:t>,</a:t>
            </a:r>
            <a:r>
              <a:rPr lang="en" sz="1100">
                <a:solidFill>
                  <a:schemeClr val="dk1"/>
                </a:solidFill>
              </a:rPr>
              <a:t> he likely interviewed key figures such as </a:t>
            </a:r>
            <a:r>
              <a:rPr b="1" lang="en" sz="1100">
                <a:solidFill>
                  <a:schemeClr val="dk1"/>
                </a:solidFill>
              </a:rPr>
              <a:t>St. Peter and St. John</a:t>
            </a:r>
            <a:r>
              <a:rPr lang="en" sz="1100">
                <a:solidFill>
                  <a:schemeClr val="dk1"/>
                </a:solidFill>
              </a:rPr>
              <a:t> to document the early Church’s growth.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100">
                <a:solidFill>
                  <a:schemeClr val="dk1"/>
                </a:solidFill>
              </a:rPr>
              <a:t>Acts was written between </a:t>
            </a:r>
            <a:r>
              <a:rPr b="1" lang="en" sz="1100">
                <a:solidFill>
                  <a:schemeClr val="dk1"/>
                </a:solidFill>
              </a:rPr>
              <a:t>62 AD and the mid-2nd century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100">
                <a:solidFill>
                  <a:schemeClr val="dk1"/>
                </a:solidFill>
              </a:rPr>
              <a:t>Both the </a:t>
            </a:r>
            <a:r>
              <a:rPr b="1" lang="en" sz="1100">
                <a:solidFill>
                  <a:schemeClr val="dk1"/>
                </a:solidFill>
              </a:rPr>
              <a:t>Gospel of Luke</a:t>
            </a:r>
            <a:r>
              <a:rPr lang="en" sz="1100">
                <a:solidFill>
                  <a:schemeClr val="dk1"/>
                </a:solidFill>
              </a:rPr>
              <a:t> and </a:t>
            </a:r>
            <a:r>
              <a:rPr b="1" lang="en" sz="1100">
                <a:solidFill>
                  <a:schemeClr val="dk1"/>
                </a:solidFill>
              </a:rPr>
              <a:t>Acts</a:t>
            </a:r>
            <a:r>
              <a:rPr lang="en" sz="1100">
                <a:solidFill>
                  <a:schemeClr val="dk1"/>
                </a:solidFill>
              </a:rPr>
              <a:t> were addressed to </a:t>
            </a:r>
            <a:r>
              <a:rPr b="1" lang="en" sz="1100">
                <a:solidFill>
                  <a:schemeClr val="dk1"/>
                </a:solidFill>
              </a:rPr>
              <a:t>Theophilus</a:t>
            </a:r>
            <a:r>
              <a:rPr lang="en" sz="1100">
                <a:solidFill>
                  <a:schemeClr val="dk1"/>
                </a:solidFill>
              </a:rPr>
              <a:t>, a Gentile, showing Luke’s intent to present a well-researched, orderly account of Christianity’s beginnings </a:t>
            </a:r>
            <a:r>
              <a:rPr lang="en" sz="1100">
                <a:solidFill>
                  <a:srgbClr val="7F6000"/>
                </a:solidFill>
              </a:rPr>
              <a:t>(</a:t>
            </a:r>
            <a:r>
              <a:rPr b="1" lang="en" sz="1100">
                <a:solidFill>
                  <a:srgbClr val="7F6000"/>
                </a:solidFill>
              </a:rPr>
              <a:t>Acts 1:1</a:t>
            </a:r>
            <a:r>
              <a:rPr lang="en" sz="1100">
                <a:solidFill>
                  <a:srgbClr val="7F6000"/>
                </a:solidFill>
              </a:rPr>
              <a:t>).</a:t>
            </a:r>
            <a:endParaRPr sz="1300">
              <a:solidFill>
                <a:srgbClr val="7F6000"/>
              </a:solidFill>
            </a:endParaRPr>
          </a:p>
        </p:txBody>
      </p:sp>
      <p:pic>
        <p:nvPicPr>
          <p:cNvPr id="93" name="Google Shape;93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32500" y="1588950"/>
            <a:ext cx="2949475" cy="2668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/>
              <a:t>The Martyrdom of St. Luke</a:t>
            </a:r>
            <a:endParaRPr sz="2500"/>
          </a:p>
        </p:txBody>
      </p:sp>
      <p:sp>
        <p:nvSpPr>
          <p:cNvPr id="99" name="Google Shape;99;p19"/>
          <p:cNvSpPr/>
          <p:nvPr/>
        </p:nvSpPr>
        <p:spPr>
          <a:xfrm>
            <a:off x="860075" y="1450975"/>
            <a:ext cx="1828800" cy="1463100"/>
          </a:xfrm>
          <a:prstGeom prst="rect">
            <a:avLst/>
          </a:prstGeom>
          <a:solidFill>
            <a:schemeClr val="dk1"/>
          </a:solidFill>
          <a:ln cap="flat" cmpd="sng" w="76200">
            <a:solidFill>
              <a:srgbClr val="7F6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/>
              <a:t>After the martyrdom of St. Peter and St. Paul, St. Luke continued preaching in Rome, leading many to Christ.</a:t>
            </a:r>
            <a:endParaRPr b="1" sz="1000"/>
          </a:p>
        </p:txBody>
      </p:sp>
      <p:sp>
        <p:nvSpPr>
          <p:cNvPr id="100" name="Google Shape;100;p19"/>
          <p:cNvSpPr/>
          <p:nvPr/>
        </p:nvSpPr>
        <p:spPr>
          <a:xfrm>
            <a:off x="3603875" y="1450963"/>
            <a:ext cx="1828800" cy="1463100"/>
          </a:xfrm>
          <a:prstGeom prst="rect">
            <a:avLst/>
          </a:prstGeom>
          <a:solidFill>
            <a:srgbClr val="FFF2CC"/>
          </a:solidFill>
          <a:ln cap="flat" cmpd="sng" w="762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/>
              <a:t>Idol worshippers and non-believing Jews reported him to Emperor Nero, leading to his imprisonment.</a:t>
            </a:r>
            <a:endParaRPr b="1" sz="1000"/>
          </a:p>
        </p:txBody>
      </p:sp>
      <p:sp>
        <p:nvSpPr>
          <p:cNvPr id="101" name="Google Shape;101;p19"/>
          <p:cNvSpPr/>
          <p:nvPr/>
        </p:nvSpPr>
        <p:spPr>
          <a:xfrm>
            <a:off x="6347675" y="1450975"/>
            <a:ext cx="1828800" cy="1463100"/>
          </a:xfrm>
          <a:prstGeom prst="rect">
            <a:avLst/>
          </a:prstGeom>
          <a:solidFill>
            <a:schemeClr val="dk1"/>
          </a:solidFill>
          <a:ln cap="flat" cmpd="sng" w="76200">
            <a:solidFill>
              <a:srgbClr val="7F6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/>
              <a:t>Before his capture, he entrusted his writings to a fisherman, saying they would lead him to God’s way.</a:t>
            </a:r>
            <a:endParaRPr b="1" sz="1000"/>
          </a:p>
        </p:txBody>
      </p:sp>
      <p:sp>
        <p:nvSpPr>
          <p:cNvPr id="102" name="Google Shape;102;p19"/>
          <p:cNvSpPr/>
          <p:nvPr/>
        </p:nvSpPr>
        <p:spPr>
          <a:xfrm>
            <a:off x="895650" y="3308200"/>
            <a:ext cx="1828800" cy="1463100"/>
          </a:xfrm>
          <a:prstGeom prst="rect">
            <a:avLst/>
          </a:prstGeom>
          <a:solidFill>
            <a:srgbClr val="FFF2CC"/>
          </a:solidFill>
          <a:ln cap="flat" cmpd="sng" w="762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/>
              <a:t>Nero ordered Luke’s hand severed, but he miraculously reattached it and then separated it again, leading 276 people, including the Emperor’s cabinet head and wife, to believe in Christ.</a:t>
            </a:r>
            <a:endParaRPr b="1" sz="1000"/>
          </a:p>
        </p:txBody>
      </p:sp>
      <p:sp>
        <p:nvSpPr>
          <p:cNvPr id="103" name="Google Shape;103;p19"/>
          <p:cNvSpPr/>
          <p:nvPr/>
        </p:nvSpPr>
        <p:spPr>
          <a:xfrm>
            <a:off x="3615738" y="3308200"/>
            <a:ext cx="1828800" cy="1463100"/>
          </a:xfrm>
          <a:prstGeom prst="rect">
            <a:avLst/>
          </a:prstGeom>
          <a:solidFill>
            <a:schemeClr val="dk1"/>
          </a:solidFill>
          <a:ln cap="flat" cmpd="sng" w="76200">
            <a:solidFill>
              <a:srgbClr val="7F6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/>
              <a:t>Enraged, Nero ordered St. Luke and the new converts to be beheaded, granting him the crown of martyrdom on 22nd Tahisas (December 31).</a:t>
            </a:r>
            <a:endParaRPr b="1" sz="1000"/>
          </a:p>
        </p:txBody>
      </p:sp>
      <p:sp>
        <p:nvSpPr>
          <p:cNvPr id="104" name="Google Shape;104;p19"/>
          <p:cNvSpPr/>
          <p:nvPr/>
        </p:nvSpPr>
        <p:spPr>
          <a:xfrm>
            <a:off x="6371425" y="3308200"/>
            <a:ext cx="1828800" cy="1463100"/>
          </a:xfrm>
          <a:prstGeom prst="rect">
            <a:avLst/>
          </a:prstGeom>
          <a:solidFill>
            <a:srgbClr val="FFF2CC"/>
          </a:solidFill>
          <a:ln cap="flat" cmpd="sng" w="762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/>
              <a:t>His body was thrown into the sea in a sack but was later found and buried with great honor on an island by a believer.</a:t>
            </a:r>
            <a:endParaRPr b="1" sz="10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100"/>
          </a:p>
        </p:txBody>
      </p:sp>
      <p:sp>
        <p:nvSpPr>
          <p:cNvPr id="105" name="Google Shape;105;p19"/>
          <p:cNvSpPr/>
          <p:nvPr/>
        </p:nvSpPr>
        <p:spPr>
          <a:xfrm>
            <a:off x="2941925" y="1984975"/>
            <a:ext cx="408900" cy="2790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19"/>
          <p:cNvSpPr/>
          <p:nvPr/>
        </p:nvSpPr>
        <p:spPr>
          <a:xfrm>
            <a:off x="5685725" y="1984975"/>
            <a:ext cx="408900" cy="2790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9"/>
          <p:cNvSpPr/>
          <p:nvPr/>
        </p:nvSpPr>
        <p:spPr>
          <a:xfrm>
            <a:off x="2965650" y="3765225"/>
            <a:ext cx="408900" cy="2790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19"/>
          <p:cNvSpPr/>
          <p:nvPr/>
        </p:nvSpPr>
        <p:spPr>
          <a:xfrm>
            <a:off x="5685725" y="3765225"/>
            <a:ext cx="408900" cy="2790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09" name="Google Shape;109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09700" y="84113"/>
            <a:ext cx="972725" cy="972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