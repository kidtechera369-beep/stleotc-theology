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prayer. Ask: What is salvation actually FOR? What is God saving us into?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70432"/>
            <a:ext cx="10360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Theosis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Becoming Partakers of the Divine Nature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2852928"/>
            <a:ext cx="10360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Dn. Yonnas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255264"/>
            <a:ext cx="10360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Orthodox salvation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377440" y="3794760"/>
            <a:ext cx="7434072" cy="868680"/>
          </a:xfrm>
          <a:prstGeom prst="roundRect">
            <a:avLst>
              <a:gd name="adj" fmla="val 13684"/>
            </a:avLst>
          </a:prstGeom>
          <a:solidFill>
            <a:srgbClr val="F4E4BC">
              <a:alpha val="95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0" y="3886200"/>
            <a:ext cx="7251192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3877056"/>
            <a:ext cx="7068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Verse:  </a:t>
            </a:r>
            <a:pPr algn="ctr" indent="0" marL="0">
              <a:buNone/>
            </a:pPr>
            <a:r>
              <a:rPr lang="en-US" sz="1600" i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“...that through these you may be partakers of the divine nature.” — 2 Peter 1:4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Learn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8992" y="1463040"/>
            <a:ext cx="10030968" cy="3200400"/>
          </a:xfrm>
          <a:prstGeom prst="roundRect">
            <a:avLst>
              <a:gd name="adj" fmla="val 3714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0432" y="1554480"/>
            <a:ext cx="9848088" cy="3017520"/>
          </a:xfrm>
          <a:prstGeom prst="roundRect">
            <a:avLst>
              <a:gd name="adj" fmla="val 3030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17320" y="192938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737360"/>
            <a:ext cx="893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(deification) accurately —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partaking of the divine nature by grace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 rot="2700000">
            <a:off x="1417320" y="245973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267712"/>
            <a:ext cx="893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grounded in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 our own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Alexandrian Fathers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 rot="2700000">
            <a:off x="1417320" y="299008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798064"/>
            <a:ext cx="893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guardrail: we are united to God </a:t>
            </a:r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grace, never by essence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 rot="2700000">
            <a:off x="1417320" y="352044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328416"/>
            <a:ext cx="893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theosis happens — through the Incarnation, the Holy Mysteries, and a life of struggle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 rot="2700000">
            <a:off x="1417320" y="405079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858768"/>
            <a:ext cx="8933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moved to pursue the true goal of the Christian life: </a:t>
            </a:r>
            <a:pPr algn="l" indent="0" marL="0">
              <a:buNone/>
            </a:pPr>
            <a:r>
              <a:rPr lang="en-US" sz="16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with God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Behind Everything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define the word, sit with the question: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2615184"/>
          </a:xfrm>
          <a:prstGeom prst="roundRect">
            <a:avLst>
              <a:gd name="adj" fmla="val 4545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432304"/>
          </a:xfrm>
          <a:prstGeom prst="roundRect">
            <a:avLst>
              <a:gd name="adj" fmla="val 3759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05054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think salvation just means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“going to heaven when I die”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“getting my sins forgiven”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56717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382012"/>
            <a:ext cx="8933688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forgiveness is the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goal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08381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898648"/>
            <a:ext cx="8933688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Fathers ask a bigger question: </a:t>
            </a:r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God saving us INTO?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 rot="2700000">
            <a:off x="1417320" y="360045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415284"/>
            <a:ext cx="8933688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stunning: </a:t>
            </a:r>
            <a:pPr algn="l" indent="0" marL="0">
              <a:buNone/>
            </a:pPr>
            <a:r>
              <a:rPr lang="en-US" sz="16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with God Himself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share His life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44752" y="4315968"/>
            <a:ext cx="9299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most beautiful — and most Orthodox — answer to “why did Christ come?”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Theosis?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8992" y="1463040"/>
            <a:ext cx="10030968" cy="2011680"/>
          </a:xfrm>
          <a:prstGeom prst="roundRect">
            <a:avLst>
              <a:gd name="adj" fmla="val 5909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0432" y="1554480"/>
            <a:ext cx="9848088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17320" y="184708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737360"/>
            <a:ext cx="8933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(Greek 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also called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deification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divinization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 rot="2700000">
            <a:off x="1417320" y="221284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103120"/>
            <a:ext cx="8933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means: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partaking of the divine nature by grace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Peter 1:4)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 rot="2700000">
            <a:off x="1417320" y="257860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468880"/>
            <a:ext cx="8933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become, by grace, what God is by nature —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holy, immortal, and full of light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 rot="2700000">
            <a:off x="1417320" y="294436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834640"/>
            <a:ext cx="8933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become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of God by grace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temples of the Holy Spirit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are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to the image of God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353312" y="3566160"/>
            <a:ext cx="9482328" cy="932688"/>
          </a:xfrm>
          <a:prstGeom prst="roundRect">
            <a:avLst>
              <a:gd name="adj" fmla="val 12745"/>
            </a:avLst>
          </a:prstGeom>
          <a:solidFill>
            <a:srgbClr val="F4E4BC">
              <a:alpha val="95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44752" y="3657600"/>
            <a:ext cx="9299448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3712464"/>
            <a:ext cx="8750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“...that through these you may be partakers of the divine nature.”</a:t>
            </a:r>
            <a:endParaRPr lang="en-US" sz="1800" dirty="0"/>
          </a:p>
          <a:p>
            <a:pPr algn="r" indent="0" marL="0">
              <a:buNone/>
            </a:pPr>
            <a:r>
              <a:rPr lang="en-US" sz="14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Peter 1:4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Exchange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Fathers summed up the whole Gospel in one line: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353312" y="1591056"/>
            <a:ext cx="9482328" cy="932688"/>
          </a:xfrm>
          <a:prstGeom prst="roundRect">
            <a:avLst>
              <a:gd name="adj" fmla="val 12745"/>
            </a:avLst>
          </a:prstGeom>
          <a:solidFill>
            <a:srgbClr val="F4E4BC">
              <a:alpha val="95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1682496"/>
            <a:ext cx="9299448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19072" y="1737360"/>
            <a:ext cx="8750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 He was made man that we might be made God.”</a:t>
            </a:r>
            <a:endParaRPr lang="en-US" sz="2000" dirty="0"/>
          </a:p>
          <a:p>
            <a:pPr algn="r" indent="0" marL="0">
              <a:buNone/>
            </a:pPr>
            <a:r>
              <a:rPr lang="en-US" sz="14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St. Athanasius, On the Incarnation §54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78992" y="2724912"/>
            <a:ext cx="10030968" cy="1828800"/>
          </a:xfrm>
          <a:prstGeom prst="roundRect">
            <a:avLst>
              <a:gd name="adj" fmla="val 6500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70432" y="2816352"/>
            <a:ext cx="9848088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1417320" y="313944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999232"/>
            <a:ext cx="893368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the Son took our </a:t>
            </a:r>
            <a:pPr algn="l" indent="0" marL="0">
              <a:buNone/>
            </a:pPr>
            <a:r>
              <a:rPr lang="en-US" sz="18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humanity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that we could share His </a:t>
            </a:r>
            <a:pPr algn="l" indent="0" marL="0">
              <a:buNone/>
            </a:pPr>
            <a:r>
              <a:rPr lang="en-US" sz="18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life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 rot="2700000">
            <a:off x="1417320" y="356616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425952"/>
            <a:ext cx="893368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</a:t>
            </a:r>
            <a:pPr algn="l"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exchange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 becomes what we are, to make us what He is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rot="2700000">
            <a:off x="1417320" y="399288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852672"/>
            <a:ext cx="893368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Salvation is not just a legal pardon — it is </a:t>
            </a:r>
            <a:pPr algn="l" indent="0" marL="0">
              <a:buNone/>
            </a:pPr>
            <a:r>
              <a:rPr lang="en-US" sz="18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lifting man up into His own life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Rooted in Scripture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 is not speculation — it is written across the New Testament: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3072384"/>
          </a:xfrm>
          <a:prstGeom prst="roundRect">
            <a:avLst>
              <a:gd name="adj" fmla="val 3869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889504"/>
          </a:xfrm>
          <a:prstGeom prst="roundRect">
            <a:avLst>
              <a:gd name="adj" fmla="val 3165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04459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Peter 1:4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“partakers of the divine nature”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549347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370125"/>
            <a:ext cx="8933688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1:12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all who received Him He gave the right to become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of God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05409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874874"/>
            <a:ext cx="8933688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Romans 8:29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be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to the image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His Son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 rot="2700000">
            <a:off x="1417320" y="3558845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379622"/>
            <a:ext cx="8933688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John 3:2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“we shall be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Him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we shall see Him as He is”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 rot="2700000">
            <a:off x="1417320" y="406359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884371"/>
            <a:ext cx="8933688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17:21–23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“that they may be one, as We are one”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Own Fathers Taught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ancient faith of the Alexandrian and pre-Chalcedonian Fathers — our patrimony: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3072384"/>
          </a:xfrm>
          <a:prstGeom prst="roundRect">
            <a:avLst>
              <a:gd name="adj" fmla="val 3869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889504"/>
          </a:xfrm>
          <a:prstGeom prst="roundRect">
            <a:avLst>
              <a:gd name="adj" fmla="val 3165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21284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Irenaeus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(2nd c.): the Word “became what we are, that He might bring us to be even what He is Himself” (Against Heresies V)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305409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706624"/>
            <a:ext cx="8933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Athanasius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Alexandria: “He was made man that we might be made God” (On the Incarnation §54)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89534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547872"/>
            <a:ext cx="8933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Cyril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Alexandria: those “united to Christ in a true manner... are </a:t>
            </a:r>
            <a:pPr algn="l" indent="0" marL="0">
              <a:buNone/>
            </a:pPr>
            <a:r>
              <a:rPr lang="en-US" sz="17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partakers in His nature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(Commentary on John)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Ethiopian Connection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doctrine is not borrowed — it is woven into our own founding: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2487168"/>
          </a:xfrm>
          <a:prstGeom prst="roundRect">
            <a:avLst>
              <a:gd name="adj" fmla="val 4779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304288"/>
          </a:xfrm>
          <a:prstGeom prst="roundRect">
            <a:avLst>
              <a:gd name="adj" fmla="val 3968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11531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Athanasius of Alexandria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great teacher of theosis — is the very bishop who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consecrated St. Frumentius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Selama, “Kesate Birhan”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as the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bishop of Ethiopia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(4th century)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76148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511552"/>
            <a:ext cx="893368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father who taught “God became man that man might become god”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the faith to our land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40766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157728"/>
            <a:ext cx="8933688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Ethiopian Tewahedo Church has carried this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Alexandrian faith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 since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44752" y="4133088"/>
            <a:ext cx="9299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Church has taught theosis from its very first bishop.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Incarnation Makes It Possible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 rests entirely on who Christ is: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3072384"/>
          </a:xfrm>
          <a:prstGeom prst="roundRect">
            <a:avLst>
              <a:gd name="adj" fmla="val 3869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889504"/>
          </a:xfrm>
          <a:prstGeom prst="roundRect">
            <a:avLst>
              <a:gd name="adj" fmla="val 3165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10769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Christ, God the Word truly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man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fully God and fully man, united in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incarnate nature, without mixture, without separation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73862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496312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Him, our human nature is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healed and joined to God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36956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127248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our humanity is united to divinity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Christ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 can be united to God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Him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 rot="2700000">
            <a:off x="1417320" y="400050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758184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Incarnation, no theosis.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why the Tewahedo confession of Christ matters so much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Guardrail: By Grace, Not by Essence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point we must never blur: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3072384"/>
          </a:xfrm>
          <a:prstGeom prst="roundRect">
            <a:avLst>
              <a:gd name="adj" fmla="val 3869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889504"/>
          </a:xfrm>
          <a:prstGeom prst="roundRect">
            <a:avLst>
              <a:gd name="adj" fmla="val 3165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10769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become god </a:t>
            </a:r>
            <a:pPr algn="l" indent="0" marL="0">
              <a:buNone/>
            </a:pPr>
            <a:r>
              <a:rPr lang="en-US" sz="16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grace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do </a:t>
            </a:r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 God </a:t>
            </a:r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nature or essence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73862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496312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Cyril: “being men we are called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gods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as the true God... but as God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willed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(Fragment on Psalm 82)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36956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127248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6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Creator–creature distinction remains forever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are always creatures, always dependent on grace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 rot="2700000">
            <a:off x="1417320" y="400050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758184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</a:t>
            </a:r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absorbed into God, and we do </a:t>
            </a:r>
            <a:pPr algn="l" indent="0" marL="0">
              <a:buNone/>
            </a:pPr>
            <a:r>
              <a:rPr lang="en-US" sz="16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 “uncreated”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Picture: Iron in the Fire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image the Fathers loved: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2578608"/>
          </a:xfrm>
          <a:prstGeom prst="roundRect">
            <a:avLst>
              <a:gd name="adj" fmla="val 4610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395728"/>
          </a:xfrm>
          <a:prstGeom prst="roundRect">
            <a:avLst>
              <a:gd name="adj" fmla="val 3817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04597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piece of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55346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372868"/>
            <a:ext cx="8933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begins to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takes on the fire’s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and light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06095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880360"/>
            <a:ext cx="8933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it never stops being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it does not become fire by nature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1417320" y="356844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387852"/>
            <a:ext cx="8933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soul united to God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shines with His life and grace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yet remains a </a:t>
            </a:r>
            <a:pPr algn="l" indent="0" marL="0">
              <a:buNone/>
            </a:pPr>
            <a:r>
              <a:rPr lang="en-US" sz="17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creature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44752" y="4242816"/>
            <a:ext cx="9299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theosis: filled with God, transformed by God, yet never ceasing to be ourselves.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and Likeness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8992" y="1481328"/>
            <a:ext cx="10030968" cy="3182112"/>
          </a:xfrm>
          <a:prstGeom prst="roundRect">
            <a:avLst>
              <a:gd name="adj" fmla="val 3736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0432" y="1572768"/>
            <a:ext cx="9848088" cy="2999232"/>
          </a:xfrm>
          <a:prstGeom prst="roundRect">
            <a:avLst>
              <a:gd name="adj" fmla="val 3049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17320" y="201168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755648"/>
            <a:ext cx="8933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creation, God made man </a:t>
            </a:r>
            <a:pPr algn="l" indent="0" marL="0">
              <a:buNone/>
            </a:pPr>
            <a:r>
              <a:rPr lang="en-US" sz="17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His image and likeness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(Genesis 1:26)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 rot="2700000">
            <a:off x="1417320" y="267004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414016"/>
            <a:ext cx="8933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reason, freedom, the call to God — was </a:t>
            </a:r>
            <a:pPr algn="l" indent="0" marL="0">
              <a:buNone/>
            </a:pPr>
            <a:r>
              <a:rPr lang="en-US" sz="17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wounded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sin, never erased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 rot="2700000">
            <a:off x="1417320" y="332841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072384"/>
            <a:ext cx="8933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likeness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actual holiness, becoming like God — is what we grow into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 rot="2700000">
            <a:off x="1417320" y="398678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730752"/>
            <a:ext cx="8933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 is the </a:t>
            </a:r>
            <a:pPr algn="l" indent="0" marL="0">
              <a:buNone/>
            </a:pPr>
            <a:r>
              <a:rPr lang="en-US" sz="17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of the image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pPr algn="l" indent="0" marL="0">
              <a:buNone/>
            </a:pPr>
            <a:r>
              <a:rPr lang="en-US" sz="17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toward His likeness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becoming truly like Christ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Happens (1): New Birth in the Mysteries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 is not an idea to admire — it is a life we enter through the Church: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2651760"/>
          </a:xfrm>
          <a:prstGeom prst="roundRect">
            <a:avLst>
              <a:gd name="adj" fmla="val 4483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468880"/>
          </a:xfrm>
          <a:prstGeom prst="roundRect">
            <a:avLst>
              <a:gd name="adj" fmla="val 3704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14274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Baptism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are </a:t>
            </a:r>
            <a:pPr algn="l" indent="0" marL="0">
              <a:buNone/>
            </a:pPr>
            <a:r>
              <a:rPr lang="en-US" sz="18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again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buried and raised with Christ, and made </a:t>
            </a:r>
            <a:pPr algn="l" indent="0" marL="0">
              <a:buNone/>
            </a:pPr>
            <a:r>
              <a:rPr lang="en-US" sz="18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of God by grace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84378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566416"/>
            <a:ext cx="8933688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Chrismation (Meron)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receive the </a:t>
            </a:r>
            <a:pPr algn="l" indent="0" marL="0">
              <a:buNone/>
            </a:pPr>
            <a:r>
              <a:rPr lang="en-US" sz="18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indwelling Holy Spirit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becoming His </a:t>
            </a:r>
            <a:pPr algn="l" indent="0" marL="0">
              <a:buNone/>
            </a:pPr>
            <a:r>
              <a:rPr lang="en-US" sz="18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Corinthians 6:19)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54482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267456"/>
            <a:ext cx="8933688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divine life is </a:t>
            </a:r>
            <a:pPr algn="l" indent="0" marL="0">
              <a:buNone/>
            </a:pPr>
            <a:r>
              <a:rPr lang="en-US" sz="18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us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Happens (2): The Eucharist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Holy Qurban is the very center of theosis: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72768"/>
            <a:ext cx="10030968" cy="2011680"/>
          </a:xfrm>
          <a:prstGeom prst="roundRect">
            <a:avLst>
              <a:gd name="adj" fmla="val 5909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64208"/>
            <a:ext cx="9848088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01777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47088"/>
            <a:ext cx="893368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Communion we truly </a:t>
            </a:r>
            <a:pPr algn="l" indent="0" marL="0">
              <a:buNone/>
            </a:pPr>
            <a:r>
              <a:rPr lang="en-US" sz="16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partake of the Body and Blood of Christ</a:t>
            </a:r>
            <a:pPr algn="l" indent="0" marL="0">
              <a:buNone/>
            </a:pPr>
            <a:r>
              <a:rPr lang="en-US" sz="16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 union with Him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50545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334768"/>
            <a:ext cx="893368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6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Liturgy of St. Gregory</a:t>
            </a:r>
            <a:pPr algn="l" indent="0" marL="0">
              <a:buNone/>
            </a:pPr>
            <a:r>
              <a:rPr lang="en-US" sz="16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proclaims of the risen Christ: “You ascended to the heavens bodily, while You </a:t>
            </a:r>
            <a:pPr algn="l" indent="0" marL="0">
              <a:buNone/>
            </a:pPr>
            <a:r>
              <a:rPr lang="en-US" sz="16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all with Your divinity</a:t>
            </a:r>
            <a:pPr algn="l" indent="0" marL="0">
              <a:buNone/>
            </a:pPr>
            <a:r>
              <a:rPr lang="en-US" sz="16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299313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822448"/>
            <a:ext cx="893368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receive, we are called to </a:t>
            </a:r>
            <a:pPr algn="l" indent="0" marL="0">
              <a:buNone/>
            </a:pPr>
            <a:r>
              <a:rPr lang="en-US" sz="16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</a:t>
            </a:r>
            <a:pPr algn="l" indent="0" marL="0">
              <a:buNone/>
            </a:pPr>
            <a:r>
              <a:rPr lang="en-US" sz="16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Christ living in us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53312" y="3657600"/>
            <a:ext cx="9482328" cy="896112"/>
          </a:xfrm>
          <a:prstGeom prst="roundRect">
            <a:avLst>
              <a:gd name="adj" fmla="val 13265"/>
            </a:avLst>
          </a:prstGeom>
          <a:solidFill>
            <a:srgbClr val="F4E4BC">
              <a:alpha val="95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44752" y="3749040"/>
            <a:ext cx="9299448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3803904"/>
            <a:ext cx="8750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 who eats My flesh and drinks My blood abides in Me, and I in him.”</a:t>
            </a:r>
            <a:endParaRPr lang="en-US" sz="1800" dirty="0"/>
          </a:p>
          <a:p>
            <a:pPr algn="r" indent="0" marL="0">
              <a:buNone/>
            </a:pPr>
            <a:r>
              <a:rPr lang="en-US" sz="14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John 6:56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Happens (3): The Daily Struggle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works with our effort — this cooperation is called synergy: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2578608"/>
          </a:xfrm>
          <a:prstGeom prst="roundRect">
            <a:avLst>
              <a:gd name="adj" fmla="val 4610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395728"/>
          </a:xfrm>
          <a:prstGeom prst="roundRect">
            <a:avLst>
              <a:gd name="adj" fmla="val 3817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04597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communion with God through the day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55346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372868"/>
            <a:ext cx="8933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and repentance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cleansing the heart to make room for God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06095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880360"/>
            <a:ext cx="8933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commandments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and, above all, </a:t>
            </a:r>
            <a:pPr algn="l" indent="0" marL="0">
              <a:buNone/>
            </a:pPr>
            <a:r>
              <a:rPr lang="en-US" sz="17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1417320" y="356844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387852"/>
            <a:ext cx="8933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ascetic and liturgical life of the Church is the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of theosis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44752" y="4242816"/>
            <a:ext cx="9299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 does the saving; we open the door and walk the road.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Glory to Come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 begins now but is completed in the age to come: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91056"/>
            <a:ext cx="10030968" cy="3072384"/>
          </a:xfrm>
          <a:prstGeom prst="roundRect">
            <a:avLst>
              <a:gd name="adj" fmla="val 3869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82496"/>
            <a:ext cx="9848088" cy="2889504"/>
          </a:xfrm>
          <a:prstGeom prst="roundRect">
            <a:avLst>
              <a:gd name="adj" fmla="val 3165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210769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65376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resurrection we will share Christ’s </a:t>
            </a:r>
            <a:pPr algn="l" indent="0" marL="0">
              <a:buNone/>
            </a:pPr>
            <a:r>
              <a:rPr lang="en-US" sz="17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incorruptibility and glory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73862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496312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shall be </a:t>
            </a:r>
            <a:pPr algn="l" indent="0" marL="0">
              <a:buNone/>
            </a:pPr>
            <a:r>
              <a:rPr lang="en-US" sz="17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Him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we shall see Him as He is” (1 John 3:2)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3369564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127248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fully </a:t>
            </a:r>
            <a:pPr algn="l" indent="0" marL="0">
              <a:buNone/>
            </a:pPr>
            <a:r>
              <a:rPr lang="en-US" sz="17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image of His Son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(Romans 8:29)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 rot="2700000">
            <a:off x="1417320" y="4000500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758184"/>
            <a:ext cx="8933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Christian’s true hope: </a:t>
            </a:r>
            <a:pPr algn="l" indent="0" marL="0">
              <a:buNone/>
            </a:pPr>
            <a:r>
              <a:rPr lang="en-US" sz="17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eternal, deified life with God</a:t>
            </a:r>
            <a:pPr algn="l" indent="0" marL="0">
              <a:buNone/>
            </a:pPr>
            <a:r>
              <a:rPr lang="en-US" sz="17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 glorified creatures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Living the Lesson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16152" y="1225296"/>
            <a:ext cx="975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 — students, families, servants of the Church: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78992" y="1572768"/>
            <a:ext cx="10030968" cy="1810512"/>
          </a:xfrm>
          <a:prstGeom prst="roundRect">
            <a:avLst>
              <a:gd name="adj" fmla="val 6566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664208"/>
            <a:ext cx="9848088" cy="1627632"/>
          </a:xfrm>
          <a:prstGeom prst="roundRect">
            <a:avLst>
              <a:gd name="adj" fmla="val 5618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417320" y="198424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47088"/>
            <a:ext cx="8933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see my faith as merely </a:t>
            </a:r>
            <a:pPr algn="l" indent="0" marL="0">
              <a:buNone/>
            </a:pPr>
            <a:r>
              <a:rPr lang="en-US" sz="17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“rules,”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as a real </a:t>
            </a:r>
            <a:pPr algn="l" indent="0" marL="0">
              <a:buNone/>
            </a:pPr>
            <a:r>
              <a:rPr lang="en-US" sz="17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into God’s life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2700000">
            <a:off x="1417320" y="240487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267712"/>
            <a:ext cx="8933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using the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Mysteries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God gave me —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Confession, Communion, prayer, fasting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 the path they are?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 rot="2700000">
            <a:off x="1417320" y="282549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688336"/>
            <a:ext cx="8933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I’m tempted to give up on holiness, do I remember </a:t>
            </a:r>
            <a:pPr algn="l" indent="0" marL="0">
              <a:buNone/>
            </a:pPr>
            <a:r>
              <a:rPr lang="en-US" sz="170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being called to become</a:t>
            </a:r>
            <a:pPr algn="l" indent="0" marL="0">
              <a:buNone/>
            </a:pPr>
            <a:r>
              <a:rPr lang="en-US" sz="17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353312" y="3511296"/>
            <a:ext cx="9482328" cy="914400"/>
          </a:xfrm>
          <a:prstGeom prst="roundRect">
            <a:avLst>
              <a:gd name="adj" fmla="val 13000"/>
            </a:avLst>
          </a:prstGeom>
          <a:solidFill>
            <a:srgbClr val="EAF0E4">
              <a:alpha val="95000"/>
            </a:srgbClr>
          </a:solidFill>
          <a:ln w="28575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44752" y="3602736"/>
            <a:ext cx="9299448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1E56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3584448"/>
            <a:ext cx="87508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algn="ctr" indent="0" marL="0">
              <a:buNone/>
            </a:pPr>
            <a:r>
              <a:rPr lang="en-US" sz="1650" i="1" dirty="0">
                <a:solidFill>
                  <a:srgbClr val="332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 became man so that man might become god. This is who you were made to be — do not settle for less.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Reflection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8992" y="1463040"/>
            <a:ext cx="10030968" cy="3200400"/>
          </a:xfrm>
          <a:prstGeom prst="roundRect">
            <a:avLst>
              <a:gd name="adj" fmla="val 3714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0432" y="1554480"/>
            <a:ext cx="9848088" cy="3017520"/>
          </a:xfrm>
          <a:prstGeom prst="roundRect">
            <a:avLst>
              <a:gd name="adj" fmla="val 3030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6192" y="1737360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84832" y="1737360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“getting to heaven” too small a definition of salvation? What is the bigger goal?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36192" y="2276856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84832" y="2276856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Incarnation make theosis possible? Why does our confession of Christ matter here?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36192" y="2816352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84832" y="2816352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being god by grace and God by essence — and why does it matter?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36192" y="3355848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84832" y="3355848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iron-in-the-fire picture in your own words.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536192" y="3895344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4832" y="3895344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Mystery or practice will you approach differently after this lesson?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8992" y="1463040"/>
            <a:ext cx="10030968" cy="3200400"/>
          </a:xfrm>
          <a:prstGeom prst="roundRect">
            <a:avLst>
              <a:gd name="adj" fmla="val 3714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0432" y="1554480"/>
            <a:ext cx="9848088" cy="3017520"/>
          </a:xfrm>
          <a:prstGeom prst="roundRect">
            <a:avLst>
              <a:gd name="adj" fmla="val 3030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6192" y="1737360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84832" y="1737360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 means:  </a:t>
            </a:r>
            <a:pPr algn="l" indent="0" marL="0">
              <a:buNone/>
            </a:pPr>
            <a:r>
              <a:rPr lang="en-US" sz="1550" i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partaking of the divine nature by grace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36192" y="2276856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84832" y="2276856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He was made man that we might be made ___.” (St. Athanasius)  </a:t>
            </a:r>
            <a:pPr algn="l" indent="0" marL="0">
              <a:buNone/>
            </a:pPr>
            <a:r>
              <a:rPr lang="en-US" sz="1550" i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36192" y="2816352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84832" y="2816352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become God by essence, or by grace?  </a:t>
            </a:r>
            <a:pPr algn="l" indent="0" marL="0">
              <a:buNone/>
            </a:pPr>
            <a:r>
              <a:rPr lang="en-US" sz="1550" i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by grace — we remain creatures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36192" y="3355848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84832" y="3355848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Alexandrian father consecrated Ethiopia’s first bishop?  </a:t>
            </a:r>
            <a:pPr algn="l" indent="0" marL="0">
              <a:buNone/>
            </a:pPr>
            <a:r>
              <a:rPr lang="en-US" sz="1550" i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St. Athanasius (who consecrated St. Frumentius)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36192" y="3895344"/>
            <a:ext cx="457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4832" y="3895344"/>
            <a:ext cx="8567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Mysteries through which theosis works.  </a:t>
            </a:r>
            <a:pPr algn="l" indent="0" marL="0">
              <a:buNone/>
            </a:pPr>
            <a:r>
              <a:rPr lang="en-US" sz="1550" i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Baptism/Chrismation and the Eucharist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8992" y="1481328"/>
            <a:ext cx="10030968" cy="3182112"/>
          </a:xfrm>
          <a:prstGeom prst="roundRect">
            <a:avLst>
              <a:gd name="adj" fmla="val 3736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0432" y="1572768"/>
            <a:ext cx="9848088" cy="2999232"/>
          </a:xfrm>
          <a:prstGeom prst="roundRect">
            <a:avLst>
              <a:gd name="adj" fmla="val 3049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17320" y="1945843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755648"/>
            <a:ext cx="893368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Theosis / Deification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partaking of the divine nature by grace; union with God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 rot="2700000">
            <a:off x="1417320" y="2472538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282342"/>
            <a:ext cx="893368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Exchange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“God became man that man might become god”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2700000">
            <a:off x="1417320" y="2999232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809037"/>
            <a:ext cx="893368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grace, not by essence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are united to God, never becoming God by nature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 rot="2700000">
            <a:off x="1417320" y="3525926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335731"/>
            <a:ext cx="893368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cooperation of God’s grace with our free effort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rot="2700000">
            <a:off x="1417320" y="4052621"/>
            <a:ext cx="146304" cy="146304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862426"/>
            <a:ext cx="893368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and likeness</a:t>
            </a:r>
            <a:pPr algn="l" indent="0" marL="0">
              <a:buNone/>
            </a:pPr>
            <a:r>
              <a:rPr lang="en-US" sz="18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image restored, the likeness (Christlikeness) attained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10896"/>
            <a:ext cx="9994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3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8992" y="1463040"/>
            <a:ext cx="10030968" cy="3566160"/>
          </a:xfrm>
          <a:prstGeom prst="roundRect">
            <a:avLst>
              <a:gd name="adj" fmla="val 3333"/>
            </a:avLst>
          </a:prstGeom>
          <a:solidFill>
            <a:srgbClr val="FCF7EA">
              <a:alpha val="92000"/>
            </a:srgbClr>
          </a:solidFill>
          <a:ln w="28575">
            <a:solidFill>
              <a:srgbClr val="B8902E"/>
            </a:solidFill>
            <a:prstDash val="solid"/>
          </a:ln>
          <a:effectLst>
            <a:outerShdw sx="100000" sy="100000" kx="0" ky="0" algn="bl" rotWithShape="0" blurRad="101600" dist="38100" dir="5400000">
              <a:srgbClr val="5E4014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0432" y="1554480"/>
            <a:ext cx="9848088" cy="3383280"/>
          </a:xfrm>
          <a:prstGeom prst="roundRect">
            <a:avLst>
              <a:gd name="adj" fmla="val 2703"/>
            </a:avLst>
          </a:prstGeom>
          <a:solidFill>
            <a:srgbClr val="FFFFFF">
              <a:alpha val="0"/>
            </a:srgbClr>
          </a:solidFill>
          <a:ln w="9525">
            <a:solidFill>
              <a:srgbClr val="B89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72184" y="1783080"/>
            <a:ext cx="128016" cy="128016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92224" y="1700784"/>
            <a:ext cx="8887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Holy Scripture: 2 Peter 1:4; John 1:12; 17:21–23; Romans 8:29; 1 John 3:2; John 6:56; Genesis 1:26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rot="2700000">
            <a:off x="1472184" y="2185416"/>
            <a:ext cx="128016" cy="128016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224" y="2103120"/>
            <a:ext cx="8887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Athanasius of Alexandria, On the Incarnation §54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2700000">
            <a:off x="1472184" y="2551176"/>
            <a:ext cx="128016" cy="128016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2468880"/>
            <a:ext cx="8887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Irenaeus of Lyons, Against Heresies, Book V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2700000">
            <a:off x="1472184" y="2916936"/>
            <a:ext cx="128016" cy="128016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92224" y="2834640"/>
            <a:ext cx="8887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Cyril of Alexandria, Commentary on the Gospel of John; Fragment on Psalm 82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 rot="2700000">
            <a:off x="1472184" y="3282696"/>
            <a:ext cx="128016" cy="128016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2224" y="3200400"/>
            <a:ext cx="8887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Coptic/Oriental Orthodox liturgical tradition (Liturgy of St. Gregory; Liturgy of St. Cyril)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2700000">
            <a:off x="1472184" y="3685032"/>
            <a:ext cx="128016" cy="128016"/>
          </a:xfrm>
          <a:prstGeom prst="rect">
            <a:avLst/>
          </a:prstGeom>
          <a:solidFill>
            <a:srgbClr val="C49A2A"/>
          </a:solidFill>
          <a:ln w="12700">
            <a:solidFill>
              <a:srgbClr val="7A5E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2224" y="3602736"/>
            <a:ext cx="8887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2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Coptic Orthodox teaching on theosis (Alexandrian tradition of Ss. Athanasius &amp; Cyril); affirmed by Pope Shenouda III as partaking by grace, not by essence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36192" y="4279392"/>
            <a:ext cx="9116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Doctrinal questions belong to your confession father or parish priest.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Theosis: Becoming Partakers of the Divine Nature</dc:title>
  <dc:subject>PptxGenJS Presentation</dc:subject>
  <dc:creator>Dn. Yonnas</dc:creator>
  <cp:lastModifiedBy>Dn. Yonnas</cp:lastModifiedBy>
  <cp:revision>1</cp:revision>
  <dcterms:created xsi:type="dcterms:W3CDTF">2026-07-02T20:02:30Z</dcterms:created>
  <dcterms:modified xsi:type="dcterms:W3CDTF">2026-07-02T20:02:30Z</dcterms:modified>
</cp:coreProperties>
</file>