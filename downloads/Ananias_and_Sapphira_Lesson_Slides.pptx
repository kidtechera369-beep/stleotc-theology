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prayer. This is the first time the word 'church' appears in Acts — and it appears wrapped in the fear of God.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about their souls are exactly the kind to bring to your father confessor, not to settle on 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207008"/>
            <a:ext cx="10360152" cy="960120"/>
          </a:xfrm>
          <a:prstGeom prst="rect">
            <a:avLst/>
          </a:prstGeom>
          <a:noFill/>
          <a:ln/>
        </p:spPr>
        <p:txBody>
          <a:bodyPr wrap="square" rtlCol="0" anchor="ctr"/>
          <a:lstStyle/>
          <a:p>
            <a:pPr algn="ctr" indent="0" marL="0">
              <a:buNone/>
            </a:pPr>
            <a:r>
              <a:rPr lang="en-US" sz="5200" b="1" dirty="0">
                <a:solidFill>
                  <a:srgbClr val="5A3310"/>
                </a:solidFill>
                <a:latin typeface="Cambria" pitchFamily="34" charset="0"/>
                <a:ea typeface="Cambria" pitchFamily="34" charset="-122"/>
                <a:cs typeface="Cambria" pitchFamily="34" charset="-120"/>
              </a:rPr>
              <a:t>Ananias and Sapphira</a:t>
            </a:r>
            <a:endParaRPr lang="en-US" sz="5200" dirty="0"/>
          </a:p>
        </p:txBody>
      </p:sp>
      <p:sp>
        <p:nvSpPr>
          <p:cNvPr id="3" name="Text 1"/>
          <p:cNvSpPr/>
          <p:nvPr/>
        </p:nvSpPr>
        <p:spPr>
          <a:xfrm>
            <a:off x="914400" y="2212848"/>
            <a:ext cx="10360152" cy="640080"/>
          </a:xfrm>
          <a:prstGeom prst="rect">
            <a:avLst/>
          </a:prstGeom>
          <a:noFill/>
          <a:ln/>
        </p:spPr>
        <p:txBody>
          <a:bodyPr wrap="square" rtlCol="0" anchor="ctr"/>
          <a:lstStyle/>
          <a:p>
            <a:pPr algn="ctr" indent="0" marL="0">
              <a:buNone/>
            </a:pPr>
            <a:r>
              <a:rPr lang="en-US" sz="3200" i="1" dirty="0">
                <a:solidFill>
                  <a:srgbClr val="8B1A1A"/>
                </a:solidFill>
                <a:latin typeface="Cambria" pitchFamily="34" charset="0"/>
                <a:ea typeface="Cambria" pitchFamily="34" charset="-122"/>
                <a:cs typeface="Cambria" pitchFamily="34" charset="-120"/>
              </a:rPr>
              <a:t>Truth Before God</a:t>
            </a:r>
            <a:endParaRPr lang="en-US" sz="3200" dirty="0"/>
          </a:p>
        </p:txBody>
      </p:sp>
      <p:sp>
        <p:nvSpPr>
          <p:cNvPr id="4" name="Text 2"/>
          <p:cNvSpPr/>
          <p:nvPr/>
        </p:nvSpPr>
        <p:spPr>
          <a:xfrm>
            <a:off x="914400" y="2852928"/>
            <a:ext cx="10360152" cy="384048"/>
          </a:xfrm>
          <a:prstGeom prst="rect">
            <a:avLst/>
          </a:prstGeom>
          <a:noFill/>
          <a:ln/>
        </p:spPr>
        <p:txBody>
          <a:bodyPr wrap="square" rtlCol="0" anchor="ctr"/>
          <a:lstStyle/>
          <a:p>
            <a:pPr algn="ctr" indent="0" marL="0">
              <a:buNone/>
            </a:pPr>
            <a:r>
              <a:rPr lang="en-US" sz="2000" b="1" dirty="0">
                <a:solidFill>
                  <a:srgbClr val="5A3310"/>
                </a:solidFill>
                <a:latin typeface="Cambria" pitchFamily="34" charset="0"/>
                <a:ea typeface="Cambria" pitchFamily="34" charset="-122"/>
                <a:cs typeface="Cambria" pitchFamily="34" charset="-120"/>
              </a:rPr>
              <a:t>by Dn. Yonnas</a:t>
            </a:r>
            <a:endParaRPr lang="en-US" sz="2000" dirty="0"/>
          </a:p>
        </p:txBody>
      </p:sp>
      <p:sp>
        <p:nvSpPr>
          <p:cNvPr id="5" name="Text 3"/>
          <p:cNvSpPr/>
          <p:nvPr/>
        </p:nvSpPr>
        <p:spPr>
          <a:xfrm>
            <a:off x="914400" y="3255264"/>
            <a:ext cx="10360152" cy="384048"/>
          </a:xfrm>
          <a:prstGeom prst="rect">
            <a:avLst/>
          </a:prstGeom>
          <a:noFill/>
          <a:ln/>
        </p:spPr>
        <p:txBody>
          <a:bodyPr wrap="square" rtlCol="0" anchor="ctr"/>
          <a:lstStyle/>
          <a:p>
            <a:pPr algn="ctr" indent="0" marL="0">
              <a:buNone/>
            </a:pPr>
            <a:r>
              <a:rPr lang="en-US" sz="1700" dirty="0">
                <a:solidFill>
                  <a:srgbClr val="33240F"/>
                </a:solidFill>
                <a:latin typeface="Calibri" pitchFamily="34" charset="0"/>
                <a:ea typeface="Calibri" pitchFamily="34" charset="-122"/>
                <a:cs typeface="Calibri" pitchFamily="34" charset="-120"/>
              </a:rPr>
              <a:t>An in-depth reading of Acts 5:1–11</a:t>
            </a:r>
            <a:endParaRPr lang="en-US" sz="1700" dirty="0"/>
          </a:p>
        </p:txBody>
      </p:sp>
      <p:sp>
        <p:nvSpPr>
          <p:cNvPr id="6" name="Shape 4"/>
          <p:cNvSpPr/>
          <p:nvPr/>
        </p:nvSpPr>
        <p:spPr>
          <a:xfrm>
            <a:off x="2743200" y="3794760"/>
            <a:ext cx="6702552" cy="868680"/>
          </a:xfrm>
          <a:prstGeom prst="roundRect">
            <a:avLst>
              <a:gd name="adj" fmla="val 13684"/>
            </a:avLst>
          </a:prstGeom>
          <a:solidFill>
            <a:srgbClr val="F4E4BC">
              <a:alpha val="95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7" name="Shape 5"/>
          <p:cNvSpPr/>
          <p:nvPr/>
        </p:nvSpPr>
        <p:spPr>
          <a:xfrm>
            <a:off x="2834640" y="3886200"/>
            <a:ext cx="6519672" cy="685800"/>
          </a:xfrm>
          <a:prstGeom prst="roundRect">
            <a:avLst>
              <a:gd name="adj" fmla="val 13333"/>
            </a:avLst>
          </a:prstGeom>
          <a:solidFill>
            <a:srgbClr val="FFFFFF">
              <a:alpha val="0"/>
            </a:srgbClr>
          </a:solidFill>
          <a:ln w="9525">
            <a:solidFill>
              <a:srgbClr val="B8902E"/>
            </a:solidFill>
            <a:prstDash val="solid"/>
          </a:ln>
        </p:spPr>
      </p:sp>
      <p:sp>
        <p:nvSpPr>
          <p:cNvPr id="8" name="Text 6"/>
          <p:cNvSpPr/>
          <p:nvPr/>
        </p:nvSpPr>
        <p:spPr>
          <a:xfrm>
            <a:off x="2926080" y="3877056"/>
            <a:ext cx="6336792" cy="731520"/>
          </a:xfrm>
          <a:prstGeom prst="rect">
            <a:avLst/>
          </a:prstGeom>
          <a:noFill/>
          <a:ln/>
        </p:spPr>
        <p:txBody>
          <a:bodyPr wrap="square" rtlCol="0" anchor="ctr"/>
          <a:lstStyle/>
          <a:p>
            <a:pPr algn="ctr" indent="0" marL="0">
              <a:buNone/>
            </a:pPr>
            <a:r>
              <a:rPr lang="en-US" sz="1700" b="1" dirty="0">
                <a:solidFill>
                  <a:srgbClr val="8B1A1A"/>
                </a:solidFill>
                <a:latin typeface="Calibri" pitchFamily="34" charset="0"/>
                <a:ea typeface="Calibri" pitchFamily="34" charset="-122"/>
                <a:cs typeface="Calibri" pitchFamily="34" charset="-120"/>
              </a:rPr>
              <a:t>Memory Verse:  </a:t>
            </a:r>
            <a:pPr algn="ctr" indent="0" marL="0">
              <a:buNone/>
            </a:pPr>
            <a:r>
              <a:rPr lang="en-US" sz="1800" i="1" dirty="0">
                <a:solidFill>
                  <a:srgbClr val="33240F"/>
                </a:solidFill>
                <a:latin typeface="Cambria" pitchFamily="34" charset="0"/>
                <a:ea typeface="Cambria" pitchFamily="34" charset="-122"/>
                <a:cs typeface="Cambria" pitchFamily="34" charset="-120"/>
              </a:rPr>
              <a:t>“You have not lied to men but to God.” — Acts 5:4</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What We Will Learn</a:t>
            </a:r>
            <a:endParaRPr lang="en-US" sz="3300" dirty="0"/>
          </a:p>
        </p:txBody>
      </p:sp>
      <p:sp>
        <p:nvSpPr>
          <p:cNvPr id="3" name="Shape 1"/>
          <p:cNvSpPr/>
          <p:nvPr/>
        </p:nvSpPr>
        <p:spPr>
          <a:xfrm>
            <a:off x="1078992" y="1572768"/>
            <a:ext cx="10030968" cy="2971800"/>
          </a:xfrm>
          <a:prstGeom prst="roundRect">
            <a:avLst>
              <a:gd name="adj" fmla="val 4000"/>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170432" y="1664208"/>
            <a:ext cx="9848088" cy="2788920"/>
          </a:xfrm>
          <a:prstGeom prst="roundRect">
            <a:avLst>
              <a:gd name="adj" fmla="val 3279"/>
            </a:avLst>
          </a:prstGeom>
          <a:solidFill>
            <a:srgbClr val="FFFFFF">
              <a:alpha val="0"/>
            </a:srgbClr>
          </a:solidFill>
          <a:ln w="9525">
            <a:solidFill>
              <a:srgbClr val="B8902E"/>
            </a:solidFill>
            <a:prstDash val="solid"/>
          </a:ln>
        </p:spPr>
      </p:sp>
      <p:sp>
        <p:nvSpPr>
          <p:cNvPr id="5" name="Shape 3"/>
          <p:cNvSpPr/>
          <p:nvPr/>
        </p:nvSpPr>
        <p:spPr>
          <a:xfrm rot="2700000">
            <a:off x="1417320" y="2090547"/>
            <a:ext cx="146304" cy="146304"/>
          </a:xfrm>
          <a:prstGeom prst="rect">
            <a:avLst/>
          </a:prstGeom>
          <a:solidFill>
            <a:srgbClr val="C49A2A"/>
          </a:solidFill>
          <a:ln w="12700">
            <a:solidFill>
              <a:srgbClr val="7A5E15"/>
            </a:solidFill>
            <a:prstDash val="solid"/>
          </a:ln>
        </p:spPr>
      </p:sp>
      <p:sp>
        <p:nvSpPr>
          <p:cNvPr id="6" name="Text 4"/>
          <p:cNvSpPr/>
          <p:nvPr/>
        </p:nvSpPr>
        <p:spPr>
          <a:xfrm>
            <a:off x="1828800" y="1865376"/>
            <a:ext cx="8933688" cy="596646"/>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Tell the story of Ananias and Sapphira accurately from </a:t>
            </a:r>
            <a:pPr algn="l" indent="0" marL="0">
              <a:buNone/>
            </a:pPr>
            <a:r>
              <a:rPr lang="en-US" sz="1800" b="1" dirty="0">
                <a:solidFill>
                  <a:srgbClr val="33240F"/>
                </a:solidFill>
                <a:latin typeface="Calibri" pitchFamily="34" charset="0"/>
                <a:ea typeface="Calibri" pitchFamily="34" charset="-122"/>
                <a:cs typeface="Calibri" pitchFamily="34" charset="-120"/>
              </a:rPr>
              <a:t>Acts 5</a:t>
            </a:r>
            <a:endParaRPr lang="en-US" sz="1800" dirty="0"/>
          </a:p>
        </p:txBody>
      </p:sp>
      <p:sp>
        <p:nvSpPr>
          <p:cNvPr id="7" name="Shape 5"/>
          <p:cNvSpPr/>
          <p:nvPr/>
        </p:nvSpPr>
        <p:spPr>
          <a:xfrm rot="2700000">
            <a:off x="1417320" y="2687193"/>
            <a:ext cx="146304" cy="146304"/>
          </a:xfrm>
          <a:prstGeom prst="rect">
            <a:avLst/>
          </a:prstGeom>
          <a:solidFill>
            <a:srgbClr val="C49A2A"/>
          </a:solidFill>
          <a:ln w="12700">
            <a:solidFill>
              <a:srgbClr val="7A5E15"/>
            </a:solidFill>
            <a:prstDash val="solid"/>
          </a:ln>
        </p:spPr>
      </p:sp>
      <p:sp>
        <p:nvSpPr>
          <p:cNvPr id="8" name="Text 6"/>
          <p:cNvSpPr/>
          <p:nvPr/>
        </p:nvSpPr>
        <p:spPr>
          <a:xfrm>
            <a:off x="1828800" y="2462022"/>
            <a:ext cx="8933688" cy="596646"/>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See that their sin was </a:t>
            </a:r>
            <a:pPr algn="l" indent="0" marL="0">
              <a:buNone/>
            </a:pPr>
            <a:r>
              <a:rPr lang="en-US" sz="1800" b="1" dirty="0">
                <a:solidFill>
                  <a:srgbClr val="33240F"/>
                </a:solidFill>
                <a:latin typeface="Calibri" pitchFamily="34" charset="0"/>
                <a:ea typeface="Calibri" pitchFamily="34" charset="-122"/>
                <a:cs typeface="Calibri" pitchFamily="34" charset="-120"/>
              </a:rPr>
              <a:t>hypocrisy</a:t>
            </a:r>
            <a:pPr algn="l" indent="0" marL="0">
              <a:buNone/>
            </a:pPr>
            <a:r>
              <a:rPr lang="en-US" sz="1800" dirty="0">
                <a:solidFill>
                  <a:srgbClr val="33240F"/>
                </a:solidFill>
                <a:latin typeface="Calibri" pitchFamily="34" charset="0"/>
                <a:ea typeface="Calibri" pitchFamily="34" charset="-122"/>
                <a:cs typeface="Calibri" pitchFamily="34" charset="-120"/>
              </a:rPr>
              <a:t> and </a:t>
            </a:r>
            <a:pPr algn="l" indent="0" marL="0">
              <a:buNone/>
            </a:pPr>
            <a:r>
              <a:rPr lang="en-US" sz="1800" b="1" dirty="0">
                <a:solidFill>
                  <a:srgbClr val="33240F"/>
                </a:solidFill>
                <a:latin typeface="Calibri" pitchFamily="34" charset="0"/>
                <a:ea typeface="Calibri" pitchFamily="34" charset="-122"/>
                <a:cs typeface="Calibri" pitchFamily="34" charset="-120"/>
              </a:rPr>
              <a:t>lying to the Holy Spirit</a:t>
            </a:r>
            <a:pPr algn="l" indent="0" marL="0">
              <a:buNone/>
            </a:pPr>
            <a:r>
              <a:rPr lang="en-US" sz="1800" dirty="0">
                <a:solidFill>
                  <a:srgbClr val="33240F"/>
                </a:solidFill>
                <a:latin typeface="Calibri" pitchFamily="34" charset="0"/>
                <a:ea typeface="Calibri" pitchFamily="34" charset="-122"/>
                <a:cs typeface="Calibri" pitchFamily="34" charset="-120"/>
              </a:rPr>
              <a:t> — not keeping their property</a:t>
            </a:r>
            <a:endParaRPr lang="en-US" sz="1800" dirty="0"/>
          </a:p>
        </p:txBody>
      </p:sp>
      <p:sp>
        <p:nvSpPr>
          <p:cNvPr id="9" name="Shape 7"/>
          <p:cNvSpPr/>
          <p:nvPr/>
        </p:nvSpPr>
        <p:spPr>
          <a:xfrm rot="2700000">
            <a:off x="1417320" y="3283839"/>
            <a:ext cx="146304" cy="146304"/>
          </a:xfrm>
          <a:prstGeom prst="rect">
            <a:avLst/>
          </a:prstGeom>
          <a:solidFill>
            <a:srgbClr val="C49A2A"/>
          </a:solidFill>
          <a:ln w="12700">
            <a:solidFill>
              <a:srgbClr val="7A5E15"/>
            </a:solidFill>
            <a:prstDash val="solid"/>
          </a:ln>
        </p:spPr>
      </p:sp>
      <p:sp>
        <p:nvSpPr>
          <p:cNvPr id="10" name="Text 8"/>
          <p:cNvSpPr/>
          <p:nvPr/>
        </p:nvSpPr>
        <p:spPr>
          <a:xfrm>
            <a:off x="1828800" y="3058668"/>
            <a:ext cx="8933688" cy="596646"/>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Show from Peter’s words that the </a:t>
            </a:r>
            <a:pPr algn="l" indent="0" marL="0">
              <a:buNone/>
            </a:pPr>
            <a:r>
              <a:rPr lang="en-US" sz="1800" b="1" dirty="0">
                <a:solidFill>
                  <a:srgbClr val="8B1A1A"/>
                </a:solidFill>
                <a:latin typeface="Calibri" pitchFamily="34" charset="0"/>
                <a:ea typeface="Calibri" pitchFamily="34" charset="-122"/>
                <a:cs typeface="Calibri" pitchFamily="34" charset="-120"/>
              </a:rPr>
              <a:t>Holy Spirit is truly God</a:t>
            </a:r>
            <a:endParaRPr lang="en-US" sz="1800" dirty="0"/>
          </a:p>
        </p:txBody>
      </p:sp>
      <p:sp>
        <p:nvSpPr>
          <p:cNvPr id="11" name="Shape 9"/>
          <p:cNvSpPr/>
          <p:nvPr/>
        </p:nvSpPr>
        <p:spPr>
          <a:xfrm rot="2700000">
            <a:off x="1417320" y="3880485"/>
            <a:ext cx="146304" cy="146304"/>
          </a:xfrm>
          <a:prstGeom prst="rect">
            <a:avLst/>
          </a:prstGeom>
          <a:solidFill>
            <a:srgbClr val="C49A2A"/>
          </a:solidFill>
          <a:ln w="12700">
            <a:solidFill>
              <a:srgbClr val="7A5E15"/>
            </a:solidFill>
            <a:prstDash val="solid"/>
          </a:ln>
        </p:spPr>
      </p:sp>
      <p:sp>
        <p:nvSpPr>
          <p:cNvPr id="12" name="Text 10"/>
          <p:cNvSpPr/>
          <p:nvPr/>
        </p:nvSpPr>
        <p:spPr>
          <a:xfrm>
            <a:off x="1828800" y="3655314"/>
            <a:ext cx="8933688" cy="596646"/>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Learn to love the </a:t>
            </a:r>
            <a:pPr algn="l" indent="0" marL="0">
              <a:buNone/>
            </a:pPr>
            <a:r>
              <a:rPr lang="en-US" sz="1800" b="1" dirty="0">
                <a:solidFill>
                  <a:srgbClr val="33240F"/>
                </a:solidFill>
                <a:latin typeface="Calibri" pitchFamily="34" charset="0"/>
                <a:ea typeface="Calibri" pitchFamily="34" charset="-122"/>
                <a:cs typeface="Calibri" pitchFamily="34" charset="-120"/>
              </a:rPr>
              <a:t>truth</a:t>
            </a:r>
            <a:pPr algn="l" indent="0" marL="0">
              <a:buNone/>
            </a:pPr>
            <a:r>
              <a:rPr lang="en-US" sz="1800" dirty="0">
                <a:solidFill>
                  <a:srgbClr val="33240F"/>
                </a:solidFill>
                <a:latin typeface="Calibri" pitchFamily="34" charset="0"/>
                <a:ea typeface="Calibri" pitchFamily="34" charset="-122"/>
                <a:cs typeface="Calibri" pitchFamily="34" charset="-120"/>
              </a:rPr>
              <a:t>, to give </a:t>
            </a:r>
            <a:pPr algn="l" indent="0" marL="0">
              <a:buNone/>
            </a:pPr>
            <a:r>
              <a:rPr lang="en-US" sz="1800" b="1" dirty="0">
                <a:solidFill>
                  <a:srgbClr val="33240F"/>
                </a:solidFill>
                <a:latin typeface="Calibri" pitchFamily="34" charset="0"/>
                <a:ea typeface="Calibri" pitchFamily="34" charset="-122"/>
                <a:cs typeface="Calibri" pitchFamily="34" charset="-120"/>
              </a:rPr>
              <a:t>in secret</a:t>
            </a:r>
            <a:pPr algn="l" indent="0" marL="0">
              <a:buNone/>
            </a:pPr>
            <a:r>
              <a:rPr lang="en-US" sz="1800" dirty="0">
                <a:solidFill>
                  <a:srgbClr val="33240F"/>
                </a:solidFill>
                <a:latin typeface="Calibri" pitchFamily="34" charset="0"/>
                <a:ea typeface="Calibri" pitchFamily="34" charset="-122"/>
                <a:cs typeface="Calibri" pitchFamily="34" charset="-120"/>
              </a:rPr>
              <a:t>, and to live in the </a:t>
            </a:r>
            <a:pPr algn="l" indent="0" marL="0">
              <a:buNone/>
            </a:pPr>
            <a:r>
              <a:rPr lang="en-US" sz="1800" b="1" dirty="0">
                <a:solidFill>
                  <a:srgbClr val="33240F"/>
                </a:solidFill>
                <a:latin typeface="Calibri" pitchFamily="34" charset="0"/>
                <a:ea typeface="Calibri" pitchFamily="34" charset="-122"/>
                <a:cs typeface="Calibri" pitchFamily="34" charset="-120"/>
              </a:rPr>
              <a:t>holy fear of God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Before the Story: A Church That Shared Everything</a:t>
            </a:r>
            <a:endParaRPr lang="en-US" sz="3300" dirty="0"/>
          </a:p>
        </p:txBody>
      </p:sp>
      <p:sp>
        <p:nvSpPr>
          <p:cNvPr id="3" name="Shape 1"/>
          <p:cNvSpPr/>
          <p:nvPr/>
        </p:nvSpPr>
        <p:spPr>
          <a:xfrm>
            <a:off x="1078992" y="1508760"/>
            <a:ext cx="10030968" cy="1783080"/>
          </a:xfrm>
          <a:prstGeom prst="roundRect">
            <a:avLst>
              <a:gd name="adj" fmla="val 6667"/>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170432" y="1600200"/>
            <a:ext cx="9848088" cy="1600200"/>
          </a:xfrm>
          <a:prstGeom prst="roundRect">
            <a:avLst>
              <a:gd name="adj" fmla="val 5714"/>
            </a:avLst>
          </a:prstGeom>
          <a:solidFill>
            <a:srgbClr val="FFFFFF">
              <a:alpha val="0"/>
            </a:srgbClr>
          </a:solidFill>
          <a:ln w="9525">
            <a:solidFill>
              <a:srgbClr val="B8902E"/>
            </a:solidFill>
            <a:prstDash val="solid"/>
          </a:ln>
        </p:spPr>
      </p:sp>
      <p:sp>
        <p:nvSpPr>
          <p:cNvPr id="5" name="Shape 3"/>
          <p:cNvSpPr/>
          <p:nvPr/>
        </p:nvSpPr>
        <p:spPr>
          <a:xfrm rot="2700000">
            <a:off x="1417320" y="1927860"/>
            <a:ext cx="146304" cy="146304"/>
          </a:xfrm>
          <a:prstGeom prst="rect">
            <a:avLst/>
          </a:prstGeom>
          <a:solidFill>
            <a:srgbClr val="C49A2A"/>
          </a:solidFill>
          <a:ln w="12700">
            <a:solidFill>
              <a:srgbClr val="7A5E15"/>
            </a:solidFill>
            <a:prstDash val="solid"/>
          </a:ln>
        </p:spPr>
      </p:sp>
      <p:sp>
        <p:nvSpPr>
          <p:cNvPr id="6" name="Text 4"/>
          <p:cNvSpPr/>
          <p:nvPr/>
        </p:nvSpPr>
        <p:spPr>
          <a:xfrm>
            <a:off x="1828800" y="1801368"/>
            <a:ext cx="8933688" cy="399288"/>
          </a:xfrm>
          <a:prstGeom prst="rect">
            <a:avLst/>
          </a:prstGeom>
          <a:noFill/>
          <a:ln/>
        </p:spPr>
        <p:txBody>
          <a:bodyPr wrap="square" lIns="0" tIns="0" rIns="0" bIns="0" rtlCol="0" anchor="ctr"/>
          <a:lstStyle/>
          <a:p>
            <a:pPr algn="l" indent="0" marL="0">
              <a:buNone/>
            </a:pPr>
            <a:r>
              <a:rPr lang="en-US" sz="1900" dirty="0">
                <a:solidFill>
                  <a:srgbClr val="33240F"/>
                </a:solidFill>
                <a:latin typeface="Calibri" pitchFamily="34" charset="0"/>
                <a:ea typeface="Calibri" pitchFamily="34" charset="-122"/>
                <a:cs typeface="Calibri" pitchFamily="34" charset="-120"/>
              </a:rPr>
              <a:t>The believers lived as one family — </a:t>
            </a:r>
            <a:pPr algn="l" indent="0" marL="0">
              <a:buNone/>
            </a:pPr>
            <a:r>
              <a:rPr lang="en-US" sz="1900" b="1" dirty="0">
                <a:solidFill>
                  <a:srgbClr val="33240F"/>
                </a:solidFill>
                <a:latin typeface="Calibri" pitchFamily="34" charset="0"/>
                <a:ea typeface="Calibri" pitchFamily="34" charset="-122"/>
                <a:cs typeface="Calibri" pitchFamily="34" charset="-120"/>
              </a:rPr>
              <a:t>“of one heart and one soul”</a:t>
            </a:r>
            <a:endParaRPr lang="en-US" sz="1900" dirty="0"/>
          </a:p>
        </p:txBody>
      </p:sp>
      <p:sp>
        <p:nvSpPr>
          <p:cNvPr id="7" name="Shape 5"/>
          <p:cNvSpPr/>
          <p:nvPr/>
        </p:nvSpPr>
        <p:spPr>
          <a:xfrm rot="2700000">
            <a:off x="1417320" y="2327148"/>
            <a:ext cx="146304" cy="146304"/>
          </a:xfrm>
          <a:prstGeom prst="rect">
            <a:avLst/>
          </a:prstGeom>
          <a:solidFill>
            <a:srgbClr val="C49A2A"/>
          </a:solidFill>
          <a:ln w="12700">
            <a:solidFill>
              <a:srgbClr val="7A5E15"/>
            </a:solidFill>
            <a:prstDash val="solid"/>
          </a:ln>
        </p:spPr>
      </p:sp>
      <p:sp>
        <p:nvSpPr>
          <p:cNvPr id="8" name="Text 6"/>
          <p:cNvSpPr/>
          <p:nvPr/>
        </p:nvSpPr>
        <p:spPr>
          <a:xfrm>
            <a:off x="1828800" y="2200656"/>
            <a:ext cx="8933688" cy="399288"/>
          </a:xfrm>
          <a:prstGeom prst="rect">
            <a:avLst/>
          </a:prstGeom>
          <a:noFill/>
          <a:ln/>
        </p:spPr>
        <p:txBody>
          <a:bodyPr wrap="square" lIns="0" tIns="0" rIns="0" bIns="0" rtlCol="0" anchor="ctr"/>
          <a:lstStyle/>
          <a:p>
            <a:pPr algn="l" indent="0" marL="0">
              <a:buNone/>
            </a:pPr>
            <a:r>
              <a:rPr lang="en-US" sz="1900" dirty="0">
                <a:solidFill>
                  <a:srgbClr val="33240F"/>
                </a:solidFill>
                <a:latin typeface="Calibri" pitchFamily="34" charset="0"/>
                <a:ea typeface="Calibri" pitchFamily="34" charset="-122"/>
                <a:cs typeface="Calibri" pitchFamily="34" charset="-120"/>
              </a:rPr>
              <a:t>No one called his possessions his own; they </a:t>
            </a:r>
            <a:pPr algn="l" indent="0" marL="0">
              <a:buNone/>
            </a:pPr>
            <a:r>
              <a:rPr lang="en-US" sz="1900" b="1" dirty="0">
                <a:solidFill>
                  <a:srgbClr val="33240F"/>
                </a:solidFill>
                <a:latin typeface="Calibri" pitchFamily="34" charset="0"/>
                <a:ea typeface="Calibri" pitchFamily="34" charset="-122"/>
                <a:cs typeface="Calibri" pitchFamily="34" charset="-120"/>
              </a:rPr>
              <a:t>shared everything in love</a:t>
            </a:r>
            <a:pPr algn="l" indent="0" marL="0">
              <a:buNone/>
            </a:pPr>
            <a:r>
              <a:rPr lang="en-US" sz="1900" dirty="0">
                <a:solidFill>
                  <a:srgbClr val="33240F"/>
                </a:solidFill>
                <a:latin typeface="Calibri" pitchFamily="34" charset="0"/>
                <a:ea typeface="Calibri" pitchFamily="34" charset="-122"/>
                <a:cs typeface="Calibri" pitchFamily="34" charset="-120"/>
              </a:rPr>
              <a:t> (</a:t>
            </a:r>
            <a:pPr algn="l" indent="0" marL="0">
              <a:buNone/>
            </a:pPr>
            <a:r>
              <a:rPr lang="en-US" sz="1900" b="1" dirty="0">
                <a:solidFill>
                  <a:srgbClr val="1E5631"/>
                </a:solidFill>
                <a:latin typeface="Calibri" pitchFamily="34" charset="0"/>
                <a:ea typeface="Calibri" pitchFamily="34" charset="-122"/>
                <a:cs typeface="Calibri" pitchFamily="34" charset="-120"/>
              </a:rPr>
              <a:t>koinonia</a:t>
            </a:r>
            <a:pPr algn="l" indent="0" marL="0">
              <a:buNone/>
            </a:pPr>
            <a:r>
              <a:rPr lang="en-US" sz="1900" dirty="0">
                <a:solidFill>
                  <a:srgbClr val="33240F"/>
                </a:solidFill>
                <a:latin typeface="Calibri" pitchFamily="34" charset="0"/>
                <a:ea typeface="Calibri" pitchFamily="34" charset="-122"/>
                <a:cs typeface="Calibri" pitchFamily="34" charset="-120"/>
              </a:rPr>
              <a:t>)</a:t>
            </a:r>
            <a:endParaRPr lang="en-US" sz="1900" dirty="0"/>
          </a:p>
        </p:txBody>
      </p:sp>
      <p:sp>
        <p:nvSpPr>
          <p:cNvPr id="9" name="Shape 7"/>
          <p:cNvSpPr/>
          <p:nvPr/>
        </p:nvSpPr>
        <p:spPr>
          <a:xfrm rot="2700000">
            <a:off x="1417320" y="2726436"/>
            <a:ext cx="146304" cy="146304"/>
          </a:xfrm>
          <a:prstGeom prst="rect">
            <a:avLst/>
          </a:prstGeom>
          <a:solidFill>
            <a:srgbClr val="C49A2A"/>
          </a:solidFill>
          <a:ln w="12700">
            <a:solidFill>
              <a:srgbClr val="7A5E15"/>
            </a:solidFill>
            <a:prstDash val="solid"/>
          </a:ln>
        </p:spPr>
      </p:sp>
      <p:sp>
        <p:nvSpPr>
          <p:cNvPr id="10" name="Text 8"/>
          <p:cNvSpPr/>
          <p:nvPr/>
        </p:nvSpPr>
        <p:spPr>
          <a:xfrm>
            <a:off x="1828800" y="2599944"/>
            <a:ext cx="8933688" cy="399288"/>
          </a:xfrm>
          <a:prstGeom prst="rect">
            <a:avLst/>
          </a:prstGeom>
          <a:noFill/>
          <a:ln/>
        </p:spPr>
        <p:txBody>
          <a:bodyPr wrap="square" lIns="0" tIns="0" rIns="0" bIns="0" rtlCol="0" anchor="ctr"/>
          <a:lstStyle/>
          <a:p>
            <a:pPr algn="l" indent="0" marL="0">
              <a:buNone/>
            </a:pPr>
            <a:r>
              <a:rPr lang="en-US" sz="1900" dirty="0">
                <a:solidFill>
                  <a:srgbClr val="33240F"/>
                </a:solidFill>
                <a:latin typeface="Calibri" pitchFamily="34" charset="0"/>
                <a:ea typeface="Calibri" pitchFamily="34" charset="-122"/>
                <a:cs typeface="Calibri" pitchFamily="34" charset="-120"/>
              </a:rPr>
              <a:t>People sold lands and houses and laid the money at the </a:t>
            </a:r>
            <a:pPr algn="l" indent="0" marL="0">
              <a:buNone/>
            </a:pPr>
            <a:r>
              <a:rPr lang="en-US" sz="1900" b="1" dirty="0">
                <a:solidFill>
                  <a:srgbClr val="33240F"/>
                </a:solidFill>
                <a:latin typeface="Calibri" pitchFamily="34" charset="0"/>
                <a:ea typeface="Calibri" pitchFamily="34" charset="-122"/>
                <a:cs typeface="Calibri" pitchFamily="34" charset="-120"/>
              </a:rPr>
              <a:t>apostles’ feet</a:t>
            </a:r>
            <a:pPr algn="l" indent="0" marL="0">
              <a:buNone/>
            </a:pPr>
            <a:r>
              <a:rPr lang="en-US" sz="1900" dirty="0">
                <a:solidFill>
                  <a:srgbClr val="33240F"/>
                </a:solidFill>
                <a:latin typeface="Calibri" pitchFamily="34" charset="0"/>
                <a:ea typeface="Calibri" pitchFamily="34" charset="-122"/>
                <a:cs typeface="Calibri" pitchFamily="34" charset="-120"/>
              </a:rPr>
              <a:t> to help the needy</a:t>
            </a:r>
            <a:endParaRPr lang="en-US" sz="1900" dirty="0"/>
          </a:p>
        </p:txBody>
      </p:sp>
      <p:sp>
        <p:nvSpPr>
          <p:cNvPr id="11" name="Shape 9"/>
          <p:cNvSpPr/>
          <p:nvPr/>
        </p:nvSpPr>
        <p:spPr>
          <a:xfrm>
            <a:off x="1353312" y="3474720"/>
            <a:ext cx="9482328" cy="1005840"/>
          </a:xfrm>
          <a:prstGeom prst="roundRect">
            <a:avLst>
              <a:gd name="adj" fmla="val 11818"/>
            </a:avLst>
          </a:prstGeom>
          <a:solidFill>
            <a:srgbClr val="F4E4BC">
              <a:alpha val="95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12" name="Shape 10"/>
          <p:cNvSpPr/>
          <p:nvPr/>
        </p:nvSpPr>
        <p:spPr>
          <a:xfrm>
            <a:off x="1444752" y="3566160"/>
            <a:ext cx="9299448" cy="822960"/>
          </a:xfrm>
          <a:prstGeom prst="roundRect">
            <a:avLst>
              <a:gd name="adj" fmla="val 11111"/>
            </a:avLst>
          </a:prstGeom>
          <a:solidFill>
            <a:srgbClr val="FFFFFF">
              <a:alpha val="0"/>
            </a:srgbClr>
          </a:solidFill>
          <a:ln w="9525">
            <a:solidFill>
              <a:srgbClr val="B8902E"/>
            </a:solidFill>
            <a:prstDash val="solid"/>
          </a:ln>
        </p:spPr>
      </p:sp>
      <p:sp>
        <p:nvSpPr>
          <p:cNvPr id="13" name="Text 11"/>
          <p:cNvSpPr/>
          <p:nvPr/>
        </p:nvSpPr>
        <p:spPr>
          <a:xfrm>
            <a:off x="1719072" y="3621024"/>
            <a:ext cx="8750808" cy="713232"/>
          </a:xfrm>
          <a:prstGeom prst="rect">
            <a:avLst/>
          </a:prstGeom>
          <a:noFill/>
          <a:ln/>
        </p:spPr>
        <p:txBody>
          <a:bodyPr wrap="square" rtlCol="0" anchor="ctr"/>
          <a:lstStyle/>
          <a:p>
            <a:pPr algn="ctr" indent="0" marL="0">
              <a:spcAft>
                <a:spcPts val="500"/>
              </a:spcAft>
              <a:buNone/>
            </a:pPr>
            <a:r>
              <a:rPr lang="en-US" sz="1800" i="1" dirty="0">
                <a:solidFill>
                  <a:srgbClr val="33240F"/>
                </a:solidFill>
                <a:latin typeface="Cambria" pitchFamily="34" charset="0"/>
                <a:ea typeface="Cambria" pitchFamily="34" charset="-122"/>
                <a:cs typeface="Cambria" pitchFamily="34" charset="-120"/>
              </a:rPr>
              <a:t>“Now the multitude of those who believed were of one heart and one soul.”</a:t>
            </a:r>
            <a:endParaRPr lang="en-US" sz="1800" dirty="0"/>
          </a:p>
          <a:p>
            <a:pPr algn="r" indent="0" marL="0">
              <a:buNone/>
            </a:pPr>
            <a:r>
              <a:rPr lang="en-US" sz="1450" b="1" dirty="0">
                <a:solidFill>
                  <a:srgbClr val="8B1A1A"/>
                </a:solidFill>
                <a:latin typeface="Calibri" pitchFamily="34" charset="0"/>
                <a:ea typeface="Calibri" pitchFamily="34" charset="-122"/>
                <a:cs typeface="Calibri" pitchFamily="34" charset="-120"/>
              </a:rPr>
              <a:t>— Acts 4:32</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Who Was Barnabas? (The Good Example)</a:t>
            </a:r>
            <a:endParaRPr lang="en-US" sz="3300" dirty="0"/>
          </a:p>
        </p:txBody>
      </p:sp>
      <p:sp>
        <p:nvSpPr>
          <p:cNvPr id="3" name="Shape 1"/>
          <p:cNvSpPr/>
          <p:nvPr/>
        </p:nvSpPr>
        <p:spPr>
          <a:xfrm>
            <a:off x="1078992" y="1463040"/>
            <a:ext cx="10030968" cy="3154680"/>
          </a:xfrm>
          <a:prstGeom prst="roundRect">
            <a:avLst>
              <a:gd name="adj" fmla="val 3768"/>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170432" y="1554480"/>
            <a:ext cx="9848088" cy="2971800"/>
          </a:xfrm>
          <a:prstGeom prst="roundRect">
            <a:avLst>
              <a:gd name="adj" fmla="val 3077"/>
            </a:avLst>
          </a:prstGeom>
          <a:solidFill>
            <a:srgbClr val="FFFFFF">
              <a:alpha val="0"/>
            </a:srgbClr>
          </a:solidFill>
          <a:ln w="9525">
            <a:solidFill>
              <a:srgbClr val="B8902E"/>
            </a:solidFill>
            <a:prstDash val="solid"/>
          </a:ln>
        </p:spPr>
      </p:sp>
      <p:sp>
        <p:nvSpPr>
          <p:cNvPr id="5" name="Shape 3"/>
          <p:cNvSpPr/>
          <p:nvPr/>
        </p:nvSpPr>
        <p:spPr>
          <a:xfrm rot="2700000">
            <a:off x="1417320" y="1939442"/>
            <a:ext cx="146304" cy="146304"/>
          </a:xfrm>
          <a:prstGeom prst="rect">
            <a:avLst/>
          </a:prstGeom>
          <a:solidFill>
            <a:srgbClr val="C49A2A"/>
          </a:solidFill>
          <a:ln w="12700">
            <a:solidFill>
              <a:srgbClr val="7A5E15"/>
            </a:solidFill>
            <a:prstDash val="solid"/>
          </a:ln>
        </p:spPr>
      </p:sp>
      <p:sp>
        <p:nvSpPr>
          <p:cNvPr id="6" name="Text 4"/>
          <p:cNvSpPr/>
          <p:nvPr/>
        </p:nvSpPr>
        <p:spPr>
          <a:xfrm>
            <a:off x="1828800" y="1755648"/>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His name was </a:t>
            </a:r>
            <a:pPr algn="l" indent="0" marL="0">
              <a:buNone/>
            </a:pPr>
            <a:r>
              <a:rPr lang="en-US" sz="1700" b="1" dirty="0">
                <a:solidFill>
                  <a:srgbClr val="33240F"/>
                </a:solidFill>
                <a:latin typeface="Calibri" pitchFamily="34" charset="0"/>
                <a:ea typeface="Calibri" pitchFamily="34" charset="-122"/>
                <a:cs typeface="Calibri" pitchFamily="34" charset="-120"/>
              </a:rPr>
              <a:t>Joseph</a:t>
            </a:r>
            <a:pPr algn="l" indent="0" marL="0">
              <a:buNone/>
            </a:pPr>
            <a:r>
              <a:rPr lang="en-US" sz="1700" dirty="0">
                <a:solidFill>
                  <a:srgbClr val="33240F"/>
                </a:solidFill>
                <a:latin typeface="Calibri" pitchFamily="34" charset="0"/>
                <a:ea typeface="Calibri" pitchFamily="34" charset="-122"/>
                <a:cs typeface="Calibri" pitchFamily="34" charset="-120"/>
              </a:rPr>
              <a:t>, a </a:t>
            </a:r>
            <a:pPr algn="l" indent="0" marL="0">
              <a:buNone/>
            </a:pPr>
            <a:r>
              <a:rPr lang="en-US" sz="1700" b="1" dirty="0">
                <a:solidFill>
                  <a:srgbClr val="33240F"/>
                </a:solidFill>
                <a:latin typeface="Calibri" pitchFamily="34" charset="0"/>
                <a:ea typeface="Calibri" pitchFamily="34" charset="-122"/>
                <a:cs typeface="Calibri" pitchFamily="34" charset="-120"/>
              </a:rPr>
              <a:t>Levite</a:t>
            </a:r>
            <a:pPr algn="l" indent="0" marL="0">
              <a:buNone/>
            </a:pPr>
            <a:r>
              <a:rPr lang="en-US" sz="1700" dirty="0">
                <a:solidFill>
                  <a:srgbClr val="33240F"/>
                </a:solidFill>
                <a:latin typeface="Calibri" pitchFamily="34" charset="0"/>
                <a:ea typeface="Calibri" pitchFamily="34" charset="-122"/>
                <a:cs typeface="Calibri" pitchFamily="34" charset="-120"/>
              </a:rPr>
              <a:t> from the island of </a:t>
            </a:r>
            <a:pPr algn="l" indent="0" marL="0">
              <a:buNone/>
            </a:pPr>
            <a:r>
              <a:rPr lang="en-US" sz="1700" dirty="0">
                <a:solidFill>
                  <a:srgbClr val="33240F"/>
                </a:solidFill>
                <a:latin typeface="Calibri" pitchFamily="34" charset="0"/>
                <a:ea typeface="Calibri" pitchFamily="34" charset="-122"/>
                <a:cs typeface="Calibri" pitchFamily="34" charset="-120"/>
              </a:rPr>
              <a:t>Cyprus</a:t>
            </a:r>
            <a:endParaRPr lang="en-US" sz="1700" dirty="0"/>
          </a:p>
        </p:txBody>
      </p:sp>
      <p:sp>
        <p:nvSpPr>
          <p:cNvPr id="7" name="Shape 5"/>
          <p:cNvSpPr/>
          <p:nvPr/>
        </p:nvSpPr>
        <p:spPr>
          <a:xfrm rot="2700000">
            <a:off x="1417320" y="2453335"/>
            <a:ext cx="146304" cy="146304"/>
          </a:xfrm>
          <a:prstGeom prst="rect">
            <a:avLst/>
          </a:prstGeom>
          <a:solidFill>
            <a:srgbClr val="C49A2A"/>
          </a:solidFill>
          <a:ln w="12700">
            <a:solidFill>
              <a:srgbClr val="7A5E15"/>
            </a:solidFill>
            <a:prstDash val="solid"/>
          </a:ln>
        </p:spPr>
      </p:sp>
      <p:sp>
        <p:nvSpPr>
          <p:cNvPr id="8" name="Text 6"/>
          <p:cNvSpPr/>
          <p:nvPr/>
        </p:nvSpPr>
        <p:spPr>
          <a:xfrm>
            <a:off x="1828800" y="2269541"/>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The apostles renamed him </a:t>
            </a:r>
            <a:pPr algn="l" indent="0" marL="0">
              <a:buNone/>
            </a:pPr>
            <a:r>
              <a:rPr lang="en-US" sz="1700" b="1" dirty="0">
                <a:solidFill>
                  <a:srgbClr val="1E5631"/>
                </a:solidFill>
                <a:latin typeface="Calibri" pitchFamily="34" charset="0"/>
                <a:ea typeface="Calibri" pitchFamily="34" charset="-122"/>
                <a:cs typeface="Calibri" pitchFamily="34" charset="-120"/>
              </a:rPr>
              <a:t>Barnabas</a:t>
            </a:r>
            <a:pPr algn="l" indent="0" marL="0">
              <a:buNone/>
            </a:pPr>
            <a:r>
              <a:rPr lang="en-US" sz="1700" dirty="0">
                <a:solidFill>
                  <a:srgbClr val="33240F"/>
                </a:solidFill>
                <a:latin typeface="Calibri" pitchFamily="34" charset="0"/>
                <a:ea typeface="Calibri" pitchFamily="34" charset="-122"/>
                <a:cs typeface="Calibri" pitchFamily="34" charset="-120"/>
              </a:rPr>
              <a:t> — </a:t>
            </a:r>
            <a:pPr algn="l" indent="0" marL="0">
              <a:buNone/>
            </a:pPr>
            <a:r>
              <a:rPr lang="en-US" sz="1700" b="1" dirty="0">
                <a:solidFill>
                  <a:srgbClr val="33240F"/>
                </a:solidFill>
                <a:latin typeface="Calibri" pitchFamily="34" charset="0"/>
                <a:ea typeface="Calibri" pitchFamily="34" charset="-122"/>
                <a:cs typeface="Calibri" pitchFamily="34" charset="-120"/>
              </a:rPr>
              <a:t>“Son of Encouragement”</a:t>
            </a:r>
            <a:endParaRPr lang="en-US" sz="1700" dirty="0"/>
          </a:p>
        </p:txBody>
      </p:sp>
      <p:sp>
        <p:nvSpPr>
          <p:cNvPr id="9" name="Shape 7"/>
          <p:cNvSpPr/>
          <p:nvPr/>
        </p:nvSpPr>
        <p:spPr>
          <a:xfrm rot="2700000">
            <a:off x="1417320" y="2967228"/>
            <a:ext cx="146304" cy="146304"/>
          </a:xfrm>
          <a:prstGeom prst="rect">
            <a:avLst/>
          </a:prstGeom>
          <a:solidFill>
            <a:srgbClr val="C49A2A"/>
          </a:solidFill>
          <a:ln w="12700">
            <a:solidFill>
              <a:srgbClr val="7A5E15"/>
            </a:solidFill>
            <a:prstDash val="solid"/>
          </a:ln>
        </p:spPr>
      </p:sp>
      <p:sp>
        <p:nvSpPr>
          <p:cNvPr id="10" name="Text 8"/>
          <p:cNvSpPr/>
          <p:nvPr/>
        </p:nvSpPr>
        <p:spPr>
          <a:xfrm>
            <a:off x="1828800" y="2783434"/>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He sold a field and brought the </a:t>
            </a:r>
            <a:pPr algn="l" indent="0" marL="0">
              <a:buNone/>
            </a:pPr>
            <a:r>
              <a:rPr lang="en-US" sz="1700" b="1" dirty="0">
                <a:solidFill>
                  <a:srgbClr val="33240F"/>
                </a:solidFill>
                <a:latin typeface="Calibri" pitchFamily="34" charset="0"/>
                <a:ea typeface="Calibri" pitchFamily="34" charset="-122"/>
                <a:cs typeface="Calibri" pitchFamily="34" charset="-120"/>
              </a:rPr>
              <a:t>whole price</a:t>
            </a:r>
            <a:pPr algn="l" indent="0" marL="0">
              <a:buNone/>
            </a:pPr>
            <a:r>
              <a:rPr lang="en-US" sz="1700" dirty="0">
                <a:solidFill>
                  <a:srgbClr val="33240F"/>
                </a:solidFill>
                <a:latin typeface="Calibri" pitchFamily="34" charset="0"/>
                <a:ea typeface="Calibri" pitchFamily="34" charset="-122"/>
                <a:cs typeface="Calibri" pitchFamily="34" charset="-120"/>
              </a:rPr>
              <a:t>, laying it down </a:t>
            </a:r>
            <a:pPr algn="l" indent="0" marL="0">
              <a:buNone/>
            </a:pPr>
            <a:r>
              <a:rPr lang="en-US" sz="1700" b="1" dirty="0">
                <a:solidFill>
                  <a:srgbClr val="33240F"/>
                </a:solidFill>
                <a:latin typeface="Calibri" pitchFamily="34" charset="0"/>
                <a:ea typeface="Calibri" pitchFamily="34" charset="-122"/>
                <a:cs typeface="Calibri" pitchFamily="34" charset="-120"/>
              </a:rPr>
              <a:t>out of love</a:t>
            </a:r>
            <a:endParaRPr lang="en-US" sz="1700" dirty="0"/>
          </a:p>
        </p:txBody>
      </p:sp>
      <p:sp>
        <p:nvSpPr>
          <p:cNvPr id="11" name="Shape 9"/>
          <p:cNvSpPr/>
          <p:nvPr/>
        </p:nvSpPr>
        <p:spPr>
          <a:xfrm rot="2700000">
            <a:off x="1417320" y="3481121"/>
            <a:ext cx="146304" cy="146304"/>
          </a:xfrm>
          <a:prstGeom prst="rect">
            <a:avLst/>
          </a:prstGeom>
          <a:solidFill>
            <a:srgbClr val="C49A2A"/>
          </a:solidFill>
          <a:ln w="12700">
            <a:solidFill>
              <a:srgbClr val="7A5E15"/>
            </a:solidFill>
            <a:prstDash val="solid"/>
          </a:ln>
        </p:spPr>
      </p:sp>
      <p:sp>
        <p:nvSpPr>
          <p:cNvPr id="12" name="Text 10"/>
          <p:cNvSpPr/>
          <p:nvPr/>
        </p:nvSpPr>
        <p:spPr>
          <a:xfrm>
            <a:off x="1828800" y="3297326"/>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Later he vouched for the convert </a:t>
            </a:r>
            <a:pPr algn="l" indent="0" marL="0">
              <a:buNone/>
            </a:pPr>
            <a:r>
              <a:rPr lang="en-US" sz="1700" b="1" dirty="0">
                <a:solidFill>
                  <a:srgbClr val="33240F"/>
                </a:solidFill>
                <a:latin typeface="Calibri" pitchFamily="34" charset="0"/>
                <a:ea typeface="Calibri" pitchFamily="34" charset="-122"/>
                <a:cs typeface="Calibri" pitchFamily="34" charset="-120"/>
              </a:rPr>
              <a:t>Saul (St. Paul)</a:t>
            </a:r>
            <a:pPr algn="l" indent="0" marL="0">
              <a:buNone/>
            </a:pPr>
            <a:r>
              <a:rPr lang="en-US" sz="1700" dirty="0">
                <a:solidFill>
                  <a:srgbClr val="33240F"/>
                </a:solidFill>
                <a:latin typeface="Calibri" pitchFamily="34" charset="0"/>
                <a:ea typeface="Calibri" pitchFamily="34" charset="-122"/>
                <a:cs typeface="Calibri" pitchFamily="34" charset="-120"/>
              </a:rPr>
              <a:t> and served the Church at </a:t>
            </a:r>
            <a:pPr algn="l" indent="0" marL="0">
              <a:buNone/>
            </a:pPr>
            <a:r>
              <a:rPr lang="en-US" sz="1700" dirty="0">
                <a:solidFill>
                  <a:srgbClr val="33240F"/>
                </a:solidFill>
                <a:latin typeface="Calibri" pitchFamily="34" charset="0"/>
                <a:ea typeface="Calibri" pitchFamily="34" charset="-122"/>
                <a:cs typeface="Calibri" pitchFamily="34" charset="-120"/>
              </a:rPr>
              <a:t>Antioch</a:t>
            </a:r>
            <a:endParaRPr lang="en-US" sz="1700" dirty="0"/>
          </a:p>
        </p:txBody>
      </p:sp>
      <p:sp>
        <p:nvSpPr>
          <p:cNvPr id="13" name="Shape 11"/>
          <p:cNvSpPr/>
          <p:nvPr/>
        </p:nvSpPr>
        <p:spPr>
          <a:xfrm rot="2700000">
            <a:off x="1417320" y="3995014"/>
            <a:ext cx="146304" cy="146304"/>
          </a:xfrm>
          <a:prstGeom prst="rect">
            <a:avLst/>
          </a:prstGeom>
          <a:solidFill>
            <a:srgbClr val="C49A2A"/>
          </a:solidFill>
          <a:ln w="12700">
            <a:solidFill>
              <a:srgbClr val="7A5E15"/>
            </a:solidFill>
            <a:prstDash val="solid"/>
          </a:ln>
        </p:spPr>
      </p:sp>
      <p:sp>
        <p:nvSpPr>
          <p:cNvPr id="14" name="Text 12"/>
          <p:cNvSpPr/>
          <p:nvPr/>
        </p:nvSpPr>
        <p:spPr>
          <a:xfrm>
            <a:off x="1828800" y="3811219"/>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Remember him — Ananias will copy his </a:t>
            </a:r>
            <a:pPr algn="l" indent="0" marL="0">
              <a:buNone/>
            </a:pPr>
            <a:r>
              <a:rPr lang="en-US" sz="1700" b="1" dirty="0">
                <a:solidFill>
                  <a:srgbClr val="8B1A1A"/>
                </a:solidFill>
                <a:latin typeface="Calibri" pitchFamily="34" charset="0"/>
                <a:ea typeface="Calibri" pitchFamily="34" charset="-122"/>
                <a:cs typeface="Calibri" pitchFamily="34" charset="-120"/>
              </a:rPr>
              <a:t>honor</a:t>
            </a:r>
            <a:pPr algn="l" indent="0" marL="0">
              <a:buNone/>
            </a:pPr>
            <a:r>
              <a:rPr lang="en-US" sz="1700" dirty="0">
                <a:solidFill>
                  <a:srgbClr val="33240F"/>
                </a:solidFill>
                <a:latin typeface="Calibri" pitchFamily="34" charset="0"/>
                <a:ea typeface="Calibri" pitchFamily="34" charset="-122"/>
                <a:cs typeface="Calibri" pitchFamily="34" charset="-120"/>
              </a:rPr>
              <a:t>, but not his </a:t>
            </a:r>
            <a:pPr algn="l" indent="0" marL="0">
              <a:buNone/>
            </a:pPr>
            <a:r>
              <a:rPr lang="en-US" sz="1700" b="1" dirty="0">
                <a:solidFill>
                  <a:srgbClr val="8B1A1A"/>
                </a:solidFill>
                <a:latin typeface="Calibri" pitchFamily="34" charset="0"/>
                <a:ea typeface="Calibri" pitchFamily="34" charset="-122"/>
                <a:cs typeface="Calibri" pitchFamily="34" charset="-120"/>
              </a:rPr>
              <a:t>heart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The Story: What Ananias and Sapphira Did</a:t>
            </a:r>
            <a:endParaRPr lang="en-US" sz="3300" dirty="0"/>
          </a:p>
        </p:txBody>
      </p:sp>
      <p:sp>
        <p:nvSpPr>
          <p:cNvPr id="3" name="Shape 1"/>
          <p:cNvSpPr/>
          <p:nvPr/>
        </p:nvSpPr>
        <p:spPr>
          <a:xfrm>
            <a:off x="1078992" y="1463040"/>
            <a:ext cx="10030968" cy="3154680"/>
          </a:xfrm>
          <a:prstGeom prst="roundRect">
            <a:avLst>
              <a:gd name="adj" fmla="val 3768"/>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170432" y="1554480"/>
            <a:ext cx="9848088" cy="2971800"/>
          </a:xfrm>
          <a:prstGeom prst="roundRect">
            <a:avLst>
              <a:gd name="adj" fmla="val 3077"/>
            </a:avLst>
          </a:prstGeom>
          <a:solidFill>
            <a:srgbClr val="FFFFFF">
              <a:alpha val="0"/>
            </a:srgbClr>
          </a:solidFill>
          <a:ln w="9525">
            <a:solidFill>
              <a:srgbClr val="B8902E"/>
            </a:solidFill>
            <a:prstDash val="solid"/>
          </a:ln>
        </p:spPr>
      </p:sp>
      <p:sp>
        <p:nvSpPr>
          <p:cNvPr id="5" name="Shape 3"/>
          <p:cNvSpPr/>
          <p:nvPr/>
        </p:nvSpPr>
        <p:spPr>
          <a:xfrm rot="2700000">
            <a:off x="1417320" y="1939442"/>
            <a:ext cx="146304" cy="146304"/>
          </a:xfrm>
          <a:prstGeom prst="rect">
            <a:avLst/>
          </a:prstGeom>
          <a:solidFill>
            <a:srgbClr val="C49A2A"/>
          </a:solidFill>
          <a:ln w="12700">
            <a:solidFill>
              <a:srgbClr val="7A5E15"/>
            </a:solidFill>
            <a:prstDash val="solid"/>
          </a:ln>
        </p:spPr>
      </p:sp>
      <p:sp>
        <p:nvSpPr>
          <p:cNvPr id="6" name="Text 4"/>
          <p:cNvSpPr/>
          <p:nvPr/>
        </p:nvSpPr>
        <p:spPr>
          <a:xfrm>
            <a:off x="1828800" y="1755648"/>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Ananias, with his wife </a:t>
            </a:r>
            <a:pPr algn="l" indent="0" marL="0">
              <a:buNone/>
            </a:pPr>
            <a:r>
              <a:rPr lang="en-US" sz="1700" b="1" dirty="0">
                <a:solidFill>
                  <a:srgbClr val="33240F"/>
                </a:solidFill>
                <a:latin typeface="Calibri" pitchFamily="34" charset="0"/>
                <a:ea typeface="Calibri" pitchFamily="34" charset="-122"/>
                <a:cs typeface="Calibri" pitchFamily="34" charset="-120"/>
              </a:rPr>
              <a:t>Sapphira</a:t>
            </a:r>
            <a:pPr algn="l" indent="0" marL="0">
              <a:buNone/>
            </a:pPr>
            <a:r>
              <a:rPr lang="en-US" sz="1700" dirty="0">
                <a:solidFill>
                  <a:srgbClr val="33240F"/>
                </a:solidFill>
                <a:latin typeface="Calibri" pitchFamily="34" charset="0"/>
                <a:ea typeface="Calibri" pitchFamily="34" charset="-122"/>
                <a:cs typeface="Calibri" pitchFamily="34" charset="-120"/>
              </a:rPr>
              <a:t>, also sold a piece of property</a:t>
            </a:r>
            <a:endParaRPr lang="en-US" sz="1700" dirty="0"/>
          </a:p>
        </p:txBody>
      </p:sp>
      <p:sp>
        <p:nvSpPr>
          <p:cNvPr id="7" name="Shape 5"/>
          <p:cNvSpPr/>
          <p:nvPr/>
        </p:nvSpPr>
        <p:spPr>
          <a:xfrm rot="2700000">
            <a:off x="1417320" y="2453335"/>
            <a:ext cx="146304" cy="146304"/>
          </a:xfrm>
          <a:prstGeom prst="rect">
            <a:avLst/>
          </a:prstGeom>
          <a:solidFill>
            <a:srgbClr val="C49A2A"/>
          </a:solidFill>
          <a:ln w="12700">
            <a:solidFill>
              <a:srgbClr val="7A5E15"/>
            </a:solidFill>
            <a:prstDash val="solid"/>
          </a:ln>
        </p:spPr>
      </p:sp>
      <p:sp>
        <p:nvSpPr>
          <p:cNvPr id="8" name="Text 6"/>
          <p:cNvSpPr/>
          <p:nvPr/>
        </p:nvSpPr>
        <p:spPr>
          <a:xfrm>
            <a:off x="1828800" y="2269541"/>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Together they </a:t>
            </a:r>
            <a:pPr algn="l" indent="0" marL="0">
              <a:buNone/>
            </a:pPr>
            <a:r>
              <a:rPr lang="en-US" sz="1700" b="1" dirty="0">
                <a:solidFill>
                  <a:srgbClr val="33240F"/>
                </a:solidFill>
                <a:latin typeface="Calibri" pitchFamily="34" charset="0"/>
                <a:ea typeface="Calibri" pitchFamily="34" charset="-122"/>
                <a:cs typeface="Calibri" pitchFamily="34" charset="-120"/>
              </a:rPr>
              <a:t>secretly agreed to keep back part</a:t>
            </a:r>
            <a:pPr algn="l" indent="0" marL="0">
              <a:buNone/>
            </a:pPr>
            <a:r>
              <a:rPr lang="en-US" sz="1700" dirty="0">
                <a:solidFill>
                  <a:srgbClr val="33240F"/>
                </a:solidFill>
                <a:latin typeface="Calibri" pitchFamily="34" charset="0"/>
                <a:ea typeface="Calibri" pitchFamily="34" charset="-122"/>
                <a:cs typeface="Calibri" pitchFamily="34" charset="-120"/>
              </a:rPr>
              <a:t> of the money</a:t>
            </a:r>
            <a:endParaRPr lang="en-US" sz="1700" dirty="0"/>
          </a:p>
        </p:txBody>
      </p:sp>
      <p:sp>
        <p:nvSpPr>
          <p:cNvPr id="9" name="Shape 7"/>
          <p:cNvSpPr/>
          <p:nvPr/>
        </p:nvSpPr>
        <p:spPr>
          <a:xfrm rot="2700000">
            <a:off x="1417320" y="2967228"/>
            <a:ext cx="146304" cy="146304"/>
          </a:xfrm>
          <a:prstGeom prst="rect">
            <a:avLst/>
          </a:prstGeom>
          <a:solidFill>
            <a:srgbClr val="C49A2A"/>
          </a:solidFill>
          <a:ln w="12700">
            <a:solidFill>
              <a:srgbClr val="7A5E15"/>
            </a:solidFill>
            <a:prstDash val="solid"/>
          </a:ln>
        </p:spPr>
      </p:sp>
      <p:sp>
        <p:nvSpPr>
          <p:cNvPr id="10" name="Text 8"/>
          <p:cNvSpPr/>
          <p:nvPr/>
        </p:nvSpPr>
        <p:spPr>
          <a:xfrm>
            <a:off x="1828800" y="2783434"/>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Ananias laid the rest at the apostles’ feet — </a:t>
            </a:r>
            <a:pPr algn="l" indent="0" marL="0">
              <a:buNone/>
            </a:pPr>
            <a:r>
              <a:rPr lang="en-US" sz="1700" b="1" dirty="0">
                <a:solidFill>
                  <a:srgbClr val="8B1A1A"/>
                </a:solidFill>
                <a:latin typeface="Calibri" pitchFamily="34" charset="0"/>
                <a:ea typeface="Calibri" pitchFamily="34" charset="-122"/>
                <a:cs typeface="Calibri" pitchFamily="34" charset="-120"/>
              </a:rPr>
              <a:t>pretending it was the whole price</a:t>
            </a:r>
            <a:endParaRPr lang="en-US" sz="1700" dirty="0"/>
          </a:p>
        </p:txBody>
      </p:sp>
      <p:sp>
        <p:nvSpPr>
          <p:cNvPr id="11" name="Shape 9"/>
          <p:cNvSpPr/>
          <p:nvPr/>
        </p:nvSpPr>
        <p:spPr>
          <a:xfrm rot="2700000">
            <a:off x="1417320" y="3481121"/>
            <a:ext cx="146304" cy="146304"/>
          </a:xfrm>
          <a:prstGeom prst="rect">
            <a:avLst/>
          </a:prstGeom>
          <a:solidFill>
            <a:srgbClr val="C49A2A"/>
          </a:solidFill>
          <a:ln w="12700">
            <a:solidFill>
              <a:srgbClr val="7A5E15"/>
            </a:solidFill>
            <a:prstDash val="solid"/>
          </a:ln>
        </p:spPr>
      </p:sp>
      <p:sp>
        <p:nvSpPr>
          <p:cNvPr id="12" name="Text 10"/>
          <p:cNvSpPr/>
          <p:nvPr/>
        </p:nvSpPr>
        <p:spPr>
          <a:xfrm>
            <a:off x="1828800" y="3297326"/>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He wanted the </a:t>
            </a:r>
            <a:pPr algn="l" indent="0" marL="0">
              <a:buNone/>
            </a:pPr>
            <a:r>
              <a:rPr lang="en-US" sz="1700" b="1" dirty="0">
                <a:solidFill>
                  <a:srgbClr val="33240F"/>
                </a:solidFill>
                <a:latin typeface="Calibri" pitchFamily="34" charset="0"/>
                <a:ea typeface="Calibri" pitchFamily="34" charset="-122"/>
                <a:cs typeface="Calibri" pitchFamily="34" charset="-120"/>
              </a:rPr>
              <a:t>honor</a:t>
            </a:r>
            <a:pPr algn="l" indent="0" marL="0">
              <a:buNone/>
            </a:pPr>
            <a:r>
              <a:rPr lang="en-US" sz="1700" dirty="0">
                <a:solidFill>
                  <a:srgbClr val="33240F"/>
                </a:solidFill>
                <a:latin typeface="Calibri" pitchFamily="34" charset="0"/>
                <a:ea typeface="Calibri" pitchFamily="34" charset="-122"/>
                <a:cs typeface="Calibri" pitchFamily="34" charset="-120"/>
              </a:rPr>
              <a:t> of Barnabas without really </a:t>
            </a:r>
            <a:pPr algn="l" indent="0" marL="0">
              <a:buNone/>
            </a:pPr>
            <a:r>
              <a:rPr lang="en-US" sz="1700" b="1" dirty="0">
                <a:solidFill>
                  <a:srgbClr val="33240F"/>
                </a:solidFill>
                <a:latin typeface="Calibri" pitchFamily="34" charset="0"/>
                <a:ea typeface="Calibri" pitchFamily="34" charset="-122"/>
                <a:cs typeface="Calibri" pitchFamily="34" charset="-120"/>
              </a:rPr>
              <a:t>giving it all</a:t>
            </a:r>
            <a:endParaRPr lang="en-US" sz="1700" dirty="0"/>
          </a:p>
        </p:txBody>
      </p:sp>
      <p:sp>
        <p:nvSpPr>
          <p:cNvPr id="13" name="Shape 11"/>
          <p:cNvSpPr/>
          <p:nvPr/>
        </p:nvSpPr>
        <p:spPr>
          <a:xfrm rot="2700000">
            <a:off x="1417320" y="3995014"/>
            <a:ext cx="146304" cy="146304"/>
          </a:xfrm>
          <a:prstGeom prst="rect">
            <a:avLst/>
          </a:prstGeom>
          <a:solidFill>
            <a:srgbClr val="C49A2A"/>
          </a:solidFill>
          <a:ln w="12700">
            <a:solidFill>
              <a:srgbClr val="7A5E15"/>
            </a:solidFill>
            <a:prstDash val="solid"/>
          </a:ln>
        </p:spPr>
      </p:sp>
      <p:sp>
        <p:nvSpPr>
          <p:cNvPr id="14" name="Text 12"/>
          <p:cNvSpPr/>
          <p:nvPr/>
        </p:nvSpPr>
        <p:spPr>
          <a:xfrm>
            <a:off x="1828800" y="3811219"/>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Keeping some money was </a:t>
            </a:r>
            <a:pPr algn="l" indent="0" marL="0">
              <a:buNone/>
            </a:pPr>
            <a:r>
              <a:rPr lang="en-US" sz="1700" b="1" dirty="0">
                <a:solidFill>
                  <a:srgbClr val="33240F"/>
                </a:solidFill>
                <a:latin typeface="Calibri" pitchFamily="34" charset="0"/>
                <a:ea typeface="Calibri" pitchFamily="34" charset="-122"/>
                <a:cs typeface="Calibri" pitchFamily="34" charset="-120"/>
              </a:rPr>
              <a:t>not</a:t>
            </a:r>
            <a:pPr algn="l" indent="0" marL="0">
              <a:buNone/>
            </a:pPr>
            <a:r>
              <a:rPr lang="en-US" sz="1700" dirty="0">
                <a:solidFill>
                  <a:srgbClr val="33240F"/>
                </a:solidFill>
                <a:latin typeface="Calibri" pitchFamily="34" charset="0"/>
                <a:ea typeface="Calibri" pitchFamily="34" charset="-122"/>
                <a:cs typeface="Calibri" pitchFamily="34" charset="-120"/>
              </a:rPr>
              <a:t> the sin. The </a:t>
            </a:r>
            <a:pPr algn="l" indent="0" marL="0">
              <a:buNone/>
            </a:pPr>
            <a:r>
              <a:rPr lang="en-US" sz="1700" b="1" dirty="0">
                <a:solidFill>
                  <a:srgbClr val="8B1A1A"/>
                </a:solidFill>
                <a:latin typeface="Calibri" pitchFamily="34" charset="0"/>
                <a:ea typeface="Calibri" pitchFamily="34" charset="-122"/>
                <a:cs typeface="Calibri" pitchFamily="34" charset="-120"/>
              </a:rPr>
              <a:t>pretending</a:t>
            </a:r>
            <a:pPr algn="l" indent="0" marL="0">
              <a:buNone/>
            </a:pPr>
            <a:r>
              <a:rPr lang="en-US" sz="1700" dirty="0">
                <a:solidFill>
                  <a:srgbClr val="33240F"/>
                </a:solidFill>
                <a:latin typeface="Calibri" pitchFamily="34" charset="0"/>
                <a:ea typeface="Calibri" pitchFamily="34" charset="-122"/>
                <a:cs typeface="Calibri" pitchFamily="34" charset="-120"/>
              </a:rPr>
              <a:t> was.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The Story: Peter and the Judgment</a:t>
            </a:r>
            <a:endParaRPr lang="en-US" sz="3300" dirty="0"/>
          </a:p>
        </p:txBody>
      </p:sp>
      <p:sp>
        <p:nvSpPr>
          <p:cNvPr id="3" name="Shape 1"/>
          <p:cNvSpPr/>
          <p:nvPr/>
        </p:nvSpPr>
        <p:spPr>
          <a:xfrm>
            <a:off x="1078992" y="1481328"/>
            <a:ext cx="10030968" cy="1810512"/>
          </a:xfrm>
          <a:prstGeom prst="roundRect">
            <a:avLst>
              <a:gd name="adj" fmla="val 6566"/>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170432" y="1572768"/>
            <a:ext cx="9848088" cy="1627632"/>
          </a:xfrm>
          <a:prstGeom prst="roundRect">
            <a:avLst>
              <a:gd name="adj" fmla="val 5618"/>
            </a:avLst>
          </a:prstGeom>
          <a:solidFill>
            <a:srgbClr val="FFFFFF">
              <a:alpha val="0"/>
            </a:srgbClr>
          </a:solidFill>
          <a:ln w="9525">
            <a:solidFill>
              <a:srgbClr val="B8902E"/>
            </a:solidFill>
            <a:prstDash val="solid"/>
          </a:ln>
        </p:spPr>
      </p:sp>
      <p:sp>
        <p:nvSpPr>
          <p:cNvPr id="5" name="Shape 3"/>
          <p:cNvSpPr/>
          <p:nvPr/>
        </p:nvSpPr>
        <p:spPr>
          <a:xfrm rot="2700000">
            <a:off x="1417320" y="1853946"/>
            <a:ext cx="146304" cy="146304"/>
          </a:xfrm>
          <a:prstGeom prst="rect">
            <a:avLst/>
          </a:prstGeom>
          <a:solidFill>
            <a:srgbClr val="C49A2A"/>
          </a:solidFill>
          <a:ln w="12700">
            <a:solidFill>
              <a:srgbClr val="7A5E15"/>
            </a:solidFill>
            <a:prstDash val="solid"/>
          </a:ln>
        </p:spPr>
      </p:sp>
      <p:sp>
        <p:nvSpPr>
          <p:cNvPr id="6" name="Text 4"/>
          <p:cNvSpPr/>
          <p:nvPr/>
        </p:nvSpPr>
        <p:spPr>
          <a:xfrm>
            <a:off x="1828800" y="1773936"/>
            <a:ext cx="8933688" cy="30632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The Holy Spirit revealed the truth to </a:t>
            </a:r>
            <a:pPr algn="l" indent="0" marL="0">
              <a:buNone/>
            </a:pPr>
            <a:r>
              <a:rPr lang="en-US" sz="1800" b="1" dirty="0">
                <a:solidFill>
                  <a:srgbClr val="33240F"/>
                </a:solidFill>
                <a:latin typeface="Calibri" pitchFamily="34" charset="0"/>
                <a:ea typeface="Calibri" pitchFamily="34" charset="-122"/>
                <a:cs typeface="Calibri" pitchFamily="34" charset="-120"/>
              </a:rPr>
              <a:t>St. Peter</a:t>
            </a:r>
            <a:pPr algn="l" indent="0" marL="0">
              <a:buNone/>
            </a:pPr>
            <a:r>
              <a:rPr lang="en-US" sz="1800" dirty="0">
                <a:solidFill>
                  <a:srgbClr val="33240F"/>
                </a:solidFill>
                <a:latin typeface="Calibri" pitchFamily="34" charset="0"/>
                <a:ea typeface="Calibri" pitchFamily="34" charset="-122"/>
                <a:cs typeface="Calibri" pitchFamily="34" charset="-120"/>
              </a:rPr>
              <a:t>, who exposed the lie</a:t>
            </a:r>
            <a:endParaRPr lang="en-US" sz="1800" dirty="0"/>
          </a:p>
        </p:txBody>
      </p:sp>
      <p:sp>
        <p:nvSpPr>
          <p:cNvPr id="7" name="Shape 5"/>
          <p:cNvSpPr/>
          <p:nvPr/>
        </p:nvSpPr>
        <p:spPr>
          <a:xfrm rot="2700000">
            <a:off x="1417320" y="2160270"/>
            <a:ext cx="146304" cy="146304"/>
          </a:xfrm>
          <a:prstGeom prst="rect">
            <a:avLst/>
          </a:prstGeom>
          <a:solidFill>
            <a:srgbClr val="C49A2A"/>
          </a:solidFill>
          <a:ln w="12700">
            <a:solidFill>
              <a:srgbClr val="7A5E15"/>
            </a:solidFill>
            <a:prstDash val="solid"/>
          </a:ln>
        </p:spPr>
      </p:sp>
      <p:sp>
        <p:nvSpPr>
          <p:cNvPr id="8" name="Text 6"/>
          <p:cNvSpPr/>
          <p:nvPr/>
        </p:nvSpPr>
        <p:spPr>
          <a:xfrm>
            <a:off x="1828800" y="2080260"/>
            <a:ext cx="8933688" cy="30632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Peter said: </a:t>
            </a:r>
            <a:pPr algn="l" indent="0" marL="0">
              <a:buNone/>
            </a:pPr>
            <a:r>
              <a:rPr lang="en-US" sz="1800" b="1" dirty="0">
                <a:solidFill>
                  <a:srgbClr val="8B1A1A"/>
                </a:solidFill>
                <a:latin typeface="Calibri" pitchFamily="34" charset="0"/>
                <a:ea typeface="Calibri" pitchFamily="34" charset="-122"/>
                <a:cs typeface="Calibri" pitchFamily="34" charset="-120"/>
              </a:rPr>
              <a:t>“You have not lied to men but to God”</a:t>
            </a:r>
            <a:endParaRPr lang="en-US" sz="1800" dirty="0"/>
          </a:p>
        </p:txBody>
      </p:sp>
      <p:sp>
        <p:nvSpPr>
          <p:cNvPr id="9" name="Shape 7"/>
          <p:cNvSpPr/>
          <p:nvPr/>
        </p:nvSpPr>
        <p:spPr>
          <a:xfrm rot="2700000">
            <a:off x="1417320" y="2466594"/>
            <a:ext cx="146304" cy="146304"/>
          </a:xfrm>
          <a:prstGeom prst="rect">
            <a:avLst/>
          </a:prstGeom>
          <a:solidFill>
            <a:srgbClr val="C49A2A"/>
          </a:solidFill>
          <a:ln w="12700">
            <a:solidFill>
              <a:srgbClr val="7A5E15"/>
            </a:solidFill>
            <a:prstDash val="solid"/>
          </a:ln>
        </p:spPr>
      </p:sp>
      <p:sp>
        <p:nvSpPr>
          <p:cNvPr id="10" name="Text 8"/>
          <p:cNvSpPr/>
          <p:nvPr/>
        </p:nvSpPr>
        <p:spPr>
          <a:xfrm>
            <a:off x="1828800" y="2386584"/>
            <a:ext cx="8933688" cy="30632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Hearing this, </a:t>
            </a:r>
            <a:pPr algn="l" indent="0" marL="0">
              <a:buNone/>
            </a:pPr>
            <a:r>
              <a:rPr lang="en-US" sz="1800" b="1" dirty="0">
                <a:solidFill>
                  <a:srgbClr val="33240F"/>
                </a:solidFill>
                <a:latin typeface="Calibri" pitchFamily="34" charset="0"/>
                <a:ea typeface="Calibri" pitchFamily="34" charset="-122"/>
                <a:cs typeface="Calibri" pitchFamily="34" charset="-120"/>
              </a:rPr>
              <a:t>Ananias fell down and died</a:t>
            </a:r>
            <a:pPr algn="l" indent="0" marL="0">
              <a:buNone/>
            </a:pPr>
            <a:r>
              <a:rPr lang="en-US" sz="1800" dirty="0">
                <a:solidFill>
                  <a:srgbClr val="33240F"/>
                </a:solidFill>
                <a:latin typeface="Calibri" pitchFamily="34" charset="0"/>
                <a:ea typeface="Calibri" pitchFamily="34" charset="-122"/>
                <a:cs typeface="Calibri" pitchFamily="34" charset="-120"/>
              </a:rPr>
              <a:t>; the young men buried him</a:t>
            </a:r>
            <a:endParaRPr lang="en-US" sz="1800" dirty="0"/>
          </a:p>
        </p:txBody>
      </p:sp>
      <p:sp>
        <p:nvSpPr>
          <p:cNvPr id="11" name="Shape 9"/>
          <p:cNvSpPr/>
          <p:nvPr/>
        </p:nvSpPr>
        <p:spPr>
          <a:xfrm rot="2700000">
            <a:off x="1417320" y="2772918"/>
            <a:ext cx="146304" cy="146304"/>
          </a:xfrm>
          <a:prstGeom prst="rect">
            <a:avLst/>
          </a:prstGeom>
          <a:solidFill>
            <a:srgbClr val="C49A2A"/>
          </a:solidFill>
          <a:ln w="12700">
            <a:solidFill>
              <a:srgbClr val="7A5E15"/>
            </a:solidFill>
            <a:prstDash val="solid"/>
          </a:ln>
        </p:spPr>
      </p:sp>
      <p:sp>
        <p:nvSpPr>
          <p:cNvPr id="12" name="Text 10"/>
          <p:cNvSpPr/>
          <p:nvPr/>
        </p:nvSpPr>
        <p:spPr>
          <a:xfrm>
            <a:off x="1828800" y="2692908"/>
            <a:ext cx="8933688" cy="30632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Three hours later </a:t>
            </a:r>
            <a:pPr algn="l" indent="0" marL="0">
              <a:buNone/>
            </a:pPr>
            <a:r>
              <a:rPr lang="en-US" sz="1800" b="1" dirty="0">
                <a:solidFill>
                  <a:srgbClr val="33240F"/>
                </a:solidFill>
                <a:latin typeface="Calibri" pitchFamily="34" charset="0"/>
                <a:ea typeface="Calibri" pitchFamily="34" charset="-122"/>
                <a:cs typeface="Calibri" pitchFamily="34" charset="-120"/>
              </a:rPr>
              <a:t>Sapphira</a:t>
            </a:r>
            <a:pPr algn="l" indent="0" marL="0">
              <a:buNone/>
            </a:pPr>
            <a:r>
              <a:rPr lang="en-US" sz="1800" dirty="0">
                <a:solidFill>
                  <a:srgbClr val="33240F"/>
                </a:solidFill>
                <a:latin typeface="Calibri" pitchFamily="34" charset="0"/>
                <a:ea typeface="Calibri" pitchFamily="34" charset="-122"/>
                <a:cs typeface="Calibri" pitchFamily="34" charset="-120"/>
              </a:rPr>
              <a:t> came in and </a:t>
            </a:r>
            <a:pPr algn="l" indent="0" marL="0">
              <a:buNone/>
            </a:pPr>
            <a:r>
              <a:rPr lang="en-US" sz="1800" b="1" dirty="0">
                <a:solidFill>
                  <a:srgbClr val="33240F"/>
                </a:solidFill>
                <a:latin typeface="Calibri" pitchFamily="34" charset="0"/>
                <a:ea typeface="Calibri" pitchFamily="34" charset="-122"/>
                <a:cs typeface="Calibri" pitchFamily="34" charset="-120"/>
              </a:rPr>
              <a:t>repeated the lie</a:t>
            </a:r>
            <a:pPr algn="l" indent="0" marL="0">
              <a:buNone/>
            </a:pPr>
            <a:r>
              <a:rPr lang="en-US" sz="1800" dirty="0">
                <a:solidFill>
                  <a:srgbClr val="33240F"/>
                </a:solidFill>
                <a:latin typeface="Calibri" pitchFamily="34" charset="0"/>
                <a:ea typeface="Calibri" pitchFamily="34" charset="-122"/>
                <a:cs typeface="Calibri" pitchFamily="34" charset="-120"/>
              </a:rPr>
              <a:t> — and she too died</a:t>
            </a:r>
            <a:endParaRPr lang="en-US" sz="1800" dirty="0"/>
          </a:p>
        </p:txBody>
      </p:sp>
      <p:sp>
        <p:nvSpPr>
          <p:cNvPr id="13" name="Shape 11"/>
          <p:cNvSpPr/>
          <p:nvPr/>
        </p:nvSpPr>
        <p:spPr>
          <a:xfrm>
            <a:off x="1353312" y="3493008"/>
            <a:ext cx="9482328" cy="960120"/>
          </a:xfrm>
          <a:prstGeom prst="roundRect">
            <a:avLst>
              <a:gd name="adj" fmla="val 12381"/>
            </a:avLst>
          </a:prstGeom>
          <a:solidFill>
            <a:srgbClr val="F4E4BC">
              <a:alpha val="95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14" name="Shape 12"/>
          <p:cNvSpPr/>
          <p:nvPr/>
        </p:nvSpPr>
        <p:spPr>
          <a:xfrm>
            <a:off x="1444752" y="3584448"/>
            <a:ext cx="9299448" cy="777240"/>
          </a:xfrm>
          <a:prstGeom prst="roundRect">
            <a:avLst>
              <a:gd name="adj" fmla="val 11765"/>
            </a:avLst>
          </a:prstGeom>
          <a:solidFill>
            <a:srgbClr val="FFFFFF">
              <a:alpha val="0"/>
            </a:srgbClr>
          </a:solidFill>
          <a:ln w="9525">
            <a:solidFill>
              <a:srgbClr val="B8902E"/>
            </a:solidFill>
            <a:prstDash val="solid"/>
          </a:ln>
        </p:spPr>
      </p:sp>
      <p:sp>
        <p:nvSpPr>
          <p:cNvPr id="15" name="Text 13"/>
          <p:cNvSpPr/>
          <p:nvPr/>
        </p:nvSpPr>
        <p:spPr>
          <a:xfrm>
            <a:off x="1719072" y="3639312"/>
            <a:ext cx="8750808" cy="667512"/>
          </a:xfrm>
          <a:prstGeom prst="rect">
            <a:avLst/>
          </a:prstGeom>
          <a:noFill/>
          <a:ln/>
        </p:spPr>
        <p:txBody>
          <a:bodyPr wrap="square" rtlCol="0" anchor="ctr"/>
          <a:lstStyle/>
          <a:p>
            <a:pPr algn="ctr" indent="0" marL="0">
              <a:spcAft>
                <a:spcPts val="500"/>
              </a:spcAft>
              <a:buNone/>
            </a:pPr>
            <a:r>
              <a:rPr lang="en-US" sz="1800" i="1" dirty="0">
                <a:solidFill>
                  <a:srgbClr val="33240F"/>
                </a:solidFill>
                <a:latin typeface="Cambria" pitchFamily="34" charset="0"/>
                <a:ea typeface="Cambria" pitchFamily="34" charset="-122"/>
                <a:cs typeface="Cambria" pitchFamily="34" charset="-120"/>
              </a:rPr>
              <a:t>“How is it that you agreed together to test the Spirit of the Lord?”</a:t>
            </a:r>
            <a:endParaRPr lang="en-US" sz="1800" dirty="0"/>
          </a:p>
          <a:p>
            <a:pPr algn="r" indent="0" marL="0">
              <a:buNone/>
            </a:pPr>
            <a:r>
              <a:rPr lang="en-US" sz="1450" b="1" dirty="0">
                <a:solidFill>
                  <a:srgbClr val="8B1A1A"/>
                </a:solidFill>
                <a:latin typeface="Calibri" pitchFamily="34" charset="0"/>
                <a:ea typeface="Calibri" pitchFamily="34" charset="-122"/>
                <a:cs typeface="Calibri" pitchFamily="34" charset="-120"/>
              </a:rPr>
              <a:t>— Acts 5:9</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The Real Sin: The Lie, Not the Money</a:t>
            </a:r>
            <a:endParaRPr lang="en-US" sz="3300" dirty="0"/>
          </a:p>
        </p:txBody>
      </p:sp>
      <p:sp>
        <p:nvSpPr>
          <p:cNvPr id="3" name="Shape 1"/>
          <p:cNvSpPr/>
          <p:nvPr/>
        </p:nvSpPr>
        <p:spPr>
          <a:xfrm>
            <a:off x="1353312" y="1371600"/>
            <a:ext cx="9482328" cy="1143000"/>
          </a:xfrm>
          <a:prstGeom prst="roundRect">
            <a:avLst>
              <a:gd name="adj" fmla="val 10400"/>
            </a:avLst>
          </a:prstGeom>
          <a:solidFill>
            <a:srgbClr val="F4E4BC">
              <a:alpha val="95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444752" y="1463040"/>
            <a:ext cx="9299448" cy="960120"/>
          </a:xfrm>
          <a:prstGeom prst="roundRect">
            <a:avLst>
              <a:gd name="adj" fmla="val 9524"/>
            </a:avLst>
          </a:prstGeom>
          <a:solidFill>
            <a:srgbClr val="FFFFFF">
              <a:alpha val="0"/>
            </a:srgbClr>
          </a:solidFill>
          <a:ln w="9525">
            <a:solidFill>
              <a:srgbClr val="B8902E"/>
            </a:solidFill>
            <a:prstDash val="solid"/>
          </a:ln>
        </p:spPr>
      </p:sp>
      <p:sp>
        <p:nvSpPr>
          <p:cNvPr id="5" name="Text 3"/>
          <p:cNvSpPr/>
          <p:nvPr/>
        </p:nvSpPr>
        <p:spPr>
          <a:xfrm>
            <a:off x="1719072" y="1517904"/>
            <a:ext cx="8750808" cy="850392"/>
          </a:xfrm>
          <a:prstGeom prst="rect">
            <a:avLst/>
          </a:prstGeom>
          <a:noFill/>
          <a:ln/>
        </p:spPr>
        <p:txBody>
          <a:bodyPr wrap="square" rtlCol="0" anchor="ctr"/>
          <a:lstStyle/>
          <a:p>
            <a:pPr algn="ctr" indent="0" marL="0">
              <a:spcAft>
                <a:spcPts val="500"/>
              </a:spcAft>
              <a:buNone/>
            </a:pPr>
            <a:r>
              <a:rPr lang="en-US" sz="1600" i="1" dirty="0">
                <a:solidFill>
                  <a:srgbClr val="33240F"/>
                </a:solidFill>
                <a:latin typeface="Cambria" pitchFamily="34" charset="0"/>
                <a:ea typeface="Cambria" pitchFamily="34" charset="-122"/>
                <a:cs typeface="Cambria" pitchFamily="34" charset="-120"/>
              </a:rPr>
              <a:t>“Why has Satan filled your heart to lie to the Holy Spirit...? While it remained, was it not your own? And after it was sold, was it not in your own control?”</a:t>
            </a:r>
            <a:endParaRPr lang="en-US" sz="1600" dirty="0"/>
          </a:p>
          <a:p>
            <a:pPr algn="r" indent="0" marL="0">
              <a:buNone/>
            </a:pPr>
            <a:r>
              <a:rPr lang="en-US" sz="1450" b="1" dirty="0">
                <a:solidFill>
                  <a:srgbClr val="8B1A1A"/>
                </a:solidFill>
                <a:latin typeface="Calibri" pitchFamily="34" charset="0"/>
                <a:ea typeface="Calibri" pitchFamily="34" charset="-122"/>
                <a:cs typeface="Calibri" pitchFamily="34" charset="-120"/>
              </a:rPr>
              <a:t>— Acts 5:3–4</a:t>
            </a:r>
            <a:endParaRPr lang="en-US" sz="1600" dirty="0"/>
          </a:p>
        </p:txBody>
      </p:sp>
      <p:sp>
        <p:nvSpPr>
          <p:cNvPr id="6" name="Shape 4"/>
          <p:cNvSpPr/>
          <p:nvPr/>
        </p:nvSpPr>
        <p:spPr>
          <a:xfrm>
            <a:off x="1078992" y="2670048"/>
            <a:ext cx="10030968" cy="1874520"/>
          </a:xfrm>
          <a:prstGeom prst="roundRect">
            <a:avLst>
              <a:gd name="adj" fmla="val 6341"/>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7" name="Shape 5"/>
          <p:cNvSpPr/>
          <p:nvPr/>
        </p:nvSpPr>
        <p:spPr>
          <a:xfrm>
            <a:off x="1170432" y="2761488"/>
            <a:ext cx="9848088" cy="1691640"/>
          </a:xfrm>
          <a:prstGeom prst="roundRect">
            <a:avLst>
              <a:gd name="adj" fmla="val 5405"/>
            </a:avLst>
          </a:prstGeom>
          <a:solidFill>
            <a:srgbClr val="FFFFFF">
              <a:alpha val="0"/>
            </a:srgbClr>
          </a:solidFill>
          <a:ln w="9525">
            <a:solidFill>
              <a:srgbClr val="B8902E"/>
            </a:solidFill>
            <a:prstDash val="solid"/>
          </a:ln>
        </p:spPr>
      </p:sp>
      <p:sp>
        <p:nvSpPr>
          <p:cNvPr id="8" name="Shape 6"/>
          <p:cNvSpPr/>
          <p:nvPr/>
        </p:nvSpPr>
        <p:spPr>
          <a:xfrm rot="2700000">
            <a:off x="1417320" y="3050667"/>
            <a:ext cx="146304" cy="146304"/>
          </a:xfrm>
          <a:prstGeom prst="rect">
            <a:avLst/>
          </a:prstGeom>
          <a:solidFill>
            <a:srgbClr val="C49A2A"/>
          </a:solidFill>
          <a:ln w="12700">
            <a:solidFill>
              <a:srgbClr val="7A5E15"/>
            </a:solidFill>
            <a:prstDash val="solid"/>
          </a:ln>
        </p:spPr>
      </p:sp>
      <p:sp>
        <p:nvSpPr>
          <p:cNvPr id="9" name="Text 7"/>
          <p:cNvSpPr/>
          <p:nvPr/>
        </p:nvSpPr>
        <p:spPr>
          <a:xfrm>
            <a:off x="1828800" y="2962656"/>
            <a:ext cx="8933688" cy="322326"/>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The land was </a:t>
            </a:r>
            <a:pPr algn="l" indent="0" marL="0">
              <a:buNone/>
            </a:pPr>
            <a:r>
              <a:rPr lang="en-US" sz="1700" b="1" dirty="0">
                <a:solidFill>
                  <a:srgbClr val="33240F"/>
                </a:solidFill>
                <a:latin typeface="Calibri" pitchFamily="34" charset="0"/>
                <a:ea typeface="Calibri" pitchFamily="34" charset="-122"/>
                <a:cs typeface="Calibri" pitchFamily="34" charset="-120"/>
              </a:rPr>
              <a:t>theirs</a:t>
            </a:r>
            <a:pPr algn="l" indent="0" marL="0">
              <a:buNone/>
            </a:pPr>
            <a:r>
              <a:rPr lang="en-US" sz="1700" dirty="0">
                <a:solidFill>
                  <a:srgbClr val="33240F"/>
                </a:solidFill>
                <a:latin typeface="Calibri" pitchFamily="34" charset="0"/>
                <a:ea typeface="Calibri" pitchFamily="34" charset="-122"/>
                <a:cs typeface="Calibri" pitchFamily="34" charset="-120"/>
              </a:rPr>
              <a:t>. The money was </a:t>
            </a:r>
            <a:pPr algn="l" indent="0" marL="0">
              <a:buNone/>
            </a:pPr>
            <a:r>
              <a:rPr lang="en-US" sz="1700" b="1" dirty="0">
                <a:solidFill>
                  <a:srgbClr val="33240F"/>
                </a:solidFill>
                <a:latin typeface="Calibri" pitchFamily="34" charset="0"/>
                <a:ea typeface="Calibri" pitchFamily="34" charset="-122"/>
                <a:cs typeface="Calibri" pitchFamily="34" charset="-120"/>
              </a:rPr>
              <a:t>theirs</a:t>
            </a:r>
            <a:pPr algn="l" indent="0" marL="0">
              <a:buNone/>
            </a:pPr>
            <a:r>
              <a:rPr lang="en-US" sz="1700" dirty="0">
                <a:solidFill>
                  <a:srgbClr val="33240F"/>
                </a:solidFill>
                <a:latin typeface="Calibri" pitchFamily="34" charset="0"/>
                <a:ea typeface="Calibri" pitchFamily="34" charset="-122"/>
                <a:cs typeface="Calibri" pitchFamily="34" charset="-120"/>
              </a:rPr>
              <a:t>.</a:t>
            </a:r>
            <a:endParaRPr lang="en-US" sz="1700" dirty="0"/>
          </a:p>
        </p:txBody>
      </p:sp>
      <p:sp>
        <p:nvSpPr>
          <p:cNvPr id="10" name="Shape 8"/>
          <p:cNvSpPr/>
          <p:nvPr/>
        </p:nvSpPr>
        <p:spPr>
          <a:xfrm rot="2700000">
            <a:off x="1417320" y="3372993"/>
            <a:ext cx="146304" cy="146304"/>
          </a:xfrm>
          <a:prstGeom prst="rect">
            <a:avLst/>
          </a:prstGeom>
          <a:solidFill>
            <a:srgbClr val="C49A2A"/>
          </a:solidFill>
          <a:ln w="12700">
            <a:solidFill>
              <a:srgbClr val="7A5E15"/>
            </a:solidFill>
            <a:prstDash val="solid"/>
          </a:ln>
        </p:spPr>
      </p:sp>
      <p:sp>
        <p:nvSpPr>
          <p:cNvPr id="11" name="Text 9"/>
          <p:cNvSpPr/>
          <p:nvPr/>
        </p:nvSpPr>
        <p:spPr>
          <a:xfrm>
            <a:off x="1828800" y="3284982"/>
            <a:ext cx="8933688" cy="322326"/>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They were </a:t>
            </a:r>
            <a:pPr algn="l" indent="0" marL="0">
              <a:buNone/>
            </a:pPr>
            <a:r>
              <a:rPr lang="en-US" sz="1700" b="1" dirty="0">
                <a:solidFill>
                  <a:srgbClr val="33240F"/>
                </a:solidFill>
                <a:latin typeface="Calibri" pitchFamily="34" charset="0"/>
                <a:ea typeface="Calibri" pitchFamily="34" charset="-122"/>
                <a:cs typeface="Calibri" pitchFamily="34" charset="-120"/>
              </a:rPr>
              <a:t>not commanded</a:t>
            </a:r>
            <a:pPr algn="l" indent="0" marL="0">
              <a:buNone/>
            </a:pPr>
            <a:r>
              <a:rPr lang="en-US" sz="1700" dirty="0">
                <a:solidFill>
                  <a:srgbClr val="33240F"/>
                </a:solidFill>
                <a:latin typeface="Calibri" pitchFamily="34" charset="0"/>
                <a:ea typeface="Calibri" pitchFamily="34" charset="-122"/>
                <a:cs typeface="Calibri" pitchFamily="34" charset="-120"/>
              </a:rPr>
              <a:t> to sell, nor to give all — Peter says so plainly</a:t>
            </a:r>
            <a:endParaRPr lang="en-US" sz="1700" dirty="0"/>
          </a:p>
        </p:txBody>
      </p:sp>
      <p:sp>
        <p:nvSpPr>
          <p:cNvPr id="12" name="Shape 10"/>
          <p:cNvSpPr/>
          <p:nvPr/>
        </p:nvSpPr>
        <p:spPr>
          <a:xfrm rot="2700000">
            <a:off x="1417320" y="3695319"/>
            <a:ext cx="146304" cy="146304"/>
          </a:xfrm>
          <a:prstGeom prst="rect">
            <a:avLst/>
          </a:prstGeom>
          <a:solidFill>
            <a:srgbClr val="C49A2A"/>
          </a:solidFill>
          <a:ln w="12700">
            <a:solidFill>
              <a:srgbClr val="7A5E15"/>
            </a:solidFill>
            <a:prstDash val="solid"/>
          </a:ln>
        </p:spPr>
      </p:sp>
      <p:sp>
        <p:nvSpPr>
          <p:cNvPr id="13" name="Text 11"/>
          <p:cNvSpPr/>
          <p:nvPr/>
        </p:nvSpPr>
        <p:spPr>
          <a:xfrm>
            <a:off x="1828800" y="3607308"/>
            <a:ext cx="8933688" cy="322326"/>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So the sin was </a:t>
            </a:r>
            <a:pPr algn="l" indent="0" marL="0">
              <a:buNone/>
            </a:pPr>
            <a:r>
              <a:rPr lang="en-US" sz="1700" b="1" dirty="0">
                <a:solidFill>
                  <a:srgbClr val="33240F"/>
                </a:solidFill>
                <a:latin typeface="Calibri" pitchFamily="34" charset="0"/>
                <a:ea typeface="Calibri" pitchFamily="34" charset="-122"/>
                <a:cs typeface="Calibri" pitchFamily="34" charset="-120"/>
              </a:rPr>
              <a:t>not greed</a:t>
            </a:r>
            <a:pPr algn="l" indent="0" marL="0">
              <a:buNone/>
            </a:pPr>
            <a:r>
              <a:rPr lang="en-US" sz="1700" dirty="0">
                <a:solidFill>
                  <a:srgbClr val="33240F"/>
                </a:solidFill>
                <a:latin typeface="Calibri" pitchFamily="34" charset="0"/>
                <a:ea typeface="Calibri" pitchFamily="34" charset="-122"/>
                <a:cs typeface="Calibri" pitchFamily="34" charset="-120"/>
              </a:rPr>
              <a:t> and </a:t>
            </a:r>
            <a:pPr algn="l" indent="0" marL="0">
              <a:buNone/>
            </a:pPr>
            <a:r>
              <a:rPr lang="en-US" sz="1700" b="1" dirty="0">
                <a:solidFill>
                  <a:srgbClr val="33240F"/>
                </a:solidFill>
                <a:latin typeface="Calibri" pitchFamily="34" charset="0"/>
                <a:ea typeface="Calibri" pitchFamily="34" charset="-122"/>
                <a:cs typeface="Calibri" pitchFamily="34" charset="-120"/>
              </a:rPr>
              <a:t>not giving too little</a:t>
            </a:r>
            <a:endParaRPr lang="en-US" sz="1700" dirty="0"/>
          </a:p>
        </p:txBody>
      </p:sp>
      <p:sp>
        <p:nvSpPr>
          <p:cNvPr id="14" name="Shape 12"/>
          <p:cNvSpPr/>
          <p:nvPr/>
        </p:nvSpPr>
        <p:spPr>
          <a:xfrm rot="2700000">
            <a:off x="1417320" y="4017645"/>
            <a:ext cx="146304" cy="146304"/>
          </a:xfrm>
          <a:prstGeom prst="rect">
            <a:avLst/>
          </a:prstGeom>
          <a:solidFill>
            <a:srgbClr val="C49A2A"/>
          </a:solidFill>
          <a:ln w="12700">
            <a:solidFill>
              <a:srgbClr val="7A5E15"/>
            </a:solidFill>
            <a:prstDash val="solid"/>
          </a:ln>
        </p:spPr>
      </p:sp>
      <p:sp>
        <p:nvSpPr>
          <p:cNvPr id="15" name="Text 13"/>
          <p:cNvSpPr/>
          <p:nvPr/>
        </p:nvSpPr>
        <p:spPr>
          <a:xfrm>
            <a:off x="1828800" y="3929634"/>
            <a:ext cx="8933688" cy="322326"/>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The sin was </a:t>
            </a:r>
            <a:pPr algn="l" indent="0" marL="0">
              <a:buNone/>
            </a:pPr>
            <a:r>
              <a:rPr lang="en-US" sz="1700" b="1" dirty="0">
                <a:solidFill>
                  <a:srgbClr val="8B1A1A"/>
                </a:solidFill>
                <a:latin typeface="Calibri" pitchFamily="34" charset="0"/>
                <a:ea typeface="Calibri" pitchFamily="34" charset="-122"/>
                <a:cs typeface="Calibri" pitchFamily="34" charset="-120"/>
              </a:rPr>
              <a:t>hypocrisy</a:t>
            </a:r>
            <a:pPr algn="l" indent="0" marL="0">
              <a:buNone/>
            </a:pPr>
            <a:r>
              <a:rPr lang="en-US" sz="1700" dirty="0">
                <a:solidFill>
                  <a:srgbClr val="33240F"/>
                </a:solidFill>
                <a:latin typeface="Calibri" pitchFamily="34" charset="0"/>
                <a:ea typeface="Calibri" pitchFamily="34" charset="-122"/>
                <a:cs typeface="Calibri" pitchFamily="34" charset="-120"/>
              </a:rPr>
              <a:t> — a holy mask over an unholy heart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Two Sins Working Together</a:t>
            </a:r>
            <a:endParaRPr lang="en-US" sz="3300" dirty="0"/>
          </a:p>
        </p:txBody>
      </p:sp>
      <p:sp>
        <p:nvSpPr>
          <p:cNvPr id="3" name="Shape 1"/>
          <p:cNvSpPr/>
          <p:nvPr/>
        </p:nvSpPr>
        <p:spPr>
          <a:xfrm>
            <a:off x="1078992" y="1463040"/>
            <a:ext cx="10030968" cy="3154680"/>
          </a:xfrm>
          <a:prstGeom prst="roundRect">
            <a:avLst>
              <a:gd name="adj" fmla="val 3768"/>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170432" y="1554480"/>
            <a:ext cx="9848088" cy="2971800"/>
          </a:xfrm>
          <a:prstGeom prst="roundRect">
            <a:avLst>
              <a:gd name="adj" fmla="val 3077"/>
            </a:avLst>
          </a:prstGeom>
          <a:solidFill>
            <a:srgbClr val="FFFFFF">
              <a:alpha val="0"/>
            </a:srgbClr>
          </a:solidFill>
          <a:ln w="9525">
            <a:solidFill>
              <a:srgbClr val="B8902E"/>
            </a:solidFill>
            <a:prstDash val="solid"/>
          </a:ln>
        </p:spPr>
      </p:sp>
      <p:sp>
        <p:nvSpPr>
          <p:cNvPr id="5" name="Shape 3"/>
          <p:cNvSpPr/>
          <p:nvPr/>
        </p:nvSpPr>
        <p:spPr>
          <a:xfrm rot="2700000">
            <a:off x="1417320" y="1939442"/>
            <a:ext cx="146304" cy="146304"/>
          </a:xfrm>
          <a:prstGeom prst="rect">
            <a:avLst/>
          </a:prstGeom>
          <a:solidFill>
            <a:srgbClr val="C49A2A"/>
          </a:solidFill>
          <a:ln w="12700">
            <a:solidFill>
              <a:srgbClr val="7A5E15"/>
            </a:solidFill>
            <a:prstDash val="solid"/>
          </a:ln>
        </p:spPr>
      </p:sp>
      <p:sp>
        <p:nvSpPr>
          <p:cNvPr id="6" name="Text 4"/>
          <p:cNvSpPr/>
          <p:nvPr/>
        </p:nvSpPr>
        <p:spPr>
          <a:xfrm>
            <a:off x="1828800" y="1755648"/>
            <a:ext cx="8933688" cy="513893"/>
          </a:xfrm>
          <a:prstGeom prst="rect">
            <a:avLst/>
          </a:prstGeom>
          <a:noFill/>
          <a:ln/>
        </p:spPr>
        <p:txBody>
          <a:bodyPr wrap="square" lIns="0" tIns="0" rIns="0" bIns="0" rtlCol="0" anchor="ctr"/>
          <a:lstStyle/>
          <a:p>
            <a:pPr algn="l" indent="0" marL="0">
              <a:buNone/>
            </a:pPr>
            <a:r>
              <a:rPr lang="en-US" sz="1700" b="1" dirty="0">
                <a:solidFill>
                  <a:srgbClr val="33240F"/>
                </a:solidFill>
                <a:latin typeface="Calibri" pitchFamily="34" charset="0"/>
                <a:ea typeface="Calibri" pitchFamily="34" charset="-122"/>
                <a:cs typeface="Calibri" pitchFamily="34" charset="-120"/>
              </a:rPr>
              <a:t>Love of money</a:t>
            </a:r>
            <a:pPr algn="l" indent="0" marL="0">
              <a:buNone/>
            </a:pPr>
            <a:r>
              <a:rPr lang="en-US" sz="1700" dirty="0">
                <a:solidFill>
                  <a:srgbClr val="33240F"/>
                </a:solidFill>
                <a:latin typeface="Calibri" pitchFamily="34" charset="0"/>
                <a:ea typeface="Calibri" pitchFamily="34" charset="-122"/>
                <a:cs typeface="Calibri" pitchFamily="34" charset="-120"/>
              </a:rPr>
              <a:t> made them keep back the price</a:t>
            </a:r>
            <a:endParaRPr lang="en-US" sz="1700" dirty="0"/>
          </a:p>
        </p:txBody>
      </p:sp>
      <p:sp>
        <p:nvSpPr>
          <p:cNvPr id="7" name="Shape 5"/>
          <p:cNvSpPr/>
          <p:nvPr/>
        </p:nvSpPr>
        <p:spPr>
          <a:xfrm rot="2700000">
            <a:off x="1417320" y="2453335"/>
            <a:ext cx="146304" cy="146304"/>
          </a:xfrm>
          <a:prstGeom prst="rect">
            <a:avLst/>
          </a:prstGeom>
          <a:solidFill>
            <a:srgbClr val="C49A2A"/>
          </a:solidFill>
          <a:ln w="12700">
            <a:solidFill>
              <a:srgbClr val="7A5E15"/>
            </a:solidFill>
            <a:prstDash val="solid"/>
          </a:ln>
        </p:spPr>
      </p:sp>
      <p:sp>
        <p:nvSpPr>
          <p:cNvPr id="8" name="Text 6"/>
          <p:cNvSpPr/>
          <p:nvPr/>
        </p:nvSpPr>
        <p:spPr>
          <a:xfrm>
            <a:off x="1828800" y="2269541"/>
            <a:ext cx="8933688" cy="513893"/>
          </a:xfrm>
          <a:prstGeom prst="rect">
            <a:avLst/>
          </a:prstGeom>
          <a:noFill/>
          <a:ln/>
        </p:spPr>
        <p:txBody>
          <a:bodyPr wrap="square" lIns="0" tIns="0" rIns="0" bIns="0" rtlCol="0" anchor="ctr"/>
          <a:lstStyle/>
          <a:p>
            <a:pPr algn="l" indent="0" marL="0">
              <a:buNone/>
            </a:pPr>
            <a:r>
              <a:rPr lang="en-US" sz="1700" b="1" dirty="0">
                <a:solidFill>
                  <a:srgbClr val="8B1A1A"/>
                </a:solidFill>
                <a:latin typeface="Calibri" pitchFamily="34" charset="0"/>
                <a:ea typeface="Calibri" pitchFamily="34" charset="-122"/>
                <a:cs typeface="Calibri" pitchFamily="34" charset="-120"/>
              </a:rPr>
              <a:t>Vainglory</a:t>
            </a:r>
            <a:pPr algn="l" indent="0" marL="0">
              <a:buNone/>
            </a:pPr>
            <a:r>
              <a:rPr lang="en-US" sz="1700" dirty="0">
                <a:solidFill>
                  <a:srgbClr val="33240F"/>
                </a:solidFill>
                <a:latin typeface="Calibri" pitchFamily="34" charset="0"/>
                <a:ea typeface="Calibri" pitchFamily="34" charset="-122"/>
                <a:cs typeface="Calibri" pitchFamily="34" charset="-120"/>
              </a:rPr>
              <a:t> (the hunger to be seen and praised) made them lie about it</a:t>
            </a:r>
            <a:endParaRPr lang="en-US" sz="1700" dirty="0"/>
          </a:p>
        </p:txBody>
      </p:sp>
      <p:sp>
        <p:nvSpPr>
          <p:cNvPr id="9" name="Shape 7"/>
          <p:cNvSpPr/>
          <p:nvPr/>
        </p:nvSpPr>
        <p:spPr>
          <a:xfrm rot="2700000">
            <a:off x="1417320" y="2967228"/>
            <a:ext cx="146304" cy="146304"/>
          </a:xfrm>
          <a:prstGeom prst="rect">
            <a:avLst/>
          </a:prstGeom>
          <a:solidFill>
            <a:srgbClr val="C49A2A"/>
          </a:solidFill>
          <a:ln w="12700">
            <a:solidFill>
              <a:srgbClr val="7A5E15"/>
            </a:solidFill>
            <a:prstDash val="solid"/>
          </a:ln>
        </p:spPr>
      </p:sp>
      <p:sp>
        <p:nvSpPr>
          <p:cNvPr id="10" name="Text 8"/>
          <p:cNvSpPr/>
          <p:nvPr/>
        </p:nvSpPr>
        <p:spPr>
          <a:xfrm>
            <a:off x="1828800" y="2783434"/>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“The love of money is a root of all kinds of evil.” — </a:t>
            </a:r>
            <a:pPr algn="l" indent="0" marL="0">
              <a:buNone/>
            </a:pPr>
            <a:r>
              <a:rPr lang="en-US" sz="1700" b="1" dirty="0">
                <a:solidFill>
                  <a:srgbClr val="33240F"/>
                </a:solidFill>
                <a:latin typeface="Calibri" pitchFamily="34" charset="0"/>
                <a:ea typeface="Calibri" pitchFamily="34" charset="-122"/>
                <a:cs typeface="Calibri" pitchFamily="34" charset="-120"/>
              </a:rPr>
              <a:t>1 Timothy 6:10</a:t>
            </a:r>
            <a:endParaRPr lang="en-US" sz="1700" dirty="0"/>
          </a:p>
        </p:txBody>
      </p:sp>
      <p:sp>
        <p:nvSpPr>
          <p:cNvPr id="11" name="Shape 9"/>
          <p:cNvSpPr/>
          <p:nvPr/>
        </p:nvSpPr>
        <p:spPr>
          <a:xfrm rot="2700000">
            <a:off x="1417320" y="3481121"/>
            <a:ext cx="146304" cy="146304"/>
          </a:xfrm>
          <a:prstGeom prst="rect">
            <a:avLst/>
          </a:prstGeom>
          <a:solidFill>
            <a:srgbClr val="C49A2A"/>
          </a:solidFill>
          <a:ln w="12700">
            <a:solidFill>
              <a:srgbClr val="7A5E15"/>
            </a:solidFill>
            <a:prstDash val="solid"/>
          </a:ln>
        </p:spPr>
      </p:sp>
      <p:sp>
        <p:nvSpPr>
          <p:cNvPr id="12" name="Text 10"/>
          <p:cNvSpPr/>
          <p:nvPr/>
        </p:nvSpPr>
        <p:spPr>
          <a:xfrm>
            <a:off x="1828800" y="3297326"/>
            <a:ext cx="8933688" cy="513893"/>
          </a:xfrm>
          <a:prstGeom prst="rect">
            <a:avLst/>
          </a:prstGeom>
          <a:noFill/>
          <a:ln/>
        </p:spPr>
        <p:txBody>
          <a:bodyPr wrap="square" lIns="0" tIns="0" rIns="0" bIns="0" rtlCol="0" anchor="ctr"/>
          <a:lstStyle/>
          <a:p>
            <a:pPr algn="l" indent="0" marL="0">
              <a:buNone/>
            </a:pPr>
            <a:r>
              <a:rPr lang="en-US" sz="1700" b="1" dirty="0">
                <a:solidFill>
                  <a:srgbClr val="33240F"/>
                </a:solidFill>
                <a:latin typeface="Calibri" pitchFamily="34" charset="0"/>
                <a:ea typeface="Calibri" pitchFamily="34" charset="-122"/>
                <a:cs typeface="Calibri" pitchFamily="34" charset="-120"/>
              </a:rPr>
              <a:t>Satan</a:t>
            </a:r>
            <a:pPr algn="l" indent="0" marL="0">
              <a:buNone/>
            </a:pPr>
            <a:r>
              <a:rPr lang="en-US" sz="1700" dirty="0">
                <a:solidFill>
                  <a:srgbClr val="33240F"/>
                </a:solidFill>
                <a:latin typeface="Calibri" pitchFamily="34" charset="0"/>
                <a:ea typeface="Calibri" pitchFamily="34" charset="-122"/>
                <a:cs typeface="Calibri" pitchFamily="34" charset="-120"/>
              </a:rPr>
              <a:t> “filled their heart” — not by force, but because they </a:t>
            </a:r>
            <a:pPr algn="l" indent="0" marL="0">
              <a:buNone/>
            </a:pPr>
            <a:r>
              <a:rPr lang="en-US" sz="1700" b="1" dirty="0">
                <a:solidFill>
                  <a:srgbClr val="33240F"/>
                </a:solidFill>
                <a:latin typeface="Calibri" pitchFamily="34" charset="0"/>
                <a:ea typeface="Calibri" pitchFamily="34" charset="-122"/>
                <a:cs typeface="Calibri" pitchFamily="34" charset="-120"/>
              </a:rPr>
              <a:t>made room for him</a:t>
            </a:r>
            <a:endParaRPr lang="en-US" sz="1700" dirty="0"/>
          </a:p>
        </p:txBody>
      </p:sp>
      <p:sp>
        <p:nvSpPr>
          <p:cNvPr id="13" name="Shape 11"/>
          <p:cNvSpPr/>
          <p:nvPr/>
        </p:nvSpPr>
        <p:spPr>
          <a:xfrm rot="2700000">
            <a:off x="1417320" y="3995014"/>
            <a:ext cx="146304" cy="146304"/>
          </a:xfrm>
          <a:prstGeom prst="rect">
            <a:avLst/>
          </a:prstGeom>
          <a:solidFill>
            <a:srgbClr val="C49A2A"/>
          </a:solidFill>
          <a:ln w="12700">
            <a:solidFill>
              <a:srgbClr val="7A5E15"/>
            </a:solidFill>
            <a:prstDash val="solid"/>
          </a:ln>
        </p:spPr>
      </p:sp>
      <p:sp>
        <p:nvSpPr>
          <p:cNvPr id="14" name="Text 12"/>
          <p:cNvSpPr/>
          <p:nvPr/>
        </p:nvSpPr>
        <p:spPr>
          <a:xfrm>
            <a:off x="1828800" y="3811219"/>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He is the </a:t>
            </a:r>
            <a:pPr algn="l" indent="0" marL="0">
              <a:buNone/>
            </a:pPr>
            <a:r>
              <a:rPr lang="en-US" sz="1700" b="1" dirty="0">
                <a:solidFill>
                  <a:srgbClr val="33240F"/>
                </a:solidFill>
                <a:latin typeface="Calibri" pitchFamily="34" charset="0"/>
                <a:ea typeface="Calibri" pitchFamily="34" charset="-122"/>
                <a:cs typeface="Calibri" pitchFamily="34" charset="-120"/>
              </a:rPr>
              <a:t>father of lies</a:t>
            </a:r>
            <a:pPr algn="l" indent="0" marL="0">
              <a:buNone/>
            </a:pPr>
            <a:r>
              <a:rPr lang="en-US" sz="1700" dirty="0">
                <a:solidFill>
                  <a:srgbClr val="33240F"/>
                </a:solidFill>
                <a:latin typeface="Calibri" pitchFamily="34" charset="0"/>
                <a:ea typeface="Calibri" pitchFamily="34" charset="-122"/>
                <a:cs typeface="Calibri" pitchFamily="34" charset="-120"/>
              </a:rPr>
              <a:t> (John 8:44) — yet the responsibility stayed </a:t>
            </a:r>
            <a:pPr algn="l" indent="0" marL="0">
              <a:buNone/>
            </a:pPr>
            <a:r>
              <a:rPr lang="en-US" sz="1700" b="1" dirty="0">
                <a:solidFill>
                  <a:srgbClr val="8B1A1A"/>
                </a:solidFill>
                <a:latin typeface="Calibri" pitchFamily="34" charset="0"/>
                <a:ea typeface="Calibri" pitchFamily="34" charset="-122"/>
                <a:cs typeface="Calibri" pitchFamily="34" charset="-120"/>
              </a:rPr>
              <a:t>theirs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Same Act, Opposite Heart</a:t>
            </a:r>
            <a:endParaRPr lang="en-US" sz="3300" dirty="0"/>
          </a:p>
        </p:txBody>
      </p:sp>
      <p:sp>
        <p:nvSpPr>
          <p:cNvPr id="3" name="Shape 1"/>
          <p:cNvSpPr/>
          <p:nvPr/>
        </p:nvSpPr>
        <p:spPr>
          <a:xfrm>
            <a:off x="1078992" y="1463040"/>
            <a:ext cx="10030968" cy="3154680"/>
          </a:xfrm>
          <a:prstGeom prst="roundRect">
            <a:avLst>
              <a:gd name="adj" fmla="val 3768"/>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170432" y="1554480"/>
            <a:ext cx="9848088" cy="2971800"/>
          </a:xfrm>
          <a:prstGeom prst="roundRect">
            <a:avLst>
              <a:gd name="adj" fmla="val 3077"/>
            </a:avLst>
          </a:prstGeom>
          <a:solidFill>
            <a:srgbClr val="FFFFFF">
              <a:alpha val="0"/>
            </a:srgbClr>
          </a:solidFill>
          <a:ln w="9525">
            <a:solidFill>
              <a:srgbClr val="B8902E"/>
            </a:solidFill>
            <a:prstDash val="solid"/>
          </a:ln>
        </p:spPr>
      </p:sp>
      <p:sp>
        <p:nvSpPr>
          <p:cNvPr id="5" name="Shape 3"/>
          <p:cNvSpPr/>
          <p:nvPr/>
        </p:nvSpPr>
        <p:spPr>
          <a:xfrm rot="2700000">
            <a:off x="1417320" y="1939442"/>
            <a:ext cx="146304" cy="146304"/>
          </a:xfrm>
          <a:prstGeom prst="rect">
            <a:avLst/>
          </a:prstGeom>
          <a:solidFill>
            <a:srgbClr val="C49A2A"/>
          </a:solidFill>
          <a:ln w="12700">
            <a:solidFill>
              <a:srgbClr val="7A5E15"/>
            </a:solidFill>
            <a:prstDash val="solid"/>
          </a:ln>
        </p:spPr>
      </p:sp>
      <p:sp>
        <p:nvSpPr>
          <p:cNvPr id="6" name="Text 4"/>
          <p:cNvSpPr/>
          <p:nvPr/>
        </p:nvSpPr>
        <p:spPr>
          <a:xfrm>
            <a:off x="1828800" y="1755648"/>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Both men </a:t>
            </a:r>
            <a:pPr algn="l" indent="0" marL="0">
              <a:buNone/>
            </a:pPr>
            <a:r>
              <a:rPr lang="en-US" sz="1700" b="1" dirty="0">
                <a:solidFill>
                  <a:srgbClr val="33240F"/>
                </a:solidFill>
                <a:latin typeface="Calibri" pitchFamily="34" charset="0"/>
                <a:ea typeface="Calibri" pitchFamily="34" charset="-122"/>
                <a:cs typeface="Calibri" pitchFamily="34" charset="-120"/>
              </a:rPr>
              <a:t>sold property</a:t>
            </a:r>
            <a:pPr algn="l" indent="0" marL="0">
              <a:buNone/>
            </a:pPr>
            <a:r>
              <a:rPr lang="en-US" sz="1700" dirty="0">
                <a:solidFill>
                  <a:srgbClr val="33240F"/>
                </a:solidFill>
                <a:latin typeface="Calibri" pitchFamily="34" charset="0"/>
                <a:ea typeface="Calibri" pitchFamily="34" charset="-122"/>
                <a:cs typeface="Calibri" pitchFamily="34" charset="-120"/>
              </a:rPr>
              <a:t> and brought money to the apostles</a:t>
            </a:r>
            <a:endParaRPr lang="en-US" sz="1700" dirty="0"/>
          </a:p>
        </p:txBody>
      </p:sp>
      <p:sp>
        <p:nvSpPr>
          <p:cNvPr id="7" name="Shape 5"/>
          <p:cNvSpPr/>
          <p:nvPr/>
        </p:nvSpPr>
        <p:spPr>
          <a:xfrm rot="2700000">
            <a:off x="1417320" y="2453335"/>
            <a:ext cx="146304" cy="146304"/>
          </a:xfrm>
          <a:prstGeom prst="rect">
            <a:avLst/>
          </a:prstGeom>
          <a:solidFill>
            <a:srgbClr val="C49A2A"/>
          </a:solidFill>
          <a:ln w="12700">
            <a:solidFill>
              <a:srgbClr val="7A5E15"/>
            </a:solidFill>
            <a:prstDash val="solid"/>
          </a:ln>
        </p:spPr>
      </p:sp>
      <p:sp>
        <p:nvSpPr>
          <p:cNvPr id="8" name="Text 6"/>
          <p:cNvSpPr/>
          <p:nvPr/>
        </p:nvSpPr>
        <p:spPr>
          <a:xfrm>
            <a:off x="1828800" y="2269541"/>
            <a:ext cx="8933688" cy="513893"/>
          </a:xfrm>
          <a:prstGeom prst="rect">
            <a:avLst/>
          </a:prstGeom>
          <a:noFill/>
          <a:ln/>
        </p:spPr>
        <p:txBody>
          <a:bodyPr wrap="square" lIns="0" tIns="0" rIns="0" bIns="0" rtlCol="0" anchor="ctr"/>
          <a:lstStyle/>
          <a:p>
            <a:pPr algn="l" indent="0" marL="0">
              <a:buNone/>
            </a:pPr>
            <a:r>
              <a:rPr lang="en-US" sz="1700" b="1" dirty="0">
                <a:solidFill>
                  <a:srgbClr val="1E5631"/>
                </a:solidFill>
                <a:latin typeface="Calibri" pitchFamily="34" charset="0"/>
                <a:ea typeface="Calibri" pitchFamily="34" charset="-122"/>
                <a:cs typeface="Calibri" pitchFamily="34" charset="-120"/>
              </a:rPr>
              <a:t>Barnabas</a:t>
            </a:r>
            <a:pPr algn="l" indent="0" marL="0">
              <a:buNone/>
            </a:pPr>
            <a:r>
              <a:rPr lang="en-US" sz="1700" dirty="0">
                <a:solidFill>
                  <a:srgbClr val="33240F"/>
                </a:solidFill>
                <a:latin typeface="Calibri" pitchFamily="34" charset="0"/>
                <a:ea typeface="Calibri" pitchFamily="34" charset="-122"/>
                <a:cs typeface="Calibri" pitchFamily="34" charset="-120"/>
              </a:rPr>
              <a:t> gave the whole price, openly, </a:t>
            </a:r>
            <a:pPr algn="l" indent="0" marL="0">
              <a:buNone/>
            </a:pPr>
            <a:r>
              <a:rPr lang="en-US" sz="1700" b="1" dirty="0">
                <a:solidFill>
                  <a:srgbClr val="33240F"/>
                </a:solidFill>
                <a:latin typeface="Calibri" pitchFamily="34" charset="0"/>
                <a:ea typeface="Calibri" pitchFamily="34" charset="-122"/>
                <a:cs typeface="Calibri" pitchFamily="34" charset="-120"/>
              </a:rPr>
              <a:t>out of love</a:t>
            </a:r>
            <a:pPr algn="l" indent="0" marL="0">
              <a:buNone/>
            </a:pPr>
            <a:r>
              <a:rPr lang="en-US" sz="1700" dirty="0">
                <a:solidFill>
                  <a:srgbClr val="33240F"/>
                </a:solidFill>
                <a:latin typeface="Calibri" pitchFamily="34" charset="0"/>
                <a:ea typeface="Calibri" pitchFamily="34" charset="-122"/>
                <a:cs typeface="Calibri" pitchFamily="34" charset="-120"/>
              </a:rPr>
              <a:t> — and was blessed</a:t>
            </a:r>
            <a:endParaRPr lang="en-US" sz="1700" dirty="0"/>
          </a:p>
        </p:txBody>
      </p:sp>
      <p:sp>
        <p:nvSpPr>
          <p:cNvPr id="9" name="Shape 7"/>
          <p:cNvSpPr/>
          <p:nvPr/>
        </p:nvSpPr>
        <p:spPr>
          <a:xfrm rot="2700000">
            <a:off x="1417320" y="2967228"/>
            <a:ext cx="146304" cy="146304"/>
          </a:xfrm>
          <a:prstGeom prst="rect">
            <a:avLst/>
          </a:prstGeom>
          <a:solidFill>
            <a:srgbClr val="C49A2A"/>
          </a:solidFill>
          <a:ln w="12700">
            <a:solidFill>
              <a:srgbClr val="7A5E15"/>
            </a:solidFill>
            <a:prstDash val="solid"/>
          </a:ln>
        </p:spPr>
      </p:sp>
      <p:sp>
        <p:nvSpPr>
          <p:cNvPr id="10" name="Text 8"/>
          <p:cNvSpPr/>
          <p:nvPr/>
        </p:nvSpPr>
        <p:spPr>
          <a:xfrm>
            <a:off x="1828800" y="2783434"/>
            <a:ext cx="8933688" cy="513893"/>
          </a:xfrm>
          <a:prstGeom prst="rect">
            <a:avLst/>
          </a:prstGeom>
          <a:noFill/>
          <a:ln/>
        </p:spPr>
        <p:txBody>
          <a:bodyPr wrap="square" lIns="0" tIns="0" rIns="0" bIns="0" rtlCol="0" anchor="ctr"/>
          <a:lstStyle/>
          <a:p>
            <a:pPr algn="l" indent="0" marL="0">
              <a:buNone/>
            </a:pPr>
            <a:r>
              <a:rPr lang="en-US" sz="1700" b="1" dirty="0">
                <a:solidFill>
                  <a:srgbClr val="8B1A1A"/>
                </a:solidFill>
                <a:latin typeface="Calibri" pitchFamily="34" charset="0"/>
                <a:ea typeface="Calibri" pitchFamily="34" charset="-122"/>
                <a:cs typeface="Calibri" pitchFamily="34" charset="-120"/>
              </a:rPr>
              <a:t>Ananias</a:t>
            </a:r>
            <a:pPr algn="l" indent="0" marL="0">
              <a:buNone/>
            </a:pPr>
            <a:r>
              <a:rPr lang="en-US" sz="1700" dirty="0">
                <a:solidFill>
                  <a:srgbClr val="33240F"/>
                </a:solidFill>
                <a:latin typeface="Calibri" pitchFamily="34" charset="0"/>
                <a:ea typeface="Calibri" pitchFamily="34" charset="-122"/>
                <a:cs typeface="Calibri" pitchFamily="34" charset="-120"/>
              </a:rPr>
              <a:t> gave part while </a:t>
            </a:r>
            <a:pPr algn="l" indent="0" marL="0">
              <a:buNone/>
            </a:pPr>
            <a:r>
              <a:rPr lang="en-US" sz="1700" b="1" dirty="0">
                <a:solidFill>
                  <a:srgbClr val="33240F"/>
                </a:solidFill>
                <a:latin typeface="Calibri" pitchFamily="34" charset="0"/>
                <a:ea typeface="Calibri" pitchFamily="34" charset="-122"/>
                <a:cs typeface="Calibri" pitchFamily="34" charset="-120"/>
              </a:rPr>
              <a:t>pretending</a:t>
            </a:r>
            <a:pPr algn="l" indent="0" marL="0">
              <a:buNone/>
            </a:pPr>
            <a:r>
              <a:rPr lang="en-US" sz="1700" dirty="0">
                <a:solidFill>
                  <a:srgbClr val="33240F"/>
                </a:solidFill>
                <a:latin typeface="Calibri" pitchFamily="34" charset="0"/>
                <a:ea typeface="Calibri" pitchFamily="34" charset="-122"/>
                <a:cs typeface="Calibri" pitchFamily="34" charset="-120"/>
              </a:rPr>
              <a:t> it was all — to be admired</a:t>
            </a:r>
            <a:endParaRPr lang="en-US" sz="1700" dirty="0"/>
          </a:p>
        </p:txBody>
      </p:sp>
      <p:sp>
        <p:nvSpPr>
          <p:cNvPr id="11" name="Shape 9"/>
          <p:cNvSpPr/>
          <p:nvPr/>
        </p:nvSpPr>
        <p:spPr>
          <a:xfrm rot="2700000">
            <a:off x="1417320" y="3481121"/>
            <a:ext cx="146304" cy="146304"/>
          </a:xfrm>
          <a:prstGeom prst="rect">
            <a:avLst/>
          </a:prstGeom>
          <a:solidFill>
            <a:srgbClr val="C49A2A"/>
          </a:solidFill>
          <a:ln w="12700">
            <a:solidFill>
              <a:srgbClr val="7A5E15"/>
            </a:solidFill>
            <a:prstDash val="solid"/>
          </a:ln>
        </p:spPr>
      </p:sp>
      <p:sp>
        <p:nvSpPr>
          <p:cNvPr id="12" name="Text 10"/>
          <p:cNvSpPr/>
          <p:nvPr/>
        </p:nvSpPr>
        <p:spPr>
          <a:xfrm>
            <a:off x="1828800" y="3297326"/>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The outward action looked the same; the </a:t>
            </a:r>
            <a:pPr algn="l" indent="0" marL="0">
              <a:buNone/>
            </a:pPr>
            <a:r>
              <a:rPr lang="en-US" sz="1700" b="1" dirty="0">
                <a:solidFill>
                  <a:srgbClr val="33240F"/>
                </a:solidFill>
                <a:latin typeface="Calibri" pitchFamily="34" charset="0"/>
                <a:ea typeface="Calibri" pitchFamily="34" charset="-122"/>
                <a:cs typeface="Calibri" pitchFamily="34" charset="-120"/>
              </a:rPr>
              <a:t>heart</a:t>
            </a:r>
            <a:pPr algn="l" indent="0" marL="0">
              <a:buNone/>
            </a:pPr>
            <a:r>
              <a:rPr lang="en-US" sz="1700" dirty="0">
                <a:solidFill>
                  <a:srgbClr val="33240F"/>
                </a:solidFill>
                <a:latin typeface="Calibri" pitchFamily="34" charset="0"/>
                <a:ea typeface="Calibri" pitchFamily="34" charset="-122"/>
                <a:cs typeface="Calibri" pitchFamily="34" charset="-120"/>
              </a:rPr>
              <a:t> made all the difference</a:t>
            </a:r>
            <a:endParaRPr lang="en-US" sz="1700" dirty="0"/>
          </a:p>
        </p:txBody>
      </p:sp>
      <p:sp>
        <p:nvSpPr>
          <p:cNvPr id="13" name="Shape 11"/>
          <p:cNvSpPr/>
          <p:nvPr/>
        </p:nvSpPr>
        <p:spPr>
          <a:xfrm rot="2700000">
            <a:off x="1417320" y="3995014"/>
            <a:ext cx="146304" cy="146304"/>
          </a:xfrm>
          <a:prstGeom prst="rect">
            <a:avLst/>
          </a:prstGeom>
          <a:solidFill>
            <a:srgbClr val="C49A2A"/>
          </a:solidFill>
          <a:ln w="12700">
            <a:solidFill>
              <a:srgbClr val="7A5E15"/>
            </a:solidFill>
            <a:prstDash val="solid"/>
          </a:ln>
        </p:spPr>
      </p:sp>
      <p:sp>
        <p:nvSpPr>
          <p:cNvPr id="14" name="Text 12"/>
          <p:cNvSpPr/>
          <p:nvPr/>
        </p:nvSpPr>
        <p:spPr>
          <a:xfrm>
            <a:off x="1828800" y="3811219"/>
            <a:ext cx="8933688" cy="513893"/>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God does not only see the gift — He sees the </a:t>
            </a:r>
            <a:pPr algn="l" indent="0" marL="0">
              <a:buNone/>
            </a:pPr>
            <a:r>
              <a:rPr lang="en-US" sz="1700" b="1" dirty="0">
                <a:solidFill>
                  <a:srgbClr val="8B1A1A"/>
                </a:solidFill>
                <a:latin typeface="Calibri" pitchFamily="34" charset="0"/>
                <a:ea typeface="Calibri" pitchFamily="34" charset="-122"/>
                <a:cs typeface="Calibri" pitchFamily="34" charset="-120"/>
              </a:rPr>
              <a:t>heart that gives it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“You Have Not Lied to Men but to God”</a:t>
            </a:r>
            <a:endParaRPr lang="en-US" sz="3300" dirty="0"/>
          </a:p>
        </p:txBody>
      </p:sp>
      <p:sp>
        <p:nvSpPr>
          <p:cNvPr id="3" name="Shape 1"/>
          <p:cNvSpPr/>
          <p:nvPr/>
        </p:nvSpPr>
        <p:spPr>
          <a:xfrm>
            <a:off x="1353312" y="1371600"/>
            <a:ext cx="9482328" cy="1143000"/>
          </a:xfrm>
          <a:prstGeom prst="roundRect">
            <a:avLst>
              <a:gd name="adj" fmla="val 10400"/>
            </a:avLst>
          </a:prstGeom>
          <a:solidFill>
            <a:srgbClr val="F4E4BC">
              <a:alpha val="95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444752" y="1463040"/>
            <a:ext cx="9299448" cy="960120"/>
          </a:xfrm>
          <a:prstGeom prst="roundRect">
            <a:avLst>
              <a:gd name="adj" fmla="val 9524"/>
            </a:avLst>
          </a:prstGeom>
          <a:solidFill>
            <a:srgbClr val="FFFFFF">
              <a:alpha val="0"/>
            </a:srgbClr>
          </a:solidFill>
          <a:ln w="9525">
            <a:solidFill>
              <a:srgbClr val="B8902E"/>
            </a:solidFill>
            <a:prstDash val="solid"/>
          </a:ln>
        </p:spPr>
      </p:sp>
      <p:sp>
        <p:nvSpPr>
          <p:cNvPr id="5" name="Text 3"/>
          <p:cNvSpPr/>
          <p:nvPr/>
        </p:nvSpPr>
        <p:spPr>
          <a:xfrm>
            <a:off x="1719072" y="1463040"/>
            <a:ext cx="8750808" cy="960120"/>
          </a:xfrm>
          <a:prstGeom prst="rect">
            <a:avLst/>
          </a:prstGeom>
          <a:noFill/>
          <a:ln/>
        </p:spPr>
        <p:txBody>
          <a:bodyPr wrap="square" rtlCol="0" anchor="ctr"/>
          <a:lstStyle/>
          <a:p>
            <a:pPr algn="ctr" indent="0" marL="0">
              <a:buNone/>
            </a:pPr>
            <a:r>
              <a:rPr lang="en-US" sz="1700" dirty="0">
                <a:solidFill>
                  <a:srgbClr val="33240F"/>
                </a:solidFill>
                <a:latin typeface="Cambria" pitchFamily="34" charset="0"/>
                <a:ea typeface="Cambria" pitchFamily="34" charset="-122"/>
                <a:cs typeface="Cambria" pitchFamily="34" charset="-120"/>
              </a:rPr>
              <a:t>v.3  —  they lied </a:t>
            </a:r>
            <a:pPr algn="ctr" indent="0" marL="0">
              <a:spcAft>
                <a:spcPts val="600"/>
              </a:spcAft>
              <a:buNone/>
            </a:pPr>
            <a:r>
              <a:rPr lang="en-US" sz="1700" b="1" dirty="0">
                <a:solidFill>
                  <a:srgbClr val="8B1A1A"/>
                </a:solidFill>
                <a:latin typeface="Cambria" pitchFamily="34" charset="0"/>
                <a:ea typeface="Cambria" pitchFamily="34" charset="-122"/>
                <a:cs typeface="Cambria" pitchFamily="34" charset="-120"/>
              </a:rPr>
              <a:t>“to the Holy Spirit”</a:t>
            </a:r>
            <a:endParaRPr lang="en-US" sz="1700" dirty="0"/>
          </a:p>
          <a:p>
            <a:pPr algn="ctr" indent="0" marL="0">
              <a:buNone/>
            </a:pPr>
            <a:r>
              <a:rPr lang="en-US" sz="1700" dirty="0">
                <a:solidFill>
                  <a:srgbClr val="33240F"/>
                </a:solidFill>
                <a:latin typeface="Cambria" pitchFamily="34" charset="0"/>
                <a:ea typeface="Cambria" pitchFamily="34" charset="-122"/>
                <a:cs typeface="Cambria" pitchFamily="34" charset="-120"/>
              </a:rPr>
              <a:t>v.4  —  they lied </a:t>
            </a:r>
            <a:pPr algn="ctr" indent="0" marL="0">
              <a:buNone/>
            </a:pPr>
            <a:r>
              <a:rPr lang="en-US" sz="1700" b="1" dirty="0">
                <a:solidFill>
                  <a:srgbClr val="8B1A1A"/>
                </a:solidFill>
                <a:latin typeface="Cambria" pitchFamily="34" charset="0"/>
                <a:ea typeface="Cambria" pitchFamily="34" charset="-122"/>
                <a:cs typeface="Cambria" pitchFamily="34" charset="-120"/>
              </a:rPr>
              <a:t>“not to men but to God”</a:t>
            </a:r>
            <a:endParaRPr lang="en-US" sz="1700" dirty="0"/>
          </a:p>
        </p:txBody>
      </p:sp>
      <p:sp>
        <p:nvSpPr>
          <p:cNvPr id="6" name="Shape 4"/>
          <p:cNvSpPr/>
          <p:nvPr/>
        </p:nvSpPr>
        <p:spPr>
          <a:xfrm>
            <a:off x="1078992" y="2697480"/>
            <a:ext cx="10030968" cy="1874520"/>
          </a:xfrm>
          <a:prstGeom prst="roundRect">
            <a:avLst>
              <a:gd name="adj" fmla="val 6341"/>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7" name="Shape 5"/>
          <p:cNvSpPr/>
          <p:nvPr/>
        </p:nvSpPr>
        <p:spPr>
          <a:xfrm>
            <a:off x="1170432" y="2788920"/>
            <a:ext cx="9848088" cy="1691640"/>
          </a:xfrm>
          <a:prstGeom prst="roundRect">
            <a:avLst>
              <a:gd name="adj" fmla="val 5405"/>
            </a:avLst>
          </a:prstGeom>
          <a:solidFill>
            <a:srgbClr val="FFFFFF">
              <a:alpha val="0"/>
            </a:srgbClr>
          </a:solidFill>
          <a:ln w="9525">
            <a:solidFill>
              <a:srgbClr val="B8902E"/>
            </a:solidFill>
            <a:prstDash val="solid"/>
          </a:ln>
        </p:spPr>
      </p:sp>
      <p:sp>
        <p:nvSpPr>
          <p:cNvPr id="8" name="Shape 6"/>
          <p:cNvSpPr/>
          <p:nvPr/>
        </p:nvSpPr>
        <p:spPr>
          <a:xfrm rot="2700000">
            <a:off x="1417320" y="3078099"/>
            <a:ext cx="146304" cy="146304"/>
          </a:xfrm>
          <a:prstGeom prst="rect">
            <a:avLst/>
          </a:prstGeom>
          <a:solidFill>
            <a:srgbClr val="C49A2A"/>
          </a:solidFill>
          <a:ln w="12700">
            <a:solidFill>
              <a:srgbClr val="7A5E15"/>
            </a:solidFill>
            <a:prstDash val="solid"/>
          </a:ln>
        </p:spPr>
      </p:sp>
      <p:sp>
        <p:nvSpPr>
          <p:cNvPr id="9" name="Text 7"/>
          <p:cNvSpPr/>
          <p:nvPr/>
        </p:nvSpPr>
        <p:spPr>
          <a:xfrm>
            <a:off x="1828800" y="2990088"/>
            <a:ext cx="8933688" cy="322326"/>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To lie to the Holy Spirit </a:t>
            </a:r>
            <a:pPr algn="l" indent="0" marL="0">
              <a:buNone/>
            </a:pPr>
            <a:r>
              <a:rPr lang="en-US" sz="1700" b="1" dirty="0">
                <a:solidFill>
                  <a:srgbClr val="33240F"/>
                </a:solidFill>
                <a:latin typeface="Calibri" pitchFamily="34" charset="0"/>
                <a:ea typeface="Calibri" pitchFamily="34" charset="-122"/>
                <a:cs typeface="Calibri" pitchFamily="34" charset="-120"/>
              </a:rPr>
              <a:t>is</a:t>
            </a:r>
            <a:pPr algn="l" indent="0" marL="0">
              <a:buNone/>
            </a:pPr>
            <a:r>
              <a:rPr lang="en-US" sz="1700" dirty="0">
                <a:solidFill>
                  <a:srgbClr val="33240F"/>
                </a:solidFill>
                <a:latin typeface="Calibri" pitchFamily="34" charset="0"/>
                <a:ea typeface="Calibri" pitchFamily="34" charset="-122"/>
                <a:cs typeface="Calibri" pitchFamily="34" charset="-120"/>
              </a:rPr>
              <a:t> to lie to God — </a:t>
            </a:r>
            <a:pPr algn="l" indent="0" marL="0">
              <a:buNone/>
            </a:pPr>
            <a:r>
              <a:rPr lang="en-US" sz="1700" b="1" dirty="0">
                <a:solidFill>
                  <a:srgbClr val="8B1A1A"/>
                </a:solidFill>
                <a:latin typeface="Calibri" pitchFamily="34" charset="0"/>
                <a:ea typeface="Calibri" pitchFamily="34" charset="-122"/>
                <a:cs typeface="Calibri" pitchFamily="34" charset="-120"/>
              </a:rPr>
              <a:t>because the Holy Spirit is God</a:t>
            </a:r>
            <a:endParaRPr lang="en-US" sz="1700" dirty="0"/>
          </a:p>
        </p:txBody>
      </p:sp>
      <p:sp>
        <p:nvSpPr>
          <p:cNvPr id="10" name="Shape 8"/>
          <p:cNvSpPr/>
          <p:nvPr/>
        </p:nvSpPr>
        <p:spPr>
          <a:xfrm rot="2700000">
            <a:off x="1417320" y="3400425"/>
            <a:ext cx="146304" cy="146304"/>
          </a:xfrm>
          <a:prstGeom prst="rect">
            <a:avLst/>
          </a:prstGeom>
          <a:solidFill>
            <a:srgbClr val="C49A2A"/>
          </a:solidFill>
          <a:ln w="12700">
            <a:solidFill>
              <a:srgbClr val="7A5E15"/>
            </a:solidFill>
            <a:prstDash val="solid"/>
          </a:ln>
        </p:spPr>
      </p:sp>
      <p:sp>
        <p:nvSpPr>
          <p:cNvPr id="11" name="Text 9"/>
          <p:cNvSpPr/>
          <p:nvPr/>
        </p:nvSpPr>
        <p:spPr>
          <a:xfrm>
            <a:off x="1828800" y="3312414"/>
            <a:ext cx="8933688" cy="322326"/>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He is the </a:t>
            </a:r>
            <a:pPr algn="l" indent="0" marL="0">
              <a:buNone/>
            </a:pPr>
            <a:r>
              <a:rPr lang="en-US" sz="1700" b="1" dirty="0">
                <a:solidFill>
                  <a:srgbClr val="33240F"/>
                </a:solidFill>
                <a:latin typeface="Calibri" pitchFamily="34" charset="0"/>
                <a:ea typeface="Calibri" pitchFamily="34" charset="-122"/>
                <a:cs typeface="Calibri" pitchFamily="34" charset="-120"/>
              </a:rPr>
              <a:t>Third Person of the Holy Trinity</a:t>
            </a:r>
            <a:pPr algn="l" indent="0" marL="0">
              <a:buNone/>
            </a:pPr>
            <a:r>
              <a:rPr lang="en-US" sz="1700" dirty="0">
                <a:solidFill>
                  <a:srgbClr val="33240F"/>
                </a:solidFill>
                <a:latin typeface="Calibri" pitchFamily="34" charset="0"/>
                <a:ea typeface="Calibri" pitchFamily="34" charset="-122"/>
                <a:cs typeface="Calibri" pitchFamily="34" charset="-120"/>
              </a:rPr>
              <a:t>, “the Lord, the Giver of Life”</a:t>
            </a:r>
            <a:endParaRPr lang="en-US" sz="1700" dirty="0"/>
          </a:p>
        </p:txBody>
      </p:sp>
      <p:sp>
        <p:nvSpPr>
          <p:cNvPr id="12" name="Shape 10"/>
          <p:cNvSpPr/>
          <p:nvPr/>
        </p:nvSpPr>
        <p:spPr>
          <a:xfrm rot="2700000">
            <a:off x="1417320" y="3722751"/>
            <a:ext cx="146304" cy="146304"/>
          </a:xfrm>
          <a:prstGeom prst="rect">
            <a:avLst/>
          </a:prstGeom>
          <a:solidFill>
            <a:srgbClr val="C49A2A"/>
          </a:solidFill>
          <a:ln w="12700">
            <a:solidFill>
              <a:srgbClr val="7A5E15"/>
            </a:solidFill>
            <a:prstDash val="solid"/>
          </a:ln>
        </p:spPr>
      </p:sp>
      <p:sp>
        <p:nvSpPr>
          <p:cNvPr id="13" name="Text 11"/>
          <p:cNvSpPr/>
          <p:nvPr/>
        </p:nvSpPr>
        <p:spPr>
          <a:xfrm>
            <a:off x="1828800" y="3634740"/>
            <a:ext cx="8933688" cy="322326"/>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Not a force or an energy — a </a:t>
            </a:r>
            <a:pPr algn="l" indent="0" marL="0">
              <a:buNone/>
            </a:pPr>
            <a:r>
              <a:rPr lang="en-US" sz="1700" b="1" dirty="0">
                <a:solidFill>
                  <a:srgbClr val="33240F"/>
                </a:solidFill>
                <a:latin typeface="Calibri" pitchFamily="34" charset="0"/>
                <a:ea typeface="Calibri" pitchFamily="34" charset="-122"/>
                <a:cs typeface="Calibri" pitchFamily="34" charset="-120"/>
              </a:rPr>
              <a:t>divine Person</a:t>
            </a:r>
            <a:pPr algn="l" indent="0" marL="0">
              <a:buNone/>
            </a:pPr>
            <a:r>
              <a:rPr lang="en-US" sz="1700" dirty="0">
                <a:solidFill>
                  <a:srgbClr val="33240F"/>
                </a:solidFill>
                <a:latin typeface="Calibri" pitchFamily="34" charset="0"/>
                <a:ea typeface="Calibri" pitchFamily="34" charset="-122"/>
                <a:cs typeface="Calibri" pitchFamily="34" charset="-120"/>
              </a:rPr>
              <a:t> who can be grieved, sinned against, and lied to</a:t>
            </a:r>
            <a:endParaRPr lang="en-US" sz="1700" dirty="0"/>
          </a:p>
        </p:txBody>
      </p:sp>
      <p:sp>
        <p:nvSpPr>
          <p:cNvPr id="14" name="Shape 12"/>
          <p:cNvSpPr/>
          <p:nvPr/>
        </p:nvSpPr>
        <p:spPr>
          <a:xfrm rot="2700000">
            <a:off x="1417320" y="4045077"/>
            <a:ext cx="146304" cy="146304"/>
          </a:xfrm>
          <a:prstGeom prst="rect">
            <a:avLst/>
          </a:prstGeom>
          <a:solidFill>
            <a:srgbClr val="C49A2A"/>
          </a:solidFill>
          <a:ln w="12700">
            <a:solidFill>
              <a:srgbClr val="7A5E15"/>
            </a:solidFill>
            <a:prstDash val="solid"/>
          </a:ln>
        </p:spPr>
      </p:sp>
      <p:sp>
        <p:nvSpPr>
          <p:cNvPr id="15" name="Text 13"/>
          <p:cNvSpPr/>
          <p:nvPr/>
        </p:nvSpPr>
        <p:spPr>
          <a:xfrm>
            <a:off x="1828800" y="3957066"/>
            <a:ext cx="8933688" cy="322326"/>
          </a:xfrm>
          <a:prstGeom prst="rect">
            <a:avLst/>
          </a:prstGeom>
          <a:noFill/>
          <a:ln/>
        </p:spPr>
        <p:txBody>
          <a:bodyPr wrap="square" lIns="0" tIns="0" rIns="0" bIns="0" rtlCol="0" anchor="ctr"/>
          <a:lstStyle/>
          <a:p>
            <a:pPr algn="l" indent="0" marL="0">
              <a:buNone/>
            </a:pPr>
            <a:r>
              <a:rPr lang="en-US" sz="1700" dirty="0">
                <a:solidFill>
                  <a:srgbClr val="33240F"/>
                </a:solidFill>
                <a:latin typeface="Calibri" pitchFamily="34" charset="0"/>
                <a:ea typeface="Calibri" pitchFamily="34" charset="-122"/>
                <a:cs typeface="Calibri" pitchFamily="34" charset="-120"/>
              </a:rPr>
              <a:t>This story defends the faith of the </a:t>
            </a:r>
            <a:pPr algn="l" indent="0" marL="0">
              <a:buNone/>
            </a:pPr>
            <a:r>
              <a:rPr lang="en-US" sz="1700" b="1" dirty="0">
                <a:solidFill>
                  <a:srgbClr val="1E5631"/>
                </a:solidFill>
                <a:latin typeface="Calibri" pitchFamily="34" charset="0"/>
                <a:ea typeface="Calibri" pitchFamily="34" charset="-122"/>
                <a:cs typeface="Calibri" pitchFamily="34" charset="-120"/>
              </a:rPr>
              <a:t>Council of Constantinople</a:t>
            </a:r>
            <a:pPr algn="l" indent="0" marL="0">
              <a:buNone/>
            </a:pPr>
            <a:r>
              <a:rPr lang="en-US" sz="1700" dirty="0">
                <a:solidFill>
                  <a:srgbClr val="33240F"/>
                </a:solidFill>
                <a:latin typeface="Calibri" pitchFamily="34" charset="0"/>
                <a:ea typeface="Calibri" pitchFamily="34" charset="-122"/>
                <a:cs typeface="Calibri" pitchFamily="34" charset="-120"/>
              </a:rPr>
              <a:t>: one God in three Persons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Why So Severe?</a:t>
            </a:r>
            <a:endParaRPr lang="en-US" sz="3300" dirty="0"/>
          </a:p>
        </p:txBody>
      </p:sp>
      <p:sp>
        <p:nvSpPr>
          <p:cNvPr id="3" name="Shape 1"/>
          <p:cNvSpPr/>
          <p:nvPr/>
        </p:nvSpPr>
        <p:spPr>
          <a:xfrm>
            <a:off x="1078992" y="1554480"/>
            <a:ext cx="10030968" cy="3017520"/>
          </a:xfrm>
          <a:prstGeom prst="roundRect">
            <a:avLst>
              <a:gd name="adj" fmla="val 3939"/>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170432" y="1645920"/>
            <a:ext cx="9848088" cy="2834640"/>
          </a:xfrm>
          <a:prstGeom prst="roundRect">
            <a:avLst>
              <a:gd name="adj" fmla="val 3226"/>
            </a:avLst>
          </a:prstGeom>
          <a:solidFill>
            <a:srgbClr val="FFFFFF">
              <a:alpha val="0"/>
            </a:srgbClr>
          </a:solidFill>
          <a:ln w="9525">
            <a:solidFill>
              <a:srgbClr val="B8902E"/>
            </a:solidFill>
            <a:prstDash val="solid"/>
          </a:ln>
        </p:spPr>
      </p:sp>
      <p:sp>
        <p:nvSpPr>
          <p:cNvPr id="5" name="Shape 3"/>
          <p:cNvSpPr/>
          <p:nvPr/>
        </p:nvSpPr>
        <p:spPr>
          <a:xfrm rot="2700000">
            <a:off x="1417320" y="2077974"/>
            <a:ext cx="146304" cy="146304"/>
          </a:xfrm>
          <a:prstGeom prst="rect">
            <a:avLst/>
          </a:prstGeom>
          <a:solidFill>
            <a:srgbClr val="C49A2A"/>
          </a:solidFill>
          <a:ln w="12700">
            <a:solidFill>
              <a:srgbClr val="7A5E15"/>
            </a:solidFill>
            <a:prstDash val="solid"/>
          </a:ln>
        </p:spPr>
      </p:sp>
      <p:sp>
        <p:nvSpPr>
          <p:cNvPr id="6" name="Text 4"/>
          <p:cNvSpPr/>
          <p:nvPr/>
        </p:nvSpPr>
        <p:spPr>
          <a:xfrm>
            <a:off x="1828800" y="1847088"/>
            <a:ext cx="8933688" cy="608076"/>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It happened at the </a:t>
            </a:r>
            <a:pPr algn="l" indent="0" marL="0">
              <a:buNone/>
            </a:pPr>
            <a:r>
              <a:rPr lang="en-US" sz="1800" b="1" dirty="0">
                <a:solidFill>
                  <a:srgbClr val="33240F"/>
                </a:solidFill>
                <a:latin typeface="Calibri" pitchFamily="34" charset="0"/>
                <a:ea typeface="Calibri" pitchFamily="34" charset="-122"/>
                <a:cs typeface="Calibri" pitchFamily="34" charset="-120"/>
              </a:rPr>
              <a:t>foundation of the Church</a:t>
            </a:r>
            <a:pPr algn="l" indent="0" marL="0">
              <a:buNone/>
            </a:pPr>
            <a:r>
              <a:rPr lang="en-US" sz="1800" dirty="0">
                <a:solidFill>
                  <a:srgbClr val="33240F"/>
                </a:solidFill>
                <a:latin typeface="Calibri" pitchFamily="34" charset="0"/>
                <a:ea typeface="Calibri" pitchFamily="34" charset="-122"/>
                <a:cs typeface="Calibri" pitchFamily="34" charset="-120"/>
              </a:rPr>
              <a:t>, in its earliest days after Pentecost</a:t>
            </a:r>
            <a:endParaRPr lang="en-US" sz="1800" dirty="0"/>
          </a:p>
        </p:txBody>
      </p:sp>
      <p:sp>
        <p:nvSpPr>
          <p:cNvPr id="7" name="Shape 5"/>
          <p:cNvSpPr/>
          <p:nvPr/>
        </p:nvSpPr>
        <p:spPr>
          <a:xfrm rot="2700000">
            <a:off x="1417320" y="2686050"/>
            <a:ext cx="146304" cy="146304"/>
          </a:xfrm>
          <a:prstGeom prst="rect">
            <a:avLst/>
          </a:prstGeom>
          <a:solidFill>
            <a:srgbClr val="C49A2A"/>
          </a:solidFill>
          <a:ln w="12700">
            <a:solidFill>
              <a:srgbClr val="7A5E15"/>
            </a:solidFill>
            <a:prstDash val="solid"/>
          </a:ln>
        </p:spPr>
      </p:sp>
      <p:sp>
        <p:nvSpPr>
          <p:cNvPr id="8" name="Text 6"/>
          <p:cNvSpPr/>
          <p:nvPr/>
        </p:nvSpPr>
        <p:spPr>
          <a:xfrm>
            <a:off x="1828800" y="2455164"/>
            <a:ext cx="8933688" cy="608076"/>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The community had to learn — once and unforgettably — that </a:t>
            </a:r>
            <a:pPr algn="l" indent="0" marL="0">
              <a:buNone/>
            </a:pPr>
            <a:r>
              <a:rPr lang="en-US" sz="1800" b="1" dirty="0">
                <a:solidFill>
                  <a:srgbClr val="33240F"/>
                </a:solidFill>
                <a:latin typeface="Calibri" pitchFamily="34" charset="0"/>
                <a:ea typeface="Calibri" pitchFamily="34" charset="-122"/>
                <a:cs typeface="Calibri" pitchFamily="34" charset="-120"/>
              </a:rPr>
              <a:t>God is holy</a:t>
            </a:r>
            <a:pPr algn="l" indent="0" marL="0">
              <a:buNone/>
            </a:pPr>
            <a:r>
              <a:rPr lang="en-US" sz="1800" dirty="0">
                <a:solidFill>
                  <a:srgbClr val="33240F"/>
                </a:solidFill>
                <a:latin typeface="Calibri" pitchFamily="34" charset="0"/>
                <a:ea typeface="Calibri" pitchFamily="34" charset="-122"/>
                <a:cs typeface="Calibri" pitchFamily="34" charset="-120"/>
              </a:rPr>
              <a:t> and His Church is </a:t>
            </a:r>
            <a:pPr algn="l" indent="0" marL="0">
              <a:buNone/>
            </a:pPr>
            <a:r>
              <a:rPr lang="en-US" sz="1800" b="1" dirty="0">
                <a:solidFill>
                  <a:srgbClr val="8B1A1A"/>
                </a:solidFill>
                <a:latin typeface="Calibri" pitchFamily="34" charset="0"/>
                <a:ea typeface="Calibri" pitchFamily="34" charset="-122"/>
                <a:cs typeface="Calibri" pitchFamily="34" charset="-120"/>
              </a:rPr>
              <a:t>not a stage for pretending</a:t>
            </a:r>
            <a:endParaRPr lang="en-US" sz="1800" dirty="0"/>
          </a:p>
        </p:txBody>
      </p:sp>
      <p:sp>
        <p:nvSpPr>
          <p:cNvPr id="9" name="Shape 7"/>
          <p:cNvSpPr/>
          <p:nvPr/>
        </p:nvSpPr>
        <p:spPr>
          <a:xfrm rot="2700000">
            <a:off x="1417320" y="3294126"/>
            <a:ext cx="146304" cy="146304"/>
          </a:xfrm>
          <a:prstGeom prst="rect">
            <a:avLst/>
          </a:prstGeom>
          <a:solidFill>
            <a:srgbClr val="C49A2A"/>
          </a:solidFill>
          <a:ln w="12700">
            <a:solidFill>
              <a:srgbClr val="7A5E15"/>
            </a:solidFill>
            <a:prstDash val="solid"/>
          </a:ln>
        </p:spPr>
      </p:sp>
      <p:sp>
        <p:nvSpPr>
          <p:cNvPr id="10" name="Text 8"/>
          <p:cNvSpPr/>
          <p:nvPr/>
        </p:nvSpPr>
        <p:spPr>
          <a:xfrm>
            <a:off x="1828800" y="3063240"/>
            <a:ext cx="8933688" cy="608076"/>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A small lie tolerated at the </a:t>
            </a:r>
            <a:pPr algn="l" indent="0" marL="0">
              <a:buNone/>
            </a:pPr>
            <a:r>
              <a:rPr lang="en-US" sz="1800" b="1" dirty="0">
                <a:solidFill>
                  <a:srgbClr val="33240F"/>
                </a:solidFill>
                <a:latin typeface="Calibri" pitchFamily="34" charset="0"/>
                <a:ea typeface="Calibri" pitchFamily="34" charset="-122"/>
                <a:cs typeface="Calibri" pitchFamily="34" charset="-120"/>
              </a:rPr>
              <a:t>root</a:t>
            </a:r>
            <a:pPr algn="l" indent="0" marL="0">
              <a:buNone/>
            </a:pPr>
            <a:r>
              <a:rPr lang="en-US" sz="1800" dirty="0">
                <a:solidFill>
                  <a:srgbClr val="33240F"/>
                </a:solidFill>
                <a:latin typeface="Calibri" pitchFamily="34" charset="0"/>
                <a:ea typeface="Calibri" pitchFamily="34" charset="-122"/>
                <a:cs typeface="Calibri" pitchFamily="34" charset="-120"/>
              </a:rPr>
              <a:t> can rot the whole tree</a:t>
            </a:r>
            <a:endParaRPr lang="en-US" sz="1800" dirty="0"/>
          </a:p>
        </p:txBody>
      </p:sp>
      <p:sp>
        <p:nvSpPr>
          <p:cNvPr id="11" name="Shape 9"/>
          <p:cNvSpPr/>
          <p:nvPr/>
        </p:nvSpPr>
        <p:spPr>
          <a:xfrm rot="2700000">
            <a:off x="1417320" y="3902202"/>
            <a:ext cx="146304" cy="146304"/>
          </a:xfrm>
          <a:prstGeom prst="rect">
            <a:avLst/>
          </a:prstGeom>
          <a:solidFill>
            <a:srgbClr val="C49A2A"/>
          </a:solidFill>
          <a:ln w="12700">
            <a:solidFill>
              <a:srgbClr val="7A5E15"/>
            </a:solidFill>
            <a:prstDash val="solid"/>
          </a:ln>
        </p:spPr>
      </p:sp>
      <p:sp>
        <p:nvSpPr>
          <p:cNvPr id="12" name="Text 10"/>
          <p:cNvSpPr/>
          <p:nvPr/>
        </p:nvSpPr>
        <p:spPr>
          <a:xfrm>
            <a:off x="1828800" y="3671316"/>
            <a:ext cx="8933688" cy="608076"/>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Scripture does </a:t>
            </a:r>
            <a:pPr algn="l" indent="0" marL="0">
              <a:buNone/>
            </a:pPr>
            <a:r>
              <a:rPr lang="en-US" sz="1800" b="1" dirty="0">
                <a:solidFill>
                  <a:srgbClr val="33240F"/>
                </a:solidFill>
                <a:latin typeface="Calibri" pitchFamily="34" charset="0"/>
                <a:ea typeface="Calibri" pitchFamily="34" charset="-122"/>
                <a:cs typeface="Calibri" pitchFamily="34" charset="-120"/>
              </a:rPr>
              <a:t>not</a:t>
            </a:r>
            <a:pPr algn="l" indent="0" marL="0">
              <a:buNone/>
            </a:pPr>
            <a:r>
              <a:rPr lang="en-US" sz="1800" dirty="0">
                <a:solidFill>
                  <a:srgbClr val="33240F"/>
                </a:solidFill>
                <a:latin typeface="Calibri" pitchFamily="34" charset="0"/>
                <a:ea typeface="Calibri" pitchFamily="34" charset="-122"/>
                <a:cs typeface="Calibri" pitchFamily="34" charset="-120"/>
              </a:rPr>
              <a:t> tell us their eternal fate — that belongs to </a:t>
            </a:r>
            <a:pPr algn="l" indent="0" marL="0">
              <a:buNone/>
            </a:pPr>
            <a:r>
              <a:rPr lang="en-US" sz="1800" b="1" dirty="0">
                <a:solidFill>
                  <a:srgbClr val="1E5631"/>
                </a:solidFill>
                <a:latin typeface="Calibri" pitchFamily="34" charset="0"/>
                <a:ea typeface="Calibri" pitchFamily="34" charset="-122"/>
                <a:cs typeface="Calibri" pitchFamily="34" charset="-120"/>
              </a:rPr>
              <a:t>God’s mercy alone</a:t>
            </a:r>
            <a:pPr algn="l" indent="0" marL="0">
              <a:buNone/>
            </a:pPr>
            <a:r>
              <a:rPr lang="en-US" sz="1800" dirty="0">
                <a:solidFill>
                  <a:srgbClr val="33240F"/>
                </a:solidFill>
                <a:latin typeface="Calibri" pitchFamily="34" charset="0"/>
                <a:ea typeface="Calibri" pitchFamily="34" charset="-122"/>
                <a:cs typeface="Calibri" pitchFamily="34" charset="-120"/>
              </a:rPr>
              <a:t>; the warning is for us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The Holy Fear That Followed</a:t>
            </a:r>
            <a:endParaRPr lang="en-US" sz="3300" dirty="0"/>
          </a:p>
        </p:txBody>
      </p:sp>
      <p:sp>
        <p:nvSpPr>
          <p:cNvPr id="3" name="Shape 1"/>
          <p:cNvSpPr/>
          <p:nvPr/>
        </p:nvSpPr>
        <p:spPr>
          <a:xfrm>
            <a:off x="1353312" y="1371600"/>
            <a:ext cx="9482328" cy="960120"/>
          </a:xfrm>
          <a:prstGeom prst="roundRect">
            <a:avLst>
              <a:gd name="adj" fmla="val 12381"/>
            </a:avLst>
          </a:prstGeom>
          <a:solidFill>
            <a:srgbClr val="F4E4BC">
              <a:alpha val="95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444752" y="1463040"/>
            <a:ext cx="9299448" cy="777240"/>
          </a:xfrm>
          <a:prstGeom prst="roundRect">
            <a:avLst>
              <a:gd name="adj" fmla="val 11765"/>
            </a:avLst>
          </a:prstGeom>
          <a:solidFill>
            <a:srgbClr val="FFFFFF">
              <a:alpha val="0"/>
            </a:srgbClr>
          </a:solidFill>
          <a:ln w="9525">
            <a:solidFill>
              <a:srgbClr val="B8902E"/>
            </a:solidFill>
            <a:prstDash val="solid"/>
          </a:ln>
        </p:spPr>
      </p:sp>
      <p:sp>
        <p:nvSpPr>
          <p:cNvPr id="5" name="Text 3"/>
          <p:cNvSpPr/>
          <p:nvPr/>
        </p:nvSpPr>
        <p:spPr>
          <a:xfrm>
            <a:off x="1719072" y="1517904"/>
            <a:ext cx="8750808" cy="667512"/>
          </a:xfrm>
          <a:prstGeom prst="rect">
            <a:avLst/>
          </a:prstGeom>
          <a:noFill/>
          <a:ln/>
        </p:spPr>
        <p:txBody>
          <a:bodyPr wrap="square" rtlCol="0" anchor="ctr"/>
          <a:lstStyle/>
          <a:p>
            <a:pPr algn="ctr" indent="0" marL="0">
              <a:spcAft>
                <a:spcPts val="500"/>
              </a:spcAft>
              <a:buNone/>
            </a:pPr>
            <a:r>
              <a:rPr lang="en-US" sz="1800" i="1" dirty="0">
                <a:solidFill>
                  <a:srgbClr val="33240F"/>
                </a:solidFill>
                <a:latin typeface="Cambria" pitchFamily="34" charset="0"/>
                <a:ea typeface="Cambria" pitchFamily="34" charset="-122"/>
                <a:cs typeface="Cambria" pitchFamily="34" charset="-120"/>
              </a:rPr>
              <a:t>“So great fear came upon all the church and upon all who heard these things.”</a:t>
            </a:r>
            <a:endParaRPr lang="en-US" sz="1800" dirty="0"/>
          </a:p>
          <a:p>
            <a:pPr algn="r" indent="0" marL="0">
              <a:buNone/>
            </a:pPr>
            <a:r>
              <a:rPr lang="en-US" sz="1450" b="1" dirty="0">
                <a:solidFill>
                  <a:srgbClr val="8B1A1A"/>
                </a:solidFill>
                <a:latin typeface="Calibri" pitchFamily="34" charset="0"/>
                <a:ea typeface="Calibri" pitchFamily="34" charset="-122"/>
                <a:cs typeface="Calibri" pitchFamily="34" charset="-120"/>
              </a:rPr>
              <a:t>— Acts 5:11</a:t>
            </a:r>
            <a:endParaRPr lang="en-US" sz="1800" dirty="0"/>
          </a:p>
        </p:txBody>
      </p:sp>
      <p:sp>
        <p:nvSpPr>
          <p:cNvPr id="6" name="Shape 4"/>
          <p:cNvSpPr/>
          <p:nvPr/>
        </p:nvSpPr>
        <p:spPr>
          <a:xfrm>
            <a:off x="1078992" y="2542032"/>
            <a:ext cx="10030968" cy="1965960"/>
          </a:xfrm>
          <a:prstGeom prst="roundRect">
            <a:avLst>
              <a:gd name="adj" fmla="val 6047"/>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7" name="Shape 5"/>
          <p:cNvSpPr/>
          <p:nvPr/>
        </p:nvSpPr>
        <p:spPr>
          <a:xfrm>
            <a:off x="1170432" y="2633472"/>
            <a:ext cx="9848088" cy="1783080"/>
          </a:xfrm>
          <a:prstGeom prst="roundRect">
            <a:avLst>
              <a:gd name="adj" fmla="val 5128"/>
            </a:avLst>
          </a:prstGeom>
          <a:solidFill>
            <a:srgbClr val="FFFFFF">
              <a:alpha val="0"/>
            </a:srgbClr>
          </a:solidFill>
          <a:ln w="9525">
            <a:solidFill>
              <a:srgbClr val="B8902E"/>
            </a:solidFill>
            <a:prstDash val="solid"/>
          </a:ln>
        </p:spPr>
      </p:sp>
      <p:sp>
        <p:nvSpPr>
          <p:cNvPr id="8" name="Shape 6"/>
          <p:cNvSpPr/>
          <p:nvPr/>
        </p:nvSpPr>
        <p:spPr>
          <a:xfrm rot="2700000">
            <a:off x="1417320" y="2899562"/>
            <a:ext cx="146304" cy="146304"/>
          </a:xfrm>
          <a:prstGeom prst="rect">
            <a:avLst/>
          </a:prstGeom>
          <a:solidFill>
            <a:srgbClr val="C49A2A"/>
          </a:solidFill>
          <a:ln w="12700">
            <a:solidFill>
              <a:srgbClr val="7A5E15"/>
            </a:solidFill>
            <a:prstDash val="solid"/>
          </a:ln>
        </p:spPr>
      </p:sp>
      <p:sp>
        <p:nvSpPr>
          <p:cNvPr id="9" name="Text 7"/>
          <p:cNvSpPr/>
          <p:nvPr/>
        </p:nvSpPr>
        <p:spPr>
          <a:xfrm>
            <a:off x="1828800" y="2834640"/>
            <a:ext cx="8933688" cy="276149"/>
          </a:xfrm>
          <a:prstGeom prst="rect">
            <a:avLst/>
          </a:prstGeom>
          <a:noFill/>
          <a:ln/>
        </p:spPr>
        <p:txBody>
          <a:bodyPr wrap="square" lIns="0" tIns="0" rIns="0" bIns="0" rtlCol="0" anchor="ctr"/>
          <a:lstStyle/>
          <a:p>
            <a:pPr algn="l" indent="0" marL="0">
              <a:buNone/>
            </a:pPr>
            <a:r>
              <a:rPr lang="en-US" sz="1600" dirty="0">
                <a:solidFill>
                  <a:srgbClr val="33240F"/>
                </a:solidFill>
                <a:latin typeface="Calibri" pitchFamily="34" charset="0"/>
                <a:ea typeface="Calibri" pitchFamily="34" charset="-122"/>
                <a:cs typeface="Calibri" pitchFamily="34" charset="-120"/>
              </a:rPr>
              <a:t>First time the word </a:t>
            </a:r>
            <a:pPr algn="l" indent="0" marL="0">
              <a:buNone/>
            </a:pPr>
            <a:r>
              <a:rPr lang="en-US" sz="1600" b="1" dirty="0">
                <a:solidFill>
                  <a:srgbClr val="1E5631"/>
                </a:solidFill>
                <a:latin typeface="Calibri" pitchFamily="34" charset="0"/>
                <a:ea typeface="Calibri" pitchFamily="34" charset="-122"/>
                <a:cs typeface="Calibri" pitchFamily="34" charset="-120"/>
              </a:rPr>
              <a:t>“church” (ekklesia)</a:t>
            </a:r>
            <a:pPr algn="l" indent="0" marL="0">
              <a:buNone/>
            </a:pPr>
            <a:r>
              <a:rPr lang="en-US" sz="1600" dirty="0">
                <a:solidFill>
                  <a:srgbClr val="33240F"/>
                </a:solidFill>
                <a:latin typeface="Calibri" pitchFamily="34" charset="0"/>
                <a:ea typeface="Calibri" pitchFamily="34" charset="-122"/>
                <a:cs typeface="Calibri" pitchFamily="34" charset="-120"/>
              </a:rPr>
              <a:t> appears in Acts — wrapped in the fear of God</a:t>
            </a:r>
            <a:endParaRPr lang="en-US" sz="1600" dirty="0"/>
          </a:p>
        </p:txBody>
      </p:sp>
      <p:sp>
        <p:nvSpPr>
          <p:cNvPr id="10" name="Shape 8"/>
          <p:cNvSpPr/>
          <p:nvPr/>
        </p:nvSpPr>
        <p:spPr>
          <a:xfrm rot="2700000">
            <a:off x="1417320" y="3175711"/>
            <a:ext cx="146304" cy="146304"/>
          </a:xfrm>
          <a:prstGeom prst="rect">
            <a:avLst/>
          </a:prstGeom>
          <a:solidFill>
            <a:srgbClr val="C49A2A"/>
          </a:solidFill>
          <a:ln w="12700">
            <a:solidFill>
              <a:srgbClr val="7A5E15"/>
            </a:solidFill>
            <a:prstDash val="solid"/>
          </a:ln>
        </p:spPr>
      </p:sp>
      <p:sp>
        <p:nvSpPr>
          <p:cNvPr id="11" name="Text 9"/>
          <p:cNvSpPr/>
          <p:nvPr/>
        </p:nvSpPr>
        <p:spPr>
          <a:xfrm>
            <a:off x="1828800" y="3110789"/>
            <a:ext cx="8933688" cy="276149"/>
          </a:xfrm>
          <a:prstGeom prst="rect">
            <a:avLst/>
          </a:prstGeom>
          <a:noFill/>
          <a:ln/>
        </p:spPr>
        <p:txBody>
          <a:bodyPr wrap="square" lIns="0" tIns="0" rIns="0" bIns="0" rtlCol="0" anchor="ctr"/>
          <a:lstStyle/>
          <a:p>
            <a:pPr algn="l" indent="0" marL="0">
              <a:buNone/>
            </a:pPr>
            <a:r>
              <a:rPr lang="en-US" sz="1600" b="1" dirty="0">
                <a:solidFill>
                  <a:srgbClr val="33240F"/>
                </a:solidFill>
                <a:latin typeface="Calibri" pitchFamily="34" charset="0"/>
                <a:ea typeface="Calibri" pitchFamily="34" charset="-122"/>
                <a:cs typeface="Calibri" pitchFamily="34" charset="-120"/>
              </a:rPr>
              <a:t>Not</a:t>
            </a:r>
            <a:pPr algn="l" indent="0" marL="0">
              <a:buNone/>
            </a:pPr>
            <a:r>
              <a:rPr lang="en-US" sz="1600" dirty="0">
                <a:solidFill>
                  <a:srgbClr val="33240F"/>
                </a:solidFill>
                <a:latin typeface="Calibri" pitchFamily="34" charset="0"/>
                <a:ea typeface="Calibri" pitchFamily="34" charset="-122"/>
                <a:cs typeface="Calibri" pitchFamily="34" charset="-120"/>
              </a:rPr>
              <a:t> the terror of a slave before a tyrant</a:t>
            </a:r>
            <a:endParaRPr lang="en-US" sz="1600" dirty="0"/>
          </a:p>
        </p:txBody>
      </p:sp>
      <p:sp>
        <p:nvSpPr>
          <p:cNvPr id="12" name="Shape 10"/>
          <p:cNvSpPr/>
          <p:nvPr/>
        </p:nvSpPr>
        <p:spPr>
          <a:xfrm rot="2700000">
            <a:off x="1417320" y="3451860"/>
            <a:ext cx="146304" cy="146304"/>
          </a:xfrm>
          <a:prstGeom prst="rect">
            <a:avLst/>
          </a:prstGeom>
          <a:solidFill>
            <a:srgbClr val="C49A2A"/>
          </a:solidFill>
          <a:ln w="12700">
            <a:solidFill>
              <a:srgbClr val="7A5E15"/>
            </a:solidFill>
            <a:prstDash val="solid"/>
          </a:ln>
        </p:spPr>
      </p:sp>
      <p:sp>
        <p:nvSpPr>
          <p:cNvPr id="13" name="Text 11"/>
          <p:cNvSpPr/>
          <p:nvPr/>
        </p:nvSpPr>
        <p:spPr>
          <a:xfrm>
            <a:off x="1828800" y="3386938"/>
            <a:ext cx="8933688" cy="276149"/>
          </a:xfrm>
          <a:prstGeom prst="rect">
            <a:avLst/>
          </a:prstGeom>
          <a:noFill/>
          <a:ln/>
        </p:spPr>
        <p:txBody>
          <a:bodyPr wrap="square" lIns="0" tIns="0" rIns="0" bIns="0" rtlCol="0" anchor="ctr"/>
          <a:lstStyle/>
          <a:p>
            <a:pPr algn="l" indent="0" marL="0">
              <a:buNone/>
            </a:pPr>
            <a:r>
              <a:rPr lang="en-US" sz="1600" dirty="0">
                <a:solidFill>
                  <a:srgbClr val="33240F"/>
                </a:solidFill>
                <a:latin typeface="Calibri" pitchFamily="34" charset="0"/>
                <a:ea typeface="Calibri" pitchFamily="34" charset="-122"/>
                <a:cs typeface="Calibri" pitchFamily="34" charset="-120"/>
              </a:rPr>
              <a:t>It is </a:t>
            </a:r>
            <a:pPr algn="l" indent="0" marL="0">
              <a:buNone/>
            </a:pPr>
            <a:r>
              <a:rPr lang="en-US" sz="1600" b="1" dirty="0">
                <a:solidFill>
                  <a:srgbClr val="8B1A1A"/>
                </a:solidFill>
                <a:latin typeface="Calibri" pitchFamily="34" charset="0"/>
                <a:ea typeface="Calibri" pitchFamily="34" charset="-122"/>
                <a:cs typeface="Calibri" pitchFamily="34" charset="-120"/>
              </a:rPr>
              <a:t>holy fear</a:t>
            </a:r>
            <a:pPr algn="l" indent="0" marL="0">
              <a:buNone/>
            </a:pPr>
            <a:r>
              <a:rPr lang="en-US" sz="1600" dirty="0">
                <a:solidFill>
                  <a:srgbClr val="33240F"/>
                </a:solidFill>
                <a:latin typeface="Calibri" pitchFamily="34" charset="0"/>
                <a:ea typeface="Calibri" pitchFamily="34" charset="-122"/>
                <a:cs typeface="Calibri" pitchFamily="34" charset="-120"/>
              </a:rPr>
              <a:t> — awe and reverence before the living and holy God</a:t>
            </a:r>
            <a:endParaRPr lang="en-US" sz="1600" dirty="0"/>
          </a:p>
        </p:txBody>
      </p:sp>
      <p:sp>
        <p:nvSpPr>
          <p:cNvPr id="14" name="Shape 12"/>
          <p:cNvSpPr/>
          <p:nvPr/>
        </p:nvSpPr>
        <p:spPr>
          <a:xfrm rot="2700000">
            <a:off x="1417320" y="3728009"/>
            <a:ext cx="146304" cy="146304"/>
          </a:xfrm>
          <a:prstGeom prst="rect">
            <a:avLst/>
          </a:prstGeom>
          <a:solidFill>
            <a:srgbClr val="C49A2A"/>
          </a:solidFill>
          <a:ln w="12700">
            <a:solidFill>
              <a:srgbClr val="7A5E15"/>
            </a:solidFill>
            <a:prstDash val="solid"/>
          </a:ln>
        </p:spPr>
      </p:sp>
      <p:sp>
        <p:nvSpPr>
          <p:cNvPr id="15" name="Text 13"/>
          <p:cNvSpPr/>
          <p:nvPr/>
        </p:nvSpPr>
        <p:spPr>
          <a:xfrm>
            <a:off x="1828800" y="3663086"/>
            <a:ext cx="8933688" cy="276149"/>
          </a:xfrm>
          <a:prstGeom prst="rect">
            <a:avLst/>
          </a:prstGeom>
          <a:noFill/>
          <a:ln/>
        </p:spPr>
        <p:txBody>
          <a:bodyPr wrap="square" lIns="0" tIns="0" rIns="0" bIns="0" rtlCol="0" anchor="ctr"/>
          <a:lstStyle/>
          <a:p>
            <a:pPr algn="l" indent="0" marL="0">
              <a:buNone/>
            </a:pPr>
            <a:r>
              <a:rPr lang="en-US" sz="1600" dirty="0">
                <a:solidFill>
                  <a:srgbClr val="33240F"/>
                </a:solidFill>
                <a:latin typeface="Calibri" pitchFamily="34" charset="0"/>
                <a:ea typeface="Calibri" pitchFamily="34" charset="-122"/>
                <a:cs typeface="Calibri" pitchFamily="34" charset="-120"/>
              </a:rPr>
              <a:t>“The fear of the Lord is the beginning of wisdom.” — </a:t>
            </a:r>
            <a:pPr algn="l" indent="0" marL="0">
              <a:buNone/>
            </a:pPr>
            <a:r>
              <a:rPr lang="en-US" sz="1600" b="1" dirty="0">
                <a:solidFill>
                  <a:srgbClr val="33240F"/>
                </a:solidFill>
                <a:latin typeface="Calibri" pitchFamily="34" charset="0"/>
                <a:ea typeface="Calibri" pitchFamily="34" charset="-122"/>
                <a:cs typeface="Calibri" pitchFamily="34" charset="-120"/>
              </a:rPr>
              <a:t>Proverbs 9:10</a:t>
            </a:r>
            <a:endParaRPr lang="en-US" sz="1600" dirty="0"/>
          </a:p>
        </p:txBody>
      </p:sp>
      <p:sp>
        <p:nvSpPr>
          <p:cNvPr id="16" name="Shape 14"/>
          <p:cNvSpPr/>
          <p:nvPr/>
        </p:nvSpPr>
        <p:spPr>
          <a:xfrm rot="2700000">
            <a:off x="1417320" y="4004158"/>
            <a:ext cx="146304" cy="146304"/>
          </a:xfrm>
          <a:prstGeom prst="rect">
            <a:avLst/>
          </a:prstGeom>
          <a:solidFill>
            <a:srgbClr val="C49A2A"/>
          </a:solidFill>
          <a:ln w="12700">
            <a:solidFill>
              <a:srgbClr val="7A5E15"/>
            </a:solidFill>
            <a:prstDash val="solid"/>
          </a:ln>
        </p:spPr>
      </p:sp>
      <p:sp>
        <p:nvSpPr>
          <p:cNvPr id="17" name="Text 15"/>
          <p:cNvSpPr/>
          <p:nvPr/>
        </p:nvSpPr>
        <p:spPr>
          <a:xfrm>
            <a:off x="1828800" y="3939235"/>
            <a:ext cx="8933688" cy="276149"/>
          </a:xfrm>
          <a:prstGeom prst="rect">
            <a:avLst/>
          </a:prstGeom>
          <a:noFill/>
          <a:ln/>
        </p:spPr>
        <p:txBody>
          <a:bodyPr wrap="square" lIns="0" tIns="0" rIns="0" bIns="0" rtlCol="0" anchor="ctr"/>
          <a:lstStyle/>
          <a:p>
            <a:pPr algn="l" indent="0" marL="0">
              <a:buNone/>
            </a:pPr>
            <a:r>
              <a:rPr lang="en-US" sz="1600" dirty="0">
                <a:solidFill>
                  <a:srgbClr val="33240F"/>
                </a:solidFill>
                <a:latin typeface="Calibri" pitchFamily="34" charset="0"/>
                <a:ea typeface="Calibri" pitchFamily="34" charset="-122"/>
                <a:cs typeface="Calibri" pitchFamily="34" charset="-120"/>
              </a:rPr>
              <a:t>The same reverence we carry in the </a:t>
            </a:r>
            <a:pPr algn="l" indent="0" marL="0">
              <a:buNone/>
            </a:pPr>
            <a:r>
              <a:rPr lang="en-US" sz="1600" b="1" dirty="0">
                <a:solidFill>
                  <a:srgbClr val="33240F"/>
                </a:solidFill>
                <a:latin typeface="Calibri" pitchFamily="34" charset="0"/>
                <a:ea typeface="Calibri" pitchFamily="34" charset="-122"/>
                <a:cs typeface="Calibri" pitchFamily="34" charset="-120"/>
              </a:rPr>
              <a:t>Liturgy</a:t>
            </a:r>
            <a:pPr algn="l" indent="0" marL="0">
              <a:buNone/>
            </a:pPr>
            <a:r>
              <a:rPr lang="en-US" sz="1600" dirty="0">
                <a:solidFill>
                  <a:srgbClr val="33240F"/>
                </a:solidFill>
                <a:latin typeface="Calibri" pitchFamily="34" charset="0"/>
                <a:ea typeface="Calibri" pitchFamily="34" charset="-122"/>
                <a:cs typeface="Calibri" pitchFamily="34" charset="-120"/>
              </a:rPr>
              <a:t>, before the </a:t>
            </a:r>
            <a:pPr algn="l" indent="0" marL="0">
              <a:buNone/>
            </a:pPr>
            <a:r>
              <a:rPr lang="en-US" sz="1600" b="1" dirty="0">
                <a:solidFill>
                  <a:srgbClr val="33240F"/>
                </a:solidFill>
                <a:latin typeface="Calibri" pitchFamily="34" charset="0"/>
                <a:ea typeface="Calibri" pitchFamily="34" charset="-122"/>
                <a:cs typeface="Calibri" pitchFamily="34" charset="-120"/>
              </a:rPr>
              <a:t>holy Mysteries</a:t>
            </a:r>
            <a:pPr algn="l" indent="0" marL="0">
              <a:buNone/>
            </a:pPr>
            <a:r>
              <a:rPr lang="en-US" sz="1600" dirty="0">
                <a:solidFill>
                  <a:srgbClr val="33240F"/>
                </a:solidFill>
                <a:latin typeface="Calibri" pitchFamily="34" charset="0"/>
                <a:ea typeface="Calibri" pitchFamily="34" charset="-122"/>
                <a:cs typeface="Calibri" pitchFamily="34" charset="-120"/>
              </a:rPr>
              <a:t>, and in </a:t>
            </a:r>
            <a:pPr algn="l" indent="0" marL="0">
              <a:buNone/>
            </a:pPr>
            <a:r>
              <a:rPr lang="en-US" sz="1600" b="1" dirty="0">
                <a:solidFill>
                  <a:srgbClr val="33240F"/>
                </a:solidFill>
                <a:latin typeface="Calibri" pitchFamily="34" charset="0"/>
                <a:ea typeface="Calibri" pitchFamily="34" charset="-122"/>
                <a:cs typeface="Calibri" pitchFamily="34" charset="-120"/>
              </a:rPr>
              <a:t>Confession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The Mercy Hidden in the Warning</a:t>
            </a:r>
            <a:endParaRPr lang="en-US" sz="3300" dirty="0"/>
          </a:p>
        </p:txBody>
      </p:sp>
      <p:sp>
        <p:nvSpPr>
          <p:cNvPr id="3" name="Shape 1"/>
          <p:cNvSpPr/>
          <p:nvPr/>
        </p:nvSpPr>
        <p:spPr>
          <a:xfrm>
            <a:off x="1078992" y="1463040"/>
            <a:ext cx="10030968" cy="1810512"/>
          </a:xfrm>
          <a:prstGeom prst="roundRect">
            <a:avLst>
              <a:gd name="adj" fmla="val 6566"/>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170432" y="1554480"/>
            <a:ext cx="9848088" cy="1627632"/>
          </a:xfrm>
          <a:prstGeom prst="roundRect">
            <a:avLst>
              <a:gd name="adj" fmla="val 5618"/>
            </a:avLst>
          </a:prstGeom>
          <a:solidFill>
            <a:srgbClr val="FFFFFF">
              <a:alpha val="0"/>
            </a:srgbClr>
          </a:solidFill>
          <a:ln w="9525">
            <a:solidFill>
              <a:srgbClr val="B8902E"/>
            </a:solidFill>
            <a:prstDash val="solid"/>
          </a:ln>
        </p:spPr>
      </p:sp>
      <p:sp>
        <p:nvSpPr>
          <p:cNvPr id="5" name="Shape 3"/>
          <p:cNvSpPr/>
          <p:nvPr/>
        </p:nvSpPr>
        <p:spPr>
          <a:xfrm rot="2700000">
            <a:off x="1417320" y="1835658"/>
            <a:ext cx="146304" cy="146304"/>
          </a:xfrm>
          <a:prstGeom prst="rect">
            <a:avLst/>
          </a:prstGeom>
          <a:solidFill>
            <a:srgbClr val="C49A2A"/>
          </a:solidFill>
          <a:ln w="12700">
            <a:solidFill>
              <a:srgbClr val="7A5E15"/>
            </a:solidFill>
            <a:prstDash val="solid"/>
          </a:ln>
        </p:spPr>
      </p:sp>
      <p:sp>
        <p:nvSpPr>
          <p:cNvPr id="6" name="Text 4"/>
          <p:cNvSpPr/>
          <p:nvPr/>
        </p:nvSpPr>
        <p:spPr>
          <a:xfrm>
            <a:off x="1828800" y="1755648"/>
            <a:ext cx="8933688" cy="30632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God </a:t>
            </a:r>
            <a:pPr algn="l" indent="0" marL="0">
              <a:buNone/>
            </a:pPr>
            <a:r>
              <a:rPr lang="en-US" sz="1800" b="1" dirty="0">
                <a:solidFill>
                  <a:srgbClr val="33240F"/>
                </a:solidFill>
                <a:latin typeface="Calibri" pitchFamily="34" charset="0"/>
                <a:ea typeface="Calibri" pitchFamily="34" charset="-122"/>
                <a:cs typeface="Calibri" pitchFamily="34" charset="-120"/>
              </a:rPr>
              <a:t>exposes</a:t>
            </a:r>
            <a:pPr algn="l" indent="0" marL="0">
              <a:buNone/>
            </a:pPr>
            <a:r>
              <a:rPr lang="en-US" sz="1800" dirty="0">
                <a:solidFill>
                  <a:srgbClr val="33240F"/>
                </a:solidFill>
                <a:latin typeface="Calibri" pitchFamily="34" charset="0"/>
                <a:ea typeface="Calibri" pitchFamily="34" charset="-122"/>
                <a:cs typeface="Calibri" pitchFamily="34" charset="-120"/>
              </a:rPr>
              <a:t> sin so that it can be </a:t>
            </a:r>
            <a:pPr algn="l" indent="0" marL="0">
              <a:buNone/>
            </a:pPr>
            <a:r>
              <a:rPr lang="en-US" sz="1800" b="1" dirty="0">
                <a:solidFill>
                  <a:srgbClr val="1E5631"/>
                </a:solidFill>
                <a:latin typeface="Calibri" pitchFamily="34" charset="0"/>
                <a:ea typeface="Calibri" pitchFamily="34" charset="-122"/>
                <a:cs typeface="Calibri" pitchFamily="34" charset="-120"/>
              </a:rPr>
              <a:t>healed</a:t>
            </a:r>
            <a:endParaRPr lang="en-US" sz="1800" dirty="0"/>
          </a:p>
        </p:txBody>
      </p:sp>
      <p:sp>
        <p:nvSpPr>
          <p:cNvPr id="7" name="Shape 5"/>
          <p:cNvSpPr/>
          <p:nvPr/>
        </p:nvSpPr>
        <p:spPr>
          <a:xfrm rot="2700000">
            <a:off x="1417320" y="2141982"/>
            <a:ext cx="146304" cy="146304"/>
          </a:xfrm>
          <a:prstGeom prst="rect">
            <a:avLst/>
          </a:prstGeom>
          <a:solidFill>
            <a:srgbClr val="C49A2A"/>
          </a:solidFill>
          <a:ln w="12700">
            <a:solidFill>
              <a:srgbClr val="7A5E15"/>
            </a:solidFill>
            <a:prstDash val="solid"/>
          </a:ln>
        </p:spPr>
      </p:sp>
      <p:sp>
        <p:nvSpPr>
          <p:cNvPr id="8" name="Text 6"/>
          <p:cNvSpPr/>
          <p:nvPr/>
        </p:nvSpPr>
        <p:spPr>
          <a:xfrm>
            <a:off x="1828800" y="2061972"/>
            <a:ext cx="8933688" cy="30632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Peter’s questions were </a:t>
            </a:r>
            <a:pPr algn="l" indent="0" marL="0">
              <a:buNone/>
            </a:pPr>
            <a:r>
              <a:rPr lang="en-US" sz="1800" b="1" dirty="0">
                <a:solidFill>
                  <a:srgbClr val="33240F"/>
                </a:solidFill>
                <a:latin typeface="Calibri" pitchFamily="34" charset="0"/>
                <a:ea typeface="Calibri" pitchFamily="34" charset="-122"/>
                <a:cs typeface="Calibri" pitchFamily="34" charset="-120"/>
              </a:rPr>
              <a:t>open doors</a:t>
            </a:r>
            <a:pPr algn="l" indent="0" marL="0">
              <a:buNone/>
            </a:pPr>
            <a:r>
              <a:rPr lang="en-US" sz="1800" dirty="0">
                <a:solidFill>
                  <a:srgbClr val="33240F"/>
                </a:solidFill>
                <a:latin typeface="Calibri" pitchFamily="34" charset="0"/>
                <a:ea typeface="Calibri" pitchFamily="34" charset="-122"/>
                <a:cs typeface="Calibri" pitchFamily="34" charset="-120"/>
              </a:rPr>
              <a:t> to repentance — they chose the lie instead</a:t>
            </a:r>
            <a:endParaRPr lang="en-US" sz="1800" dirty="0"/>
          </a:p>
        </p:txBody>
      </p:sp>
      <p:sp>
        <p:nvSpPr>
          <p:cNvPr id="9" name="Shape 7"/>
          <p:cNvSpPr/>
          <p:nvPr/>
        </p:nvSpPr>
        <p:spPr>
          <a:xfrm rot="2700000">
            <a:off x="1417320" y="2448306"/>
            <a:ext cx="146304" cy="146304"/>
          </a:xfrm>
          <a:prstGeom prst="rect">
            <a:avLst/>
          </a:prstGeom>
          <a:solidFill>
            <a:srgbClr val="C49A2A"/>
          </a:solidFill>
          <a:ln w="12700">
            <a:solidFill>
              <a:srgbClr val="7A5E15"/>
            </a:solidFill>
            <a:prstDash val="solid"/>
          </a:ln>
        </p:spPr>
      </p:sp>
      <p:sp>
        <p:nvSpPr>
          <p:cNvPr id="10" name="Text 8"/>
          <p:cNvSpPr/>
          <p:nvPr/>
        </p:nvSpPr>
        <p:spPr>
          <a:xfrm>
            <a:off x="1828800" y="2368296"/>
            <a:ext cx="8933688" cy="30632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Our Church gives us the opposite path: the </a:t>
            </a:r>
            <a:pPr algn="l" indent="0" marL="0">
              <a:buNone/>
            </a:pPr>
            <a:r>
              <a:rPr lang="en-US" sz="1800" b="1" dirty="0">
                <a:solidFill>
                  <a:srgbClr val="8B1A1A"/>
                </a:solidFill>
                <a:latin typeface="Calibri" pitchFamily="34" charset="0"/>
                <a:ea typeface="Calibri" pitchFamily="34" charset="-122"/>
                <a:cs typeface="Calibri" pitchFamily="34" charset="-120"/>
              </a:rPr>
              <a:t>Sacrament of Confession</a:t>
            </a:r>
            <a:endParaRPr lang="en-US" sz="1800" dirty="0"/>
          </a:p>
        </p:txBody>
      </p:sp>
      <p:sp>
        <p:nvSpPr>
          <p:cNvPr id="11" name="Shape 9"/>
          <p:cNvSpPr/>
          <p:nvPr/>
        </p:nvSpPr>
        <p:spPr>
          <a:xfrm rot="2700000">
            <a:off x="1417320" y="2754630"/>
            <a:ext cx="146304" cy="146304"/>
          </a:xfrm>
          <a:prstGeom prst="rect">
            <a:avLst/>
          </a:prstGeom>
          <a:solidFill>
            <a:srgbClr val="C49A2A"/>
          </a:solidFill>
          <a:ln w="12700">
            <a:solidFill>
              <a:srgbClr val="7A5E15"/>
            </a:solidFill>
            <a:prstDash val="solid"/>
          </a:ln>
        </p:spPr>
      </p:sp>
      <p:sp>
        <p:nvSpPr>
          <p:cNvPr id="12" name="Text 10"/>
          <p:cNvSpPr/>
          <p:nvPr/>
        </p:nvSpPr>
        <p:spPr>
          <a:xfrm>
            <a:off x="1828800" y="2674620"/>
            <a:ext cx="8933688" cy="30632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There we </a:t>
            </a:r>
            <a:pPr algn="l" indent="0" marL="0">
              <a:buNone/>
            </a:pPr>
            <a:r>
              <a:rPr lang="en-US" sz="1800" b="1" dirty="0">
                <a:solidFill>
                  <a:srgbClr val="33240F"/>
                </a:solidFill>
                <a:latin typeface="Calibri" pitchFamily="34" charset="0"/>
                <a:ea typeface="Calibri" pitchFamily="34" charset="-122"/>
                <a:cs typeface="Calibri" pitchFamily="34" charset="-120"/>
              </a:rPr>
              <a:t>stop pretending</a:t>
            </a:r>
            <a:pPr algn="l" indent="0" marL="0">
              <a:buNone/>
            </a:pPr>
            <a:r>
              <a:rPr lang="en-US" sz="1800" dirty="0">
                <a:solidFill>
                  <a:srgbClr val="33240F"/>
                </a:solidFill>
                <a:latin typeface="Calibri" pitchFamily="34" charset="0"/>
                <a:ea typeface="Calibri" pitchFamily="34" charset="-122"/>
                <a:cs typeface="Calibri" pitchFamily="34" charset="-120"/>
              </a:rPr>
              <a:t> and tell the truth before God — and receive not death but </a:t>
            </a:r>
            <a:pPr algn="l" indent="0" marL="0">
              <a:buNone/>
            </a:pPr>
            <a:r>
              <a:rPr lang="en-US" sz="1800" b="1" dirty="0">
                <a:solidFill>
                  <a:srgbClr val="1E5631"/>
                </a:solidFill>
                <a:latin typeface="Calibri" pitchFamily="34" charset="0"/>
                <a:ea typeface="Calibri" pitchFamily="34" charset="-122"/>
                <a:cs typeface="Calibri" pitchFamily="34" charset="-120"/>
              </a:rPr>
              <a:t>absolution and life</a:t>
            </a:r>
            <a:endParaRPr lang="en-US" sz="1800" dirty="0"/>
          </a:p>
        </p:txBody>
      </p:sp>
      <p:sp>
        <p:nvSpPr>
          <p:cNvPr id="13" name="Shape 11"/>
          <p:cNvSpPr/>
          <p:nvPr/>
        </p:nvSpPr>
        <p:spPr>
          <a:xfrm>
            <a:off x="1353312" y="3493008"/>
            <a:ext cx="9482328" cy="960120"/>
          </a:xfrm>
          <a:prstGeom prst="roundRect">
            <a:avLst>
              <a:gd name="adj" fmla="val 12381"/>
            </a:avLst>
          </a:prstGeom>
          <a:solidFill>
            <a:srgbClr val="F4E4BC">
              <a:alpha val="95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14" name="Shape 12"/>
          <p:cNvSpPr/>
          <p:nvPr/>
        </p:nvSpPr>
        <p:spPr>
          <a:xfrm>
            <a:off x="1444752" y="3584448"/>
            <a:ext cx="9299448" cy="777240"/>
          </a:xfrm>
          <a:prstGeom prst="roundRect">
            <a:avLst>
              <a:gd name="adj" fmla="val 11765"/>
            </a:avLst>
          </a:prstGeom>
          <a:solidFill>
            <a:srgbClr val="FFFFFF">
              <a:alpha val="0"/>
            </a:srgbClr>
          </a:solidFill>
          <a:ln w="9525">
            <a:solidFill>
              <a:srgbClr val="B8902E"/>
            </a:solidFill>
            <a:prstDash val="solid"/>
          </a:ln>
        </p:spPr>
      </p:sp>
      <p:sp>
        <p:nvSpPr>
          <p:cNvPr id="15" name="Text 13"/>
          <p:cNvSpPr/>
          <p:nvPr/>
        </p:nvSpPr>
        <p:spPr>
          <a:xfrm>
            <a:off x="1719072" y="3639312"/>
            <a:ext cx="8750808" cy="667512"/>
          </a:xfrm>
          <a:prstGeom prst="rect">
            <a:avLst/>
          </a:prstGeom>
          <a:noFill/>
          <a:ln/>
        </p:spPr>
        <p:txBody>
          <a:bodyPr wrap="square" rtlCol="0" anchor="ctr"/>
          <a:lstStyle/>
          <a:p>
            <a:pPr algn="ctr" indent="0" marL="0">
              <a:spcAft>
                <a:spcPts val="500"/>
              </a:spcAft>
              <a:buNone/>
            </a:pPr>
            <a:r>
              <a:rPr lang="en-US" sz="1800" i="1" dirty="0">
                <a:solidFill>
                  <a:srgbClr val="33240F"/>
                </a:solidFill>
                <a:latin typeface="Cambria" pitchFamily="34" charset="0"/>
                <a:ea typeface="Cambria" pitchFamily="34" charset="-122"/>
                <a:cs typeface="Cambria" pitchFamily="34" charset="-120"/>
              </a:rPr>
              <a:t>“Your Father who sees in secret will reward you openly.”</a:t>
            </a:r>
            <a:endParaRPr lang="en-US" sz="1800" dirty="0"/>
          </a:p>
          <a:p>
            <a:pPr algn="r" indent="0" marL="0">
              <a:buNone/>
            </a:pPr>
            <a:r>
              <a:rPr lang="en-US" sz="1450" b="1" dirty="0">
                <a:solidFill>
                  <a:srgbClr val="8B1A1A"/>
                </a:solidFill>
                <a:latin typeface="Calibri" pitchFamily="34" charset="0"/>
                <a:ea typeface="Calibri" pitchFamily="34" charset="-122"/>
                <a:cs typeface="Calibri" pitchFamily="34" charset="-120"/>
              </a:rPr>
              <a:t>— Matthew 6:4</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Living the Lesson</a:t>
            </a:r>
            <a:endParaRPr lang="en-US" sz="3300" dirty="0"/>
          </a:p>
        </p:txBody>
      </p:sp>
      <p:sp>
        <p:nvSpPr>
          <p:cNvPr id="3" name="Shape 1"/>
          <p:cNvSpPr/>
          <p:nvPr/>
        </p:nvSpPr>
        <p:spPr>
          <a:xfrm>
            <a:off x="1078992" y="1463040"/>
            <a:ext cx="10030968" cy="1810512"/>
          </a:xfrm>
          <a:prstGeom prst="roundRect">
            <a:avLst>
              <a:gd name="adj" fmla="val 6566"/>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170432" y="1554480"/>
            <a:ext cx="9848088" cy="1627632"/>
          </a:xfrm>
          <a:prstGeom prst="roundRect">
            <a:avLst>
              <a:gd name="adj" fmla="val 5618"/>
            </a:avLst>
          </a:prstGeom>
          <a:solidFill>
            <a:srgbClr val="FFFFFF">
              <a:alpha val="0"/>
            </a:srgbClr>
          </a:solidFill>
          <a:ln w="9525">
            <a:solidFill>
              <a:srgbClr val="B8902E"/>
            </a:solidFill>
            <a:prstDash val="solid"/>
          </a:ln>
        </p:spPr>
      </p:sp>
      <p:sp>
        <p:nvSpPr>
          <p:cNvPr id="5" name="Shape 3"/>
          <p:cNvSpPr/>
          <p:nvPr/>
        </p:nvSpPr>
        <p:spPr>
          <a:xfrm rot="2700000">
            <a:off x="1417320" y="1835658"/>
            <a:ext cx="146304" cy="146304"/>
          </a:xfrm>
          <a:prstGeom prst="rect">
            <a:avLst/>
          </a:prstGeom>
          <a:solidFill>
            <a:srgbClr val="C49A2A"/>
          </a:solidFill>
          <a:ln w="12700">
            <a:solidFill>
              <a:srgbClr val="7A5E15"/>
            </a:solidFill>
            <a:prstDash val="solid"/>
          </a:ln>
        </p:spPr>
      </p:sp>
      <p:sp>
        <p:nvSpPr>
          <p:cNvPr id="6" name="Text 4"/>
          <p:cNvSpPr/>
          <p:nvPr/>
        </p:nvSpPr>
        <p:spPr>
          <a:xfrm>
            <a:off x="1828800" y="1755648"/>
            <a:ext cx="8933688" cy="30632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Do I tell the </a:t>
            </a:r>
            <a:pPr algn="l" indent="0" marL="0">
              <a:buNone/>
            </a:pPr>
            <a:r>
              <a:rPr lang="en-US" sz="1800" b="1" dirty="0">
                <a:solidFill>
                  <a:srgbClr val="33240F"/>
                </a:solidFill>
                <a:latin typeface="Calibri" pitchFamily="34" charset="0"/>
                <a:ea typeface="Calibri" pitchFamily="34" charset="-122"/>
                <a:cs typeface="Calibri" pitchFamily="34" charset="-120"/>
              </a:rPr>
              <a:t>truth</a:t>
            </a:r>
            <a:pPr algn="l" indent="0" marL="0">
              <a:buNone/>
            </a:pPr>
            <a:r>
              <a:rPr lang="en-US" sz="1800" dirty="0">
                <a:solidFill>
                  <a:srgbClr val="33240F"/>
                </a:solidFill>
                <a:latin typeface="Calibri" pitchFamily="34" charset="0"/>
                <a:ea typeface="Calibri" pitchFamily="34" charset="-122"/>
                <a:cs typeface="Calibri" pitchFamily="34" charset="-120"/>
              </a:rPr>
              <a:t> even when a lie would make me look more devout?</a:t>
            </a:r>
            <a:endParaRPr lang="en-US" sz="1800" dirty="0"/>
          </a:p>
        </p:txBody>
      </p:sp>
      <p:sp>
        <p:nvSpPr>
          <p:cNvPr id="7" name="Shape 5"/>
          <p:cNvSpPr/>
          <p:nvPr/>
        </p:nvSpPr>
        <p:spPr>
          <a:xfrm rot="2700000">
            <a:off x="1417320" y="2141982"/>
            <a:ext cx="146304" cy="146304"/>
          </a:xfrm>
          <a:prstGeom prst="rect">
            <a:avLst/>
          </a:prstGeom>
          <a:solidFill>
            <a:srgbClr val="C49A2A"/>
          </a:solidFill>
          <a:ln w="12700">
            <a:solidFill>
              <a:srgbClr val="7A5E15"/>
            </a:solidFill>
            <a:prstDash val="solid"/>
          </a:ln>
        </p:spPr>
      </p:sp>
      <p:sp>
        <p:nvSpPr>
          <p:cNvPr id="8" name="Text 6"/>
          <p:cNvSpPr/>
          <p:nvPr/>
        </p:nvSpPr>
        <p:spPr>
          <a:xfrm>
            <a:off x="1828800" y="2061972"/>
            <a:ext cx="8933688" cy="30632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Do I give and serve to </a:t>
            </a:r>
            <a:pPr algn="l" indent="0" marL="0">
              <a:buNone/>
            </a:pPr>
            <a:r>
              <a:rPr lang="en-US" sz="1800" b="1" dirty="0">
                <a:solidFill>
                  <a:srgbClr val="8B1A1A"/>
                </a:solidFill>
                <a:latin typeface="Calibri" pitchFamily="34" charset="0"/>
                <a:ea typeface="Calibri" pitchFamily="34" charset="-122"/>
                <a:cs typeface="Calibri" pitchFamily="34" charset="-120"/>
              </a:rPr>
              <a:t>be seen</a:t>
            </a:r>
            <a:pPr algn="l" indent="0" marL="0">
              <a:buNone/>
            </a:pPr>
            <a:r>
              <a:rPr lang="en-US" sz="1800" dirty="0">
                <a:solidFill>
                  <a:srgbClr val="33240F"/>
                </a:solidFill>
                <a:latin typeface="Calibri" pitchFamily="34" charset="0"/>
                <a:ea typeface="Calibri" pitchFamily="34" charset="-122"/>
                <a:cs typeface="Calibri" pitchFamily="34" charset="-120"/>
              </a:rPr>
              <a:t> — or quietly, for the </a:t>
            </a:r>
            <a:pPr algn="l" indent="0" marL="0">
              <a:buNone/>
            </a:pPr>
            <a:r>
              <a:rPr lang="en-US" sz="1800" b="1" dirty="0">
                <a:solidFill>
                  <a:srgbClr val="1E5631"/>
                </a:solidFill>
                <a:latin typeface="Calibri" pitchFamily="34" charset="0"/>
                <a:ea typeface="Calibri" pitchFamily="34" charset="-122"/>
                <a:cs typeface="Calibri" pitchFamily="34" charset="-120"/>
              </a:rPr>
              <a:t>love of God</a:t>
            </a:r>
            <a:pPr algn="l" indent="0" marL="0">
              <a:buNone/>
            </a:pPr>
            <a:r>
              <a:rPr lang="en-US" sz="1800" dirty="0">
                <a:solidFill>
                  <a:srgbClr val="33240F"/>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rot="2700000">
            <a:off x="1417320" y="2448306"/>
            <a:ext cx="146304" cy="146304"/>
          </a:xfrm>
          <a:prstGeom prst="rect">
            <a:avLst/>
          </a:prstGeom>
          <a:solidFill>
            <a:srgbClr val="C49A2A"/>
          </a:solidFill>
          <a:ln w="12700">
            <a:solidFill>
              <a:srgbClr val="7A5E15"/>
            </a:solidFill>
            <a:prstDash val="solid"/>
          </a:ln>
        </p:spPr>
      </p:sp>
      <p:sp>
        <p:nvSpPr>
          <p:cNvPr id="10" name="Text 8"/>
          <p:cNvSpPr/>
          <p:nvPr/>
        </p:nvSpPr>
        <p:spPr>
          <a:xfrm>
            <a:off x="1828800" y="2368296"/>
            <a:ext cx="8933688" cy="30632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Is there a </a:t>
            </a:r>
            <a:pPr algn="l" indent="0" marL="0">
              <a:buNone/>
            </a:pPr>
            <a:r>
              <a:rPr lang="en-US" sz="1800" b="1" dirty="0">
                <a:solidFill>
                  <a:srgbClr val="33240F"/>
                </a:solidFill>
                <a:latin typeface="Calibri" pitchFamily="34" charset="0"/>
                <a:ea typeface="Calibri" pitchFamily="34" charset="-122"/>
                <a:cs typeface="Calibri" pitchFamily="34" charset="-120"/>
              </a:rPr>
              <a:t>gap</a:t>
            </a:r>
            <a:pPr algn="l" indent="0" marL="0">
              <a:buNone/>
            </a:pPr>
            <a:r>
              <a:rPr lang="en-US" sz="1800" dirty="0">
                <a:solidFill>
                  <a:srgbClr val="33240F"/>
                </a:solidFill>
                <a:latin typeface="Calibri" pitchFamily="34" charset="0"/>
                <a:ea typeface="Calibri" pitchFamily="34" charset="-122"/>
                <a:cs typeface="Calibri" pitchFamily="34" charset="-120"/>
              </a:rPr>
              <a:t> between the face I show at church and the heart God sees?</a:t>
            </a:r>
            <a:endParaRPr lang="en-US" sz="1800" dirty="0"/>
          </a:p>
        </p:txBody>
      </p:sp>
      <p:sp>
        <p:nvSpPr>
          <p:cNvPr id="11" name="Shape 9"/>
          <p:cNvSpPr/>
          <p:nvPr/>
        </p:nvSpPr>
        <p:spPr>
          <a:xfrm rot="2700000">
            <a:off x="1417320" y="2754630"/>
            <a:ext cx="146304" cy="146304"/>
          </a:xfrm>
          <a:prstGeom prst="rect">
            <a:avLst/>
          </a:prstGeom>
          <a:solidFill>
            <a:srgbClr val="C49A2A"/>
          </a:solidFill>
          <a:ln w="12700">
            <a:solidFill>
              <a:srgbClr val="7A5E15"/>
            </a:solidFill>
            <a:prstDash val="solid"/>
          </a:ln>
        </p:spPr>
      </p:sp>
      <p:sp>
        <p:nvSpPr>
          <p:cNvPr id="12" name="Text 10"/>
          <p:cNvSpPr/>
          <p:nvPr/>
        </p:nvSpPr>
        <p:spPr>
          <a:xfrm>
            <a:off x="1828800" y="2674620"/>
            <a:ext cx="8933688" cy="30632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Do I carry the </a:t>
            </a:r>
            <a:pPr algn="l" indent="0" marL="0">
              <a:buNone/>
            </a:pPr>
            <a:r>
              <a:rPr lang="en-US" sz="1800" b="1" dirty="0">
                <a:solidFill>
                  <a:srgbClr val="33240F"/>
                </a:solidFill>
                <a:latin typeface="Calibri" pitchFamily="34" charset="0"/>
                <a:ea typeface="Calibri" pitchFamily="34" charset="-122"/>
                <a:cs typeface="Calibri" pitchFamily="34" charset="-120"/>
              </a:rPr>
              <a:t>holy fear of God</a:t>
            </a:r>
            <a:pPr algn="l" indent="0" marL="0">
              <a:buNone/>
            </a:pPr>
            <a:r>
              <a:rPr lang="en-US" sz="1800" dirty="0">
                <a:solidFill>
                  <a:srgbClr val="33240F"/>
                </a:solidFill>
                <a:latin typeface="Calibri" pitchFamily="34" charset="0"/>
                <a:ea typeface="Calibri" pitchFamily="34" charset="-122"/>
                <a:cs typeface="Calibri" pitchFamily="34" charset="-120"/>
              </a:rPr>
              <a:t> — not playing games with holy things?</a:t>
            </a:r>
            <a:endParaRPr lang="en-US" sz="1800" dirty="0"/>
          </a:p>
        </p:txBody>
      </p:sp>
      <p:sp>
        <p:nvSpPr>
          <p:cNvPr id="13" name="Shape 11"/>
          <p:cNvSpPr/>
          <p:nvPr/>
        </p:nvSpPr>
        <p:spPr>
          <a:xfrm>
            <a:off x="1353312" y="3493008"/>
            <a:ext cx="9482328" cy="960120"/>
          </a:xfrm>
          <a:prstGeom prst="roundRect">
            <a:avLst>
              <a:gd name="adj" fmla="val 12381"/>
            </a:avLst>
          </a:prstGeom>
          <a:solidFill>
            <a:srgbClr val="EAF0E4">
              <a:alpha val="95000"/>
            </a:srgbClr>
          </a:solidFill>
          <a:ln w="28575">
            <a:solidFill>
              <a:srgbClr val="1E5631"/>
            </a:solidFill>
            <a:prstDash val="solid"/>
          </a:ln>
          <a:effectLst>
            <a:outerShdw sx="100000" sy="100000" kx="0" ky="0" algn="bl" rotWithShape="0" blurRad="101600" dist="38100" dir="5400000">
              <a:srgbClr val="5E4014">
                <a:alpha val="28000"/>
              </a:srgbClr>
            </a:outerShdw>
          </a:effectLst>
        </p:spPr>
      </p:sp>
      <p:sp>
        <p:nvSpPr>
          <p:cNvPr id="14" name="Shape 12"/>
          <p:cNvSpPr/>
          <p:nvPr/>
        </p:nvSpPr>
        <p:spPr>
          <a:xfrm>
            <a:off x="1444752" y="3584448"/>
            <a:ext cx="9299448" cy="777240"/>
          </a:xfrm>
          <a:prstGeom prst="roundRect">
            <a:avLst>
              <a:gd name="adj" fmla="val 11765"/>
            </a:avLst>
          </a:prstGeom>
          <a:solidFill>
            <a:srgbClr val="FFFFFF">
              <a:alpha val="0"/>
            </a:srgbClr>
          </a:solidFill>
          <a:ln w="9525">
            <a:solidFill>
              <a:srgbClr val="1E5631"/>
            </a:solidFill>
            <a:prstDash val="solid"/>
          </a:ln>
        </p:spPr>
      </p:sp>
      <p:sp>
        <p:nvSpPr>
          <p:cNvPr id="15" name="Text 13"/>
          <p:cNvSpPr/>
          <p:nvPr/>
        </p:nvSpPr>
        <p:spPr>
          <a:xfrm>
            <a:off x="1719072" y="3566160"/>
            <a:ext cx="8750808" cy="804672"/>
          </a:xfrm>
          <a:prstGeom prst="rect">
            <a:avLst/>
          </a:prstGeom>
          <a:noFill/>
          <a:ln/>
        </p:spPr>
        <p:txBody>
          <a:bodyPr wrap="square" rtlCol="0" anchor="ctr"/>
          <a:lstStyle/>
          <a:p>
            <a:pPr algn="ctr" indent="0" marL="0">
              <a:buNone/>
            </a:pPr>
            <a:r>
              <a:rPr lang="en-US" sz="1700" b="1" dirty="0">
                <a:solidFill>
                  <a:srgbClr val="1E5631"/>
                </a:solidFill>
                <a:latin typeface="Calibri" pitchFamily="34" charset="0"/>
                <a:ea typeface="Calibri" pitchFamily="34" charset="-122"/>
                <a:cs typeface="Calibri" pitchFamily="34" charset="-120"/>
              </a:rPr>
              <a:t>Takeaway:  </a:t>
            </a:r>
            <a:pPr algn="ctr" indent="0" marL="0">
              <a:buNone/>
            </a:pPr>
            <a:r>
              <a:rPr lang="en-US" sz="1700" i="1" dirty="0">
                <a:solidFill>
                  <a:srgbClr val="33240F"/>
                </a:solidFill>
                <a:latin typeface="Cambria" pitchFamily="34" charset="0"/>
                <a:ea typeface="Cambria" pitchFamily="34" charset="-122"/>
                <a:cs typeface="Cambria" pitchFamily="34" charset="-120"/>
              </a:rPr>
              <a:t>May God give us one undivided heart — to love the truth, to give in secret, and to stand before Him without a mask.</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Discussion &amp; Reflection</a:t>
            </a:r>
            <a:endParaRPr lang="en-US" sz="3300" dirty="0"/>
          </a:p>
        </p:txBody>
      </p:sp>
      <p:sp>
        <p:nvSpPr>
          <p:cNvPr id="3" name="Shape 1"/>
          <p:cNvSpPr/>
          <p:nvPr/>
        </p:nvSpPr>
        <p:spPr>
          <a:xfrm>
            <a:off x="1078992" y="1481328"/>
            <a:ext cx="10030968" cy="3154680"/>
          </a:xfrm>
          <a:prstGeom prst="roundRect">
            <a:avLst>
              <a:gd name="adj" fmla="val 3768"/>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170432" y="1572768"/>
            <a:ext cx="9848088" cy="2971800"/>
          </a:xfrm>
          <a:prstGeom prst="roundRect">
            <a:avLst>
              <a:gd name="adj" fmla="val 3077"/>
            </a:avLst>
          </a:prstGeom>
          <a:solidFill>
            <a:srgbClr val="FFFFFF">
              <a:alpha val="0"/>
            </a:srgbClr>
          </a:solidFill>
          <a:ln w="9525">
            <a:solidFill>
              <a:srgbClr val="B8902E"/>
            </a:solidFill>
            <a:prstDash val="solid"/>
          </a:ln>
        </p:spPr>
      </p:sp>
      <p:sp>
        <p:nvSpPr>
          <p:cNvPr id="5" name="Text 3"/>
          <p:cNvSpPr/>
          <p:nvPr/>
        </p:nvSpPr>
        <p:spPr>
          <a:xfrm>
            <a:off x="1536192" y="1783080"/>
            <a:ext cx="457200" cy="512064"/>
          </a:xfrm>
          <a:prstGeom prst="rect">
            <a:avLst/>
          </a:prstGeom>
          <a:noFill/>
          <a:ln/>
        </p:spPr>
        <p:txBody>
          <a:bodyPr wrap="square" lIns="0" tIns="0" rIns="0" bIns="0" rtlCol="0" anchor="ctr"/>
          <a:lstStyle/>
          <a:p>
            <a:pPr algn="ctr" indent="0" marL="0">
              <a:buNone/>
            </a:pPr>
            <a:r>
              <a:rPr lang="en-US" sz="2100" b="1" dirty="0">
                <a:solidFill>
                  <a:srgbClr val="8B1A1A"/>
                </a:solidFill>
                <a:latin typeface="Cambria" pitchFamily="34" charset="0"/>
                <a:ea typeface="Cambria" pitchFamily="34" charset="-122"/>
                <a:cs typeface="Cambria" pitchFamily="34" charset="-120"/>
              </a:rPr>
              <a:t>1</a:t>
            </a:r>
            <a:endParaRPr lang="en-US" sz="2100" dirty="0"/>
          </a:p>
        </p:txBody>
      </p:sp>
      <p:sp>
        <p:nvSpPr>
          <p:cNvPr id="6" name="Text 4"/>
          <p:cNvSpPr/>
          <p:nvPr/>
        </p:nvSpPr>
        <p:spPr>
          <a:xfrm>
            <a:off x="2084832" y="1783080"/>
            <a:ext cx="8567928" cy="51206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Peter says the land and money were their own. So what exactly was their sin?</a:t>
            </a:r>
            <a:endParaRPr lang="en-US" sz="1800" dirty="0"/>
          </a:p>
        </p:txBody>
      </p:sp>
      <p:sp>
        <p:nvSpPr>
          <p:cNvPr id="7" name="Text 5"/>
          <p:cNvSpPr/>
          <p:nvPr/>
        </p:nvSpPr>
        <p:spPr>
          <a:xfrm>
            <a:off x="1536192" y="2295144"/>
            <a:ext cx="457200" cy="512064"/>
          </a:xfrm>
          <a:prstGeom prst="rect">
            <a:avLst/>
          </a:prstGeom>
          <a:noFill/>
          <a:ln/>
        </p:spPr>
        <p:txBody>
          <a:bodyPr wrap="square" lIns="0" tIns="0" rIns="0" bIns="0" rtlCol="0" anchor="ctr"/>
          <a:lstStyle/>
          <a:p>
            <a:pPr algn="ctr" indent="0" marL="0">
              <a:buNone/>
            </a:pPr>
            <a:r>
              <a:rPr lang="en-US" sz="2100" b="1" dirty="0">
                <a:solidFill>
                  <a:srgbClr val="8B1A1A"/>
                </a:solidFill>
                <a:latin typeface="Cambria" pitchFamily="34" charset="0"/>
                <a:ea typeface="Cambria" pitchFamily="34" charset="-122"/>
                <a:cs typeface="Cambria" pitchFamily="34" charset="-120"/>
              </a:rPr>
              <a:t>2</a:t>
            </a:r>
            <a:endParaRPr lang="en-US" sz="2100" dirty="0"/>
          </a:p>
        </p:txBody>
      </p:sp>
      <p:sp>
        <p:nvSpPr>
          <p:cNvPr id="8" name="Text 6"/>
          <p:cNvSpPr/>
          <p:nvPr/>
        </p:nvSpPr>
        <p:spPr>
          <a:xfrm>
            <a:off x="2084832" y="2295144"/>
            <a:ext cx="8567928" cy="51206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How do verses 3 and 4 together teach us that the Holy Spirit is God?</a:t>
            </a:r>
            <a:endParaRPr lang="en-US" sz="1800" dirty="0"/>
          </a:p>
        </p:txBody>
      </p:sp>
      <p:sp>
        <p:nvSpPr>
          <p:cNvPr id="9" name="Text 7"/>
          <p:cNvSpPr/>
          <p:nvPr/>
        </p:nvSpPr>
        <p:spPr>
          <a:xfrm>
            <a:off x="1536192" y="2807208"/>
            <a:ext cx="457200" cy="512064"/>
          </a:xfrm>
          <a:prstGeom prst="rect">
            <a:avLst/>
          </a:prstGeom>
          <a:noFill/>
          <a:ln/>
        </p:spPr>
        <p:txBody>
          <a:bodyPr wrap="square" lIns="0" tIns="0" rIns="0" bIns="0" rtlCol="0" anchor="ctr"/>
          <a:lstStyle/>
          <a:p>
            <a:pPr algn="ctr" indent="0" marL="0">
              <a:buNone/>
            </a:pPr>
            <a:r>
              <a:rPr lang="en-US" sz="2100" b="1" dirty="0">
                <a:solidFill>
                  <a:srgbClr val="8B1A1A"/>
                </a:solidFill>
                <a:latin typeface="Cambria" pitchFamily="34" charset="0"/>
                <a:ea typeface="Cambria" pitchFamily="34" charset="-122"/>
                <a:cs typeface="Cambria" pitchFamily="34" charset="-120"/>
              </a:rPr>
              <a:t>3</a:t>
            </a:r>
            <a:endParaRPr lang="en-US" sz="2100" dirty="0"/>
          </a:p>
        </p:txBody>
      </p:sp>
      <p:sp>
        <p:nvSpPr>
          <p:cNvPr id="10" name="Text 8"/>
          <p:cNvSpPr/>
          <p:nvPr/>
        </p:nvSpPr>
        <p:spPr>
          <a:xfrm>
            <a:off x="2084832" y="2807208"/>
            <a:ext cx="8567928" cy="51206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What is the difference between holy fear of God and simply being afraid of God?</a:t>
            </a:r>
            <a:endParaRPr lang="en-US" sz="1800" dirty="0"/>
          </a:p>
        </p:txBody>
      </p:sp>
      <p:sp>
        <p:nvSpPr>
          <p:cNvPr id="11" name="Text 9"/>
          <p:cNvSpPr/>
          <p:nvPr/>
        </p:nvSpPr>
        <p:spPr>
          <a:xfrm>
            <a:off x="1536192" y="3319272"/>
            <a:ext cx="457200" cy="512064"/>
          </a:xfrm>
          <a:prstGeom prst="rect">
            <a:avLst/>
          </a:prstGeom>
          <a:noFill/>
          <a:ln/>
        </p:spPr>
        <p:txBody>
          <a:bodyPr wrap="square" lIns="0" tIns="0" rIns="0" bIns="0" rtlCol="0" anchor="ctr"/>
          <a:lstStyle/>
          <a:p>
            <a:pPr algn="ctr" indent="0" marL="0">
              <a:buNone/>
            </a:pPr>
            <a:r>
              <a:rPr lang="en-US" sz="2100" b="1" dirty="0">
                <a:solidFill>
                  <a:srgbClr val="8B1A1A"/>
                </a:solidFill>
                <a:latin typeface="Cambria" pitchFamily="34" charset="0"/>
                <a:ea typeface="Cambria" pitchFamily="34" charset="-122"/>
                <a:cs typeface="Cambria" pitchFamily="34" charset="-120"/>
              </a:rPr>
              <a:t>4</a:t>
            </a:r>
            <a:endParaRPr lang="en-US" sz="2100" dirty="0"/>
          </a:p>
        </p:txBody>
      </p:sp>
      <p:sp>
        <p:nvSpPr>
          <p:cNvPr id="12" name="Text 10"/>
          <p:cNvSpPr/>
          <p:nvPr/>
        </p:nvSpPr>
        <p:spPr>
          <a:xfrm>
            <a:off x="2084832" y="3319272"/>
            <a:ext cx="8567928" cy="51206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Where are we tempted to “look more devout than we are”? How does Confession heal that?</a:t>
            </a:r>
            <a:endParaRPr lang="en-US" sz="1800" dirty="0"/>
          </a:p>
        </p:txBody>
      </p:sp>
      <p:sp>
        <p:nvSpPr>
          <p:cNvPr id="13" name="Text 11"/>
          <p:cNvSpPr/>
          <p:nvPr/>
        </p:nvSpPr>
        <p:spPr>
          <a:xfrm>
            <a:off x="1536192" y="3831336"/>
            <a:ext cx="457200" cy="512064"/>
          </a:xfrm>
          <a:prstGeom prst="rect">
            <a:avLst/>
          </a:prstGeom>
          <a:noFill/>
          <a:ln/>
        </p:spPr>
        <p:txBody>
          <a:bodyPr wrap="square" lIns="0" tIns="0" rIns="0" bIns="0" rtlCol="0" anchor="ctr"/>
          <a:lstStyle/>
          <a:p>
            <a:pPr algn="ctr" indent="0" marL="0">
              <a:buNone/>
            </a:pPr>
            <a:r>
              <a:rPr lang="en-US" sz="2100" b="1" dirty="0">
                <a:solidFill>
                  <a:srgbClr val="8B1A1A"/>
                </a:solidFill>
                <a:latin typeface="Cambria" pitchFamily="34" charset="0"/>
                <a:ea typeface="Cambria" pitchFamily="34" charset="-122"/>
                <a:cs typeface="Cambria" pitchFamily="34" charset="-120"/>
              </a:rPr>
              <a:t>5</a:t>
            </a:r>
            <a:endParaRPr lang="en-US" sz="2100" dirty="0"/>
          </a:p>
        </p:txBody>
      </p:sp>
      <p:sp>
        <p:nvSpPr>
          <p:cNvPr id="14" name="Text 12"/>
          <p:cNvSpPr/>
          <p:nvPr/>
        </p:nvSpPr>
        <p:spPr>
          <a:xfrm>
            <a:off x="2084832" y="3831336"/>
            <a:ext cx="8567928" cy="512064"/>
          </a:xfrm>
          <a:prstGeom prst="rect">
            <a:avLst/>
          </a:prstGeom>
          <a:noFill/>
          <a:ln/>
        </p:spPr>
        <p:txBody>
          <a:bodyPr wrap="square" lIns="0" tIns="0" rIns="0" bIns="0" rtlCol="0" anchor="ctr"/>
          <a:lstStyle/>
          <a:p>
            <a:pPr algn="l" indent="0" marL="0">
              <a:buNone/>
            </a:pPr>
            <a:r>
              <a:rPr lang="en-US" sz="1800" dirty="0">
                <a:solidFill>
                  <a:srgbClr val="33240F"/>
                </a:solidFill>
                <a:latin typeface="Calibri" pitchFamily="34" charset="0"/>
                <a:ea typeface="Calibri" pitchFamily="34" charset="-122"/>
                <a:cs typeface="Calibri" pitchFamily="34" charset="-120"/>
              </a:rPr>
              <a:t>Barnabas and Ananias did almost the same outward act. What made them so different inside?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Check Your Understanding</a:t>
            </a:r>
            <a:endParaRPr lang="en-US" sz="3300" dirty="0"/>
          </a:p>
        </p:txBody>
      </p:sp>
      <p:sp>
        <p:nvSpPr>
          <p:cNvPr id="3" name="Shape 1"/>
          <p:cNvSpPr/>
          <p:nvPr/>
        </p:nvSpPr>
        <p:spPr>
          <a:xfrm>
            <a:off x="1078992" y="1481328"/>
            <a:ext cx="10030968" cy="3154680"/>
          </a:xfrm>
          <a:prstGeom prst="roundRect">
            <a:avLst>
              <a:gd name="adj" fmla="val 3768"/>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170432" y="1572768"/>
            <a:ext cx="9848088" cy="2971800"/>
          </a:xfrm>
          <a:prstGeom prst="roundRect">
            <a:avLst>
              <a:gd name="adj" fmla="val 3077"/>
            </a:avLst>
          </a:prstGeom>
          <a:solidFill>
            <a:srgbClr val="FFFFFF">
              <a:alpha val="0"/>
            </a:srgbClr>
          </a:solidFill>
          <a:ln w="9525">
            <a:solidFill>
              <a:srgbClr val="B8902E"/>
            </a:solidFill>
            <a:prstDash val="solid"/>
          </a:ln>
        </p:spPr>
      </p:sp>
      <p:sp>
        <p:nvSpPr>
          <p:cNvPr id="5" name="Text 3"/>
          <p:cNvSpPr/>
          <p:nvPr/>
        </p:nvSpPr>
        <p:spPr>
          <a:xfrm>
            <a:off x="1536192" y="1810512"/>
            <a:ext cx="457200" cy="628650"/>
          </a:xfrm>
          <a:prstGeom prst="rect">
            <a:avLst/>
          </a:prstGeom>
          <a:noFill/>
          <a:ln/>
        </p:spPr>
        <p:txBody>
          <a:bodyPr wrap="square" lIns="0" tIns="0" rIns="0" bIns="0" rtlCol="0" anchor="ctr"/>
          <a:lstStyle/>
          <a:p>
            <a:pPr algn="ctr" indent="0" marL="0">
              <a:buNone/>
            </a:pPr>
            <a:r>
              <a:rPr lang="en-US" sz="2100" b="1" dirty="0">
                <a:solidFill>
                  <a:srgbClr val="8B1A1A"/>
                </a:solidFill>
                <a:latin typeface="Cambria" pitchFamily="34" charset="0"/>
                <a:ea typeface="Cambria" pitchFamily="34" charset="-122"/>
                <a:cs typeface="Cambria" pitchFamily="34" charset="-120"/>
              </a:rPr>
              <a:t>1</a:t>
            </a:r>
            <a:endParaRPr lang="en-US" sz="2100" dirty="0"/>
          </a:p>
        </p:txBody>
      </p:sp>
      <p:sp>
        <p:nvSpPr>
          <p:cNvPr id="6" name="Text 4"/>
          <p:cNvSpPr/>
          <p:nvPr/>
        </p:nvSpPr>
        <p:spPr>
          <a:xfrm>
            <a:off x="2084832" y="1810512"/>
            <a:ext cx="8567928" cy="628650"/>
          </a:xfrm>
          <a:prstGeom prst="rect">
            <a:avLst/>
          </a:prstGeom>
          <a:noFill/>
          <a:ln/>
        </p:spPr>
        <p:txBody>
          <a:bodyPr wrap="square" lIns="0" tIns="0" rIns="0" bIns="0" rtlCol="0" anchor="ctr"/>
          <a:lstStyle/>
          <a:p>
            <a:pPr algn="l" indent="0" marL="0">
              <a:buNone/>
            </a:pPr>
            <a:r>
              <a:rPr lang="en-US" sz="1700" b="1" dirty="0">
                <a:solidFill>
                  <a:srgbClr val="33240F"/>
                </a:solidFill>
                <a:latin typeface="Calibri" pitchFamily="34" charset="0"/>
                <a:ea typeface="Calibri" pitchFamily="34" charset="-122"/>
                <a:cs typeface="Calibri" pitchFamily="34" charset="-120"/>
              </a:rPr>
              <a:t>According to Peter, what was their sin?  </a:t>
            </a:r>
            <a:pPr algn="l" indent="0" marL="0">
              <a:buNone/>
            </a:pPr>
            <a:r>
              <a:rPr lang="en-US" sz="1700" i="1" dirty="0">
                <a:solidFill>
                  <a:srgbClr val="1E5631"/>
                </a:solidFill>
                <a:latin typeface="Calibri" pitchFamily="34" charset="0"/>
                <a:ea typeface="Calibri" pitchFamily="34" charset="-122"/>
                <a:cs typeface="Calibri" pitchFamily="34" charset="-120"/>
              </a:rPr>
              <a:t>→ Lying to the Holy Spirit while pretending to give everything</a:t>
            </a:r>
            <a:endParaRPr lang="en-US" sz="1700" dirty="0"/>
          </a:p>
        </p:txBody>
      </p:sp>
      <p:sp>
        <p:nvSpPr>
          <p:cNvPr id="7" name="Text 5"/>
          <p:cNvSpPr/>
          <p:nvPr/>
        </p:nvSpPr>
        <p:spPr>
          <a:xfrm>
            <a:off x="1536192" y="2439162"/>
            <a:ext cx="457200" cy="628650"/>
          </a:xfrm>
          <a:prstGeom prst="rect">
            <a:avLst/>
          </a:prstGeom>
          <a:noFill/>
          <a:ln/>
        </p:spPr>
        <p:txBody>
          <a:bodyPr wrap="square" lIns="0" tIns="0" rIns="0" bIns="0" rtlCol="0" anchor="ctr"/>
          <a:lstStyle/>
          <a:p>
            <a:pPr algn="ctr" indent="0" marL="0">
              <a:buNone/>
            </a:pPr>
            <a:r>
              <a:rPr lang="en-US" sz="2100" b="1" dirty="0">
                <a:solidFill>
                  <a:srgbClr val="8B1A1A"/>
                </a:solidFill>
                <a:latin typeface="Cambria" pitchFamily="34" charset="0"/>
                <a:ea typeface="Cambria" pitchFamily="34" charset="-122"/>
                <a:cs typeface="Cambria" pitchFamily="34" charset="-120"/>
              </a:rPr>
              <a:t>2</a:t>
            </a:r>
            <a:endParaRPr lang="en-US" sz="2100" dirty="0"/>
          </a:p>
        </p:txBody>
      </p:sp>
      <p:sp>
        <p:nvSpPr>
          <p:cNvPr id="8" name="Text 6"/>
          <p:cNvSpPr/>
          <p:nvPr/>
        </p:nvSpPr>
        <p:spPr>
          <a:xfrm>
            <a:off x="2084832" y="2439162"/>
            <a:ext cx="8567928" cy="628650"/>
          </a:xfrm>
          <a:prstGeom prst="rect">
            <a:avLst/>
          </a:prstGeom>
          <a:noFill/>
          <a:ln/>
        </p:spPr>
        <p:txBody>
          <a:bodyPr wrap="square" lIns="0" tIns="0" rIns="0" bIns="0" rtlCol="0" anchor="ctr"/>
          <a:lstStyle/>
          <a:p>
            <a:pPr algn="l" indent="0" marL="0">
              <a:buNone/>
            </a:pPr>
            <a:r>
              <a:rPr lang="en-US" sz="1700" b="1" dirty="0">
                <a:solidFill>
                  <a:srgbClr val="33240F"/>
                </a:solidFill>
                <a:latin typeface="Calibri" pitchFamily="34" charset="0"/>
                <a:ea typeface="Calibri" pitchFamily="34" charset="-122"/>
                <a:cs typeface="Calibri" pitchFamily="34" charset="-120"/>
              </a:rPr>
              <a:t>“You have not lied to men but to ___.” The Holy Spirit is:  </a:t>
            </a:r>
            <a:pPr algn="l" indent="0" marL="0">
              <a:buNone/>
            </a:pPr>
            <a:r>
              <a:rPr lang="en-US" sz="1700" i="1" dirty="0">
                <a:solidFill>
                  <a:srgbClr val="1E5631"/>
                </a:solidFill>
                <a:latin typeface="Calibri" pitchFamily="34" charset="0"/>
                <a:ea typeface="Calibri" pitchFamily="34" charset="-122"/>
                <a:cs typeface="Calibri" pitchFamily="34" charset="-120"/>
              </a:rPr>
              <a:t>→ Truly God</a:t>
            </a:r>
            <a:endParaRPr lang="en-US" sz="1700" dirty="0"/>
          </a:p>
        </p:txBody>
      </p:sp>
      <p:sp>
        <p:nvSpPr>
          <p:cNvPr id="9" name="Text 7"/>
          <p:cNvSpPr/>
          <p:nvPr/>
        </p:nvSpPr>
        <p:spPr>
          <a:xfrm>
            <a:off x="1536192" y="3067812"/>
            <a:ext cx="457200" cy="628650"/>
          </a:xfrm>
          <a:prstGeom prst="rect">
            <a:avLst/>
          </a:prstGeom>
          <a:noFill/>
          <a:ln/>
        </p:spPr>
        <p:txBody>
          <a:bodyPr wrap="square" lIns="0" tIns="0" rIns="0" bIns="0" rtlCol="0" anchor="ctr"/>
          <a:lstStyle/>
          <a:p>
            <a:pPr algn="ctr" indent="0" marL="0">
              <a:buNone/>
            </a:pPr>
            <a:r>
              <a:rPr lang="en-US" sz="2100" b="1" dirty="0">
                <a:solidFill>
                  <a:srgbClr val="8B1A1A"/>
                </a:solidFill>
                <a:latin typeface="Cambria" pitchFamily="34" charset="0"/>
                <a:ea typeface="Cambria" pitchFamily="34" charset="-122"/>
                <a:cs typeface="Cambria" pitchFamily="34" charset="-120"/>
              </a:rPr>
              <a:t>3</a:t>
            </a:r>
            <a:endParaRPr lang="en-US" sz="2100" dirty="0"/>
          </a:p>
        </p:txBody>
      </p:sp>
      <p:sp>
        <p:nvSpPr>
          <p:cNvPr id="10" name="Text 8"/>
          <p:cNvSpPr/>
          <p:nvPr/>
        </p:nvSpPr>
        <p:spPr>
          <a:xfrm>
            <a:off x="2084832" y="3067812"/>
            <a:ext cx="8567928" cy="628650"/>
          </a:xfrm>
          <a:prstGeom prst="rect">
            <a:avLst/>
          </a:prstGeom>
          <a:noFill/>
          <a:ln/>
        </p:spPr>
        <p:txBody>
          <a:bodyPr wrap="square" lIns="0" tIns="0" rIns="0" bIns="0" rtlCol="0" anchor="ctr"/>
          <a:lstStyle/>
          <a:p>
            <a:pPr algn="l" indent="0" marL="0">
              <a:buNone/>
            </a:pPr>
            <a:r>
              <a:rPr lang="en-US" sz="1700" b="1" dirty="0">
                <a:solidFill>
                  <a:srgbClr val="33240F"/>
                </a:solidFill>
                <a:latin typeface="Calibri" pitchFamily="34" charset="0"/>
                <a:ea typeface="Calibri" pitchFamily="34" charset="-122"/>
                <a:cs typeface="Calibri" pitchFamily="34" charset="-120"/>
              </a:rPr>
              <a:t>What came upon the whole Church afterward?  </a:t>
            </a:r>
            <a:pPr algn="l" indent="0" marL="0">
              <a:buNone/>
            </a:pPr>
            <a:r>
              <a:rPr lang="en-US" sz="1700" i="1" dirty="0">
                <a:solidFill>
                  <a:srgbClr val="1E5631"/>
                </a:solidFill>
                <a:latin typeface="Calibri" pitchFamily="34" charset="0"/>
                <a:ea typeface="Calibri" pitchFamily="34" charset="-122"/>
                <a:cs typeface="Calibri" pitchFamily="34" charset="-120"/>
              </a:rPr>
              <a:t>→ Great fear (holy reverence)</a:t>
            </a:r>
            <a:endParaRPr lang="en-US" sz="1700" dirty="0"/>
          </a:p>
        </p:txBody>
      </p:sp>
      <p:sp>
        <p:nvSpPr>
          <p:cNvPr id="11" name="Text 9"/>
          <p:cNvSpPr/>
          <p:nvPr/>
        </p:nvSpPr>
        <p:spPr>
          <a:xfrm>
            <a:off x="1536192" y="3696462"/>
            <a:ext cx="457200" cy="628650"/>
          </a:xfrm>
          <a:prstGeom prst="rect">
            <a:avLst/>
          </a:prstGeom>
          <a:noFill/>
          <a:ln/>
        </p:spPr>
        <p:txBody>
          <a:bodyPr wrap="square" lIns="0" tIns="0" rIns="0" bIns="0" rtlCol="0" anchor="ctr"/>
          <a:lstStyle/>
          <a:p>
            <a:pPr algn="ctr" indent="0" marL="0">
              <a:buNone/>
            </a:pPr>
            <a:r>
              <a:rPr lang="en-US" sz="2100" b="1" dirty="0">
                <a:solidFill>
                  <a:srgbClr val="8B1A1A"/>
                </a:solidFill>
                <a:latin typeface="Cambria" pitchFamily="34" charset="0"/>
                <a:ea typeface="Cambria" pitchFamily="34" charset="-122"/>
                <a:cs typeface="Cambria" pitchFamily="34" charset="-120"/>
              </a:rPr>
              <a:t>4</a:t>
            </a:r>
            <a:endParaRPr lang="en-US" sz="2100" dirty="0"/>
          </a:p>
        </p:txBody>
      </p:sp>
      <p:sp>
        <p:nvSpPr>
          <p:cNvPr id="12" name="Text 10"/>
          <p:cNvSpPr/>
          <p:nvPr/>
        </p:nvSpPr>
        <p:spPr>
          <a:xfrm>
            <a:off x="2084832" y="3696462"/>
            <a:ext cx="8567928" cy="628650"/>
          </a:xfrm>
          <a:prstGeom prst="rect">
            <a:avLst/>
          </a:prstGeom>
          <a:noFill/>
          <a:ln/>
        </p:spPr>
        <p:txBody>
          <a:bodyPr wrap="square" lIns="0" tIns="0" rIns="0" bIns="0" rtlCol="0" anchor="ctr"/>
          <a:lstStyle/>
          <a:p>
            <a:pPr algn="l" indent="0" marL="0">
              <a:buNone/>
            </a:pPr>
            <a:r>
              <a:rPr lang="en-US" sz="1700" b="1" dirty="0">
                <a:solidFill>
                  <a:srgbClr val="33240F"/>
                </a:solidFill>
                <a:latin typeface="Calibri" pitchFamily="34" charset="0"/>
                <a:ea typeface="Calibri" pitchFamily="34" charset="-122"/>
                <a:cs typeface="Calibri" pitchFamily="34" charset="-120"/>
              </a:rPr>
              <a:t>What honest path did they refuse, offered to us today?  </a:t>
            </a:r>
            <a:pPr algn="l" indent="0" marL="0">
              <a:buNone/>
            </a:pPr>
            <a:r>
              <a:rPr lang="en-US" sz="1700" i="1" dirty="0">
                <a:solidFill>
                  <a:srgbClr val="1E5631"/>
                </a:solidFill>
                <a:latin typeface="Calibri" pitchFamily="34" charset="0"/>
                <a:ea typeface="Calibri" pitchFamily="34" charset="-122"/>
                <a:cs typeface="Calibri" pitchFamily="34" charset="-120"/>
              </a:rPr>
              <a:t>→ Repentance and Confession</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97280" y="310896"/>
            <a:ext cx="9994392" cy="868680"/>
          </a:xfrm>
          <a:prstGeom prst="rect">
            <a:avLst/>
          </a:prstGeom>
          <a:noFill/>
          <a:ln/>
        </p:spPr>
        <p:txBody>
          <a:bodyPr wrap="square" lIns="0" tIns="0" rIns="0" bIns="0" rtlCol="0" anchor="ctr"/>
          <a:lstStyle/>
          <a:p>
            <a:pPr algn="ctr" indent="0" marL="0">
              <a:buNone/>
            </a:pPr>
            <a:r>
              <a:rPr lang="en-US" sz="3300" b="1" dirty="0">
                <a:solidFill>
                  <a:srgbClr val="5A3310"/>
                </a:solidFill>
                <a:latin typeface="Cambria" pitchFamily="34" charset="0"/>
                <a:ea typeface="Cambria" pitchFamily="34" charset="-122"/>
                <a:cs typeface="Cambria" pitchFamily="34" charset="-120"/>
              </a:rPr>
              <a:t>Key Terms &amp; Sources</a:t>
            </a:r>
            <a:endParaRPr lang="en-US" sz="3300" dirty="0"/>
          </a:p>
        </p:txBody>
      </p:sp>
      <p:sp>
        <p:nvSpPr>
          <p:cNvPr id="3" name="Shape 1"/>
          <p:cNvSpPr/>
          <p:nvPr/>
        </p:nvSpPr>
        <p:spPr>
          <a:xfrm>
            <a:off x="1078992" y="1463040"/>
            <a:ext cx="4860036" cy="3200400"/>
          </a:xfrm>
          <a:prstGeom prst="roundRect">
            <a:avLst>
              <a:gd name="adj" fmla="val 3714"/>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4" name="Shape 2"/>
          <p:cNvSpPr/>
          <p:nvPr/>
        </p:nvSpPr>
        <p:spPr>
          <a:xfrm>
            <a:off x="1170432" y="1554480"/>
            <a:ext cx="4677156" cy="3017520"/>
          </a:xfrm>
          <a:prstGeom prst="roundRect">
            <a:avLst>
              <a:gd name="adj" fmla="val 3030"/>
            </a:avLst>
          </a:prstGeom>
          <a:solidFill>
            <a:srgbClr val="FFFFFF">
              <a:alpha val="0"/>
            </a:srgbClr>
          </a:solidFill>
          <a:ln w="9525">
            <a:solidFill>
              <a:srgbClr val="B8902E"/>
            </a:solidFill>
            <a:prstDash val="solid"/>
          </a:ln>
        </p:spPr>
      </p:sp>
      <p:sp>
        <p:nvSpPr>
          <p:cNvPr id="5" name="Text 3"/>
          <p:cNvSpPr/>
          <p:nvPr/>
        </p:nvSpPr>
        <p:spPr>
          <a:xfrm>
            <a:off x="1444752" y="1609344"/>
            <a:ext cx="4128516" cy="411480"/>
          </a:xfrm>
          <a:prstGeom prst="rect">
            <a:avLst/>
          </a:prstGeom>
          <a:noFill/>
          <a:ln/>
        </p:spPr>
        <p:txBody>
          <a:bodyPr wrap="square" rtlCol="0" anchor="ctr"/>
          <a:lstStyle/>
          <a:p>
            <a:pPr indent="0" marL="0">
              <a:buNone/>
            </a:pPr>
            <a:r>
              <a:rPr lang="en-US" sz="2000" b="1" dirty="0">
                <a:solidFill>
                  <a:srgbClr val="5A3310"/>
                </a:solidFill>
                <a:latin typeface="Cambria" pitchFamily="34" charset="0"/>
                <a:ea typeface="Cambria" pitchFamily="34" charset="-122"/>
                <a:cs typeface="Cambria" pitchFamily="34" charset="-120"/>
              </a:rPr>
              <a:t>Key Terms</a:t>
            </a:r>
            <a:endParaRPr lang="en-US" sz="2000" dirty="0"/>
          </a:p>
        </p:txBody>
      </p:sp>
      <p:sp>
        <p:nvSpPr>
          <p:cNvPr id="6" name="Shape 4"/>
          <p:cNvSpPr/>
          <p:nvPr/>
        </p:nvSpPr>
        <p:spPr>
          <a:xfrm rot="2700000">
            <a:off x="1472184" y="2295144"/>
            <a:ext cx="128016" cy="128016"/>
          </a:xfrm>
          <a:prstGeom prst="rect">
            <a:avLst/>
          </a:prstGeom>
          <a:solidFill>
            <a:srgbClr val="C49A2A"/>
          </a:solidFill>
          <a:ln w="12700">
            <a:solidFill>
              <a:srgbClr val="7A5E15"/>
            </a:solidFill>
            <a:prstDash val="solid"/>
          </a:ln>
        </p:spPr>
      </p:sp>
      <p:sp>
        <p:nvSpPr>
          <p:cNvPr id="7" name="Text 5"/>
          <p:cNvSpPr/>
          <p:nvPr/>
        </p:nvSpPr>
        <p:spPr>
          <a:xfrm>
            <a:off x="1755648" y="2121408"/>
            <a:ext cx="3945636" cy="475488"/>
          </a:xfrm>
          <a:prstGeom prst="rect">
            <a:avLst/>
          </a:prstGeom>
          <a:noFill/>
          <a:ln/>
        </p:spPr>
        <p:txBody>
          <a:bodyPr wrap="square" lIns="0" tIns="0" rIns="0" bIns="0" rtlCol="0" anchor="ctr"/>
          <a:lstStyle/>
          <a:p>
            <a:pPr algn="l" indent="0" marL="0">
              <a:buNone/>
            </a:pPr>
            <a:r>
              <a:rPr lang="en-US" sz="1400" b="1" dirty="0">
                <a:solidFill>
                  <a:srgbClr val="1E5631"/>
                </a:solidFill>
                <a:latin typeface="Calibri" pitchFamily="34" charset="0"/>
                <a:ea typeface="Calibri" pitchFamily="34" charset="-122"/>
                <a:cs typeface="Calibri" pitchFamily="34" charset="-120"/>
              </a:rPr>
              <a:t>Koinonia</a:t>
            </a:r>
            <a:pPr algn="l" indent="0" marL="0">
              <a:buNone/>
            </a:pPr>
            <a:r>
              <a:rPr lang="en-US" sz="1400" dirty="0">
                <a:solidFill>
                  <a:srgbClr val="33240F"/>
                </a:solidFill>
                <a:latin typeface="Calibri" pitchFamily="34" charset="0"/>
                <a:ea typeface="Calibri" pitchFamily="34" charset="-122"/>
                <a:cs typeface="Calibri" pitchFamily="34" charset="-120"/>
              </a:rPr>
              <a:t> — the shared life of love in the early Church</a:t>
            </a:r>
            <a:endParaRPr lang="en-US" sz="1400" dirty="0"/>
          </a:p>
        </p:txBody>
      </p:sp>
      <p:sp>
        <p:nvSpPr>
          <p:cNvPr id="8" name="Shape 6"/>
          <p:cNvSpPr/>
          <p:nvPr/>
        </p:nvSpPr>
        <p:spPr>
          <a:xfrm rot="2700000">
            <a:off x="1472184" y="2770632"/>
            <a:ext cx="128016" cy="128016"/>
          </a:xfrm>
          <a:prstGeom prst="rect">
            <a:avLst/>
          </a:prstGeom>
          <a:solidFill>
            <a:srgbClr val="C49A2A"/>
          </a:solidFill>
          <a:ln w="12700">
            <a:solidFill>
              <a:srgbClr val="7A5E15"/>
            </a:solidFill>
            <a:prstDash val="solid"/>
          </a:ln>
        </p:spPr>
      </p:sp>
      <p:sp>
        <p:nvSpPr>
          <p:cNvPr id="9" name="Text 7"/>
          <p:cNvSpPr/>
          <p:nvPr/>
        </p:nvSpPr>
        <p:spPr>
          <a:xfrm>
            <a:off x="1755648" y="2596896"/>
            <a:ext cx="3945636" cy="475488"/>
          </a:xfrm>
          <a:prstGeom prst="rect">
            <a:avLst/>
          </a:prstGeom>
          <a:noFill/>
          <a:ln/>
        </p:spPr>
        <p:txBody>
          <a:bodyPr wrap="square" lIns="0" tIns="0" rIns="0" bIns="0" rtlCol="0" anchor="ctr"/>
          <a:lstStyle/>
          <a:p>
            <a:pPr algn="l" indent="0" marL="0">
              <a:buNone/>
            </a:pPr>
            <a:r>
              <a:rPr lang="en-US" sz="1400" b="1" dirty="0">
                <a:solidFill>
                  <a:srgbClr val="8B1A1A"/>
                </a:solidFill>
                <a:latin typeface="Calibri" pitchFamily="34" charset="0"/>
                <a:ea typeface="Calibri" pitchFamily="34" charset="-122"/>
                <a:cs typeface="Calibri" pitchFamily="34" charset="-120"/>
              </a:rPr>
              <a:t>Hypocrisy</a:t>
            </a:r>
            <a:pPr algn="l" indent="0" marL="0">
              <a:buNone/>
            </a:pPr>
            <a:r>
              <a:rPr lang="en-US" sz="1400" dirty="0">
                <a:solidFill>
                  <a:srgbClr val="33240F"/>
                </a:solidFill>
                <a:latin typeface="Calibri" pitchFamily="34" charset="0"/>
                <a:ea typeface="Calibri" pitchFamily="34" charset="-122"/>
                <a:cs typeface="Calibri" pitchFamily="34" charset="-120"/>
              </a:rPr>
              <a:t> — a holy mask over an unholy heart</a:t>
            </a:r>
            <a:endParaRPr lang="en-US" sz="1400" dirty="0"/>
          </a:p>
        </p:txBody>
      </p:sp>
      <p:sp>
        <p:nvSpPr>
          <p:cNvPr id="10" name="Shape 8"/>
          <p:cNvSpPr/>
          <p:nvPr/>
        </p:nvSpPr>
        <p:spPr>
          <a:xfrm rot="2700000">
            <a:off x="1472184" y="3246120"/>
            <a:ext cx="128016" cy="128016"/>
          </a:xfrm>
          <a:prstGeom prst="rect">
            <a:avLst/>
          </a:prstGeom>
          <a:solidFill>
            <a:srgbClr val="C49A2A"/>
          </a:solidFill>
          <a:ln w="12700">
            <a:solidFill>
              <a:srgbClr val="7A5E15"/>
            </a:solidFill>
            <a:prstDash val="solid"/>
          </a:ln>
        </p:spPr>
      </p:sp>
      <p:sp>
        <p:nvSpPr>
          <p:cNvPr id="11" name="Text 9"/>
          <p:cNvSpPr/>
          <p:nvPr/>
        </p:nvSpPr>
        <p:spPr>
          <a:xfrm>
            <a:off x="1755648" y="3072384"/>
            <a:ext cx="3945636" cy="475488"/>
          </a:xfrm>
          <a:prstGeom prst="rect">
            <a:avLst/>
          </a:prstGeom>
          <a:noFill/>
          <a:ln/>
        </p:spPr>
        <p:txBody>
          <a:bodyPr wrap="square" lIns="0" tIns="0" rIns="0" bIns="0" rtlCol="0" anchor="ctr"/>
          <a:lstStyle/>
          <a:p>
            <a:pPr algn="l" indent="0" marL="0">
              <a:buNone/>
            </a:pPr>
            <a:r>
              <a:rPr lang="en-US" sz="1400" b="1" dirty="0">
                <a:solidFill>
                  <a:srgbClr val="8B1A1A"/>
                </a:solidFill>
                <a:latin typeface="Calibri" pitchFamily="34" charset="0"/>
                <a:ea typeface="Calibri" pitchFamily="34" charset="-122"/>
                <a:cs typeface="Calibri" pitchFamily="34" charset="-120"/>
              </a:rPr>
              <a:t>Vainglory</a:t>
            </a:r>
            <a:pPr algn="l" indent="0" marL="0">
              <a:buNone/>
            </a:pPr>
            <a:r>
              <a:rPr lang="en-US" sz="1400" dirty="0">
                <a:solidFill>
                  <a:srgbClr val="33240F"/>
                </a:solidFill>
                <a:latin typeface="Calibri" pitchFamily="34" charset="0"/>
                <a:ea typeface="Calibri" pitchFamily="34" charset="-122"/>
                <a:cs typeface="Calibri" pitchFamily="34" charset="-120"/>
              </a:rPr>
              <a:t> — the hunger to be seen and praised</a:t>
            </a:r>
            <a:endParaRPr lang="en-US" sz="1400" dirty="0"/>
          </a:p>
        </p:txBody>
      </p:sp>
      <p:sp>
        <p:nvSpPr>
          <p:cNvPr id="12" name="Shape 10"/>
          <p:cNvSpPr/>
          <p:nvPr/>
        </p:nvSpPr>
        <p:spPr>
          <a:xfrm rot="2700000">
            <a:off x="1472184" y="3721608"/>
            <a:ext cx="128016" cy="128016"/>
          </a:xfrm>
          <a:prstGeom prst="rect">
            <a:avLst/>
          </a:prstGeom>
          <a:solidFill>
            <a:srgbClr val="C49A2A"/>
          </a:solidFill>
          <a:ln w="12700">
            <a:solidFill>
              <a:srgbClr val="7A5E15"/>
            </a:solidFill>
            <a:prstDash val="solid"/>
          </a:ln>
        </p:spPr>
      </p:sp>
      <p:sp>
        <p:nvSpPr>
          <p:cNvPr id="13" name="Text 11"/>
          <p:cNvSpPr/>
          <p:nvPr/>
        </p:nvSpPr>
        <p:spPr>
          <a:xfrm>
            <a:off x="1755648" y="3547872"/>
            <a:ext cx="3945636" cy="475488"/>
          </a:xfrm>
          <a:prstGeom prst="rect">
            <a:avLst/>
          </a:prstGeom>
          <a:noFill/>
          <a:ln/>
        </p:spPr>
        <p:txBody>
          <a:bodyPr wrap="square" lIns="0" tIns="0" rIns="0" bIns="0" rtlCol="0" anchor="ctr"/>
          <a:lstStyle/>
          <a:p>
            <a:pPr algn="l" indent="0" marL="0">
              <a:buNone/>
            </a:pPr>
            <a:r>
              <a:rPr lang="en-US" sz="1400" b="1" dirty="0">
                <a:solidFill>
                  <a:srgbClr val="1E5631"/>
                </a:solidFill>
                <a:latin typeface="Calibri" pitchFamily="34" charset="0"/>
                <a:ea typeface="Calibri" pitchFamily="34" charset="-122"/>
                <a:cs typeface="Calibri" pitchFamily="34" charset="-120"/>
              </a:rPr>
              <a:t>Holy fear of God</a:t>
            </a:r>
            <a:pPr algn="l" indent="0" marL="0">
              <a:buNone/>
            </a:pPr>
            <a:r>
              <a:rPr lang="en-US" sz="1400" dirty="0">
                <a:solidFill>
                  <a:srgbClr val="33240F"/>
                </a:solidFill>
                <a:latin typeface="Calibri" pitchFamily="34" charset="0"/>
                <a:ea typeface="Calibri" pitchFamily="34" charset="-122"/>
                <a:cs typeface="Calibri" pitchFamily="34" charset="-120"/>
              </a:rPr>
              <a:t> — reverent awe; the beginning of wisdom</a:t>
            </a:r>
            <a:endParaRPr lang="en-US" sz="1400" dirty="0"/>
          </a:p>
        </p:txBody>
      </p:sp>
      <p:sp>
        <p:nvSpPr>
          <p:cNvPr id="14" name="Shape 12"/>
          <p:cNvSpPr/>
          <p:nvPr/>
        </p:nvSpPr>
        <p:spPr>
          <a:xfrm rot="2700000">
            <a:off x="1472184" y="4197096"/>
            <a:ext cx="128016" cy="128016"/>
          </a:xfrm>
          <a:prstGeom prst="rect">
            <a:avLst/>
          </a:prstGeom>
          <a:solidFill>
            <a:srgbClr val="C49A2A"/>
          </a:solidFill>
          <a:ln w="12700">
            <a:solidFill>
              <a:srgbClr val="7A5E15"/>
            </a:solidFill>
            <a:prstDash val="solid"/>
          </a:ln>
        </p:spPr>
      </p:sp>
      <p:sp>
        <p:nvSpPr>
          <p:cNvPr id="15" name="Text 13"/>
          <p:cNvSpPr/>
          <p:nvPr/>
        </p:nvSpPr>
        <p:spPr>
          <a:xfrm>
            <a:off x="1755648" y="4023360"/>
            <a:ext cx="3945636" cy="475488"/>
          </a:xfrm>
          <a:prstGeom prst="rect">
            <a:avLst/>
          </a:prstGeom>
          <a:noFill/>
          <a:ln/>
        </p:spPr>
        <p:txBody>
          <a:bodyPr wrap="square" lIns="0" tIns="0" rIns="0" bIns="0" rtlCol="0" anchor="ctr"/>
          <a:lstStyle/>
          <a:p>
            <a:pPr algn="l" indent="0" marL="0">
              <a:buNone/>
            </a:pPr>
            <a:r>
              <a:rPr lang="en-US" sz="1400" b="1" dirty="0">
                <a:solidFill>
                  <a:srgbClr val="8B1A1A"/>
                </a:solidFill>
                <a:latin typeface="Calibri" pitchFamily="34" charset="0"/>
                <a:ea typeface="Calibri" pitchFamily="34" charset="-122"/>
                <a:cs typeface="Calibri" pitchFamily="34" charset="-120"/>
              </a:rPr>
              <a:t>The Holy Spirit</a:t>
            </a:r>
            <a:pPr algn="l" indent="0" marL="0">
              <a:buNone/>
            </a:pPr>
            <a:r>
              <a:rPr lang="en-US" sz="1400" dirty="0">
                <a:solidFill>
                  <a:srgbClr val="33240F"/>
                </a:solidFill>
                <a:latin typeface="Calibri" pitchFamily="34" charset="0"/>
                <a:ea typeface="Calibri" pitchFamily="34" charset="-122"/>
                <a:cs typeface="Calibri" pitchFamily="34" charset="-120"/>
              </a:rPr>
              <a:t> — the Third Person of the Trinity, true God</a:t>
            </a:r>
            <a:endParaRPr lang="en-US" sz="1400" dirty="0"/>
          </a:p>
        </p:txBody>
      </p:sp>
      <p:sp>
        <p:nvSpPr>
          <p:cNvPr id="16" name="Shape 14"/>
          <p:cNvSpPr/>
          <p:nvPr/>
        </p:nvSpPr>
        <p:spPr>
          <a:xfrm>
            <a:off x="6249924" y="1463040"/>
            <a:ext cx="4860036" cy="3200400"/>
          </a:xfrm>
          <a:prstGeom prst="roundRect">
            <a:avLst>
              <a:gd name="adj" fmla="val 3714"/>
            </a:avLst>
          </a:prstGeom>
          <a:solidFill>
            <a:srgbClr val="FCF7EA">
              <a:alpha val="92000"/>
            </a:srgbClr>
          </a:solidFill>
          <a:ln w="28575">
            <a:solidFill>
              <a:srgbClr val="B8902E"/>
            </a:solidFill>
            <a:prstDash val="solid"/>
          </a:ln>
          <a:effectLst>
            <a:outerShdw sx="100000" sy="100000" kx="0" ky="0" algn="bl" rotWithShape="0" blurRad="101600" dist="38100" dir="5400000">
              <a:srgbClr val="5E4014">
                <a:alpha val="28000"/>
              </a:srgbClr>
            </a:outerShdw>
          </a:effectLst>
        </p:spPr>
      </p:sp>
      <p:sp>
        <p:nvSpPr>
          <p:cNvPr id="17" name="Shape 15"/>
          <p:cNvSpPr/>
          <p:nvPr/>
        </p:nvSpPr>
        <p:spPr>
          <a:xfrm>
            <a:off x="6341364" y="1554480"/>
            <a:ext cx="4677156" cy="3017520"/>
          </a:xfrm>
          <a:prstGeom prst="roundRect">
            <a:avLst>
              <a:gd name="adj" fmla="val 3030"/>
            </a:avLst>
          </a:prstGeom>
          <a:solidFill>
            <a:srgbClr val="FFFFFF">
              <a:alpha val="0"/>
            </a:srgbClr>
          </a:solidFill>
          <a:ln w="9525">
            <a:solidFill>
              <a:srgbClr val="B8902E"/>
            </a:solidFill>
            <a:prstDash val="solid"/>
          </a:ln>
        </p:spPr>
      </p:sp>
      <p:sp>
        <p:nvSpPr>
          <p:cNvPr id="18" name="Text 16"/>
          <p:cNvSpPr/>
          <p:nvPr/>
        </p:nvSpPr>
        <p:spPr>
          <a:xfrm>
            <a:off x="6615684" y="1609344"/>
            <a:ext cx="4128516" cy="411480"/>
          </a:xfrm>
          <a:prstGeom prst="rect">
            <a:avLst/>
          </a:prstGeom>
          <a:noFill/>
          <a:ln/>
        </p:spPr>
        <p:txBody>
          <a:bodyPr wrap="square" rtlCol="0" anchor="ctr"/>
          <a:lstStyle/>
          <a:p>
            <a:pPr indent="0" marL="0">
              <a:buNone/>
            </a:pPr>
            <a:r>
              <a:rPr lang="en-US" sz="2000" b="1" dirty="0">
                <a:solidFill>
                  <a:srgbClr val="5A3310"/>
                </a:solidFill>
                <a:latin typeface="Cambria" pitchFamily="34" charset="0"/>
                <a:ea typeface="Cambria" pitchFamily="34" charset="-122"/>
                <a:cs typeface="Cambria" pitchFamily="34" charset="-120"/>
              </a:rPr>
              <a:t>Sources</a:t>
            </a:r>
            <a:endParaRPr lang="en-US" sz="2000" dirty="0"/>
          </a:p>
        </p:txBody>
      </p:sp>
      <p:sp>
        <p:nvSpPr>
          <p:cNvPr id="19" name="Shape 17"/>
          <p:cNvSpPr/>
          <p:nvPr/>
        </p:nvSpPr>
        <p:spPr>
          <a:xfrm rot="2700000">
            <a:off x="6643116" y="2258568"/>
            <a:ext cx="128016" cy="128016"/>
          </a:xfrm>
          <a:prstGeom prst="rect">
            <a:avLst/>
          </a:prstGeom>
          <a:solidFill>
            <a:srgbClr val="C49A2A"/>
          </a:solidFill>
          <a:ln w="12700">
            <a:solidFill>
              <a:srgbClr val="7A5E15"/>
            </a:solidFill>
            <a:prstDash val="solid"/>
          </a:ln>
        </p:spPr>
      </p:sp>
      <p:sp>
        <p:nvSpPr>
          <p:cNvPr id="20" name="Text 18"/>
          <p:cNvSpPr/>
          <p:nvPr/>
        </p:nvSpPr>
        <p:spPr>
          <a:xfrm>
            <a:off x="6926580" y="2121408"/>
            <a:ext cx="3945636" cy="457200"/>
          </a:xfrm>
          <a:prstGeom prst="rect">
            <a:avLst/>
          </a:prstGeom>
          <a:noFill/>
          <a:ln/>
        </p:spPr>
        <p:txBody>
          <a:bodyPr wrap="square" lIns="0" tIns="0" rIns="0" bIns="0" rtlCol="0" anchor="t"/>
          <a:lstStyle/>
          <a:p>
            <a:pPr algn="l" indent="0" marL="0">
              <a:buNone/>
            </a:pPr>
            <a:r>
              <a:rPr lang="en-US" sz="1300" dirty="0">
                <a:solidFill>
                  <a:srgbClr val="33240F"/>
                </a:solidFill>
                <a:latin typeface="Calibri" pitchFamily="34" charset="0"/>
                <a:ea typeface="Calibri" pitchFamily="34" charset="-122"/>
                <a:cs typeface="Calibri" pitchFamily="34" charset="-120"/>
              </a:rPr>
              <a:t>Holy Scripture, Acts 4–5 (Orthodox Study Bible)</a:t>
            </a:r>
            <a:endParaRPr lang="en-US" sz="1300" dirty="0"/>
          </a:p>
        </p:txBody>
      </p:sp>
      <p:sp>
        <p:nvSpPr>
          <p:cNvPr id="21" name="Shape 19"/>
          <p:cNvSpPr/>
          <p:nvPr/>
        </p:nvSpPr>
        <p:spPr>
          <a:xfrm rot="2700000">
            <a:off x="6643116" y="2715768"/>
            <a:ext cx="128016" cy="128016"/>
          </a:xfrm>
          <a:prstGeom prst="rect">
            <a:avLst/>
          </a:prstGeom>
          <a:solidFill>
            <a:srgbClr val="C49A2A"/>
          </a:solidFill>
          <a:ln w="12700">
            <a:solidFill>
              <a:srgbClr val="7A5E15"/>
            </a:solidFill>
            <a:prstDash val="solid"/>
          </a:ln>
        </p:spPr>
      </p:sp>
      <p:sp>
        <p:nvSpPr>
          <p:cNvPr id="22" name="Text 20"/>
          <p:cNvSpPr/>
          <p:nvPr/>
        </p:nvSpPr>
        <p:spPr>
          <a:xfrm>
            <a:off x="6926580" y="2578608"/>
            <a:ext cx="3945636" cy="914400"/>
          </a:xfrm>
          <a:prstGeom prst="rect">
            <a:avLst/>
          </a:prstGeom>
          <a:noFill/>
          <a:ln/>
        </p:spPr>
        <p:txBody>
          <a:bodyPr wrap="square" lIns="0" tIns="0" rIns="0" bIns="0" rtlCol="0" anchor="t"/>
          <a:lstStyle/>
          <a:p>
            <a:pPr algn="l" indent="0" marL="0">
              <a:buNone/>
            </a:pPr>
            <a:r>
              <a:rPr lang="en-US" sz="1300" dirty="0">
                <a:solidFill>
                  <a:srgbClr val="33240F"/>
                </a:solidFill>
                <a:latin typeface="Calibri" pitchFamily="34" charset="0"/>
                <a:ea typeface="Calibri" pitchFamily="34" charset="-122"/>
                <a:cs typeface="Calibri" pitchFamily="34" charset="-120"/>
              </a:rPr>
              <a:t>Kesis Solomon Mulugeta Zewde (PhD), Sunday School Curriculum, Level V — Debre Nazareth St. Mary &amp; St. Gabriel EOTC, St. Louis — Week 39</a:t>
            </a:r>
            <a:endParaRPr lang="en-US" sz="1300" dirty="0"/>
          </a:p>
        </p:txBody>
      </p:sp>
      <p:sp>
        <p:nvSpPr>
          <p:cNvPr id="23" name="Shape 21"/>
          <p:cNvSpPr/>
          <p:nvPr/>
        </p:nvSpPr>
        <p:spPr>
          <a:xfrm rot="2700000">
            <a:off x="6643116" y="3630168"/>
            <a:ext cx="128016" cy="128016"/>
          </a:xfrm>
          <a:prstGeom prst="rect">
            <a:avLst/>
          </a:prstGeom>
          <a:solidFill>
            <a:srgbClr val="C49A2A"/>
          </a:solidFill>
          <a:ln w="12700">
            <a:solidFill>
              <a:srgbClr val="7A5E15"/>
            </a:solidFill>
            <a:prstDash val="solid"/>
          </a:ln>
        </p:spPr>
      </p:sp>
      <p:sp>
        <p:nvSpPr>
          <p:cNvPr id="24" name="Text 22"/>
          <p:cNvSpPr/>
          <p:nvPr/>
        </p:nvSpPr>
        <p:spPr>
          <a:xfrm>
            <a:off x="6926580" y="3493008"/>
            <a:ext cx="3945636" cy="685800"/>
          </a:xfrm>
          <a:prstGeom prst="rect">
            <a:avLst/>
          </a:prstGeom>
          <a:noFill/>
          <a:ln/>
        </p:spPr>
        <p:txBody>
          <a:bodyPr wrap="square" lIns="0" tIns="0" rIns="0" bIns="0" rtlCol="0" anchor="t"/>
          <a:lstStyle/>
          <a:p>
            <a:pPr algn="l" indent="0" marL="0">
              <a:buNone/>
            </a:pPr>
            <a:r>
              <a:rPr lang="en-US" sz="1300" dirty="0">
                <a:solidFill>
                  <a:srgbClr val="33240F"/>
                </a:solidFill>
                <a:latin typeface="Calibri" pitchFamily="34" charset="0"/>
                <a:ea typeface="Calibri" pitchFamily="34" charset="-122"/>
                <a:cs typeface="Calibri" pitchFamily="34" charset="-120"/>
              </a:rPr>
              <a:t>In-depth reading by Dn Yonnas, in the faith of the Ethiopian Orthodox Tewahedo Church</a:t>
            </a:r>
            <a:endParaRPr lang="en-US" sz="1300" dirty="0"/>
          </a:p>
        </p:txBody>
      </p:sp>
      <p:sp>
        <p:nvSpPr>
          <p:cNvPr id="25" name="Text 23"/>
          <p:cNvSpPr/>
          <p:nvPr/>
        </p:nvSpPr>
        <p:spPr>
          <a:xfrm>
            <a:off x="6615684" y="4160520"/>
            <a:ext cx="4128516" cy="457200"/>
          </a:xfrm>
          <a:prstGeom prst="rect">
            <a:avLst/>
          </a:prstGeom>
          <a:noFill/>
          <a:ln/>
        </p:spPr>
        <p:txBody>
          <a:bodyPr wrap="square" lIns="0" tIns="0" rIns="0" bIns="0" rtlCol="0" anchor="t"/>
          <a:lstStyle/>
          <a:p>
            <a:pPr algn="l" indent="0" marL="0">
              <a:buNone/>
            </a:pPr>
            <a:r>
              <a:rPr lang="en-US" sz="1250" i="1" dirty="0">
                <a:solidFill>
                  <a:srgbClr val="8B1A1A"/>
                </a:solidFill>
                <a:latin typeface="Calibri" pitchFamily="34" charset="0"/>
                <a:ea typeface="Calibri" pitchFamily="34" charset="-122"/>
                <a:cs typeface="Calibri" pitchFamily="34" charset="-120"/>
              </a:rPr>
              <a:t>Doctrinal questions, and any question about their souls, belong to your father confessor or parish priest.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Ananias and Sapphira: Truth Before God</dc:title>
  <dc:subject>PptxGenJS Presentation</dc:subject>
  <dc:creator>Dn Yonnas</dc:creator>
  <cp:lastModifiedBy>Dn Yonnas</cp:lastModifiedBy>
  <cp:revision>1</cp:revision>
  <dcterms:created xsi:type="dcterms:W3CDTF">2026-06-25T01:10:44Z</dcterms:created>
  <dcterms:modified xsi:type="dcterms:W3CDTF">2026-06-25T01:10:44Z</dcterms:modified>
</cp:coreProperties>
</file>