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jpeg" ContentType="image/jpeg"/>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88b4a5d1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88b4a5d1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8b4a5d18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88b4a5d18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8b4a5d18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8b4a5d18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8b4a5d18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8b4a5d18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88b4a5d18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88b4a5d18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88b4a5d18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88b4a5d18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8b4a5d186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8b4a5d18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88b4a5d18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88b4a5d18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88b4a5d186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88b4a5d186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8b4a5d186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8b4a5d186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idx="1" type="subTitle"/>
          </p:nvPr>
        </p:nvSpPr>
        <p:spPr>
          <a:xfrm>
            <a:off x="596300" y="4602250"/>
            <a:ext cx="36303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By Dn Yonnas</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What Is the Sacrament Of Matrimony </a:t>
            </a:r>
            <a:endParaRPr>
              <a:latin typeface="Georgia"/>
              <a:ea typeface="Georgia"/>
              <a:cs typeface="Georgia"/>
              <a:sym typeface="Georgia"/>
            </a:endParaRPr>
          </a:p>
        </p:txBody>
      </p:sp>
      <p:sp>
        <p:nvSpPr>
          <p:cNvPr id="60" name="Google Shape;60;p14"/>
          <p:cNvSpPr txBox="1"/>
          <p:nvPr>
            <p:ph idx="1" type="body"/>
          </p:nvPr>
        </p:nvSpPr>
        <p:spPr>
          <a:xfrm>
            <a:off x="673650" y="1552500"/>
            <a:ext cx="7796700" cy="2038500"/>
          </a:xfrm>
          <a:prstGeom prst="rect">
            <a:avLst/>
          </a:prstGeom>
          <a:ln cap="flat" cmpd="sng" w="9525">
            <a:solidFill>
              <a:srgbClr val="000000"/>
            </a:solidFill>
            <a:prstDash val="lgDashDot"/>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1200"/>
              </a:spcAft>
              <a:buNone/>
            </a:pPr>
            <a:br>
              <a:rPr b="1" lang="en" sz="1400">
                <a:solidFill>
                  <a:schemeClr val="dk1"/>
                </a:solidFill>
              </a:rPr>
            </a:br>
            <a:r>
              <a:rPr b="1" lang="en" sz="1600">
                <a:solidFill>
                  <a:schemeClr val="dk1"/>
                </a:solidFill>
                <a:latin typeface="Georgia"/>
                <a:ea typeface="Georgia"/>
                <a:cs typeface="Georgia"/>
                <a:sym typeface="Georgia"/>
              </a:rPr>
              <a:t>Definition:</a:t>
            </a:r>
            <a:r>
              <a:rPr i="1" lang="en">
                <a:solidFill>
                  <a:schemeClr val="dk1"/>
                </a:solidFill>
                <a:latin typeface="Georgia"/>
                <a:ea typeface="Georgia"/>
                <a:cs typeface="Georgia"/>
                <a:sym typeface="Georgia"/>
              </a:rPr>
              <a:t> The Sacrament of Matrimony is the holy service through which the bridegroom and the bride are united and granted divine grace. This grace sanctifies their matrimonial union, making it perfect and spiritual, like the unity of Christ and the Church.</a:t>
            </a:r>
            <a:endParaRPr i="1">
              <a:solidFill>
                <a:schemeClr val="dk1"/>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Institution</a:t>
            </a:r>
            <a:r>
              <a:rPr lang="en">
                <a:latin typeface="Georgia"/>
                <a:ea typeface="Georgia"/>
                <a:cs typeface="Georgia"/>
                <a:sym typeface="Georgia"/>
              </a:rPr>
              <a:t> of Sacrament (Old Testament) </a:t>
            </a:r>
            <a:endParaRPr>
              <a:latin typeface="Georgia"/>
              <a:ea typeface="Georgia"/>
              <a:cs typeface="Georgia"/>
              <a:sym typeface="Georgia"/>
            </a:endParaRPr>
          </a:p>
        </p:txBody>
      </p:sp>
      <p:sp>
        <p:nvSpPr>
          <p:cNvPr id="66" name="Google Shape;66;p15"/>
          <p:cNvSpPr txBox="1"/>
          <p:nvPr>
            <p:ph idx="1" type="body"/>
          </p:nvPr>
        </p:nvSpPr>
        <p:spPr>
          <a:xfrm>
            <a:off x="311700" y="1152475"/>
            <a:ext cx="49926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1200"/>
              </a:spcBef>
              <a:spcAft>
                <a:spcPts val="0"/>
              </a:spcAft>
              <a:buNone/>
            </a:pPr>
            <a:r>
              <a:rPr b="1" lang="en" sz="1200">
                <a:solidFill>
                  <a:schemeClr val="dk1"/>
                </a:solidFill>
                <a:latin typeface="Georgia"/>
                <a:ea typeface="Georgia"/>
                <a:cs typeface="Georgia"/>
                <a:sym typeface="Georgia"/>
              </a:rPr>
              <a:t>Genesis 1:27–28 (KJV)</a:t>
            </a:r>
            <a:endParaRPr b="1" sz="1200">
              <a:solidFill>
                <a:schemeClr val="dk1"/>
              </a:solidFill>
              <a:latin typeface="Georgia"/>
              <a:ea typeface="Georgia"/>
              <a:cs typeface="Georgia"/>
              <a:sym typeface="Georgia"/>
            </a:endParaRPr>
          </a:p>
          <a:p>
            <a:pPr indent="0" lvl="0" marL="0" rtl="0" algn="l">
              <a:spcBef>
                <a:spcPts val="1200"/>
              </a:spcBef>
              <a:spcAft>
                <a:spcPts val="0"/>
              </a:spcAft>
              <a:buNone/>
            </a:pPr>
            <a:r>
              <a:rPr b="1" lang="en" sz="1200">
                <a:solidFill>
                  <a:schemeClr val="dk1"/>
                </a:solidFill>
                <a:latin typeface="Georgia"/>
                <a:ea typeface="Georgia"/>
                <a:cs typeface="Georgia"/>
                <a:sym typeface="Georgia"/>
              </a:rPr>
              <a:t>27 </a:t>
            </a:r>
            <a:r>
              <a:rPr lang="en" sz="1200">
                <a:solidFill>
                  <a:schemeClr val="dk1"/>
                </a:solidFill>
                <a:latin typeface="Georgia"/>
                <a:ea typeface="Georgia"/>
                <a:cs typeface="Georgia"/>
                <a:sym typeface="Georgia"/>
              </a:rPr>
              <a:t>So God created man in his own image, in the image of God created he him; male and female created he them.</a:t>
            </a:r>
            <a:br>
              <a:rPr lang="en" sz="1200">
                <a:solidFill>
                  <a:schemeClr val="dk1"/>
                </a:solidFill>
                <a:latin typeface="Georgia"/>
                <a:ea typeface="Georgia"/>
                <a:cs typeface="Georgia"/>
                <a:sym typeface="Georgia"/>
              </a:rPr>
            </a:br>
            <a:r>
              <a:rPr b="1" lang="en" sz="1200">
                <a:solidFill>
                  <a:schemeClr val="dk1"/>
                </a:solidFill>
                <a:latin typeface="Georgia"/>
                <a:ea typeface="Georgia"/>
                <a:cs typeface="Georgia"/>
                <a:sym typeface="Georgia"/>
              </a:rPr>
              <a:t>28 </a:t>
            </a:r>
            <a:r>
              <a:rPr lang="en" sz="1200">
                <a:solidFill>
                  <a:schemeClr val="dk1"/>
                </a:solidFill>
                <a:latin typeface="Georgia"/>
                <a:ea typeface="Georgia"/>
                <a:cs typeface="Georgia"/>
                <a:sym typeface="Georgia"/>
              </a:rPr>
              <a:t>And God blessed them, and God said unto them, Be fruitful, and multiply, and replenish the earth, and subdue it</a:t>
            </a:r>
            <a:endParaRPr b="1" sz="1200">
              <a:solidFill>
                <a:schemeClr val="dk1"/>
              </a:solidFill>
              <a:latin typeface="Georgia"/>
              <a:ea typeface="Georgia"/>
              <a:cs typeface="Georgia"/>
              <a:sym typeface="Georgia"/>
            </a:endParaRPr>
          </a:p>
          <a:p>
            <a:pPr indent="0" lvl="0" marL="0" marR="381000" rtl="0" algn="l">
              <a:spcBef>
                <a:spcPts val="1200"/>
              </a:spcBef>
              <a:spcAft>
                <a:spcPts val="0"/>
              </a:spcAft>
              <a:buNone/>
            </a:pPr>
            <a:r>
              <a:t/>
            </a:r>
            <a:endParaRPr sz="1200">
              <a:solidFill>
                <a:schemeClr val="dk1"/>
              </a:solidFill>
              <a:latin typeface="Georgia"/>
              <a:ea typeface="Georgia"/>
              <a:cs typeface="Georgia"/>
              <a:sym typeface="Georgia"/>
            </a:endParaRPr>
          </a:p>
          <a:p>
            <a:pPr indent="-304800" lvl="0" marL="457200" marR="381000" rtl="0" algn="l">
              <a:spcBef>
                <a:spcPts val="120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Marriage was instituted by God since the beginning of human creation. </a:t>
            </a:r>
            <a:br>
              <a:rPr lang="en" sz="1200">
                <a:solidFill>
                  <a:schemeClr val="dk1"/>
                </a:solidFill>
                <a:latin typeface="Georgia"/>
                <a:ea typeface="Georgia"/>
                <a:cs typeface="Georgia"/>
                <a:sym typeface="Georgia"/>
              </a:rPr>
            </a:br>
            <a:endParaRPr sz="1200">
              <a:solidFill>
                <a:schemeClr val="dk1"/>
              </a:solidFill>
              <a:latin typeface="Georgia"/>
              <a:ea typeface="Georgia"/>
              <a:cs typeface="Georgia"/>
              <a:sym typeface="Georgia"/>
            </a:endParaRPr>
          </a:p>
          <a:p>
            <a:pPr indent="-304800" lvl="0" marL="457200" marR="381000" rtl="0" algn="l">
              <a:spcBef>
                <a:spcPts val="0"/>
              </a:spcBef>
              <a:spcAft>
                <a:spcPts val="0"/>
              </a:spcAft>
              <a:buClr>
                <a:schemeClr val="dk1"/>
              </a:buClr>
              <a:buSzPts val="1200"/>
              <a:buChar char="●"/>
            </a:pPr>
            <a:r>
              <a:rPr lang="en" sz="1200">
                <a:solidFill>
                  <a:schemeClr val="dk1"/>
                </a:solidFill>
                <a:latin typeface="Georgia"/>
                <a:ea typeface="Georgia"/>
                <a:cs typeface="Georgia"/>
                <a:sym typeface="Georgia"/>
              </a:rPr>
              <a:t>Adam and Eve were united as husband and wife, and God Himself blessed this union. This shows that marriage was always meant to be </a:t>
            </a:r>
            <a:r>
              <a:rPr b="1" lang="en" sz="1200">
                <a:solidFill>
                  <a:schemeClr val="dk1"/>
                </a:solidFill>
                <a:latin typeface="Georgia"/>
                <a:ea typeface="Georgia"/>
                <a:cs typeface="Georgia"/>
                <a:sym typeface="Georgia"/>
              </a:rPr>
              <a:t>a divine institution</a:t>
            </a:r>
            <a:r>
              <a:rPr lang="en" sz="1200">
                <a:solidFill>
                  <a:schemeClr val="dk1"/>
                </a:solidFill>
                <a:latin typeface="Georgia"/>
                <a:ea typeface="Georgia"/>
                <a:cs typeface="Georgia"/>
                <a:sym typeface="Georgia"/>
              </a:rPr>
              <a:t>.</a:t>
            </a:r>
            <a:endParaRPr sz="1200">
              <a:solidFill>
                <a:schemeClr val="dk1"/>
              </a:solidFill>
              <a:latin typeface="Georgia"/>
              <a:ea typeface="Georgia"/>
              <a:cs typeface="Georgia"/>
              <a:sym typeface="Georgia"/>
            </a:endParaRPr>
          </a:p>
          <a:p>
            <a:pPr indent="0" lvl="0" marL="457200" marR="381000" rtl="0" algn="l">
              <a:spcBef>
                <a:spcPts val="1200"/>
              </a:spcBef>
              <a:spcAft>
                <a:spcPts val="0"/>
              </a:spcAft>
              <a:buNone/>
            </a:pPr>
            <a:r>
              <a:t/>
            </a:r>
            <a:endParaRPr sz="1200">
              <a:solidFill>
                <a:schemeClr val="dk1"/>
              </a:solidFill>
              <a:latin typeface="Georgia"/>
              <a:ea typeface="Georgia"/>
              <a:cs typeface="Georgia"/>
              <a:sym typeface="Georgia"/>
            </a:endParaRPr>
          </a:p>
          <a:p>
            <a:pPr indent="0" lvl="0" marL="0" rtl="0" algn="l">
              <a:spcBef>
                <a:spcPts val="1200"/>
              </a:spcBef>
              <a:spcAft>
                <a:spcPts val="1200"/>
              </a:spcAft>
              <a:buNone/>
            </a:pPr>
            <a:r>
              <a:t/>
            </a:r>
            <a:endParaRPr sz="1200">
              <a:solidFill>
                <a:schemeClr val="dk1"/>
              </a:solidFill>
              <a:latin typeface="Georgia"/>
              <a:ea typeface="Georgia"/>
              <a:cs typeface="Georgia"/>
              <a:sym typeface="Georgia"/>
            </a:endParaRPr>
          </a:p>
        </p:txBody>
      </p:sp>
      <p:pic>
        <p:nvPicPr>
          <p:cNvPr id="67" name="Google Shape;67;p15"/>
          <p:cNvPicPr preferRelativeResize="0"/>
          <p:nvPr/>
        </p:nvPicPr>
        <p:blipFill>
          <a:blip r:embed="rId3">
            <a:alphaModFix/>
          </a:blip>
          <a:stretch>
            <a:fillRect/>
          </a:stretch>
        </p:blipFill>
        <p:spPr>
          <a:xfrm>
            <a:off x="5425300" y="1682375"/>
            <a:ext cx="3534900" cy="23566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Institution</a:t>
            </a:r>
            <a:r>
              <a:rPr lang="en">
                <a:latin typeface="Georgia"/>
                <a:ea typeface="Georgia"/>
                <a:cs typeface="Georgia"/>
                <a:sym typeface="Georgia"/>
              </a:rPr>
              <a:t> Of Sacrament (New Testament) </a:t>
            </a:r>
            <a:endParaRPr>
              <a:latin typeface="Georgia"/>
              <a:ea typeface="Georgia"/>
              <a:cs typeface="Georgia"/>
              <a:sym typeface="Georgia"/>
            </a:endParaRPr>
          </a:p>
        </p:txBody>
      </p:sp>
      <p:sp>
        <p:nvSpPr>
          <p:cNvPr id="73" name="Google Shape;73;p16"/>
          <p:cNvSpPr txBox="1"/>
          <p:nvPr>
            <p:ph idx="1" type="body"/>
          </p:nvPr>
        </p:nvSpPr>
        <p:spPr>
          <a:xfrm>
            <a:off x="3603675" y="1017725"/>
            <a:ext cx="5126400" cy="39807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0" lvl="0" marL="0" rtl="0" algn="l">
              <a:spcBef>
                <a:spcPts val="1800"/>
              </a:spcBef>
              <a:spcAft>
                <a:spcPts val="0"/>
              </a:spcAft>
              <a:buClr>
                <a:schemeClr val="dk1"/>
              </a:buClr>
              <a:buSzPct val="64705"/>
              <a:buFont typeface="Arial"/>
              <a:buNone/>
            </a:pPr>
            <a:r>
              <a:rPr b="1" lang="en" sz="1700">
                <a:solidFill>
                  <a:schemeClr val="dk1"/>
                </a:solidFill>
                <a:latin typeface="Georgia"/>
                <a:ea typeface="Georgia"/>
                <a:cs typeface="Georgia"/>
                <a:sym typeface="Georgia"/>
              </a:rPr>
              <a:t>Christ’s Teaching in Matthew 19:4–6</a:t>
            </a:r>
            <a:endParaRPr b="1" sz="1700">
              <a:solidFill>
                <a:schemeClr val="dk1"/>
              </a:solidFill>
              <a:latin typeface="Georgia"/>
              <a:ea typeface="Georgia"/>
              <a:cs typeface="Georgia"/>
              <a:sym typeface="Georgia"/>
            </a:endParaRPr>
          </a:p>
          <a:p>
            <a:pPr indent="0" lvl="0" marL="0" rtl="0" algn="l">
              <a:spcBef>
                <a:spcPts val="1200"/>
              </a:spcBef>
              <a:spcAft>
                <a:spcPts val="0"/>
              </a:spcAft>
              <a:buClr>
                <a:schemeClr val="dk1"/>
              </a:buClr>
              <a:buSzPct val="100000"/>
              <a:buFont typeface="Arial"/>
              <a:buNone/>
            </a:pPr>
            <a:r>
              <a:rPr lang="en" sz="1100">
                <a:solidFill>
                  <a:schemeClr val="dk1"/>
                </a:solidFill>
                <a:latin typeface="Georgia"/>
                <a:ea typeface="Georgia"/>
                <a:cs typeface="Georgia"/>
                <a:sym typeface="Georgia"/>
              </a:rPr>
              <a:t>When Christ says:</a:t>
            </a:r>
            <a:endParaRPr sz="1100">
              <a:solidFill>
                <a:schemeClr val="dk1"/>
              </a:solidFill>
              <a:latin typeface="Georgia"/>
              <a:ea typeface="Georgia"/>
              <a:cs typeface="Georgia"/>
              <a:sym typeface="Georgia"/>
            </a:endParaRPr>
          </a:p>
          <a:p>
            <a:pPr indent="0" lvl="0" marL="381000" marR="381000" rtl="0" algn="l">
              <a:spcBef>
                <a:spcPts val="1200"/>
              </a:spcBef>
              <a:spcAft>
                <a:spcPts val="0"/>
              </a:spcAft>
              <a:buClr>
                <a:schemeClr val="dk1"/>
              </a:buClr>
              <a:buSzPct val="100000"/>
              <a:buFont typeface="Arial"/>
              <a:buNone/>
            </a:pPr>
            <a:r>
              <a:rPr i="1" lang="en" sz="1100">
                <a:solidFill>
                  <a:schemeClr val="dk1"/>
                </a:solidFill>
                <a:latin typeface="Georgia"/>
                <a:ea typeface="Georgia"/>
                <a:cs typeface="Georgia"/>
                <a:sym typeface="Georgia"/>
              </a:rPr>
              <a:t>“For this cause shall a man leave father and mother, and shall cleave to his wife: and they twain shall be one flesh. … What therefore God hath joined together, let not man put asunder.”</a:t>
            </a:r>
            <a:endParaRPr i="1" sz="1100">
              <a:solidFill>
                <a:schemeClr val="dk1"/>
              </a:solidFill>
              <a:latin typeface="Georgia"/>
              <a:ea typeface="Georgia"/>
              <a:cs typeface="Georgia"/>
              <a:sym typeface="Georgia"/>
            </a:endParaRPr>
          </a:p>
          <a:p>
            <a:pPr indent="0" lvl="0" marL="0" rtl="0" algn="l">
              <a:spcBef>
                <a:spcPts val="1200"/>
              </a:spcBef>
              <a:spcAft>
                <a:spcPts val="0"/>
              </a:spcAft>
              <a:buClr>
                <a:schemeClr val="dk1"/>
              </a:buClr>
              <a:buSzPct val="100000"/>
              <a:buFont typeface="Arial"/>
              <a:buNone/>
            </a:pPr>
            <a:r>
              <a:rPr lang="en" sz="1100">
                <a:solidFill>
                  <a:schemeClr val="dk1"/>
                </a:solidFill>
                <a:latin typeface="Georgia"/>
                <a:ea typeface="Georgia"/>
                <a:cs typeface="Georgia"/>
                <a:sym typeface="Georgia"/>
              </a:rPr>
              <a:t>He is not introducing a brand-new teaching but </a:t>
            </a:r>
            <a:r>
              <a:rPr b="1" lang="en" sz="1100">
                <a:solidFill>
                  <a:schemeClr val="dk1"/>
                </a:solidFill>
                <a:latin typeface="Georgia"/>
                <a:ea typeface="Georgia"/>
                <a:cs typeface="Georgia"/>
                <a:sym typeface="Georgia"/>
              </a:rPr>
              <a:t>restoring and elevating</a:t>
            </a:r>
            <a:r>
              <a:rPr lang="en" sz="1100">
                <a:solidFill>
                  <a:schemeClr val="dk1"/>
                </a:solidFill>
                <a:latin typeface="Georgia"/>
                <a:ea typeface="Georgia"/>
                <a:cs typeface="Georgia"/>
                <a:sym typeface="Georgia"/>
              </a:rPr>
              <a:t> the original meaning of marriage that God intended “from the beginning.”</a:t>
            </a:r>
            <a:endParaRPr sz="1100">
              <a:solidFill>
                <a:schemeClr val="dk1"/>
              </a:solidFill>
              <a:latin typeface="Georgia"/>
              <a:ea typeface="Georgia"/>
              <a:cs typeface="Georgia"/>
              <a:sym typeface="Georgia"/>
            </a:endParaRPr>
          </a:p>
          <a:p>
            <a:pPr indent="-293211" lvl="0" marL="457200" rtl="0" algn="l">
              <a:spcBef>
                <a:spcPts val="1200"/>
              </a:spcBef>
              <a:spcAft>
                <a:spcPts val="0"/>
              </a:spcAft>
              <a:buClr>
                <a:schemeClr val="dk1"/>
              </a:buClr>
              <a:buSzPct val="100000"/>
              <a:buFont typeface="Georgia"/>
              <a:buChar char="●"/>
            </a:pPr>
            <a:r>
              <a:rPr lang="en" sz="1100">
                <a:solidFill>
                  <a:schemeClr val="dk1"/>
                </a:solidFill>
                <a:latin typeface="Georgia"/>
                <a:ea typeface="Georgia"/>
                <a:cs typeface="Georgia"/>
                <a:sym typeface="Georgia"/>
              </a:rPr>
              <a:t>The Pharisees were testing Him about divorce. Christ pointed them back to Genesis, emphasizing that marriage was not meant to be broken.</a:t>
            </a:r>
            <a:br>
              <a:rPr lang="en" sz="1100">
                <a:solidFill>
                  <a:schemeClr val="dk1"/>
                </a:solidFill>
                <a:latin typeface="Georgia"/>
                <a:ea typeface="Georgia"/>
                <a:cs typeface="Georgia"/>
                <a:sym typeface="Georgia"/>
              </a:rPr>
            </a:br>
            <a:endParaRPr sz="1100">
              <a:solidFill>
                <a:schemeClr val="dk1"/>
              </a:solidFill>
              <a:latin typeface="Georgia"/>
              <a:ea typeface="Georgia"/>
              <a:cs typeface="Georgia"/>
              <a:sym typeface="Georgia"/>
            </a:endParaRPr>
          </a:p>
          <a:p>
            <a:pPr indent="-293211" lvl="0" marL="457200" rtl="0" algn="l">
              <a:spcBef>
                <a:spcPts val="0"/>
              </a:spcBef>
              <a:spcAft>
                <a:spcPts val="0"/>
              </a:spcAft>
              <a:buClr>
                <a:schemeClr val="dk1"/>
              </a:buClr>
              <a:buSzPct val="100000"/>
              <a:buChar char="●"/>
            </a:pPr>
            <a:r>
              <a:rPr lang="en" sz="1100">
                <a:solidFill>
                  <a:schemeClr val="dk1"/>
                </a:solidFill>
                <a:latin typeface="Georgia"/>
                <a:ea typeface="Georgia"/>
                <a:cs typeface="Georgia"/>
                <a:sym typeface="Georgia"/>
              </a:rPr>
              <a:t>However, in the Jewish context, marriage was often seen more in terms of </a:t>
            </a:r>
            <a:r>
              <a:rPr b="1" lang="en" sz="1100">
                <a:solidFill>
                  <a:schemeClr val="dk1"/>
                </a:solidFill>
                <a:latin typeface="Georgia"/>
                <a:ea typeface="Georgia"/>
                <a:cs typeface="Georgia"/>
                <a:sym typeface="Georgia"/>
              </a:rPr>
              <a:t>family, children, and inheritance</a:t>
            </a:r>
            <a:r>
              <a:rPr lang="en" sz="1100">
                <a:solidFill>
                  <a:schemeClr val="dk1"/>
                </a:solidFill>
                <a:latin typeface="Georgia"/>
                <a:ea typeface="Georgia"/>
                <a:cs typeface="Georgia"/>
                <a:sym typeface="Georgia"/>
              </a:rPr>
              <a:t> rather than explicitly as a mystical union of two becoming one flesh.</a:t>
            </a:r>
            <a:br>
              <a:rPr lang="en" sz="1100">
                <a:solidFill>
                  <a:schemeClr val="dk1"/>
                </a:solidFill>
                <a:latin typeface="Georgia"/>
                <a:ea typeface="Georgia"/>
                <a:cs typeface="Georgia"/>
                <a:sym typeface="Georgia"/>
              </a:rPr>
            </a:br>
            <a:endParaRPr sz="1100">
              <a:solidFill>
                <a:schemeClr val="dk1"/>
              </a:solidFill>
              <a:latin typeface="Georgia"/>
              <a:ea typeface="Georgia"/>
              <a:cs typeface="Georgia"/>
              <a:sym typeface="Georgia"/>
            </a:endParaRPr>
          </a:p>
          <a:p>
            <a:pPr indent="-293211" lvl="0" marL="457200" rtl="0" algn="l">
              <a:spcBef>
                <a:spcPts val="0"/>
              </a:spcBef>
              <a:spcAft>
                <a:spcPts val="0"/>
              </a:spcAft>
              <a:buClr>
                <a:schemeClr val="dk1"/>
              </a:buClr>
              <a:buSzPct val="100000"/>
              <a:buChar char="●"/>
            </a:pPr>
            <a:r>
              <a:rPr lang="en" sz="1100">
                <a:solidFill>
                  <a:schemeClr val="dk1"/>
                </a:solidFill>
                <a:latin typeface="Georgia"/>
                <a:ea typeface="Georgia"/>
                <a:cs typeface="Georgia"/>
                <a:sym typeface="Georgia"/>
              </a:rPr>
              <a:t>He revealed the </a:t>
            </a:r>
            <a:r>
              <a:rPr b="1" lang="en" sz="1100">
                <a:solidFill>
                  <a:schemeClr val="dk1"/>
                </a:solidFill>
                <a:latin typeface="Georgia"/>
                <a:ea typeface="Georgia"/>
                <a:cs typeface="Georgia"/>
                <a:sym typeface="Georgia"/>
              </a:rPr>
              <a:t>spiritual depth</a:t>
            </a:r>
            <a:r>
              <a:rPr lang="en" sz="1100">
                <a:solidFill>
                  <a:schemeClr val="dk1"/>
                </a:solidFill>
                <a:latin typeface="Georgia"/>
                <a:ea typeface="Georgia"/>
                <a:cs typeface="Georgia"/>
                <a:sym typeface="Georgia"/>
              </a:rPr>
              <a:t> of marriage: it is not just a social contract or family arrangement, but a </a:t>
            </a:r>
            <a:r>
              <a:rPr b="1" lang="en" sz="1100">
                <a:solidFill>
                  <a:schemeClr val="dk1"/>
                </a:solidFill>
                <a:latin typeface="Georgia"/>
                <a:ea typeface="Georgia"/>
                <a:cs typeface="Georgia"/>
                <a:sym typeface="Georgia"/>
              </a:rPr>
              <a:t>sacramental mystery</a:t>
            </a:r>
            <a:r>
              <a:rPr lang="en" sz="1100">
                <a:solidFill>
                  <a:schemeClr val="dk1"/>
                </a:solidFill>
                <a:latin typeface="Georgia"/>
                <a:ea typeface="Georgia"/>
                <a:cs typeface="Georgia"/>
                <a:sym typeface="Georgia"/>
              </a:rPr>
              <a:t> where two truly become one in God.</a:t>
            </a:r>
            <a:br>
              <a:rPr lang="en" sz="1100">
                <a:solidFill>
                  <a:schemeClr val="dk1"/>
                </a:solidFill>
                <a:latin typeface="Georgia"/>
                <a:ea typeface="Georgia"/>
                <a:cs typeface="Georgia"/>
                <a:sym typeface="Georgia"/>
              </a:rPr>
            </a:br>
            <a:endParaRPr sz="1100">
              <a:solidFill>
                <a:schemeClr val="dk1"/>
              </a:solidFill>
              <a:latin typeface="Georgia"/>
              <a:ea typeface="Georgia"/>
              <a:cs typeface="Georgia"/>
              <a:sym typeface="Georgia"/>
            </a:endParaRPr>
          </a:p>
          <a:p>
            <a:pPr indent="0" lvl="0" marL="0" rtl="0" algn="l">
              <a:spcBef>
                <a:spcPts val="1200"/>
              </a:spcBef>
              <a:spcAft>
                <a:spcPts val="1200"/>
              </a:spcAft>
              <a:buNone/>
            </a:pPr>
            <a:r>
              <a:t/>
            </a:r>
            <a:endParaRPr>
              <a:latin typeface="Georgia"/>
              <a:ea typeface="Georgia"/>
              <a:cs typeface="Georgia"/>
              <a:sym typeface="Georgia"/>
            </a:endParaRPr>
          </a:p>
        </p:txBody>
      </p:sp>
      <p:sp>
        <p:nvSpPr>
          <p:cNvPr id="74" name="Google Shape;74;p16"/>
          <p:cNvSpPr txBox="1"/>
          <p:nvPr>
            <p:ph idx="1" type="body"/>
          </p:nvPr>
        </p:nvSpPr>
        <p:spPr>
          <a:xfrm>
            <a:off x="531400" y="1414975"/>
            <a:ext cx="2978100" cy="3416400"/>
          </a:xfrm>
          <a:prstGeom prst="rect">
            <a:avLst/>
          </a:prstGeom>
          <a:gradFill>
            <a:gsLst>
              <a:gs pos="0">
                <a:srgbClr val="FFF6DB"/>
              </a:gs>
              <a:gs pos="100000">
                <a:srgbClr val="FAD15C"/>
              </a:gs>
            </a:gsLst>
            <a:path path="circle">
              <a:fillToRect b="50%" l="50%" r="50%" t="50%"/>
            </a:path>
            <a:tileRect/>
          </a:gradFill>
          <a:ln cap="flat" cmpd="sng" w="19050">
            <a:solidFill>
              <a:srgbClr val="000000"/>
            </a:solidFill>
            <a:prstDash val="solid"/>
            <a:round/>
            <a:headEnd len="sm" w="sm" type="none"/>
            <a:tailEnd len="sm" w="sm" type="none"/>
          </a:ln>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b="1" lang="en" sz="1100">
                <a:solidFill>
                  <a:schemeClr val="dk1"/>
                </a:solidFill>
                <a:latin typeface="Georgia"/>
                <a:ea typeface="Georgia"/>
                <a:cs typeface="Georgia"/>
                <a:sym typeface="Georgia"/>
              </a:rPr>
              <a:t>Matthew 19:4–6 (KJV):</a:t>
            </a:r>
            <a:endParaRPr b="1" sz="1100">
              <a:solidFill>
                <a:schemeClr val="dk1"/>
              </a:solidFill>
              <a:latin typeface="Georgia"/>
              <a:ea typeface="Georgia"/>
              <a:cs typeface="Georgia"/>
              <a:sym typeface="Georgia"/>
            </a:endParaRPr>
          </a:p>
          <a:p>
            <a:pPr indent="0" lvl="0" marL="381000" marR="381000" rtl="0" algn="l">
              <a:spcBef>
                <a:spcPts val="1200"/>
              </a:spcBef>
              <a:spcAft>
                <a:spcPts val="0"/>
              </a:spcAft>
              <a:buNone/>
            </a:pPr>
            <a:r>
              <a:rPr b="1" lang="en" sz="1100">
                <a:solidFill>
                  <a:schemeClr val="dk1"/>
                </a:solidFill>
                <a:latin typeface="Georgia"/>
                <a:ea typeface="Georgia"/>
                <a:cs typeface="Georgia"/>
                <a:sym typeface="Georgia"/>
              </a:rPr>
              <a:t>4</a:t>
            </a:r>
            <a:r>
              <a:rPr lang="en" sz="1100">
                <a:solidFill>
                  <a:schemeClr val="dk1"/>
                </a:solidFill>
                <a:latin typeface="Georgia"/>
                <a:ea typeface="Georgia"/>
                <a:cs typeface="Georgia"/>
                <a:sym typeface="Georgia"/>
              </a:rPr>
              <a:t> And he answered and said unto them, Have ye not read, that he which made them at the beginning made them male and female,</a:t>
            </a:r>
            <a:br>
              <a:rPr lang="en" sz="1100">
                <a:solidFill>
                  <a:schemeClr val="dk1"/>
                </a:solidFill>
                <a:latin typeface="Georgia"/>
                <a:ea typeface="Georgia"/>
                <a:cs typeface="Georgia"/>
                <a:sym typeface="Georgia"/>
              </a:rPr>
            </a:br>
            <a:r>
              <a:rPr lang="en" sz="1100">
                <a:solidFill>
                  <a:schemeClr val="dk1"/>
                </a:solidFill>
                <a:latin typeface="Georgia"/>
                <a:ea typeface="Georgia"/>
                <a:cs typeface="Georgia"/>
                <a:sym typeface="Georgia"/>
              </a:rPr>
              <a:t> </a:t>
            </a:r>
            <a:r>
              <a:rPr b="1" lang="en" sz="1100">
                <a:solidFill>
                  <a:schemeClr val="dk1"/>
                </a:solidFill>
                <a:latin typeface="Georgia"/>
                <a:ea typeface="Georgia"/>
                <a:cs typeface="Georgia"/>
                <a:sym typeface="Georgia"/>
              </a:rPr>
              <a:t>5</a:t>
            </a:r>
            <a:r>
              <a:rPr lang="en" sz="1100">
                <a:solidFill>
                  <a:schemeClr val="dk1"/>
                </a:solidFill>
                <a:latin typeface="Georgia"/>
                <a:ea typeface="Georgia"/>
                <a:cs typeface="Georgia"/>
                <a:sym typeface="Georgia"/>
              </a:rPr>
              <a:t> And said, For this cause shall a man leave father and mother, and shall cleave to his wife: and they twain shall be one flesh?</a:t>
            </a:r>
            <a:br>
              <a:rPr lang="en" sz="1100">
                <a:solidFill>
                  <a:schemeClr val="dk1"/>
                </a:solidFill>
                <a:latin typeface="Georgia"/>
                <a:ea typeface="Georgia"/>
                <a:cs typeface="Georgia"/>
                <a:sym typeface="Georgia"/>
              </a:rPr>
            </a:br>
            <a:r>
              <a:rPr lang="en" sz="1100">
                <a:solidFill>
                  <a:schemeClr val="dk1"/>
                </a:solidFill>
                <a:latin typeface="Georgia"/>
                <a:ea typeface="Georgia"/>
                <a:cs typeface="Georgia"/>
                <a:sym typeface="Georgia"/>
              </a:rPr>
              <a:t> </a:t>
            </a:r>
            <a:r>
              <a:rPr b="1" lang="en" sz="1100">
                <a:solidFill>
                  <a:schemeClr val="dk1"/>
                </a:solidFill>
                <a:latin typeface="Georgia"/>
                <a:ea typeface="Georgia"/>
                <a:cs typeface="Georgia"/>
                <a:sym typeface="Georgia"/>
              </a:rPr>
              <a:t>6</a:t>
            </a:r>
            <a:r>
              <a:rPr lang="en" sz="1100">
                <a:solidFill>
                  <a:schemeClr val="dk1"/>
                </a:solidFill>
                <a:latin typeface="Georgia"/>
                <a:ea typeface="Georgia"/>
                <a:cs typeface="Georgia"/>
                <a:sym typeface="Georgia"/>
              </a:rPr>
              <a:t> Wherefore they are no more twain, but one flesh. What therefore God hath joined together, let not man put asunder.</a:t>
            </a:r>
            <a:endParaRPr sz="1100">
              <a:solidFill>
                <a:schemeClr val="dk1"/>
              </a:solidFill>
              <a:latin typeface="Georgia"/>
              <a:ea typeface="Georgia"/>
              <a:cs typeface="Georgia"/>
              <a:sym typeface="Georgia"/>
            </a:endParaRPr>
          </a:p>
          <a:p>
            <a:pPr indent="0" lvl="0" marL="0" rtl="0" algn="l">
              <a:spcBef>
                <a:spcPts val="1200"/>
              </a:spcBef>
              <a:spcAft>
                <a:spcPts val="1200"/>
              </a:spcAft>
              <a:buNone/>
            </a:pPr>
            <a:r>
              <a:t/>
            </a:r>
            <a:endParaRPr b="1" sz="1100">
              <a:solidFill>
                <a:schemeClr val="dk1"/>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The Divine Goals of Matrimony</a:t>
            </a:r>
            <a:endParaRPr>
              <a:latin typeface="Georgia"/>
              <a:ea typeface="Georgia"/>
              <a:cs typeface="Georgia"/>
              <a:sym typeface="Georgia"/>
            </a:endParaRPr>
          </a:p>
        </p:txBody>
      </p:sp>
      <p:sp>
        <p:nvSpPr>
          <p:cNvPr id="80" name="Google Shape;80;p17"/>
          <p:cNvSpPr txBox="1"/>
          <p:nvPr>
            <p:ph idx="1" type="body"/>
          </p:nvPr>
        </p:nvSpPr>
        <p:spPr>
          <a:xfrm>
            <a:off x="311700" y="1152475"/>
            <a:ext cx="48984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1100"/>
              <a:buFont typeface="Arial"/>
              <a:buNone/>
            </a:pPr>
            <a:r>
              <a:rPr b="1" lang="en" sz="1200">
                <a:solidFill>
                  <a:schemeClr val="dk1"/>
                </a:solidFill>
                <a:latin typeface="Georgia"/>
                <a:ea typeface="Georgia"/>
                <a:cs typeface="Georgia"/>
                <a:sym typeface="Georgia"/>
              </a:rPr>
              <a:t>1. Preservation and Growth of Mankind</a:t>
            </a:r>
            <a:endParaRPr b="1" sz="1200">
              <a:solidFill>
                <a:schemeClr val="dk1"/>
              </a:solidFill>
              <a:latin typeface="Georgia"/>
              <a:ea typeface="Georgia"/>
              <a:cs typeface="Georgia"/>
              <a:sym typeface="Georgia"/>
            </a:endParaRPr>
          </a:p>
          <a:p>
            <a:pPr indent="0" lvl="0" marL="381000" marR="381000" rtl="0" algn="l">
              <a:lnSpc>
                <a:spcPct val="95000"/>
              </a:lnSpc>
              <a:spcBef>
                <a:spcPts val="1200"/>
              </a:spcBef>
              <a:spcAft>
                <a:spcPts val="0"/>
              </a:spcAft>
              <a:buClr>
                <a:schemeClr val="dk1"/>
              </a:buClr>
              <a:buSzPts val="1100"/>
              <a:buFont typeface="Arial"/>
              <a:buNone/>
            </a:pPr>
            <a:r>
              <a:rPr lang="en" sz="1200">
                <a:solidFill>
                  <a:schemeClr val="dk1"/>
                </a:solidFill>
                <a:latin typeface="Georgia"/>
                <a:ea typeface="Georgia"/>
                <a:cs typeface="Georgia"/>
                <a:sym typeface="Georgia"/>
              </a:rPr>
              <a:t>“Male and female He created them. And God blessed them, and said, Be fruitful, and multiply, and replenish the earth.” (Gen. 1:27–28)</a:t>
            </a:r>
            <a:br>
              <a:rPr lang="en" sz="1200">
                <a:solidFill>
                  <a:schemeClr val="dk1"/>
                </a:solidFill>
                <a:latin typeface="Georgia"/>
                <a:ea typeface="Georgia"/>
                <a:cs typeface="Georgia"/>
                <a:sym typeface="Georgia"/>
              </a:rPr>
            </a:br>
            <a:endParaRPr sz="1200">
              <a:solidFill>
                <a:schemeClr val="dk1"/>
              </a:solidFill>
              <a:latin typeface="Georgia"/>
              <a:ea typeface="Georgia"/>
              <a:cs typeface="Georgia"/>
              <a:sym typeface="Georgia"/>
            </a:endParaRPr>
          </a:p>
          <a:p>
            <a:pPr indent="0" lvl="0" marL="0" rtl="0" algn="l">
              <a:lnSpc>
                <a:spcPct val="95000"/>
              </a:lnSpc>
              <a:spcBef>
                <a:spcPts val="1200"/>
              </a:spcBef>
              <a:spcAft>
                <a:spcPts val="0"/>
              </a:spcAft>
              <a:buClr>
                <a:schemeClr val="dk1"/>
              </a:buClr>
              <a:buSzPts val="1100"/>
              <a:buFont typeface="Arial"/>
              <a:buNone/>
            </a:pPr>
            <a:r>
              <a:rPr b="1" lang="en" sz="1200">
                <a:solidFill>
                  <a:schemeClr val="dk1"/>
                </a:solidFill>
                <a:latin typeface="Georgia"/>
                <a:ea typeface="Georgia"/>
                <a:cs typeface="Georgia"/>
                <a:sym typeface="Georgia"/>
              </a:rPr>
              <a:t>2. Mutual Help Between Husband and Wife</a:t>
            </a:r>
            <a:endParaRPr b="1" sz="1200">
              <a:solidFill>
                <a:schemeClr val="dk1"/>
              </a:solidFill>
              <a:latin typeface="Georgia"/>
              <a:ea typeface="Georgia"/>
              <a:cs typeface="Georgia"/>
              <a:sym typeface="Georgia"/>
            </a:endParaRPr>
          </a:p>
          <a:p>
            <a:pPr indent="0" lvl="0" marL="381000" marR="381000" rtl="0" algn="l">
              <a:lnSpc>
                <a:spcPct val="95000"/>
              </a:lnSpc>
              <a:spcBef>
                <a:spcPts val="1200"/>
              </a:spcBef>
              <a:spcAft>
                <a:spcPts val="0"/>
              </a:spcAft>
              <a:buClr>
                <a:schemeClr val="dk1"/>
              </a:buClr>
              <a:buSzPts val="1100"/>
              <a:buFont typeface="Arial"/>
              <a:buNone/>
            </a:pPr>
            <a:r>
              <a:rPr lang="en" sz="1200">
                <a:solidFill>
                  <a:schemeClr val="dk1"/>
                </a:solidFill>
                <a:latin typeface="Georgia"/>
                <a:ea typeface="Georgia"/>
                <a:cs typeface="Georgia"/>
                <a:sym typeface="Georgia"/>
              </a:rPr>
              <a:t>“It is not good that the man should be alone; I will make him a help meet for him.” (Gen. 2:18)</a:t>
            </a:r>
            <a:br>
              <a:rPr lang="en" sz="1200">
                <a:solidFill>
                  <a:schemeClr val="dk1"/>
                </a:solidFill>
                <a:latin typeface="Georgia"/>
                <a:ea typeface="Georgia"/>
                <a:cs typeface="Georgia"/>
                <a:sym typeface="Georgia"/>
              </a:rPr>
            </a:br>
            <a:endParaRPr sz="1200">
              <a:solidFill>
                <a:schemeClr val="dk1"/>
              </a:solidFill>
              <a:latin typeface="Georgia"/>
              <a:ea typeface="Georgia"/>
              <a:cs typeface="Georgia"/>
              <a:sym typeface="Georgia"/>
            </a:endParaRPr>
          </a:p>
          <a:p>
            <a:pPr indent="0" lvl="0" marL="0" rtl="0" algn="l">
              <a:lnSpc>
                <a:spcPct val="95000"/>
              </a:lnSpc>
              <a:spcBef>
                <a:spcPts val="1200"/>
              </a:spcBef>
              <a:spcAft>
                <a:spcPts val="0"/>
              </a:spcAft>
              <a:buClr>
                <a:schemeClr val="dk1"/>
              </a:buClr>
              <a:buSzPts val="1100"/>
              <a:buFont typeface="Arial"/>
              <a:buNone/>
            </a:pPr>
            <a:r>
              <a:rPr b="1" lang="en" sz="1200">
                <a:solidFill>
                  <a:schemeClr val="dk1"/>
                </a:solidFill>
                <a:latin typeface="Georgia"/>
                <a:ea typeface="Georgia"/>
                <a:cs typeface="Georgia"/>
                <a:sym typeface="Georgia"/>
              </a:rPr>
              <a:t>3. Guard Against Carnal Temptation</a:t>
            </a:r>
            <a:endParaRPr b="1" sz="1200">
              <a:solidFill>
                <a:schemeClr val="dk1"/>
              </a:solidFill>
              <a:latin typeface="Georgia"/>
              <a:ea typeface="Georgia"/>
              <a:cs typeface="Georgia"/>
              <a:sym typeface="Georgia"/>
            </a:endParaRPr>
          </a:p>
          <a:p>
            <a:pPr indent="0" lvl="0" marL="381000" marR="381000" rtl="0" algn="l">
              <a:lnSpc>
                <a:spcPct val="95000"/>
              </a:lnSpc>
              <a:spcBef>
                <a:spcPts val="1200"/>
              </a:spcBef>
              <a:spcAft>
                <a:spcPts val="0"/>
              </a:spcAft>
              <a:buClr>
                <a:schemeClr val="dk1"/>
              </a:buClr>
              <a:buSzPts val="1100"/>
              <a:buFont typeface="Arial"/>
              <a:buNone/>
            </a:pPr>
            <a:r>
              <a:rPr lang="en" sz="1200">
                <a:solidFill>
                  <a:schemeClr val="dk1"/>
                </a:solidFill>
                <a:latin typeface="Georgia"/>
                <a:ea typeface="Georgia"/>
                <a:cs typeface="Georgia"/>
                <a:sym typeface="Georgia"/>
              </a:rPr>
              <a:t>“To avoid fornication, let every man have his own wife, and let every woman have her own husband… for it is better to marry than to burn.” (1 Cor. 7:1–9)</a:t>
            </a:r>
            <a:endParaRPr sz="1200">
              <a:solidFill>
                <a:schemeClr val="dk1"/>
              </a:solidFill>
              <a:latin typeface="Georgia"/>
              <a:ea typeface="Georgia"/>
              <a:cs typeface="Georgia"/>
              <a:sym typeface="Georgia"/>
            </a:endParaRPr>
          </a:p>
          <a:p>
            <a:pPr indent="0" lvl="0" marL="0" rtl="0" algn="l">
              <a:lnSpc>
                <a:spcPct val="95000"/>
              </a:lnSpc>
              <a:spcBef>
                <a:spcPts val="1200"/>
              </a:spcBef>
              <a:spcAft>
                <a:spcPts val="1200"/>
              </a:spcAft>
              <a:buNone/>
            </a:pPr>
            <a:r>
              <a:t/>
            </a:r>
            <a:endParaRPr sz="1650">
              <a:solidFill>
                <a:schemeClr val="dk1"/>
              </a:solidFill>
              <a:latin typeface="Georgia"/>
              <a:ea typeface="Georgia"/>
              <a:cs typeface="Georgia"/>
              <a:sym typeface="Georgia"/>
            </a:endParaRPr>
          </a:p>
        </p:txBody>
      </p:sp>
      <p:pic>
        <p:nvPicPr>
          <p:cNvPr id="81" name="Google Shape;81;p17"/>
          <p:cNvPicPr preferRelativeResize="0"/>
          <p:nvPr/>
        </p:nvPicPr>
        <p:blipFill>
          <a:blip r:embed="rId3">
            <a:alphaModFix/>
          </a:blip>
          <a:stretch>
            <a:fillRect/>
          </a:stretch>
        </p:blipFill>
        <p:spPr>
          <a:xfrm>
            <a:off x="5833300" y="950188"/>
            <a:ext cx="2547315" cy="3820973"/>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Outward Signs</a:t>
            </a:r>
            <a:endParaRPr/>
          </a:p>
        </p:txBody>
      </p:sp>
      <p:sp>
        <p:nvSpPr>
          <p:cNvPr id="87" name="Google Shape;87;p18"/>
          <p:cNvSpPr txBox="1"/>
          <p:nvPr>
            <p:ph idx="1" type="body"/>
          </p:nvPr>
        </p:nvSpPr>
        <p:spPr>
          <a:xfrm>
            <a:off x="376650" y="1224075"/>
            <a:ext cx="3672300" cy="36225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5000"/>
              </a:lnSpc>
              <a:spcBef>
                <a:spcPts val="0"/>
              </a:spcBef>
              <a:spcAft>
                <a:spcPts val="0"/>
              </a:spcAft>
              <a:buSzPts val="1018"/>
              <a:buNone/>
            </a:pPr>
            <a:r>
              <a:rPr lang="en" sz="1665" u="sng">
                <a:solidFill>
                  <a:schemeClr val="dk1"/>
                </a:solidFill>
              </a:rPr>
              <a:t>Quick Lesson</a:t>
            </a:r>
            <a:endParaRPr sz="1665" u="sng">
              <a:solidFill>
                <a:schemeClr val="dk1"/>
              </a:solidFill>
            </a:endParaRPr>
          </a:p>
          <a:p>
            <a:pPr indent="0" lvl="0" marL="0" rtl="0" algn="l">
              <a:lnSpc>
                <a:spcPct val="105000"/>
              </a:lnSpc>
              <a:spcBef>
                <a:spcPts val="1200"/>
              </a:spcBef>
              <a:spcAft>
                <a:spcPts val="0"/>
              </a:spcAft>
              <a:buSzPts val="1018"/>
              <a:buNone/>
            </a:pPr>
            <a:r>
              <a:rPr b="1" lang="en" sz="1572">
                <a:solidFill>
                  <a:schemeClr val="dk1"/>
                </a:solidFill>
              </a:rPr>
              <a:t>What is an “Outward Sign”?</a:t>
            </a:r>
            <a:endParaRPr b="1" sz="1572">
              <a:solidFill>
                <a:schemeClr val="dk1"/>
              </a:solidFill>
            </a:endParaRPr>
          </a:p>
          <a:p>
            <a:pPr indent="0" lvl="0" marL="0" rtl="0" algn="l">
              <a:lnSpc>
                <a:spcPct val="105000"/>
              </a:lnSpc>
              <a:spcBef>
                <a:spcPts val="1200"/>
              </a:spcBef>
              <a:spcAft>
                <a:spcPts val="0"/>
              </a:spcAft>
              <a:buClr>
                <a:schemeClr val="dk1"/>
              </a:buClr>
              <a:buSzPts val="1018"/>
              <a:buFont typeface="Arial"/>
              <a:buNone/>
            </a:pPr>
            <a:r>
              <a:rPr lang="en" sz="1017">
                <a:solidFill>
                  <a:schemeClr val="dk1"/>
                </a:solidFill>
              </a:rPr>
              <a:t>In Orthodox theology, every </a:t>
            </a:r>
            <a:r>
              <a:rPr b="1" lang="en" sz="1017">
                <a:solidFill>
                  <a:schemeClr val="dk1"/>
                </a:solidFill>
              </a:rPr>
              <a:t>Sacrament (Mystery)</a:t>
            </a:r>
            <a:r>
              <a:rPr lang="en" sz="1017">
                <a:solidFill>
                  <a:schemeClr val="dk1"/>
                </a:solidFill>
              </a:rPr>
              <a:t> has:</a:t>
            </a:r>
            <a:endParaRPr sz="1017">
              <a:solidFill>
                <a:schemeClr val="dk1"/>
              </a:solidFill>
            </a:endParaRPr>
          </a:p>
          <a:p>
            <a:pPr indent="-293211" lvl="0" marL="457200" rtl="0" algn="l">
              <a:lnSpc>
                <a:spcPct val="105000"/>
              </a:lnSpc>
              <a:spcBef>
                <a:spcPts val="1200"/>
              </a:spcBef>
              <a:spcAft>
                <a:spcPts val="0"/>
              </a:spcAft>
              <a:buClr>
                <a:schemeClr val="dk1"/>
              </a:buClr>
              <a:buSzPts val="1018"/>
              <a:buAutoNum type="arabicPeriod"/>
            </a:pPr>
            <a:r>
              <a:rPr b="1" lang="en" sz="1017">
                <a:solidFill>
                  <a:schemeClr val="dk1"/>
                </a:solidFill>
              </a:rPr>
              <a:t>An outward (visible) sign</a:t>
            </a:r>
            <a:r>
              <a:rPr lang="en" sz="1017">
                <a:solidFill>
                  <a:schemeClr val="dk1"/>
                </a:solidFill>
              </a:rPr>
              <a:t> – something we can see, hear, or touch (words, actions, or physical elements like oil, bread, wine, water).</a:t>
            </a:r>
            <a:br>
              <a:rPr lang="en" sz="1017">
                <a:solidFill>
                  <a:schemeClr val="dk1"/>
                </a:solidFill>
              </a:rPr>
            </a:br>
            <a:endParaRPr sz="1017">
              <a:solidFill>
                <a:schemeClr val="dk1"/>
              </a:solidFill>
            </a:endParaRPr>
          </a:p>
          <a:p>
            <a:pPr indent="-293211" lvl="0" marL="457200" rtl="0" algn="l">
              <a:lnSpc>
                <a:spcPct val="105000"/>
              </a:lnSpc>
              <a:spcBef>
                <a:spcPts val="0"/>
              </a:spcBef>
              <a:spcAft>
                <a:spcPts val="0"/>
              </a:spcAft>
              <a:buClr>
                <a:schemeClr val="dk1"/>
              </a:buClr>
              <a:buSzPts val="1018"/>
              <a:buAutoNum type="arabicPeriod"/>
            </a:pPr>
            <a:r>
              <a:rPr b="1" lang="en" sz="1017">
                <a:solidFill>
                  <a:schemeClr val="dk1"/>
                </a:solidFill>
              </a:rPr>
              <a:t>An inward (invisible) grace</a:t>
            </a:r>
            <a:r>
              <a:rPr lang="en" sz="1017">
                <a:solidFill>
                  <a:schemeClr val="dk1"/>
                </a:solidFill>
              </a:rPr>
              <a:t> – the divine reality given by God through the Holy Spirit.</a:t>
            </a:r>
            <a:br>
              <a:rPr lang="en" sz="1017">
                <a:solidFill>
                  <a:schemeClr val="dk1"/>
                </a:solidFill>
              </a:rPr>
            </a:br>
            <a:endParaRPr sz="1017">
              <a:solidFill>
                <a:schemeClr val="dk1"/>
              </a:solidFill>
            </a:endParaRPr>
          </a:p>
          <a:p>
            <a:pPr indent="0" lvl="0" marL="0" rtl="0" algn="l">
              <a:lnSpc>
                <a:spcPct val="105000"/>
              </a:lnSpc>
              <a:spcBef>
                <a:spcPts val="1200"/>
              </a:spcBef>
              <a:spcAft>
                <a:spcPts val="0"/>
              </a:spcAft>
              <a:buSzPts val="1018"/>
              <a:buNone/>
            </a:pPr>
            <a:r>
              <a:rPr lang="en" sz="1017">
                <a:solidFill>
                  <a:schemeClr val="dk1"/>
                </a:solidFill>
              </a:rPr>
              <a:t>So the </a:t>
            </a:r>
            <a:r>
              <a:rPr b="1" lang="en" sz="1017">
                <a:solidFill>
                  <a:schemeClr val="dk1"/>
                </a:solidFill>
              </a:rPr>
              <a:t>outward sign</a:t>
            </a:r>
            <a:r>
              <a:rPr lang="en" sz="1017">
                <a:solidFill>
                  <a:schemeClr val="dk1"/>
                </a:solidFill>
              </a:rPr>
              <a:t> is the </a:t>
            </a:r>
            <a:r>
              <a:rPr i="1" lang="en" sz="1017">
                <a:solidFill>
                  <a:schemeClr val="dk1"/>
                </a:solidFill>
              </a:rPr>
              <a:t>visible action or symbol</a:t>
            </a:r>
            <a:r>
              <a:rPr lang="en" sz="1017">
                <a:solidFill>
                  <a:schemeClr val="dk1"/>
                </a:solidFill>
              </a:rPr>
              <a:t> that expresses and communicates the </a:t>
            </a:r>
            <a:r>
              <a:rPr i="1" lang="en" sz="1017">
                <a:solidFill>
                  <a:schemeClr val="dk1"/>
                </a:solidFill>
              </a:rPr>
              <a:t>hidden grace of God</a:t>
            </a:r>
            <a:r>
              <a:rPr lang="en" sz="1017">
                <a:solidFill>
                  <a:schemeClr val="dk1"/>
                </a:solidFill>
              </a:rPr>
              <a:t>.</a:t>
            </a:r>
            <a:endParaRPr sz="1017">
              <a:solidFill>
                <a:schemeClr val="dk1"/>
              </a:solidFill>
            </a:endParaRPr>
          </a:p>
          <a:p>
            <a:pPr indent="0" lvl="0" marL="0" rtl="0" algn="l">
              <a:lnSpc>
                <a:spcPct val="105000"/>
              </a:lnSpc>
              <a:spcBef>
                <a:spcPts val="1200"/>
              </a:spcBef>
              <a:spcAft>
                <a:spcPts val="1200"/>
              </a:spcAft>
              <a:buSzPts val="1018"/>
              <a:buNone/>
            </a:pPr>
            <a:r>
              <a:t/>
            </a:r>
            <a:endParaRPr sz="1665"/>
          </a:p>
        </p:txBody>
      </p:sp>
      <p:sp>
        <p:nvSpPr>
          <p:cNvPr id="88" name="Google Shape;88;p18"/>
          <p:cNvSpPr/>
          <p:nvPr/>
        </p:nvSpPr>
        <p:spPr>
          <a:xfrm>
            <a:off x="7040925" y="2967475"/>
            <a:ext cx="2040300" cy="1879200"/>
          </a:xfrm>
          <a:prstGeom prst="ellipse">
            <a:avLst/>
          </a:prstGeom>
          <a:gradFill>
            <a:gsLst>
              <a:gs pos="0">
                <a:srgbClr val="FFF6DB"/>
              </a:gs>
              <a:gs pos="100000">
                <a:srgbClr val="FAD15C"/>
              </a:gs>
            </a:gsLst>
            <a:lin ang="540001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Georgia"/>
                <a:ea typeface="Georgia"/>
                <a:cs typeface="Georgia"/>
                <a:sym typeface="Georgia"/>
              </a:rPr>
              <a:t>Declaration of the couple</a:t>
            </a:r>
            <a:endParaRPr>
              <a:latin typeface="Georgia"/>
              <a:ea typeface="Georgia"/>
              <a:cs typeface="Georgia"/>
              <a:sym typeface="Georgia"/>
            </a:endParaRPr>
          </a:p>
        </p:txBody>
      </p:sp>
      <p:sp>
        <p:nvSpPr>
          <p:cNvPr id="89" name="Google Shape;89;p18"/>
          <p:cNvSpPr/>
          <p:nvPr/>
        </p:nvSpPr>
        <p:spPr>
          <a:xfrm>
            <a:off x="4572000" y="2967475"/>
            <a:ext cx="2040300" cy="1879200"/>
          </a:xfrm>
          <a:prstGeom prst="ellipse">
            <a:avLst/>
          </a:prstGeom>
          <a:gradFill>
            <a:gsLst>
              <a:gs pos="0">
                <a:srgbClr val="FFF6DB"/>
              </a:gs>
              <a:gs pos="100000">
                <a:srgbClr val="FAD15C"/>
              </a:gs>
            </a:gsLst>
            <a:lin ang="540001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Georgia"/>
                <a:ea typeface="Georgia"/>
                <a:cs typeface="Georgia"/>
                <a:sym typeface="Georgia"/>
              </a:rPr>
              <a:t>sacramental act the priest performs</a:t>
            </a:r>
            <a:endParaRPr>
              <a:latin typeface="Georgia"/>
              <a:ea typeface="Georgia"/>
              <a:cs typeface="Georgia"/>
              <a:sym typeface="Georgia"/>
            </a:endParaRPr>
          </a:p>
        </p:txBody>
      </p:sp>
      <p:sp>
        <p:nvSpPr>
          <p:cNvPr id="90" name="Google Shape;90;p18"/>
          <p:cNvSpPr/>
          <p:nvPr/>
        </p:nvSpPr>
        <p:spPr>
          <a:xfrm>
            <a:off x="5787600" y="1053000"/>
            <a:ext cx="2040300" cy="1879200"/>
          </a:xfrm>
          <a:prstGeom prst="ellipse">
            <a:avLst/>
          </a:prstGeom>
          <a:gradFill>
            <a:gsLst>
              <a:gs pos="0">
                <a:srgbClr val="FFF6DB"/>
              </a:gs>
              <a:gs pos="100000">
                <a:srgbClr val="FAD15C"/>
              </a:gs>
            </a:gsLst>
            <a:lin ang="540001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Georgia"/>
                <a:ea typeface="Georgia"/>
                <a:cs typeface="Georgia"/>
                <a:sym typeface="Georgia"/>
              </a:rPr>
              <a:t>Anointing with oil</a:t>
            </a:r>
            <a:endParaRPr>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The Invisible Grace (Inward Sign) </a:t>
            </a:r>
            <a:endParaRPr>
              <a:latin typeface="Georgia"/>
              <a:ea typeface="Georgia"/>
              <a:cs typeface="Georgia"/>
              <a:sym typeface="Georgia"/>
            </a:endParaRPr>
          </a:p>
        </p:txBody>
      </p:sp>
      <p:sp>
        <p:nvSpPr>
          <p:cNvPr id="96" name="Google Shape;96;p19"/>
          <p:cNvSpPr txBox="1"/>
          <p:nvPr>
            <p:ph idx="1" type="body"/>
          </p:nvPr>
        </p:nvSpPr>
        <p:spPr>
          <a:xfrm>
            <a:off x="311700" y="1152475"/>
            <a:ext cx="4710300" cy="3416400"/>
          </a:xfrm>
          <a:prstGeom prst="rect">
            <a:avLst/>
          </a:prstGeom>
          <a:ln cap="flat" cmpd="sng" w="19050">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sz="1550">
              <a:solidFill>
                <a:schemeClr val="dk1"/>
              </a:solidFill>
              <a:latin typeface="Georgia"/>
              <a:ea typeface="Georgia"/>
              <a:cs typeface="Georgia"/>
              <a:sym typeface="Georgia"/>
            </a:endParaRPr>
          </a:p>
          <a:p>
            <a:pPr indent="-327025" lvl="0" marL="457200" rtl="0" algn="l">
              <a:spcBef>
                <a:spcPts val="1200"/>
              </a:spcBef>
              <a:spcAft>
                <a:spcPts val="0"/>
              </a:spcAft>
              <a:buClr>
                <a:schemeClr val="dk1"/>
              </a:buClr>
              <a:buSzPts val="1550"/>
              <a:buFont typeface="Georgia"/>
              <a:buAutoNum type="arabicPeriod"/>
            </a:pPr>
            <a:r>
              <a:rPr lang="en" sz="1550">
                <a:solidFill>
                  <a:schemeClr val="dk1"/>
                </a:solidFill>
                <a:latin typeface="Georgia"/>
                <a:ea typeface="Georgia"/>
                <a:cs typeface="Georgia"/>
                <a:sym typeface="Georgia"/>
              </a:rPr>
              <a:t>To sanctify the matrimonial union and make it a spiritual one.</a:t>
            </a:r>
            <a:br>
              <a:rPr lang="en" sz="1550">
                <a:solidFill>
                  <a:schemeClr val="dk1"/>
                </a:solidFill>
                <a:latin typeface="Georgia"/>
                <a:ea typeface="Georgia"/>
                <a:cs typeface="Georgia"/>
                <a:sym typeface="Georgia"/>
              </a:rPr>
            </a:br>
            <a:endParaRPr sz="1550">
              <a:solidFill>
                <a:schemeClr val="dk1"/>
              </a:solidFill>
              <a:latin typeface="Georgia"/>
              <a:ea typeface="Georgia"/>
              <a:cs typeface="Georgia"/>
              <a:sym typeface="Georgia"/>
            </a:endParaRPr>
          </a:p>
          <a:p>
            <a:pPr indent="-327025" lvl="0" marL="457200" rtl="0" algn="l">
              <a:spcBef>
                <a:spcPts val="0"/>
              </a:spcBef>
              <a:spcAft>
                <a:spcPts val="0"/>
              </a:spcAft>
              <a:buClr>
                <a:schemeClr val="dk1"/>
              </a:buClr>
              <a:buSzPts val="1550"/>
              <a:buFont typeface="Georgia"/>
              <a:buAutoNum type="arabicPeriod"/>
            </a:pPr>
            <a:r>
              <a:rPr lang="en" sz="1550">
                <a:solidFill>
                  <a:schemeClr val="dk1"/>
                </a:solidFill>
                <a:latin typeface="Georgia"/>
                <a:ea typeface="Georgia"/>
                <a:cs typeface="Georgia"/>
                <a:sym typeface="Georgia"/>
              </a:rPr>
              <a:t>To help the husband and wife to keep themselves united together and unseparated, just as they unity of Christ with the church is everlasting. </a:t>
            </a:r>
            <a:br>
              <a:rPr lang="en" sz="1550">
                <a:solidFill>
                  <a:schemeClr val="dk1"/>
                </a:solidFill>
                <a:latin typeface="Georgia"/>
                <a:ea typeface="Georgia"/>
                <a:cs typeface="Georgia"/>
                <a:sym typeface="Georgia"/>
              </a:rPr>
            </a:br>
            <a:endParaRPr sz="1550">
              <a:solidFill>
                <a:schemeClr val="dk1"/>
              </a:solidFill>
              <a:latin typeface="Georgia"/>
              <a:ea typeface="Georgia"/>
              <a:cs typeface="Georgia"/>
              <a:sym typeface="Georgia"/>
            </a:endParaRPr>
          </a:p>
          <a:p>
            <a:pPr indent="-327025" lvl="0" marL="457200" rtl="0" algn="l">
              <a:spcBef>
                <a:spcPts val="0"/>
              </a:spcBef>
              <a:spcAft>
                <a:spcPts val="0"/>
              </a:spcAft>
              <a:buClr>
                <a:schemeClr val="dk1"/>
              </a:buClr>
              <a:buSzPts val="1550"/>
              <a:buFont typeface="Georgia"/>
              <a:buAutoNum type="arabicPeriod"/>
            </a:pPr>
            <a:r>
              <a:rPr lang="en" sz="1550">
                <a:solidFill>
                  <a:schemeClr val="dk1"/>
                </a:solidFill>
                <a:latin typeface="Georgia"/>
                <a:ea typeface="Georgia"/>
                <a:cs typeface="Georgia"/>
                <a:sym typeface="Georgia"/>
              </a:rPr>
              <a:t> To keep the husband and wife loyal and faithful to each other.</a:t>
            </a:r>
            <a:endParaRPr>
              <a:latin typeface="Georgia"/>
              <a:ea typeface="Georgia"/>
              <a:cs typeface="Georgia"/>
              <a:sym typeface="Georgia"/>
            </a:endParaRPr>
          </a:p>
        </p:txBody>
      </p:sp>
      <p:pic>
        <p:nvPicPr>
          <p:cNvPr id="97" name="Google Shape;97;p19"/>
          <p:cNvPicPr preferRelativeResize="0"/>
          <p:nvPr/>
        </p:nvPicPr>
        <p:blipFill>
          <a:blip r:embed="rId3">
            <a:alphaModFix/>
          </a:blip>
          <a:stretch>
            <a:fillRect/>
          </a:stretch>
        </p:blipFill>
        <p:spPr>
          <a:xfrm>
            <a:off x="5022000" y="1170125"/>
            <a:ext cx="4069701" cy="33987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Obligations Of Wife and Husband Before Marriage</a:t>
            </a:r>
            <a:endParaRPr>
              <a:latin typeface="Georgia"/>
              <a:ea typeface="Georgia"/>
              <a:cs typeface="Georgia"/>
              <a:sym typeface="Georgia"/>
            </a:endParaRPr>
          </a:p>
        </p:txBody>
      </p:sp>
      <p:sp>
        <p:nvSpPr>
          <p:cNvPr id="103" name="Google Shape;103;p20"/>
          <p:cNvSpPr txBox="1"/>
          <p:nvPr>
            <p:ph idx="1" type="body"/>
          </p:nvPr>
        </p:nvSpPr>
        <p:spPr>
          <a:xfrm>
            <a:off x="229575" y="1246625"/>
            <a:ext cx="2134800" cy="34164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 sz="1100">
                <a:solidFill>
                  <a:schemeClr val="dk1"/>
                </a:solidFill>
                <a:latin typeface="Georgia"/>
                <a:ea typeface="Georgia"/>
                <a:cs typeface="Georgia"/>
                <a:sym typeface="Georgia"/>
              </a:rPr>
              <a:t>1. Both must be Christians</a:t>
            </a:r>
            <a:endParaRPr b="1" sz="1100">
              <a:solidFill>
                <a:schemeClr val="dk1"/>
              </a:solidFill>
              <a:latin typeface="Georgia"/>
              <a:ea typeface="Georgia"/>
              <a:cs typeface="Georgia"/>
              <a:sym typeface="Georgia"/>
            </a:endParaRPr>
          </a:p>
          <a:p>
            <a:pPr indent="0" lvl="0" marL="0" rtl="0" algn="l">
              <a:lnSpc>
                <a:spcPct val="100000"/>
              </a:lnSpc>
              <a:spcBef>
                <a:spcPts val="0"/>
              </a:spcBef>
              <a:spcAft>
                <a:spcPts val="0"/>
              </a:spcAft>
              <a:buNone/>
            </a:pPr>
            <a:r>
              <a:t/>
            </a:r>
            <a:endParaRPr b="1" sz="1100">
              <a:solidFill>
                <a:schemeClr val="dk1"/>
              </a:solidFill>
              <a:latin typeface="Georgia"/>
              <a:ea typeface="Georgia"/>
              <a:cs typeface="Georgia"/>
              <a:sym typeface="Georgia"/>
            </a:endParaRPr>
          </a:p>
          <a:p>
            <a:pPr indent="0" lvl="0" marL="0" rtl="0" algn="l">
              <a:lnSpc>
                <a:spcPct val="100000"/>
              </a:lnSpc>
              <a:spcBef>
                <a:spcPts val="0"/>
              </a:spcBef>
              <a:spcAft>
                <a:spcPts val="0"/>
              </a:spcAft>
              <a:buNone/>
            </a:pPr>
            <a:r>
              <a:t/>
            </a:r>
            <a:endParaRPr i="1" sz="1100">
              <a:solidFill>
                <a:schemeClr val="dk1"/>
              </a:solidFill>
              <a:latin typeface="Georgia"/>
              <a:ea typeface="Georgia"/>
              <a:cs typeface="Georgia"/>
              <a:sym typeface="Georgia"/>
            </a:endParaRPr>
          </a:p>
          <a:p>
            <a:pPr indent="0" lvl="0" marL="0" rtl="0" algn="l">
              <a:lnSpc>
                <a:spcPct val="100000"/>
              </a:lnSpc>
              <a:spcBef>
                <a:spcPts val="0"/>
              </a:spcBef>
              <a:spcAft>
                <a:spcPts val="0"/>
              </a:spcAft>
              <a:buNone/>
            </a:pPr>
            <a:r>
              <a:t/>
            </a:r>
            <a:endParaRPr i="1" sz="1100">
              <a:solidFill>
                <a:schemeClr val="dk1"/>
              </a:solidFill>
              <a:latin typeface="Georgia"/>
              <a:ea typeface="Georgia"/>
              <a:cs typeface="Georgia"/>
              <a:sym typeface="Georgia"/>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latin typeface="Georgia"/>
                <a:ea typeface="Georgia"/>
                <a:cs typeface="Georgia"/>
                <a:sym typeface="Georgia"/>
              </a:rPr>
              <a:t>Why:</a:t>
            </a:r>
            <a:r>
              <a:rPr i="1" lang="en" sz="1100">
                <a:solidFill>
                  <a:schemeClr val="dk1"/>
                </a:solidFill>
                <a:latin typeface="Georgia"/>
                <a:ea typeface="Georgia"/>
                <a:cs typeface="Georgia"/>
                <a:sym typeface="Georgia"/>
              </a:rPr>
              <a:t> Because the grace of Christ is given only within the Church. The sacraments, including Matrimony, cannot be bestowed upon non-Christians.</a:t>
            </a:r>
            <a:br>
              <a:rPr lang="en" sz="1550">
                <a:solidFill>
                  <a:schemeClr val="dk1"/>
                </a:solidFill>
                <a:latin typeface="Georgia"/>
                <a:ea typeface="Georgia"/>
                <a:cs typeface="Georgia"/>
                <a:sym typeface="Georgia"/>
              </a:rPr>
            </a:br>
            <a:endParaRPr sz="1550">
              <a:solidFill>
                <a:schemeClr val="dk1"/>
              </a:solidFill>
              <a:latin typeface="Georgia"/>
              <a:ea typeface="Georgia"/>
              <a:cs typeface="Georgia"/>
              <a:sym typeface="Georgia"/>
            </a:endParaRPr>
          </a:p>
          <a:p>
            <a:pPr indent="0" lvl="0" marL="0" rtl="0" algn="l">
              <a:spcBef>
                <a:spcPts val="0"/>
              </a:spcBef>
              <a:spcAft>
                <a:spcPts val="1200"/>
              </a:spcAft>
              <a:buNone/>
            </a:pPr>
            <a:r>
              <a:t/>
            </a:r>
            <a:endParaRPr sz="1550">
              <a:solidFill>
                <a:schemeClr val="dk1"/>
              </a:solidFill>
              <a:latin typeface="Georgia"/>
              <a:ea typeface="Georgia"/>
              <a:cs typeface="Georgia"/>
              <a:sym typeface="Georgia"/>
            </a:endParaRPr>
          </a:p>
        </p:txBody>
      </p:sp>
      <p:sp>
        <p:nvSpPr>
          <p:cNvPr id="104" name="Google Shape;104;p20"/>
          <p:cNvSpPr txBox="1"/>
          <p:nvPr>
            <p:ph idx="1" type="body"/>
          </p:nvPr>
        </p:nvSpPr>
        <p:spPr>
          <a:xfrm>
            <a:off x="2364375" y="1246625"/>
            <a:ext cx="2103000" cy="3416400"/>
          </a:xfrm>
          <a:prstGeom prst="rect">
            <a:avLst/>
          </a:prstGeom>
          <a:ln cap="flat" cmpd="sng" w="19050">
            <a:solidFill>
              <a:srgbClr val="000000"/>
            </a:solidFill>
            <a:prstDash val="dash"/>
            <a:round/>
            <a:headEnd len="sm" w="sm" type="none"/>
            <a:tailEnd len="sm" w="sm" type="none"/>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 sz="1100">
                <a:solidFill>
                  <a:schemeClr val="dk1"/>
                </a:solidFill>
                <a:latin typeface="Georgia"/>
                <a:ea typeface="Georgia"/>
                <a:cs typeface="Georgia"/>
                <a:sym typeface="Georgia"/>
              </a:rPr>
              <a:t>2. Both must belong to the Orthodox Church</a:t>
            </a:r>
            <a:endParaRPr b="1" sz="1100">
              <a:solidFill>
                <a:schemeClr val="dk1"/>
              </a:solidFill>
              <a:latin typeface="Georgia"/>
              <a:ea typeface="Georgia"/>
              <a:cs typeface="Georgia"/>
              <a:sym typeface="Georgia"/>
            </a:endParaRPr>
          </a:p>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latin typeface="Georgia"/>
              <a:ea typeface="Georgia"/>
              <a:cs typeface="Georgia"/>
              <a:sym typeface="Georgia"/>
            </a:endParaRPr>
          </a:p>
          <a:p>
            <a:pPr indent="0" lvl="0" marL="0" rtl="0" algn="l">
              <a:lnSpc>
                <a:spcPct val="100000"/>
              </a:lnSpc>
              <a:spcBef>
                <a:spcPts val="0"/>
              </a:spcBef>
              <a:spcAft>
                <a:spcPts val="0"/>
              </a:spcAft>
              <a:buNone/>
            </a:pPr>
            <a:r>
              <a:t/>
            </a:r>
            <a:endParaRPr i="1" sz="1100">
              <a:solidFill>
                <a:schemeClr val="dk1"/>
              </a:solidFill>
              <a:latin typeface="Georgia"/>
              <a:ea typeface="Georgia"/>
              <a:cs typeface="Georgia"/>
              <a:sym typeface="Georgia"/>
            </a:endParaRPr>
          </a:p>
          <a:p>
            <a:pPr indent="0" lvl="0" marL="0" rtl="0" algn="l">
              <a:lnSpc>
                <a:spcPct val="100000"/>
              </a:lnSpc>
              <a:spcBef>
                <a:spcPts val="0"/>
              </a:spcBef>
              <a:spcAft>
                <a:spcPts val="0"/>
              </a:spcAft>
              <a:buNone/>
            </a:pPr>
            <a:r>
              <a:rPr b="1" lang="en" sz="1100">
                <a:solidFill>
                  <a:schemeClr val="dk1"/>
                </a:solidFill>
                <a:latin typeface="Georgia"/>
                <a:ea typeface="Georgia"/>
                <a:cs typeface="Georgia"/>
                <a:sym typeface="Georgia"/>
              </a:rPr>
              <a:t>Why: </a:t>
            </a:r>
            <a:r>
              <a:rPr i="1" lang="en" sz="1100">
                <a:solidFill>
                  <a:schemeClr val="dk1"/>
                </a:solidFill>
                <a:latin typeface="Georgia"/>
                <a:ea typeface="Georgia"/>
                <a:cs typeface="Georgia"/>
                <a:sym typeface="Georgia"/>
              </a:rPr>
              <a:t>Because the sacrament of Matrimony is received within the Church. If one is not Orthodox, he or she must first be united to the Church before receiving this mystery.</a:t>
            </a:r>
            <a:endParaRPr sz="1550">
              <a:solidFill>
                <a:schemeClr val="dk1"/>
              </a:solidFill>
              <a:latin typeface="Georgia"/>
              <a:ea typeface="Georgia"/>
              <a:cs typeface="Georgia"/>
              <a:sym typeface="Georgia"/>
            </a:endParaRPr>
          </a:p>
        </p:txBody>
      </p:sp>
      <p:sp>
        <p:nvSpPr>
          <p:cNvPr id="105" name="Google Shape;105;p20"/>
          <p:cNvSpPr txBox="1"/>
          <p:nvPr>
            <p:ph idx="1" type="body"/>
          </p:nvPr>
        </p:nvSpPr>
        <p:spPr>
          <a:xfrm>
            <a:off x="4467375" y="1246625"/>
            <a:ext cx="2230500" cy="34164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n" sz="1100">
                <a:solidFill>
                  <a:schemeClr val="dk1"/>
                </a:solidFill>
                <a:latin typeface="Georgia"/>
                <a:ea typeface="Georgia"/>
                <a:cs typeface="Georgia"/>
                <a:sym typeface="Georgia"/>
              </a:rPr>
              <a:t>3. The couple must not be bound by forbidden kinship</a:t>
            </a:r>
            <a:br>
              <a:rPr b="1" lang="en" sz="1100">
                <a:solidFill>
                  <a:schemeClr val="dk1"/>
                </a:solidFill>
                <a:latin typeface="Georgia"/>
                <a:ea typeface="Georgia"/>
                <a:cs typeface="Georgia"/>
                <a:sym typeface="Georgia"/>
              </a:rPr>
            </a:br>
            <a:endParaRPr b="1" sz="1100">
              <a:solidFill>
                <a:schemeClr val="dk1"/>
              </a:solidFill>
              <a:latin typeface="Georgia"/>
              <a:ea typeface="Georgia"/>
              <a:cs typeface="Georgia"/>
              <a:sym typeface="Georgia"/>
            </a:endParaRPr>
          </a:p>
          <a:p>
            <a:pPr indent="0" lvl="0" marL="0" rtl="0" algn="l">
              <a:lnSpc>
                <a:spcPct val="100000"/>
              </a:lnSpc>
              <a:spcBef>
                <a:spcPts val="0"/>
              </a:spcBef>
              <a:spcAft>
                <a:spcPts val="0"/>
              </a:spcAft>
              <a:buNone/>
            </a:pPr>
            <a:r>
              <a:t/>
            </a:r>
            <a:endParaRPr i="1" sz="1100">
              <a:solidFill>
                <a:schemeClr val="dk1"/>
              </a:solidFill>
              <a:latin typeface="Georgia"/>
              <a:ea typeface="Georgia"/>
              <a:cs typeface="Georgia"/>
              <a:sym typeface="Georgia"/>
            </a:endParaRPr>
          </a:p>
          <a:p>
            <a:pPr indent="0" lvl="0" marL="0" rtl="0" algn="l">
              <a:lnSpc>
                <a:spcPct val="100000"/>
              </a:lnSpc>
              <a:spcBef>
                <a:spcPts val="0"/>
              </a:spcBef>
              <a:spcAft>
                <a:spcPts val="0"/>
              </a:spcAft>
              <a:buNone/>
            </a:pPr>
            <a:r>
              <a:rPr b="1" lang="en" sz="1100">
                <a:solidFill>
                  <a:schemeClr val="dk1"/>
                </a:solidFill>
                <a:latin typeface="Georgia"/>
                <a:ea typeface="Georgia"/>
                <a:cs typeface="Georgia"/>
                <a:sym typeface="Georgia"/>
              </a:rPr>
              <a:t>Why:</a:t>
            </a:r>
            <a:r>
              <a:rPr i="1" lang="en" sz="1100">
                <a:solidFill>
                  <a:schemeClr val="dk1"/>
                </a:solidFill>
                <a:latin typeface="Georgia"/>
                <a:ea typeface="Georgia"/>
                <a:cs typeface="Georgia"/>
                <a:sym typeface="Georgia"/>
              </a:rPr>
              <a:t> Because carnal (blood relation) or spiritual affinity (such as godparent relationships) creates an impediment to marriage.</a:t>
            </a:r>
            <a:endParaRPr sz="1550">
              <a:solidFill>
                <a:schemeClr val="dk1"/>
              </a:solidFill>
              <a:latin typeface="Georgia"/>
              <a:ea typeface="Georgia"/>
              <a:cs typeface="Georgia"/>
              <a:sym typeface="Georgia"/>
            </a:endParaRPr>
          </a:p>
        </p:txBody>
      </p:sp>
      <p:sp>
        <p:nvSpPr>
          <p:cNvPr id="106" name="Google Shape;106;p20"/>
          <p:cNvSpPr txBox="1"/>
          <p:nvPr>
            <p:ph idx="1" type="body"/>
          </p:nvPr>
        </p:nvSpPr>
        <p:spPr>
          <a:xfrm>
            <a:off x="6697875" y="1246625"/>
            <a:ext cx="2230500" cy="3416400"/>
          </a:xfrm>
          <a:prstGeom prst="rect">
            <a:avLst/>
          </a:prstGeom>
          <a:ln cap="flat" cmpd="sng" w="19050">
            <a:solidFill>
              <a:srgbClr val="000000"/>
            </a:solidFill>
            <a:prstDash val="dash"/>
            <a:round/>
            <a:headEnd len="sm" w="sm" type="none"/>
            <a:tailEnd len="sm" w="sm" type="none"/>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n" sz="1100">
                <a:solidFill>
                  <a:schemeClr val="dk1"/>
                </a:solidFill>
                <a:latin typeface="Georgia"/>
                <a:ea typeface="Georgia"/>
                <a:cs typeface="Georgia"/>
                <a:sym typeface="Georgia"/>
              </a:rPr>
              <a:t>4. Both must freely consent to the marriage</a:t>
            </a:r>
            <a:endParaRPr b="1" sz="1100">
              <a:solidFill>
                <a:schemeClr val="dk1"/>
              </a:solidFill>
              <a:latin typeface="Georgia"/>
              <a:ea typeface="Georgia"/>
              <a:cs typeface="Georgia"/>
              <a:sym typeface="Georgia"/>
            </a:endParaRPr>
          </a:p>
          <a:p>
            <a:pPr indent="0" lvl="0" marL="0" rtl="0" algn="l">
              <a:lnSpc>
                <a:spcPct val="100000"/>
              </a:lnSpc>
              <a:spcBef>
                <a:spcPts val="0"/>
              </a:spcBef>
              <a:spcAft>
                <a:spcPts val="0"/>
              </a:spcAft>
              <a:buNone/>
            </a:pPr>
            <a:r>
              <a:t/>
            </a:r>
            <a:endParaRPr i="1" sz="1100">
              <a:solidFill>
                <a:schemeClr val="dk1"/>
              </a:solidFill>
              <a:latin typeface="Georgia"/>
              <a:ea typeface="Georgia"/>
              <a:cs typeface="Georgia"/>
              <a:sym typeface="Georgia"/>
            </a:endParaRPr>
          </a:p>
          <a:p>
            <a:pPr indent="0" lvl="0" marL="0" rtl="0" algn="l">
              <a:lnSpc>
                <a:spcPct val="100000"/>
              </a:lnSpc>
              <a:spcBef>
                <a:spcPts val="0"/>
              </a:spcBef>
              <a:spcAft>
                <a:spcPts val="0"/>
              </a:spcAft>
              <a:buNone/>
            </a:pPr>
            <a:r>
              <a:t/>
            </a:r>
            <a:endParaRPr i="1" sz="1100">
              <a:solidFill>
                <a:schemeClr val="dk1"/>
              </a:solidFill>
              <a:latin typeface="Georgia"/>
              <a:ea typeface="Georgia"/>
              <a:cs typeface="Georgia"/>
              <a:sym typeface="Georgia"/>
            </a:endParaRPr>
          </a:p>
          <a:p>
            <a:pPr indent="0" lvl="0" marL="0" rtl="0" algn="l">
              <a:lnSpc>
                <a:spcPct val="100000"/>
              </a:lnSpc>
              <a:spcBef>
                <a:spcPts val="0"/>
              </a:spcBef>
              <a:spcAft>
                <a:spcPts val="0"/>
              </a:spcAft>
              <a:buNone/>
            </a:pPr>
            <a:r>
              <a:rPr b="1" lang="en" sz="1100">
                <a:solidFill>
                  <a:schemeClr val="dk1"/>
                </a:solidFill>
                <a:latin typeface="Georgia"/>
                <a:ea typeface="Georgia"/>
                <a:cs typeface="Georgia"/>
                <a:sym typeface="Georgia"/>
              </a:rPr>
              <a:t>Why: </a:t>
            </a:r>
            <a:r>
              <a:rPr i="1" lang="en" sz="1100">
                <a:solidFill>
                  <a:schemeClr val="dk1"/>
                </a:solidFill>
                <a:latin typeface="Georgia"/>
                <a:ea typeface="Georgia"/>
                <a:cs typeface="Georgia"/>
                <a:sym typeface="Georgia"/>
              </a:rPr>
              <a:t>Because the sacrament requires the free will of the bride and groom. Parental desire alone is not enough. The priest must ask each of them privately and publicly to confirm their agreement.</a:t>
            </a:r>
            <a:endParaRPr sz="1550">
              <a:solidFill>
                <a:schemeClr val="dk1"/>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Marriage: At and After the Sacrament</a:t>
            </a:r>
            <a:endParaRPr/>
          </a:p>
        </p:txBody>
      </p:sp>
      <p:sp>
        <p:nvSpPr>
          <p:cNvPr id="112" name="Google Shape;11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100">
                <a:solidFill>
                  <a:schemeClr val="dk1"/>
                </a:solidFill>
              </a:rPr>
              <a:t>At Marriage:</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Matrimony is a sacrament → must be performed </a:t>
            </a:r>
            <a:r>
              <a:rPr b="1" lang="en" sz="1100">
                <a:solidFill>
                  <a:schemeClr val="dk1"/>
                </a:solidFill>
              </a:rPr>
              <a:t>in the Church</a:t>
            </a:r>
            <a:r>
              <a:rPr lang="en" sz="1100">
                <a:solidFill>
                  <a:schemeClr val="dk1"/>
                </a:solidFill>
              </a:rPr>
              <a:t> (not outside).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Priests must teach the faithful this truth.</a:t>
            </a:r>
            <a:br>
              <a:rPr lang="en" sz="1100">
                <a:solidFill>
                  <a:schemeClr val="dk1"/>
                </a:solidFill>
              </a:rPr>
            </a:b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After Marriage:</a:t>
            </a:r>
            <a:endParaRPr b="1" sz="1100">
              <a:solidFill>
                <a:schemeClr val="dk1"/>
              </a:solidFill>
            </a:endParaRPr>
          </a:p>
          <a:p>
            <a:pPr indent="-298450" lvl="0" marL="457200" rtl="0" algn="l">
              <a:spcBef>
                <a:spcPts val="1200"/>
              </a:spcBef>
              <a:spcAft>
                <a:spcPts val="0"/>
              </a:spcAft>
              <a:buClr>
                <a:schemeClr val="dk1"/>
              </a:buClr>
              <a:buSzPts val="1100"/>
              <a:buAutoNum type="arabicPeriod"/>
            </a:pPr>
            <a:r>
              <a:rPr b="1" lang="en" sz="1100">
                <a:solidFill>
                  <a:schemeClr val="dk1"/>
                </a:solidFill>
              </a:rPr>
              <a:t>Faithfulness &amp; Unity</a:t>
            </a:r>
            <a:r>
              <a:rPr lang="en" sz="1100">
                <a:solidFill>
                  <a:schemeClr val="dk1"/>
                </a:solidFill>
              </a:rPr>
              <a:t> – Husband and wife are joined as one flesh (Matt. 19:4–5).</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Marriage until death</a:t>
            </a:r>
            <a:r>
              <a:rPr lang="en" sz="1100">
                <a:solidFill>
                  <a:schemeClr val="dk1"/>
                </a:solidFill>
              </a:rPr>
              <a:t> – If a spouse dies, the other may remarry “only in the Lord” (1 Cor. 7:39).</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Indissolubility</a:t>
            </a:r>
            <a:r>
              <a:rPr lang="en" sz="1100">
                <a:solidFill>
                  <a:schemeClr val="dk1"/>
                </a:solidFill>
              </a:rPr>
              <a:t> – No separation except for fornication (Matt. 19:6, 9).</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Citations</a:t>
            </a:r>
            <a:endParaRPr>
              <a:latin typeface="Georgia"/>
              <a:ea typeface="Georgia"/>
              <a:cs typeface="Georgia"/>
              <a:sym typeface="Georgia"/>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8" name="Google Shape;11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latin typeface="Georgia"/>
                <a:ea typeface="Georgia"/>
                <a:cs typeface="Georgia"/>
                <a:sym typeface="Georgia"/>
              </a:rPr>
              <a:t>Images:</a:t>
            </a:r>
            <a:r>
              <a:rPr lang="en">
                <a:solidFill>
                  <a:schemeClr val="dk1"/>
                </a:solidFill>
                <a:latin typeface="Georgia"/>
                <a:ea typeface="Georgia"/>
                <a:cs typeface="Georgia"/>
                <a:sym typeface="Georgia"/>
              </a:rPr>
              <a:t> AI-generated by Me (no direct photographs used)</a:t>
            </a:r>
            <a:endParaRPr>
              <a:solidFill>
                <a:schemeClr val="dk1"/>
              </a:solidFill>
              <a:latin typeface="Georgia"/>
              <a:ea typeface="Georgia"/>
              <a:cs typeface="Georgia"/>
              <a:sym typeface="Georgia"/>
            </a:endParaRPr>
          </a:p>
          <a:p>
            <a:pPr indent="0" lvl="0" marL="0" rtl="0" algn="l">
              <a:spcBef>
                <a:spcPts val="1200"/>
              </a:spcBef>
              <a:spcAft>
                <a:spcPts val="0"/>
              </a:spcAft>
              <a:buNone/>
            </a:pPr>
            <a:r>
              <a:rPr b="1" lang="en">
                <a:solidFill>
                  <a:schemeClr val="dk1"/>
                </a:solidFill>
                <a:latin typeface="Georgia"/>
                <a:ea typeface="Georgia"/>
                <a:cs typeface="Georgia"/>
                <a:sym typeface="Georgia"/>
              </a:rPr>
              <a:t>Text &amp; Teaching Content Drawn From:</a:t>
            </a:r>
            <a:endParaRPr b="1">
              <a:solidFill>
                <a:schemeClr val="dk1"/>
              </a:solidFill>
              <a:latin typeface="Georgia"/>
              <a:ea typeface="Georgia"/>
              <a:cs typeface="Georgia"/>
              <a:sym typeface="Georgia"/>
            </a:endParaRPr>
          </a:p>
          <a:p>
            <a:pPr indent="0" lvl="0" marL="0" rtl="0" algn="l">
              <a:spcBef>
                <a:spcPts val="1200"/>
              </a:spcBef>
              <a:spcAft>
                <a:spcPts val="0"/>
              </a:spcAft>
              <a:buNone/>
            </a:pPr>
            <a:r>
              <a:rPr lang="en">
                <a:solidFill>
                  <a:schemeClr val="dk1"/>
                </a:solidFill>
                <a:latin typeface="Georgia"/>
                <a:ea typeface="Georgia"/>
                <a:cs typeface="Georgia"/>
                <a:sym typeface="Georgia"/>
              </a:rPr>
              <a:t>Kesis Solomon;</a:t>
            </a:r>
            <a:endParaRPr>
              <a:solidFill>
                <a:schemeClr val="dk1"/>
              </a:solidFill>
              <a:latin typeface="Georgia"/>
              <a:ea typeface="Georgia"/>
              <a:cs typeface="Georgia"/>
              <a:sym typeface="Georgia"/>
            </a:endParaRPr>
          </a:p>
          <a:p>
            <a:pPr indent="0" lvl="0" marL="0" rtl="0" algn="l">
              <a:spcBef>
                <a:spcPts val="1200"/>
              </a:spcBef>
              <a:spcAft>
                <a:spcPts val="0"/>
              </a:spcAft>
              <a:buNone/>
            </a:pPr>
            <a:r>
              <a:rPr lang="en">
                <a:solidFill>
                  <a:schemeClr val="dk1"/>
                </a:solidFill>
                <a:latin typeface="Georgia"/>
                <a:ea typeface="Georgia"/>
                <a:cs typeface="Georgia"/>
                <a:sym typeface="Georgia"/>
              </a:rPr>
              <a:t> Marcos Daoud, </a:t>
            </a:r>
            <a:r>
              <a:rPr i="1" lang="en">
                <a:solidFill>
                  <a:schemeClr val="dk1"/>
                </a:solidFill>
                <a:latin typeface="Georgia"/>
                <a:ea typeface="Georgia"/>
                <a:cs typeface="Georgia"/>
                <a:sym typeface="Georgia"/>
              </a:rPr>
              <a:t>The Orthodox Church Sacraments</a:t>
            </a:r>
            <a:r>
              <a:rPr lang="en">
                <a:solidFill>
                  <a:schemeClr val="dk1"/>
                </a:solidFill>
                <a:latin typeface="Georgia"/>
                <a:ea typeface="Georgia"/>
                <a:cs typeface="Georgia"/>
                <a:sym typeface="Georgia"/>
              </a:rPr>
              <a:t>.</a:t>
            </a:r>
            <a:endParaRPr>
              <a:solidFill>
                <a:schemeClr val="dk1"/>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
                <a:solidFill>
                  <a:schemeClr val="dk1"/>
                </a:solidFill>
                <a:latin typeface="Georgia"/>
                <a:ea typeface="Georgia"/>
                <a:cs typeface="Georgia"/>
                <a:sym typeface="Georgia"/>
              </a:rPr>
              <a:t>Addis Ababa: Tinsae Ze Gubae Printing Press, 1952.</a:t>
            </a:r>
            <a:endParaRPr sz="2500">
              <a:latin typeface="Georgia"/>
              <a:ea typeface="Georgia"/>
              <a:cs typeface="Georgia"/>
              <a:sym typeface="Georgia"/>
            </a:endParaRPr>
          </a:p>
          <a:p>
            <a:pPr indent="0" lvl="0" marL="0" rtl="0" algn="l">
              <a:spcBef>
                <a:spcPts val="1200"/>
              </a:spcBef>
              <a:spcAft>
                <a:spcPts val="1200"/>
              </a:spcAft>
              <a:buNone/>
            </a:pPr>
            <a:r>
              <a:t/>
            </a:r>
            <a:endParaRPr sz="2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idx="1" type="body"/>
          </p:nvPr>
        </p:nvSpPr>
        <p:spPr>
          <a:xfrm>
            <a:off x="311700" y="2065200"/>
            <a:ext cx="8520600" cy="1013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5000">
                <a:latin typeface="Georgia"/>
                <a:ea typeface="Georgia"/>
                <a:cs typeface="Georgia"/>
                <a:sym typeface="Georgia"/>
              </a:rPr>
              <a:t>QUESTIONS?</a:t>
            </a:r>
            <a:endParaRPr sz="5000">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