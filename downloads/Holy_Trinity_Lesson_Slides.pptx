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195799-17D0-40D4-ABA2-E7CD2B7596E7}">
  <a:tblStyle styleId="{F3195799-17D0-40D4-ABA2-E7CD2B7596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b01c1f17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b01c1f17c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ef17056c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def17056cb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ef17056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def17056cb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6254cdc7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6254cdc71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6254cdc7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e6254cdc7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6254cdc7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e6254cdc7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ef17056c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def17056cb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fc15f7fe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dfc15f7fe5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jpeg" id="84" name="Google Shape;84;p13"/>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85" name="Google Shape;85;p13"/>
          <p:cNvSpPr txBox="1"/>
          <p:nvPr/>
        </p:nvSpPr>
        <p:spPr>
          <a:xfrm>
            <a:off x="457205" y="2098040"/>
            <a:ext cx="8229600" cy="815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700">
                <a:solidFill>
                  <a:srgbClr val="5A3200"/>
                </a:solidFill>
                <a:latin typeface="Calibri"/>
                <a:ea typeface="Calibri"/>
                <a:cs typeface="Calibri"/>
                <a:sym typeface="Calibri"/>
              </a:rPr>
              <a:t>Lesson On The Holy Trinity </a:t>
            </a:r>
            <a:endParaRPr sz="2500"/>
          </a:p>
        </p:txBody>
      </p:sp>
      <p:sp>
        <p:nvSpPr>
          <p:cNvPr id="86" name="Google Shape;86;p13"/>
          <p:cNvSpPr txBox="1"/>
          <p:nvPr/>
        </p:nvSpPr>
        <p:spPr>
          <a:xfrm>
            <a:off x="3187700" y="3238500"/>
            <a:ext cx="34671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By Dn Yonnas</a:t>
            </a:r>
            <a:endParaRPr sz="3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jpeg" id="91" name="Google Shape;9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92" name="Google Shape;92;p14"/>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The Foundation — The Nicene Creed</a:t>
            </a:r>
            <a:endParaRPr/>
          </a:p>
        </p:txBody>
      </p:sp>
      <p:sp>
        <p:nvSpPr>
          <p:cNvPr id="93" name="Google Shape;93;p14"/>
          <p:cNvSpPr txBox="1"/>
          <p:nvPr/>
        </p:nvSpPr>
        <p:spPr>
          <a:xfrm>
            <a:off x="278800" y="1431475"/>
            <a:ext cx="5489100" cy="4889400"/>
          </a:xfrm>
          <a:prstGeom prst="rect">
            <a:avLst/>
          </a:pr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en-US" sz="1700">
                <a:solidFill>
                  <a:schemeClr val="dk1"/>
                </a:solidFill>
                <a:latin typeface="Times New Roman"/>
                <a:ea typeface="Times New Roman"/>
                <a:cs typeface="Times New Roman"/>
                <a:sym typeface="Times New Roman"/>
              </a:rPr>
              <a:t>The Nicene Creed:</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sz="1300">
                <a:solidFill>
                  <a:schemeClr val="dk1"/>
                </a:solidFill>
                <a:latin typeface="Times New Roman"/>
                <a:ea typeface="Times New Roman"/>
                <a:cs typeface="Times New Roman"/>
                <a:sym typeface="Times New Roman"/>
              </a:rPr>
              <a:t>“We believe in one God, God the Father Almighty, Maker of heaven and earth, and of all things visible and invisible.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in one Lord Jesus Christ, the only-begotten Son of God, begotten of the Father before all worlds; Light of Light, very God of very God, begotten, not made, being of one essence with the Father; by whom all things were made;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Who for us men and for our salvation came down from heaven, and was incarnate of the Holy Spirit and of the Virgin Mary, and became man;</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was crucified for us under Pontius Pilate, and suffered and was buried;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the third day He rose again, according to the Scriptures;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ascended into heaven, and sits at the right hand of the Father;</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He shall come again with glory to judge the living and the dead; whose kingdom shall have no end.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we believe in the Holy Spirit, the Lord, the Giver of Life, who proceeds from the Father; who with the Father and the Son together is worshipped and glorified; who spoke by the prophets.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And in one holy catholic and apostolic Church.</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We acknowledge one baptism for the remission of sins.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sz="1300">
                <a:solidFill>
                  <a:schemeClr val="dk1"/>
                </a:solidFill>
                <a:latin typeface="Times New Roman"/>
                <a:ea typeface="Times New Roman"/>
                <a:cs typeface="Times New Roman"/>
                <a:sym typeface="Times New Roman"/>
              </a:rPr>
              <a:t>We look for the resurrection of the dead, and the life of the world to come. Amen.”</a:t>
            </a:r>
            <a:endParaRPr i="0" sz="2200" u="none" cap="none" strike="noStrike">
              <a:solidFill>
                <a:srgbClr val="1E1E1E"/>
              </a:solidFill>
              <a:latin typeface="Times New Roman"/>
              <a:ea typeface="Times New Roman"/>
              <a:cs typeface="Times New Roman"/>
              <a:sym typeface="Times New Roman"/>
            </a:endParaRPr>
          </a:p>
        </p:txBody>
      </p:sp>
      <p:sp>
        <p:nvSpPr>
          <p:cNvPr id="94" name="Google Shape;94;p14"/>
          <p:cNvSpPr txBox="1"/>
          <p:nvPr/>
        </p:nvSpPr>
        <p:spPr>
          <a:xfrm>
            <a:off x="5767900" y="2636175"/>
            <a:ext cx="3091800" cy="3347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US" sz="1100">
                <a:solidFill>
                  <a:schemeClr val="dk1"/>
                </a:solidFill>
              </a:rPr>
              <a:t>The Creed was established during two major Church councils:</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First Council of Nicaea</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First Council of Constantinople</a:t>
            </a:r>
            <a:br>
              <a:rPr b="1" lang="en-US" sz="1100">
                <a:solidFill>
                  <a:schemeClr val="dk1"/>
                </a:solidFill>
              </a:rPr>
            </a:br>
            <a:endParaRPr b="1"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The purpose was to:</a:t>
            </a:r>
            <a:endParaRPr i="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Defend the truth about Christ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Reject false teachings (like denying Christ’s divinity)</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Unite the Church in one clear belief</a:t>
            </a:r>
            <a:br>
              <a:rPr lang="en-US" sz="1100">
                <a:solidFill>
                  <a:schemeClr val="dk1"/>
                </a:solidFill>
              </a:rPr>
            </a:br>
            <a:endParaRPr sz="1100">
              <a:solidFill>
                <a:schemeClr val="dk1"/>
              </a:solidFill>
            </a:endParaRPr>
          </a:p>
        </p:txBody>
      </p:sp>
      <p:sp>
        <p:nvSpPr>
          <p:cNvPr id="95" name="Google Shape;95;p14"/>
          <p:cNvSpPr txBox="1"/>
          <p:nvPr/>
        </p:nvSpPr>
        <p:spPr>
          <a:xfrm>
            <a:off x="5767900" y="1431475"/>
            <a:ext cx="3091800" cy="1245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rPr>
              <a:t>The Nicene Creed is the official statement </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of faith of the Church.</a:t>
            </a:r>
            <a:endParaRPr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It clearly defines what we believe about God, especially about: The Trinity. </a:t>
            </a:r>
            <a:endParaRPr sz="1100">
              <a:solidFill>
                <a:schemeClr val="dk1"/>
              </a:solidFill>
            </a:endParaRPr>
          </a:p>
        </p:txBody>
      </p:sp>
      <p:sp>
        <p:nvSpPr>
          <p:cNvPr id="96" name="Google Shape;96;p14"/>
          <p:cNvSpPr txBox="1"/>
          <p:nvPr/>
        </p:nvSpPr>
        <p:spPr>
          <a:xfrm>
            <a:off x="2071275" y="1337925"/>
            <a:ext cx="3000000" cy="532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i="1" lang="en-US" sz="1050">
                <a:solidFill>
                  <a:srgbClr val="0E0E0E"/>
                </a:solidFill>
              </a:rPr>
              <a:t>(Excerpt from the Nicene-Constantinopolitan Creed)</a:t>
            </a:r>
            <a:endParaRPr i="1" sz="1050">
              <a:solidFill>
                <a:srgbClr val="0E0E0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image.jpeg" id="101" name="Google Shape;101;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02" name="Google Shape;102;p15"/>
          <p:cNvSpPr txBox="1"/>
          <p:nvPr/>
        </p:nvSpPr>
        <p:spPr>
          <a:xfrm>
            <a:off x="640080" y="548640"/>
            <a:ext cx="822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One Divine Nature — The </a:t>
            </a:r>
            <a:r>
              <a:rPr b="1" lang="en-US" sz="3600">
                <a:solidFill>
                  <a:srgbClr val="5A3200"/>
                </a:solidFill>
                <a:latin typeface="Calibri"/>
                <a:ea typeface="Calibri"/>
                <a:cs typeface="Calibri"/>
                <a:sym typeface="Calibri"/>
              </a:rPr>
              <a:t>Essence</a:t>
            </a:r>
            <a:endParaRPr/>
          </a:p>
        </p:txBody>
      </p:sp>
      <p:sp>
        <p:nvSpPr>
          <p:cNvPr id="103" name="Google Shape;103;p15"/>
          <p:cNvSpPr txBox="1"/>
          <p:nvPr/>
        </p:nvSpPr>
        <p:spPr>
          <a:xfrm>
            <a:off x="357177" y="1491850"/>
            <a:ext cx="6407400" cy="5909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i="1" lang="en-US" sz="1900">
                <a:solidFill>
                  <a:schemeClr val="dk1"/>
                </a:solidFill>
              </a:rPr>
              <a:t>In theology, "Nature" or "Essence" refers to the shared substance of God. It is what makes God, God.</a:t>
            </a:r>
            <a:endParaRPr i="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Indivisibility:</a:t>
            </a:r>
            <a:r>
              <a:rPr lang="en-US" sz="1900">
                <a:solidFill>
                  <a:schemeClr val="dk1"/>
                </a:solidFill>
              </a:rPr>
              <a:t> There is only </a:t>
            </a:r>
            <a:r>
              <a:rPr b="1" lang="en-US" sz="1900">
                <a:solidFill>
                  <a:schemeClr val="dk1"/>
                </a:solidFill>
              </a:rPr>
              <a:t>one</a:t>
            </a:r>
            <a:r>
              <a:rPr lang="en-US" sz="1900">
                <a:solidFill>
                  <a:schemeClr val="dk1"/>
                </a:solidFill>
              </a:rPr>
              <a:t> Divine Nature. It cannot be divided or shared like a physical object.</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Shared Attributes:</a:t>
            </a:r>
            <a:r>
              <a:rPr lang="en-US" sz="1900">
                <a:solidFill>
                  <a:schemeClr val="dk1"/>
                </a:solidFill>
              </a:rPr>
              <a:t> Everything that belongs to the Godhead is possessed fully by all three Persons:</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rPr>
              <a:t>Eternity:</a:t>
            </a:r>
            <a:r>
              <a:rPr lang="en-US" sz="1900">
                <a:solidFill>
                  <a:schemeClr val="dk1"/>
                </a:solidFill>
              </a:rPr>
              <a:t> All three are without beginning or end.</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rPr>
              <a:t>Omnipotence:</a:t>
            </a:r>
            <a:r>
              <a:rPr lang="en-US" sz="1900">
                <a:solidFill>
                  <a:schemeClr val="dk1"/>
                </a:solidFill>
              </a:rPr>
              <a:t> All three are Almighty; they possess all power.</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rPr>
              <a:t>Omniscience:</a:t>
            </a:r>
            <a:r>
              <a:rPr lang="en-US" sz="1900">
                <a:solidFill>
                  <a:schemeClr val="dk1"/>
                </a:solidFill>
              </a:rPr>
              <a:t> All three know all things (past, present, and future).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b="1" lang="en-US" sz="1900">
                <a:solidFill>
                  <a:schemeClr val="dk1"/>
                </a:solidFill>
              </a:rPr>
              <a:t>Holiness:</a:t>
            </a:r>
            <a:r>
              <a:rPr lang="en-US" sz="1900">
                <a:solidFill>
                  <a:schemeClr val="dk1"/>
                </a:solidFill>
              </a:rPr>
              <a:t> All three are the source of all holiness.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One Will &amp; One Action:</a:t>
            </a:r>
            <a:r>
              <a:rPr lang="en-US" sz="1900">
                <a:solidFill>
                  <a:schemeClr val="dk1"/>
                </a:solidFill>
              </a:rPr>
              <a:t> </a:t>
            </a:r>
            <a:r>
              <a:rPr lang="en-US" sz="1900">
                <a:solidFill>
                  <a:srgbClr val="0E0E0E"/>
                </a:solidFill>
              </a:rPr>
              <a:t>They act as one God with one divine will, without confusion of the Persons</a:t>
            </a:r>
            <a:endParaRPr sz="1900">
              <a:solidFill>
                <a:srgbClr val="0E0E0E"/>
              </a:solidFill>
            </a:endParaRPr>
          </a:p>
          <a:p>
            <a:pPr indent="0" lvl="0" marL="0" marR="0" rtl="0" algn="l">
              <a:spcBef>
                <a:spcPts val="1200"/>
              </a:spcBef>
              <a:spcAft>
                <a:spcPts val="0"/>
              </a:spcAft>
              <a:buNone/>
            </a:pPr>
            <a:r>
              <a:t/>
            </a:r>
            <a:endParaRPr sz="3000">
              <a:solidFill>
                <a:srgbClr val="1E1E1E"/>
              </a:solidFill>
              <a:latin typeface="Calibri"/>
              <a:ea typeface="Calibri"/>
              <a:cs typeface="Calibri"/>
              <a:sym typeface="Calibri"/>
            </a:endParaRPr>
          </a:p>
          <a:p>
            <a:pPr indent="0" lvl="0" marL="0" marR="0" rtl="0" algn="l">
              <a:spcBef>
                <a:spcPts val="0"/>
              </a:spcBef>
              <a:spcAft>
                <a:spcPts val="0"/>
              </a:spcAft>
              <a:buNone/>
            </a:pPr>
            <a:r>
              <a:t/>
            </a:r>
            <a:endParaRPr b="0" i="0" sz="2200" u="none" cap="none" strike="noStrike">
              <a:solidFill>
                <a:srgbClr val="1E1E1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image.jpeg" id="108" name="Google Shape;108;p16"/>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09" name="Google Shape;109;p16"/>
          <p:cNvSpPr txBox="1"/>
          <p:nvPr/>
        </p:nvSpPr>
        <p:spPr>
          <a:xfrm>
            <a:off x="640080" y="548640"/>
            <a:ext cx="822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Three Distinct Persons — The </a:t>
            </a:r>
            <a:r>
              <a:rPr b="1" lang="en-US" sz="3600">
                <a:solidFill>
                  <a:srgbClr val="5A3200"/>
                </a:solidFill>
                <a:latin typeface="Calibri"/>
                <a:ea typeface="Calibri"/>
                <a:cs typeface="Calibri"/>
                <a:sym typeface="Calibri"/>
              </a:rPr>
              <a:t>Person</a:t>
            </a:r>
            <a:endParaRPr/>
          </a:p>
        </p:txBody>
      </p:sp>
      <p:sp>
        <p:nvSpPr>
          <p:cNvPr id="110" name="Google Shape;110;p16"/>
          <p:cNvSpPr txBox="1"/>
          <p:nvPr/>
        </p:nvSpPr>
        <p:spPr>
          <a:xfrm>
            <a:off x="277879" y="1306325"/>
            <a:ext cx="5113500" cy="519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i="1" lang="en-US" sz="1700">
                <a:solidFill>
                  <a:schemeClr val="dk1"/>
                </a:solidFill>
              </a:rPr>
              <a:t>While the Nature is One, the Persons are Three. We distinguish them only by their eternal relationships.</a:t>
            </a:r>
            <a:endParaRPr i="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The Father (The Source):</a:t>
            </a:r>
            <a:r>
              <a:rPr lang="en-US" sz="1700">
                <a:solidFill>
                  <a:schemeClr val="dk1"/>
                </a:solidFill>
              </a:rPr>
              <a:t> He is the "Source(Cause)" He is </a:t>
            </a:r>
            <a:r>
              <a:rPr b="1" lang="en-US" sz="1700">
                <a:solidFill>
                  <a:schemeClr val="dk1"/>
                </a:solidFill>
              </a:rPr>
              <a:t>Unbegotten</a:t>
            </a:r>
            <a:r>
              <a:rPr lang="en-US" sz="1700">
                <a:solidFill>
                  <a:schemeClr val="dk1"/>
                </a:solidFill>
              </a:rPr>
              <a:t>, meaning He has no cause and comes from no one.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The Son (The Word):</a:t>
            </a:r>
            <a:r>
              <a:rPr lang="en-US" sz="1700">
                <a:solidFill>
                  <a:schemeClr val="dk1"/>
                </a:solidFill>
              </a:rPr>
              <a:t> He is eternally </a:t>
            </a:r>
            <a:r>
              <a:rPr b="1" lang="en-US" sz="1700">
                <a:solidFill>
                  <a:schemeClr val="dk1"/>
                </a:solidFill>
              </a:rPr>
              <a:t>Begotten</a:t>
            </a:r>
            <a:r>
              <a:rPr lang="en-US" sz="1700">
                <a:solidFill>
                  <a:schemeClr val="dk1"/>
                </a:solidFill>
              </a:rPr>
              <a:t> of the Father. He is the Word and Wisdom of God.</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The Holy Spirit (The Life-Giver):</a:t>
            </a:r>
            <a:r>
              <a:rPr lang="en-US" sz="1700">
                <a:solidFill>
                  <a:schemeClr val="dk1"/>
                </a:solidFill>
              </a:rPr>
              <a:t> He eternally </a:t>
            </a:r>
            <a:r>
              <a:rPr b="1" lang="en-US" sz="1700">
                <a:solidFill>
                  <a:schemeClr val="dk1"/>
                </a:solidFill>
              </a:rPr>
              <a:t>Proceeds</a:t>
            </a:r>
            <a:r>
              <a:rPr lang="en-US" sz="1700">
                <a:solidFill>
                  <a:schemeClr val="dk1"/>
                </a:solidFill>
              </a:rPr>
              <a:t> from the Father. He is the Breath of God.</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Equality:</a:t>
            </a:r>
            <a:r>
              <a:rPr lang="en-US" sz="1700">
                <a:solidFill>
                  <a:schemeClr val="dk1"/>
                </a:solidFill>
              </a:rPr>
              <a:t> One Person is not "more God" than the others. They are co-equal in majesty, glory, and worship.</a:t>
            </a:r>
            <a:endParaRPr sz="1700">
              <a:solidFill>
                <a:schemeClr val="dk1"/>
              </a:solidFill>
            </a:endParaRPr>
          </a:p>
          <a:p>
            <a:pPr indent="0" lvl="0" marL="0" marR="0" rtl="0" algn="l">
              <a:spcBef>
                <a:spcPts val="1200"/>
              </a:spcBef>
              <a:spcAft>
                <a:spcPts val="0"/>
              </a:spcAft>
              <a:buNone/>
            </a:pPr>
            <a:r>
              <a:t/>
            </a:r>
            <a:endParaRPr sz="1800">
              <a:solidFill>
                <a:srgbClr val="1E1E1E"/>
              </a:solidFill>
              <a:latin typeface="Calibri"/>
              <a:ea typeface="Calibri"/>
              <a:cs typeface="Calibri"/>
              <a:sym typeface="Calibri"/>
            </a:endParaRPr>
          </a:p>
        </p:txBody>
      </p:sp>
      <p:sp>
        <p:nvSpPr>
          <p:cNvPr id="111" name="Google Shape;111;p16"/>
          <p:cNvSpPr txBox="1"/>
          <p:nvPr/>
        </p:nvSpPr>
        <p:spPr>
          <a:xfrm>
            <a:off x="5706250" y="1769025"/>
            <a:ext cx="3000000" cy="3016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dk1"/>
                </a:solidFill>
              </a:rPr>
              <a:t>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The Father is the </a:t>
            </a:r>
            <a:r>
              <a:rPr b="1" lang="en-US" sz="1100">
                <a:solidFill>
                  <a:schemeClr val="dk1"/>
                </a:solidFill>
              </a:rPr>
              <a:t>origin within the Trinity</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 Son comes from the Father by </a:t>
            </a:r>
            <a:r>
              <a:rPr b="1" lang="en-US" sz="1100">
                <a:solidFill>
                  <a:schemeClr val="dk1"/>
                </a:solidFill>
              </a:rPr>
              <a:t>begetting</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 Holy Spirit comes from the Father by </a:t>
            </a:r>
            <a:r>
              <a:rPr b="1" lang="en-US" sz="1100">
                <a:solidFill>
                  <a:schemeClr val="dk1"/>
                </a:solidFill>
              </a:rPr>
              <a:t>procession</a:t>
            </a:r>
            <a:br>
              <a:rPr b="1" lang="en-US" sz="1100">
                <a:solidFill>
                  <a:schemeClr val="dk1"/>
                </a:solidFill>
              </a:rPr>
            </a:br>
            <a:endParaRPr b="1"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This is called the </a:t>
            </a:r>
            <a:r>
              <a:rPr b="1" lang="en-US" sz="1100">
                <a:solidFill>
                  <a:schemeClr val="dk1"/>
                </a:solidFill>
              </a:rPr>
              <a:t>“Monarchy of the Father”</a:t>
            </a:r>
            <a:r>
              <a:rPr lang="en-US" sz="1100">
                <a:solidFill>
                  <a:schemeClr val="dk1"/>
                </a:solidFill>
              </a:rPr>
              <a:t> in Orthodox theology</a:t>
            </a:r>
            <a:endParaRPr sz="1100">
              <a:solidFill>
                <a:schemeClr val="dk1"/>
              </a:solidFill>
            </a:endParaRPr>
          </a:p>
        </p:txBody>
      </p:sp>
      <p:pic>
        <p:nvPicPr>
          <p:cNvPr id="112" name="Google Shape;112;p16"/>
          <p:cNvPicPr preferRelativeResize="0"/>
          <p:nvPr/>
        </p:nvPicPr>
        <p:blipFill>
          <a:blip r:embed="rId4">
            <a:alphaModFix/>
          </a:blip>
          <a:stretch>
            <a:fillRect/>
          </a:stretch>
        </p:blipFill>
        <p:spPr>
          <a:xfrm>
            <a:off x="6483613" y="5057174"/>
            <a:ext cx="1165376" cy="1138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image.jpeg" id="117" name="Google Shape;117;p17"/>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18" name="Google Shape;118;p17"/>
          <p:cNvSpPr txBox="1"/>
          <p:nvPr/>
        </p:nvSpPr>
        <p:spPr>
          <a:xfrm>
            <a:off x="640080" y="548640"/>
            <a:ext cx="822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Deep Dive — </a:t>
            </a:r>
            <a:r>
              <a:rPr b="1" lang="en-US" sz="3600">
                <a:solidFill>
                  <a:srgbClr val="5A3200"/>
                </a:solidFill>
                <a:latin typeface="Calibri"/>
                <a:ea typeface="Calibri"/>
                <a:cs typeface="Calibri"/>
                <a:sym typeface="Calibri"/>
              </a:rPr>
              <a:t>Terms</a:t>
            </a:r>
            <a:endParaRPr/>
          </a:p>
        </p:txBody>
      </p:sp>
      <p:sp>
        <p:nvSpPr>
          <p:cNvPr id="119" name="Google Shape;119;p17"/>
          <p:cNvSpPr txBox="1"/>
          <p:nvPr/>
        </p:nvSpPr>
        <p:spPr>
          <a:xfrm>
            <a:off x="119300" y="1843150"/>
            <a:ext cx="8229600" cy="4720800"/>
          </a:xfrm>
          <a:prstGeom prst="rect">
            <a:avLst/>
          </a:prstGeom>
          <a:noFill/>
          <a:ln>
            <a:noFill/>
          </a:ln>
        </p:spPr>
        <p:txBody>
          <a:bodyPr anchorCtr="0" anchor="t" bIns="45700" lIns="91425" spcFirstLastPara="1" rIns="91425" wrap="square" tIns="45700">
            <a:spAutoFit/>
          </a:bodyPr>
          <a:lstStyle/>
          <a:p>
            <a:pPr indent="-327025" lvl="0" marL="457200" rtl="0" algn="l">
              <a:lnSpc>
                <a:spcPct val="115000"/>
              </a:lnSpc>
              <a:spcBef>
                <a:spcPts val="1200"/>
              </a:spcBef>
              <a:spcAft>
                <a:spcPts val="0"/>
              </a:spcAft>
              <a:buClr>
                <a:schemeClr val="dk1"/>
              </a:buClr>
              <a:buSzPts val="1550"/>
              <a:buChar char="●"/>
            </a:pPr>
            <a:r>
              <a:rPr b="1" lang="en-US" sz="1550">
                <a:solidFill>
                  <a:schemeClr val="dk1"/>
                </a:solidFill>
              </a:rPr>
              <a:t>Unbegotten (The Father):</a:t>
            </a:r>
            <a:r>
              <a:rPr lang="en-US" sz="1550">
                <a:solidFill>
                  <a:schemeClr val="dk1"/>
                </a:solidFill>
              </a:rPr>
              <a:t> This means "Without Cause." The Father is the only Person who does not come from anyone else. He is the "Source" (</a:t>
            </a:r>
            <a:r>
              <a:rPr i="1" lang="en-US" sz="1550">
                <a:solidFill>
                  <a:schemeClr val="dk1"/>
                </a:solidFill>
              </a:rPr>
              <a:t>Arche</a:t>
            </a:r>
            <a:r>
              <a:rPr lang="en-US" sz="1550">
                <a:solidFill>
                  <a:schemeClr val="dk1"/>
                </a:solidFill>
              </a:rPr>
              <a:t>) of the Godhead.</a:t>
            </a:r>
            <a:endParaRPr sz="1550">
              <a:solidFill>
                <a:schemeClr val="dk1"/>
              </a:solidFill>
            </a:endParaRPr>
          </a:p>
          <a:p>
            <a:pPr indent="-327025" lvl="0" marL="457200" rtl="0" algn="l">
              <a:lnSpc>
                <a:spcPct val="115000"/>
              </a:lnSpc>
              <a:spcBef>
                <a:spcPts val="0"/>
              </a:spcBef>
              <a:spcAft>
                <a:spcPts val="0"/>
              </a:spcAft>
              <a:buClr>
                <a:schemeClr val="dk1"/>
              </a:buClr>
              <a:buSzPts val="1550"/>
              <a:buChar char="●"/>
            </a:pPr>
            <a:r>
              <a:rPr b="1" lang="en-US" sz="1550">
                <a:solidFill>
                  <a:schemeClr val="dk1"/>
                </a:solidFill>
              </a:rPr>
              <a:t>Begotten (The Son):</a:t>
            </a:r>
            <a:r>
              <a:rPr lang="en-US" sz="1550">
                <a:solidFill>
                  <a:schemeClr val="dk1"/>
                </a:solidFill>
              </a:rPr>
              <a:t> This describes an </a:t>
            </a:r>
            <a:r>
              <a:rPr b="1" lang="en-US" sz="1550">
                <a:solidFill>
                  <a:schemeClr val="dk1"/>
                </a:solidFill>
              </a:rPr>
              <a:t>Eternal Birth</a:t>
            </a:r>
            <a:r>
              <a:rPr lang="en-US" sz="1550">
                <a:solidFill>
                  <a:schemeClr val="dk1"/>
                </a:solidFill>
              </a:rPr>
              <a:t>.</a:t>
            </a:r>
            <a:endParaRPr sz="1550">
              <a:solidFill>
                <a:schemeClr val="dk1"/>
              </a:solidFill>
            </a:endParaRPr>
          </a:p>
          <a:p>
            <a:pPr indent="-327025" lvl="1" marL="914400" rtl="0" algn="l">
              <a:lnSpc>
                <a:spcPct val="115000"/>
              </a:lnSpc>
              <a:spcBef>
                <a:spcPts val="0"/>
              </a:spcBef>
              <a:spcAft>
                <a:spcPts val="0"/>
              </a:spcAft>
              <a:buClr>
                <a:schemeClr val="dk1"/>
              </a:buClr>
              <a:buSzPts val="1550"/>
              <a:buChar char="○"/>
            </a:pPr>
            <a:r>
              <a:rPr b="1" lang="en-US" sz="1550">
                <a:solidFill>
                  <a:schemeClr val="dk1"/>
                </a:solidFill>
              </a:rPr>
              <a:t>Not a Creation:</a:t>
            </a:r>
            <a:r>
              <a:rPr lang="en-US" sz="1550">
                <a:solidFill>
                  <a:schemeClr val="dk1"/>
                </a:solidFill>
              </a:rPr>
              <a:t> A child is "begotten" (same nature as the parent), but a house is "made" (different nature).</a:t>
            </a:r>
            <a:endParaRPr sz="1550">
              <a:solidFill>
                <a:schemeClr val="dk1"/>
              </a:solidFill>
            </a:endParaRPr>
          </a:p>
          <a:p>
            <a:pPr indent="-327025" lvl="1" marL="914400" rtl="0" algn="l">
              <a:lnSpc>
                <a:spcPct val="115000"/>
              </a:lnSpc>
              <a:spcBef>
                <a:spcPts val="0"/>
              </a:spcBef>
              <a:spcAft>
                <a:spcPts val="0"/>
              </a:spcAft>
              <a:buClr>
                <a:schemeClr val="dk1"/>
              </a:buClr>
              <a:buSzPts val="1550"/>
              <a:buChar char="○"/>
            </a:pPr>
            <a:r>
              <a:rPr b="1" lang="en-US" sz="1550">
                <a:solidFill>
                  <a:schemeClr val="dk1"/>
                </a:solidFill>
              </a:rPr>
              <a:t>Outside of Time:</a:t>
            </a:r>
            <a:r>
              <a:rPr lang="en-US" sz="1550">
                <a:solidFill>
                  <a:schemeClr val="dk1"/>
                </a:solidFill>
              </a:rPr>
              <a:t> Just as a thought is born in the mind the moment the mind exists, the Son is born of the Father eternally.</a:t>
            </a:r>
            <a:endParaRPr sz="1550">
              <a:solidFill>
                <a:schemeClr val="dk1"/>
              </a:solidFill>
            </a:endParaRPr>
          </a:p>
          <a:p>
            <a:pPr indent="-327025" lvl="0" marL="457200" rtl="0" algn="l">
              <a:lnSpc>
                <a:spcPct val="115000"/>
              </a:lnSpc>
              <a:spcBef>
                <a:spcPts val="0"/>
              </a:spcBef>
              <a:spcAft>
                <a:spcPts val="0"/>
              </a:spcAft>
              <a:buClr>
                <a:schemeClr val="dk1"/>
              </a:buClr>
              <a:buSzPts val="1550"/>
              <a:buChar char="●"/>
            </a:pPr>
            <a:r>
              <a:rPr b="1" lang="en-US" sz="1550">
                <a:solidFill>
                  <a:schemeClr val="dk1"/>
                </a:solidFill>
              </a:rPr>
              <a:t>Proceeds (The Spirit):</a:t>
            </a:r>
            <a:r>
              <a:rPr lang="en-US" sz="1550">
                <a:solidFill>
                  <a:schemeClr val="dk1"/>
                </a:solidFill>
              </a:rPr>
              <a:t> This describes a </a:t>
            </a:r>
            <a:r>
              <a:rPr b="1" lang="en-US" sz="1550">
                <a:solidFill>
                  <a:schemeClr val="dk1"/>
                </a:solidFill>
              </a:rPr>
              <a:t>Spiritual Flow</a:t>
            </a:r>
            <a:r>
              <a:rPr lang="en-US" sz="1550">
                <a:solidFill>
                  <a:schemeClr val="dk1"/>
                </a:solidFill>
              </a:rPr>
              <a:t>.</a:t>
            </a:r>
            <a:endParaRPr sz="1550">
              <a:solidFill>
                <a:schemeClr val="dk1"/>
              </a:solidFill>
            </a:endParaRPr>
          </a:p>
          <a:p>
            <a:pPr indent="-327025" lvl="1" marL="914400" rtl="0" algn="l">
              <a:lnSpc>
                <a:spcPct val="115000"/>
              </a:lnSpc>
              <a:spcBef>
                <a:spcPts val="0"/>
              </a:spcBef>
              <a:spcAft>
                <a:spcPts val="0"/>
              </a:spcAft>
              <a:buClr>
                <a:schemeClr val="dk1"/>
              </a:buClr>
              <a:buSzPts val="1550"/>
              <a:buChar char="○"/>
            </a:pPr>
            <a:r>
              <a:rPr b="1" lang="en-US" sz="1550">
                <a:solidFill>
                  <a:schemeClr val="dk1"/>
                </a:solidFill>
              </a:rPr>
              <a:t>The Breath:</a:t>
            </a:r>
            <a:r>
              <a:rPr lang="en-US" sz="1550">
                <a:solidFill>
                  <a:schemeClr val="dk1"/>
                </a:solidFill>
              </a:rPr>
              <a:t> Just as breath "proceeds" from a person's lungs, the Spirit proceeds from the Father.</a:t>
            </a:r>
            <a:endParaRPr sz="1550">
              <a:solidFill>
                <a:schemeClr val="dk1"/>
              </a:solidFill>
            </a:endParaRPr>
          </a:p>
          <a:p>
            <a:pPr indent="-327025" lvl="1" marL="914400" rtl="0" algn="l">
              <a:lnSpc>
                <a:spcPct val="115000"/>
              </a:lnSpc>
              <a:spcBef>
                <a:spcPts val="0"/>
              </a:spcBef>
              <a:spcAft>
                <a:spcPts val="0"/>
              </a:spcAft>
              <a:buClr>
                <a:schemeClr val="dk1"/>
              </a:buClr>
              <a:buSzPts val="1550"/>
              <a:buChar char="○"/>
            </a:pPr>
            <a:r>
              <a:rPr b="1" lang="en-US" sz="1550">
                <a:solidFill>
                  <a:schemeClr val="dk1"/>
                </a:solidFill>
              </a:rPr>
              <a:t>The Only Source:</a:t>
            </a:r>
            <a:r>
              <a:rPr lang="en-US" sz="1550">
                <a:solidFill>
                  <a:schemeClr val="dk1"/>
                </a:solidFill>
              </a:rPr>
              <a:t> We believe the Spirit proceeds </a:t>
            </a:r>
            <a:r>
              <a:rPr b="1" lang="en-US" sz="1550">
                <a:solidFill>
                  <a:schemeClr val="dk1"/>
                </a:solidFill>
              </a:rPr>
              <a:t>only</a:t>
            </a:r>
            <a:r>
              <a:rPr lang="en-US" sz="1550">
                <a:solidFill>
                  <a:schemeClr val="dk1"/>
                </a:solidFill>
              </a:rPr>
              <a:t> from the Father. To say He proceeds from the Son (the </a:t>
            </a:r>
            <a:r>
              <a:rPr i="1" lang="en-US" sz="1550">
                <a:solidFill>
                  <a:schemeClr val="dk1"/>
                </a:solidFill>
              </a:rPr>
              <a:t>Filioque</a:t>
            </a:r>
            <a:r>
              <a:rPr lang="en-US" sz="1550">
                <a:solidFill>
                  <a:schemeClr val="dk1"/>
                </a:solidFill>
              </a:rPr>
              <a:t> heresy) would suggest there are two sources in the Trinity, which we reject.</a:t>
            </a:r>
            <a:endParaRPr b="1" sz="1550">
              <a:solidFill>
                <a:schemeClr val="dk1"/>
              </a:solidFill>
            </a:endParaRPr>
          </a:p>
          <a:p>
            <a:pPr indent="-327025" lvl="0" marL="457200" rtl="0" algn="l">
              <a:lnSpc>
                <a:spcPct val="115000"/>
              </a:lnSpc>
              <a:spcBef>
                <a:spcPts val="0"/>
              </a:spcBef>
              <a:spcAft>
                <a:spcPts val="0"/>
              </a:spcAft>
              <a:buClr>
                <a:schemeClr val="dk1"/>
              </a:buClr>
              <a:buSzPts val="1550"/>
              <a:buChar char="●"/>
            </a:pPr>
            <a:r>
              <a:rPr b="1" lang="en-US" sz="1550">
                <a:solidFill>
                  <a:schemeClr val="dk1"/>
                </a:solidFill>
              </a:rPr>
              <a:t>Co-Existent (Together-Eternal):</a:t>
            </a:r>
            <a:r>
              <a:rPr lang="en-US" sz="1550">
                <a:solidFill>
                  <a:schemeClr val="dk1"/>
                </a:solidFill>
              </a:rPr>
              <a:t> None of the Persons existed before the others. The Father was never without His Word (Son) or His Breath (Spirit). </a:t>
            </a:r>
            <a:r>
              <a:rPr lang="en-US" sz="1550">
                <a:solidFill>
                  <a:srgbClr val="0E0E0E"/>
                </a:solidFill>
              </a:rPr>
              <a:t>These are eternal relationships, not events in time</a:t>
            </a:r>
            <a:endParaRPr sz="1550">
              <a:solidFill>
                <a:srgbClr val="0E0E0E"/>
              </a:solidFill>
            </a:endParaRPr>
          </a:p>
        </p:txBody>
      </p:sp>
      <p:sp>
        <p:nvSpPr>
          <p:cNvPr id="120" name="Google Shape;120;p17"/>
          <p:cNvSpPr txBox="1"/>
          <p:nvPr/>
        </p:nvSpPr>
        <p:spPr>
          <a:xfrm>
            <a:off x="317575" y="1195150"/>
            <a:ext cx="94464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US">
                <a:solidFill>
                  <a:schemeClr val="dk1"/>
                </a:solidFill>
              </a:rPr>
              <a:t>Understanding these technical terms helps us avoid heresy.</a:t>
            </a:r>
            <a:endParaRPr i="1">
              <a:solidFill>
                <a:schemeClr val="dk1"/>
              </a:solidFill>
            </a:endParaRPr>
          </a:p>
          <a:p>
            <a:pPr indent="0" lvl="0" marL="0" rtl="0" algn="l">
              <a:lnSpc>
                <a:spcPct val="115000"/>
              </a:lnSpc>
              <a:spcBef>
                <a:spcPts val="0"/>
              </a:spcBef>
              <a:spcAft>
                <a:spcPts val="1200"/>
              </a:spcAft>
              <a:buNone/>
            </a:pPr>
            <a:r>
              <a:rPr i="1" lang="en-US">
                <a:solidFill>
                  <a:schemeClr val="dk1"/>
                </a:solidFill>
              </a:rPr>
              <a:t>To understand the Trinity, we distinguish the Persons by their "Mode of Existence":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image.jpeg" id="125" name="Google Shape;125;p18"/>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26" name="Google Shape;126;p18"/>
          <p:cNvSpPr txBox="1"/>
          <p:nvPr/>
        </p:nvSpPr>
        <p:spPr>
          <a:xfrm>
            <a:off x="640080" y="548640"/>
            <a:ext cx="822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Deep Dive — Begotten</a:t>
            </a:r>
            <a:endParaRPr/>
          </a:p>
        </p:txBody>
      </p:sp>
      <p:sp>
        <p:nvSpPr>
          <p:cNvPr id="127" name="Google Shape;127;p18"/>
          <p:cNvSpPr txBox="1"/>
          <p:nvPr/>
        </p:nvSpPr>
        <p:spPr>
          <a:xfrm>
            <a:off x="119310" y="1799075"/>
            <a:ext cx="82296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600">
              <a:solidFill>
                <a:srgbClr val="1E1E1E"/>
              </a:solidFill>
              <a:latin typeface="Calibri"/>
              <a:ea typeface="Calibri"/>
              <a:cs typeface="Calibri"/>
              <a:sym typeface="Calibri"/>
            </a:endParaRPr>
          </a:p>
        </p:txBody>
      </p:sp>
      <p:graphicFrame>
        <p:nvGraphicFramePr>
          <p:cNvPr id="128" name="Google Shape;128;p18"/>
          <p:cNvGraphicFramePr/>
          <p:nvPr/>
        </p:nvGraphicFramePr>
        <p:xfrm>
          <a:off x="447050" y="1601163"/>
          <a:ext cx="3000000" cy="3000000"/>
        </p:xfrm>
        <a:graphic>
          <a:graphicData uri="http://schemas.openxmlformats.org/drawingml/2006/table">
            <a:tbl>
              <a:tblPr>
                <a:noFill/>
                <a:tableStyleId>{F3195799-17D0-40D4-ABA2-E7CD2B7596E7}</a:tableStyleId>
              </a:tblPr>
              <a:tblGrid>
                <a:gridCol w="4139800"/>
                <a:gridCol w="4139800"/>
              </a:tblGrid>
              <a:tr h="363400">
                <a:tc>
                  <a:txBody>
                    <a:bodyPr/>
                    <a:lstStyle/>
                    <a:p>
                      <a:pPr indent="0" lvl="0" marL="0" rtl="0" algn="ctr">
                        <a:lnSpc>
                          <a:spcPct val="115000"/>
                        </a:lnSpc>
                        <a:spcBef>
                          <a:spcPts val="0"/>
                        </a:spcBef>
                        <a:spcAft>
                          <a:spcPts val="0"/>
                        </a:spcAft>
                        <a:buNone/>
                      </a:pPr>
                      <a:r>
                        <a:rPr b="1" lang="en-US" sz="1900"/>
                        <a:t>Human (You)</a:t>
                      </a:r>
                      <a:endParaRPr b="1" sz="19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t>The Son (Christ)</a:t>
                      </a:r>
                      <a:endParaRPr b="1" sz="19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63400">
                <a:tc>
                  <a:txBody>
                    <a:bodyPr/>
                    <a:lstStyle/>
                    <a:p>
                      <a:pPr indent="0" lvl="0" marL="0" rtl="0" algn="ctr">
                        <a:lnSpc>
                          <a:spcPct val="115000"/>
                        </a:lnSpc>
                        <a:spcBef>
                          <a:spcPts val="0"/>
                        </a:spcBef>
                        <a:spcAft>
                          <a:spcPts val="0"/>
                        </a:spcAft>
                        <a:buNone/>
                      </a:pPr>
                      <a:r>
                        <a:rPr lang="en-US" sz="1900"/>
                        <a:t>Begotten in time</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900"/>
                        <a:t>Begotten eternally</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63400">
                <a:tc>
                  <a:txBody>
                    <a:bodyPr/>
                    <a:lstStyle/>
                    <a:p>
                      <a:pPr indent="0" lvl="0" marL="0" rtl="0" algn="ctr">
                        <a:lnSpc>
                          <a:spcPct val="115000"/>
                        </a:lnSpc>
                        <a:spcBef>
                          <a:spcPts val="0"/>
                        </a:spcBef>
                        <a:spcAft>
                          <a:spcPts val="0"/>
                        </a:spcAft>
                        <a:buNone/>
                      </a:pPr>
                      <a:r>
                        <a:rPr lang="en-US" sz="1900"/>
                        <a:t>Has a beginning</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900"/>
                        <a:t>No beginning</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63400">
                <a:tc>
                  <a:txBody>
                    <a:bodyPr/>
                    <a:lstStyle/>
                    <a:p>
                      <a:pPr indent="0" lvl="0" marL="0" rtl="0" algn="ctr">
                        <a:lnSpc>
                          <a:spcPct val="115000"/>
                        </a:lnSpc>
                        <a:spcBef>
                          <a:spcPts val="0"/>
                        </a:spcBef>
                        <a:spcAft>
                          <a:spcPts val="0"/>
                        </a:spcAft>
                        <a:buNone/>
                      </a:pPr>
                      <a:r>
                        <a:rPr lang="en-US" sz="1900"/>
                        <a:t>Created being</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900"/>
                        <a:t>Not created</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63400">
                <a:tc>
                  <a:txBody>
                    <a:bodyPr/>
                    <a:lstStyle/>
                    <a:p>
                      <a:pPr indent="0" lvl="0" marL="0" rtl="0" algn="ctr">
                        <a:lnSpc>
                          <a:spcPct val="115000"/>
                        </a:lnSpc>
                        <a:spcBef>
                          <a:spcPts val="0"/>
                        </a:spcBef>
                        <a:spcAft>
                          <a:spcPts val="0"/>
                        </a:spcAft>
                        <a:buNone/>
                      </a:pPr>
                      <a:r>
                        <a:rPr lang="en-US" sz="1900"/>
                        <a:t>Human nature</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900"/>
                        <a:t>Divine nature</a:t>
                      </a:r>
                      <a:endParaRPr sz="19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29" name="Google Shape;129;p18"/>
          <p:cNvSpPr txBox="1"/>
          <p:nvPr/>
        </p:nvSpPr>
        <p:spPr>
          <a:xfrm>
            <a:off x="910050" y="4369175"/>
            <a:ext cx="7353600" cy="1887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b="1" lang="en-US" sz="1700">
                <a:solidFill>
                  <a:schemeClr val="dk1"/>
                </a:solidFill>
              </a:rPr>
              <a:t>Divine Begetting (The Son of God)</a:t>
            </a:r>
            <a:endParaRPr b="1" sz="1700">
              <a:solidFill>
                <a:schemeClr val="dk1"/>
              </a:solidFill>
            </a:endParaRPr>
          </a:p>
          <a:p>
            <a:pPr indent="0" lvl="0" marL="457200" rtl="0" algn="ctr">
              <a:lnSpc>
                <a:spcPct val="115000"/>
              </a:lnSpc>
              <a:spcBef>
                <a:spcPts val="1200"/>
              </a:spcBef>
              <a:spcAft>
                <a:spcPts val="0"/>
              </a:spcAft>
              <a:buNone/>
            </a:pPr>
            <a:r>
              <a:rPr lang="en-US" sz="1100">
                <a:solidFill>
                  <a:schemeClr val="dk1"/>
                </a:solidFill>
              </a:rPr>
              <a:t>The Son is begotten of the Father </a:t>
            </a:r>
            <a:r>
              <a:rPr b="1" lang="en-US" sz="1100">
                <a:solidFill>
                  <a:schemeClr val="dk1"/>
                </a:solidFill>
              </a:rPr>
              <a:t>eternally</a:t>
            </a:r>
            <a:endParaRPr b="1" sz="1100">
              <a:solidFill>
                <a:schemeClr val="dk1"/>
              </a:solidFill>
            </a:endParaRPr>
          </a:p>
          <a:p>
            <a:pPr indent="0" lvl="0" marL="457200" rtl="0" algn="ctr">
              <a:lnSpc>
                <a:spcPct val="115000"/>
              </a:lnSpc>
              <a:spcBef>
                <a:spcPts val="1200"/>
              </a:spcBef>
              <a:spcAft>
                <a:spcPts val="0"/>
              </a:spcAft>
              <a:buNone/>
            </a:pPr>
            <a:r>
              <a:rPr lang="en-US" sz="1100">
                <a:solidFill>
                  <a:schemeClr val="dk1"/>
                </a:solidFill>
              </a:rPr>
              <a:t>He did </a:t>
            </a:r>
            <a:r>
              <a:rPr b="1" lang="en-US" sz="1100">
                <a:solidFill>
                  <a:schemeClr val="dk1"/>
                </a:solidFill>
              </a:rPr>
              <a:t>not begin to exist</a:t>
            </a:r>
            <a:endParaRPr b="1" sz="1100">
              <a:solidFill>
                <a:schemeClr val="dk1"/>
              </a:solidFill>
            </a:endParaRPr>
          </a:p>
          <a:p>
            <a:pPr indent="0" lvl="0" marL="457200" rtl="0" algn="ctr">
              <a:lnSpc>
                <a:spcPct val="115000"/>
              </a:lnSpc>
              <a:spcBef>
                <a:spcPts val="1200"/>
              </a:spcBef>
              <a:spcAft>
                <a:spcPts val="1200"/>
              </a:spcAft>
              <a:buNone/>
            </a:pPr>
            <a:r>
              <a:rPr lang="en-US" sz="1100">
                <a:solidFill>
                  <a:schemeClr val="dk1"/>
                </a:solidFill>
              </a:rPr>
              <a:t>He is </a:t>
            </a:r>
            <a:r>
              <a:rPr b="1" lang="en-US" sz="1100">
                <a:solidFill>
                  <a:schemeClr val="dk1"/>
                </a:solidFill>
              </a:rPr>
              <a:t>fully God</a:t>
            </a:r>
            <a:r>
              <a:rPr lang="en-US" sz="1100">
                <a:solidFill>
                  <a:schemeClr val="dk1"/>
                </a:solidFill>
              </a:rPr>
              <a:t>, same divine nature as the Father</a:t>
            </a:r>
            <a:br>
              <a:rPr lang="en-US" sz="1100">
                <a:solidFill>
                  <a:schemeClr val="dk1"/>
                </a:solidFill>
              </a:rPr>
            </a:br>
            <a:br>
              <a:rPr lang="en-US" sz="1100">
                <a:solidFill>
                  <a:schemeClr val="dk1"/>
                </a:solidFill>
              </a:rPr>
            </a:br>
            <a:r>
              <a:rPr lang="en-US" sz="1050">
                <a:solidFill>
                  <a:srgbClr val="0E0E0E"/>
                </a:solidFill>
              </a:rPr>
              <a:t>The Son is begotten </a:t>
            </a:r>
            <a:r>
              <a:rPr b="1" lang="en-US" sz="1050">
                <a:solidFill>
                  <a:srgbClr val="0E0E0E"/>
                </a:solidFill>
              </a:rPr>
              <a:t>outside of time</a:t>
            </a:r>
            <a:endParaRPr b="1" sz="1050">
              <a:solidFill>
                <a:srgbClr val="0E0E0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image.jpeg" id="134" name="Google Shape;134;p19"/>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35" name="Google Shape;135;p19"/>
          <p:cNvSpPr txBox="1"/>
          <p:nvPr/>
        </p:nvSpPr>
        <p:spPr>
          <a:xfrm>
            <a:off x="521155" y="548665"/>
            <a:ext cx="82296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300" u="none" cap="none" strike="noStrike">
                <a:solidFill>
                  <a:srgbClr val="5A3200"/>
                </a:solidFill>
                <a:latin typeface="Calibri"/>
                <a:ea typeface="Calibri"/>
                <a:cs typeface="Calibri"/>
                <a:sym typeface="Calibri"/>
              </a:rPr>
              <a:t>Deep Dive — Begotten, Proceeds, Co-Existent</a:t>
            </a:r>
            <a:endParaRPr sz="1100"/>
          </a:p>
        </p:txBody>
      </p:sp>
      <p:sp>
        <p:nvSpPr>
          <p:cNvPr id="136" name="Google Shape;136;p19"/>
          <p:cNvSpPr txBox="1"/>
          <p:nvPr/>
        </p:nvSpPr>
        <p:spPr>
          <a:xfrm>
            <a:off x="6511150" y="4796625"/>
            <a:ext cx="3000000" cy="346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t/>
            </a:r>
            <a:endParaRPr sz="1050">
              <a:solidFill>
                <a:srgbClr val="0E0E0E"/>
              </a:solidFill>
            </a:endParaRPr>
          </a:p>
        </p:txBody>
      </p:sp>
      <p:sp>
        <p:nvSpPr>
          <p:cNvPr id="137" name="Google Shape;137;p19"/>
          <p:cNvSpPr txBox="1"/>
          <p:nvPr/>
        </p:nvSpPr>
        <p:spPr>
          <a:xfrm>
            <a:off x="198275" y="1539550"/>
            <a:ext cx="8164200" cy="466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1. Unbegotten: The "Source" (The Father)</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a </a:t>
            </a:r>
            <a:r>
              <a:rPr b="1" lang="en-US" sz="1100">
                <a:solidFill>
                  <a:schemeClr val="dk1"/>
                </a:solidFill>
              </a:rPr>
              <a:t>Mountain Spring.</a:t>
            </a:r>
            <a:r>
              <a:rPr lang="en-US" sz="1100">
                <a:solidFill>
                  <a:schemeClr val="dk1"/>
                </a:solidFill>
              </a:rPr>
              <a:t> The water is just </a:t>
            </a:r>
            <a:r>
              <a:rPr i="1" lang="en-US" sz="1100">
                <a:solidFill>
                  <a:schemeClr val="dk1"/>
                </a:solidFill>
              </a:rPr>
              <a:t>there</a:t>
            </a:r>
            <a:r>
              <a:rPr lang="en-US" sz="1100">
                <a:solidFill>
                  <a:schemeClr val="dk1"/>
                </a:solidFill>
              </a:rPr>
              <a:t>. It didn't flow from another pipe or another mountain. It is the </a:t>
            </a:r>
            <a:r>
              <a:rPr b="1" lang="en-US" sz="1100">
                <a:solidFill>
                  <a:schemeClr val="dk1"/>
                </a:solidFill>
              </a:rPr>
              <a:t>Source.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In plain English:</a:t>
            </a:r>
            <a:r>
              <a:rPr lang="en-US" sz="1100">
                <a:solidFill>
                  <a:schemeClr val="dk1"/>
                </a:solidFill>
              </a:rPr>
              <a:t> "Unbegotten" simply means the Father is the </a:t>
            </a:r>
            <a:r>
              <a:rPr b="1" lang="en-US" sz="1100">
                <a:solidFill>
                  <a:schemeClr val="dk1"/>
                </a:solidFill>
              </a:rPr>
              <a:t>Start.</a:t>
            </a:r>
            <a:r>
              <a:rPr lang="en-US" sz="1100">
                <a:solidFill>
                  <a:schemeClr val="dk1"/>
                </a:solidFill>
              </a:rPr>
              <a:t> He doesn't have a "source" because He </a:t>
            </a:r>
            <a:r>
              <a:rPr i="1" lang="en-US" sz="1100">
                <a:solidFill>
                  <a:schemeClr val="dk1"/>
                </a:solidFill>
              </a:rPr>
              <a:t>is</a:t>
            </a:r>
            <a:r>
              <a:rPr lang="en-US" sz="1100">
                <a:solidFill>
                  <a:schemeClr val="dk1"/>
                </a:solidFill>
              </a:rPr>
              <a:t> the source. He is the Mind that thinks the Thought.</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2. Begotten: The "Birth of the Word" (The Son)</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a </a:t>
            </a:r>
            <a:r>
              <a:rPr b="1" lang="en-US" sz="1100">
                <a:solidFill>
                  <a:schemeClr val="dk1"/>
                </a:solidFill>
              </a:rPr>
              <a:t>Thought in your mind.</a:t>
            </a:r>
            <a:r>
              <a:rPr lang="en-US" sz="1100">
                <a:solidFill>
                  <a:schemeClr val="dk1"/>
                </a:solidFill>
              </a:rPr>
              <a:t> The moment you have a thought, it is "born" in your head. It didn't take time to grow; it just appeared because you are a thinking being.</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In plain English:</a:t>
            </a:r>
            <a:r>
              <a:rPr lang="en-US" sz="1100">
                <a:solidFill>
                  <a:schemeClr val="dk1"/>
                </a:solidFill>
              </a:rPr>
              <a:t> "Begotten" means the Son comes from the Father like a </a:t>
            </a:r>
            <a:r>
              <a:rPr b="1" lang="en-US" sz="1100">
                <a:solidFill>
                  <a:schemeClr val="dk1"/>
                </a:solidFill>
              </a:rPr>
              <a:t>Word</a:t>
            </a:r>
            <a:r>
              <a:rPr lang="en-US" sz="1100">
                <a:solidFill>
                  <a:schemeClr val="dk1"/>
                </a:solidFill>
              </a:rPr>
              <a:t> comes from a </a:t>
            </a:r>
            <a:r>
              <a:rPr b="1" lang="en-US" sz="1100">
                <a:solidFill>
                  <a:schemeClr val="dk1"/>
                </a:solidFill>
              </a:rPr>
              <a:t>Thought.</a:t>
            </a:r>
            <a:r>
              <a:rPr lang="en-US" sz="1100">
                <a:solidFill>
                  <a:schemeClr val="dk1"/>
                </a:solidFill>
              </a:rPr>
              <a:t> </a:t>
            </a:r>
            <a:br>
              <a:rPr lang="en-US" sz="1100">
                <a:solidFill>
                  <a:schemeClr val="dk1"/>
                </a:solidFill>
              </a:rPr>
            </a:br>
            <a:r>
              <a:rPr b="1" lang="en-US" sz="1100">
                <a:solidFill>
                  <a:schemeClr val="dk1"/>
                </a:solidFill>
              </a:rPr>
              <a:t>Why does this matter?</a:t>
            </a:r>
            <a:r>
              <a:rPr lang="en-US" sz="1100">
                <a:solidFill>
                  <a:schemeClr val="dk1"/>
                </a:solidFill>
              </a:rPr>
              <a:t> Because a word has the same "stuff" as the thought. If you think about an apple, your word is "apple." They are the same nature. The Son is the "Word" of God, meaning He is exactly like the Father.</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3. Proceeding: The "Flow of Life" (The Holy Spirit)</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your </a:t>
            </a:r>
            <a:r>
              <a:rPr b="1" lang="en-US" sz="1100">
                <a:solidFill>
                  <a:schemeClr val="dk1"/>
                </a:solidFill>
              </a:rPr>
              <a:t>Breath.</a:t>
            </a:r>
            <a:r>
              <a:rPr lang="en-US" sz="1100">
                <a:solidFill>
                  <a:schemeClr val="dk1"/>
                </a:solidFill>
              </a:rPr>
              <a:t> When you speak a word, your breath carries that word out into the room. You don't "give birth" to your breath like a baby; it </a:t>
            </a:r>
            <a:r>
              <a:rPr b="1" lang="en-US" sz="1100">
                <a:solidFill>
                  <a:schemeClr val="dk1"/>
                </a:solidFill>
              </a:rPr>
              <a:t>flows out</a:t>
            </a:r>
            <a:r>
              <a:rPr lang="en-US" sz="1100">
                <a:solidFill>
                  <a:schemeClr val="dk1"/>
                </a:solidFill>
              </a:rPr>
              <a:t> of you.</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In plain English:</a:t>
            </a:r>
            <a:r>
              <a:rPr lang="en-US" sz="1100">
                <a:solidFill>
                  <a:schemeClr val="dk1"/>
                </a:solidFill>
              </a:rPr>
              <a:t> "Proceeding" means the Spirit flows from the Father like </a:t>
            </a:r>
            <a:r>
              <a:rPr b="1" lang="en-US" sz="1100">
                <a:solidFill>
                  <a:schemeClr val="dk1"/>
                </a:solidFill>
              </a:rPr>
              <a:t>Breath</a:t>
            </a:r>
            <a:r>
              <a:rPr lang="en-US" sz="1100">
                <a:solidFill>
                  <a:schemeClr val="dk1"/>
                </a:solidFill>
              </a:rPr>
              <a:t> or </a:t>
            </a:r>
            <a:r>
              <a:rPr b="1" lang="en-US" sz="1100">
                <a:solidFill>
                  <a:schemeClr val="dk1"/>
                </a:solidFill>
              </a:rPr>
              <a:t>Energy.</a:t>
            </a:r>
            <a:r>
              <a:rPr lang="en-US" sz="1100">
                <a:solidFill>
                  <a:schemeClr val="dk1"/>
                </a:solidFill>
              </a:rPr>
              <a:t> * </a:t>
            </a:r>
            <a:r>
              <a:rPr b="1" lang="en-US" sz="1100">
                <a:solidFill>
                  <a:schemeClr val="dk1"/>
                </a:solidFill>
              </a:rPr>
              <a:t>Why the difference?</a:t>
            </a:r>
            <a:r>
              <a:rPr lang="en-US" sz="1100">
                <a:solidFill>
                  <a:schemeClr val="dk1"/>
                </a:solidFill>
              </a:rPr>
              <a:t> We use a different word ("Proceeding") because the Spirit relates to the Father differently than the Son does. If the Son is the </a:t>
            </a:r>
            <a:r>
              <a:rPr i="1" lang="en-US" sz="1100">
                <a:solidFill>
                  <a:schemeClr val="dk1"/>
                </a:solidFill>
              </a:rPr>
              <a:t>Word</a:t>
            </a:r>
            <a:r>
              <a:rPr lang="en-US" sz="1100">
                <a:solidFill>
                  <a:schemeClr val="dk1"/>
                </a:solidFill>
              </a:rPr>
              <a:t> God speaks, the Spirit is the </a:t>
            </a:r>
            <a:r>
              <a:rPr i="1" lang="en-US" sz="1100">
                <a:solidFill>
                  <a:schemeClr val="dk1"/>
                </a:solidFill>
              </a:rPr>
              <a:t>Life/Breath</a:t>
            </a:r>
            <a:r>
              <a:rPr lang="en-US" sz="1100">
                <a:solidFill>
                  <a:schemeClr val="dk1"/>
                </a:solidFill>
              </a:rPr>
              <a:t> that makes the Word alive.</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image.jpeg" id="142" name="Google Shape;142;p20"/>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43" name="Google Shape;143;p20"/>
          <p:cNvSpPr txBox="1"/>
          <p:nvPr/>
        </p:nvSpPr>
        <p:spPr>
          <a:xfrm>
            <a:off x="521155" y="548665"/>
            <a:ext cx="82296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900" u="none" cap="none" strike="noStrike">
                <a:solidFill>
                  <a:srgbClr val="5A3200"/>
                </a:solidFill>
                <a:latin typeface="Calibri"/>
                <a:ea typeface="Calibri"/>
                <a:cs typeface="Calibri"/>
                <a:sym typeface="Calibri"/>
              </a:rPr>
              <a:t>Deep Dive — </a:t>
            </a:r>
            <a:r>
              <a:rPr b="1" lang="en-US" sz="2900">
                <a:solidFill>
                  <a:srgbClr val="5A3200"/>
                </a:solidFill>
                <a:latin typeface="Calibri"/>
                <a:ea typeface="Calibri"/>
                <a:cs typeface="Calibri"/>
                <a:sym typeface="Calibri"/>
              </a:rPr>
              <a:t>Unbegotten: The “Source: (The Father)</a:t>
            </a:r>
            <a:endParaRPr sz="700"/>
          </a:p>
        </p:txBody>
      </p:sp>
      <p:sp>
        <p:nvSpPr>
          <p:cNvPr id="144" name="Google Shape;144;p20"/>
          <p:cNvSpPr txBox="1"/>
          <p:nvPr/>
        </p:nvSpPr>
        <p:spPr>
          <a:xfrm>
            <a:off x="6511150" y="4796625"/>
            <a:ext cx="3000000" cy="346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t/>
            </a:r>
            <a:endParaRPr sz="1050">
              <a:solidFill>
                <a:srgbClr val="0E0E0E"/>
              </a:solidFill>
            </a:endParaRPr>
          </a:p>
        </p:txBody>
      </p:sp>
      <p:sp>
        <p:nvSpPr>
          <p:cNvPr id="145" name="Google Shape;145;p20"/>
          <p:cNvSpPr txBox="1"/>
          <p:nvPr/>
        </p:nvSpPr>
        <p:spPr>
          <a:xfrm>
            <a:off x="0" y="1307350"/>
            <a:ext cx="8957400" cy="3269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Unbegotten</a:t>
            </a:r>
            <a:r>
              <a:rPr lang="en-US" sz="1300">
                <a:solidFill>
                  <a:schemeClr val="dk1"/>
                </a:solidFill>
              </a:rPr>
              <a:t> means the Father does not come from anyone else. </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He is not born from another.</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He is not made by another.</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He is not caused by another.</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He is not created by another.</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In</a:t>
            </a:r>
            <a:r>
              <a:rPr lang="en-US" sz="1300">
                <a:solidFill>
                  <a:schemeClr val="dk1"/>
                </a:solidFill>
              </a:rPr>
              <a:t> plain English: </a:t>
            </a:r>
            <a:r>
              <a:rPr b="1" lang="en-US" sz="1300">
                <a:solidFill>
                  <a:schemeClr val="dk1"/>
                </a:solidFill>
              </a:rPr>
              <a:t>the Father has no source because He is the Source.</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This does </a:t>
            </a:r>
            <a:r>
              <a:rPr b="1" lang="en-US" sz="1300">
                <a:solidFill>
                  <a:schemeClr val="dk1"/>
                </a:solidFill>
              </a:rPr>
              <a:t>not</a:t>
            </a:r>
            <a:r>
              <a:rPr lang="en-US" sz="1300">
                <a:solidFill>
                  <a:schemeClr val="dk1"/>
                </a:solidFill>
              </a:rPr>
              <a:t> mean the Father existed before the Son or before the Holy Spirit. God is not trapped inside time like we are. </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The Father, Son, and Holy Spirit are all eternal. There was never a time when the Father was without His Son or without His Spirit.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The Father is called </a:t>
            </a:r>
            <a:r>
              <a:rPr b="1" lang="en-US" sz="1300">
                <a:solidFill>
                  <a:schemeClr val="dk1"/>
                </a:solidFill>
              </a:rPr>
              <a:t>Unbegotten</a:t>
            </a:r>
            <a:r>
              <a:rPr lang="en-US" sz="1300">
                <a:solidFill>
                  <a:schemeClr val="dk1"/>
                </a:solidFill>
              </a:rPr>
              <a:t> because He is the eternal Source within the Holy Trinity.</a:t>
            </a:r>
            <a:endParaRPr sz="13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146" name="Google Shape;146;p20"/>
          <p:cNvSpPr txBox="1"/>
          <p:nvPr/>
        </p:nvSpPr>
        <p:spPr>
          <a:xfrm>
            <a:off x="279900" y="4375625"/>
            <a:ext cx="8397600" cy="18432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300">
                <a:solidFill>
                  <a:schemeClr val="dk1"/>
                </a:solidFill>
              </a:rPr>
              <a:t>So when we say the Father is “the Source,” we are not saying He is greater in nature than the Son or the Holy Spirit. We are saying this is what makes Him personally the Father.</a:t>
            </a:r>
            <a:endParaRPr sz="1300">
              <a:solidFill>
                <a:schemeClr val="dk1"/>
              </a:solidFill>
            </a:endParaRPr>
          </a:p>
          <a:p>
            <a:pPr indent="0" lvl="0" marL="0" rtl="0" algn="l">
              <a:lnSpc>
                <a:spcPct val="115000"/>
              </a:lnSpc>
              <a:spcBef>
                <a:spcPts val="1200"/>
              </a:spcBef>
              <a:spcAft>
                <a:spcPts val="0"/>
              </a:spcAft>
              <a:buNone/>
            </a:pPr>
            <a:r>
              <a:rPr lang="en-US" sz="1300">
                <a:solidFill>
                  <a:schemeClr val="dk1"/>
                </a:solidFill>
              </a:rPr>
              <a:t>The Father is fully God.</a:t>
            </a:r>
            <a:br>
              <a:rPr lang="en-US" sz="1300">
                <a:solidFill>
                  <a:schemeClr val="dk1"/>
                </a:solidFill>
              </a:rPr>
            </a:br>
            <a:r>
              <a:rPr lang="en-US" sz="1300">
                <a:solidFill>
                  <a:schemeClr val="dk1"/>
                </a:solidFill>
              </a:rPr>
              <a:t> The Son is fully God.</a:t>
            </a:r>
            <a:br>
              <a:rPr lang="en-US" sz="1300">
                <a:solidFill>
                  <a:schemeClr val="dk1"/>
                </a:solidFill>
              </a:rPr>
            </a:br>
            <a:r>
              <a:rPr lang="en-US" sz="1300">
                <a:solidFill>
                  <a:schemeClr val="dk1"/>
                </a:solidFill>
              </a:rPr>
              <a:t> The Holy Spirit is fully God.</a:t>
            </a:r>
            <a:endParaRPr sz="1300">
              <a:solidFill>
                <a:schemeClr val="dk1"/>
              </a:solidFill>
            </a:endParaRPr>
          </a:p>
          <a:p>
            <a:pPr indent="0" lvl="0" marL="0" rtl="0" algn="l">
              <a:lnSpc>
                <a:spcPct val="115000"/>
              </a:lnSpc>
              <a:spcBef>
                <a:spcPts val="1200"/>
              </a:spcBef>
              <a:spcAft>
                <a:spcPts val="1200"/>
              </a:spcAft>
              <a:buNone/>
            </a:pPr>
            <a:r>
              <a:rPr lang="en-US" sz="1300">
                <a:solidFill>
                  <a:schemeClr val="dk1"/>
                </a:solidFill>
              </a:rPr>
              <a:t>The difference is not in their divinity. The difference is in their personal relationship to one another.</a:t>
            </a: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image.jpeg" id="151" name="Google Shape;151;p21"/>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52" name="Google Shape;152;p21"/>
          <p:cNvSpPr txBox="1"/>
          <p:nvPr/>
        </p:nvSpPr>
        <p:spPr>
          <a:xfrm>
            <a:off x="311225" y="735275"/>
            <a:ext cx="8622900" cy="10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5A3200"/>
                </a:solidFill>
                <a:latin typeface="Calibri"/>
                <a:ea typeface="Calibri"/>
                <a:cs typeface="Calibri"/>
                <a:sym typeface="Calibri"/>
              </a:rPr>
              <a:t>Deep Dive — Begotten </a:t>
            </a:r>
            <a:r>
              <a:rPr b="1" lang="en-US" sz="3000">
                <a:solidFill>
                  <a:srgbClr val="5A3200"/>
                </a:solidFill>
                <a:latin typeface="Calibri"/>
                <a:ea typeface="Calibri"/>
                <a:cs typeface="Calibri"/>
                <a:sym typeface="Calibri"/>
              </a:rPr>
              <a:t>“</a:t>
            </a:r>
            <a:r>
              <a:rPr b="1" i="0" lang="en-US" sz="3000" u="none" cap="none" strike="noStrike">
                <a:solidFill>
                  <a:srgbClr val="5A3200"/>
                </a:solidFill>
                <a:latin typeface="Calibri"/>
                <a:ea typeface="Calibri"/>
                <a:cs typeface="Calibri"/>
                <a:sym typeface="Calibri"/>
              </a:rPr>
              <a:t>Birth of the Word</a:t>
            </a:r>
            <a:r>
              <a:rPr b="1" lang="en-US" sz="3000">
                <a:solidFill>
                  <a:srgbClr val="5A3200"/>
                </a:solidFill>
                <a:latin typeface="Calibri"/>
                <a:ea typeface="Calibri"/>
                <a:cs typeface="Calibri"/>
                <a:sym typeface="Calibri"/>
              </a:rPr>
              <a:t>” (The Son)</a:t>
            </a:r>
            <a:r>
              <a:rPr b="1" lang="en-US" sz="1200">
                <a:solidFill>
                  <a:schemeClr val="dk1"/>
                </a:solidFill>
              </a:rPr>
              <a:t> </a:t>
            </a:r>
            <a:endParaRPr b="1" sz="1200">
              <a:solidFill>
                <a:schemeClr val="dk1"/>
              </a:solidFill>
            </a:endParaRPr>
          </a:p>
          <a:p>
            <a:pPr indent="0" lvl="0" marL="0" marR="0" rtl="0" algn="l">
              <a:spcBef>
                <a:spcPts val="0"/>
              </a:spcBef>
              <a:spcAft>
                <a:spcPts val="0"/>
              </a:spcAft>
              <a:buNone/>
            </a:pPr>
            <a:r>
              <a:t/>
            </a:r>
            <a:endParaRPr b="1" sz="3300">
              <a:solidFill>
                <a:srgbClr val="5A3200"/>
              </a:solidFill>
              <a:latin typeface="Calibri"/>
              <a:ea typeface="Calibri"/>
              <a:cs typeface="Calibri"/>
              <a:sym typeface="Calibri"/>
            </a:endParaRPr>
          </a:p>
        </p:txBody>
      </p:sp>
      <p:sp>
        <p:nvSpPr>
          <p:cNvPr id="153" name="Google Shape;153;p21"/>
          <p:cNvSpPr txBox="1"/>
          <p:nvPr/>
        </p:nvSpPr>
        <p:spPr>
          <a:xfrm>
            <a:off x="6511150" y="4796625"/>
            <a:ext cx="3000000" cy="346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t/>
            </a:r>
            <a:endParaRPr sz="1050">
              <a:solidFill>
                <a:srgbClr val="0E0E0E"/>
              </a:solidFill>
            </a:endParaRPr>
          </a:p>
        </p:txBody>
      </p:sp>
      <p:sp>
        <p:nvSpPr>
          <p:cNvPr id="154" name="Google Shape;154;p21"/>
          <p:cNvSpPr txBox="1"/>
          <p:nvPr/>
        </p:nvSpPr>
        <p:spPr>
          <a:xfrm>
            <a:off x="81625" y="1318925"/>
            <a:ext cx="8164200" cy="2329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1"/>
              </a:buClr>
              <a:buSzPts val="1300"/>
              <a:buChar char="●"/>
            </a:pPr>
            <a:r>
              <a:rPr lang="en-US" sz="1300">
                <a:solidFill>
                  <a:schemeClr val="dk1"/>
                </a:solidFill>
              </a:rPr>
              <a:t>When you speak a word, that word comes from inside you. It is not something outside of you that you built with your hands. It comes from your mind and expresses what is already in you.</a:t>
            </a:r>
            <a:endParaRPr sz="1300">
              <a:solidFill>
                <a:schemeClr val="dk1"/>
              </a:solidFill>
            </a:endParaRPr>
          </a:p>
          <a:p>
            <a:pPr indent="0" lvl="0" marL="457200" rtl="0" algn="l">
              <a:lnSpc>
                <a:spcPct val="115000"/>
              </a:lnSpc>
              <a:spcBef>
                <a:spcPts val="0"/>
              </a:spcBef>
              <a:spcAft>
                <a:spcPts val="0"/>
              </a:spcAft>
              <a:buNone/>
            </a:pPr>
            <a:r>
              <a:rPr lang="en-US" sz="1300">
                <a:solidFill>
                  <a:schemeClr val="dk1"/>
                </a:solidFill>
              </a:rPr>
              <a:t>So when we call Jesus the Word of God, we mean the Son perfectly reveals who the Father is. He is not a separate kind of being. He is not less than the Father. He is from the Father and shares the same divine nature.That is why Jesus is called the Word of God. He is fully God, just as the Father is fully God</a:t>
            </a:r>
            <a:r>
              <a:rPr lang="en-US" sz="1300">
                <a:solidFill>
                  <a:schemeClr val="dk1"/>
                </a:solidFill>
              </a:rPr>
              <a:t>.</a:t>
            </a:r>
            <a:endParaRPr sz="1300">
              <a:solidFill>
                <a:schemeClr val="dk1"/>
              </a:solidFill>
            </a:endParaRPr>
          </a:p>
          <a:p>
            <a:pPr indent="0" lvl="0" marL="45720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400"/>
              </a:spcBef>
              <a:spcAft>
                <a:spcPts val="400"/>
              </a:spcAft>
              <a:buNone/>
            </a:pPr>
            <a:r>
              <a:t/>
            </a:r>
            <a:endParaRPr sz="1300">
              <a:solidFill>
                <a:schemeClr val="dk1"/>
              </a:solidFill>
            </a:endParaRPr>
          </a:p>
        </p:txBody>
      </p:sp>
      <p:sp>
        <p:nvSpPr>
          <p:cNvPr id="155" name="Google Shape;155;p21"/>
          <p:cNvSpPr txBox="1"/>
          <p:nvPr/>
        </p:nvSpPr>
        <p:spPr>
          <a:xfrm>
            <a:off x="383175" y="4551700"/>
            <a:ext cx="8062800" cy="1908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b="1" lang="en-US">
                <a:solidFill>
                  <a:schemeClr val="dk1"/>
                </a:solidFill>
              </a:rPr>
              <a:t>NATURE:</a:t>
            </a:r>
            <a:r>
              <a:rPr lang="en-US">
                <a:solidFill>
                  <a:schemeClr val="dk1"/>
                </a:solidFill>
              </a:rPr>
              <a:t> A Human begets a Human. Therefore, God the Father begets God the Son. They are made of the same Divine Nature.</a:t>
            </a: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It is NOT "Making":</a:t>
            </a:r>
            <a:r>
              <a:rPr lang="en-US">
                <a:solidFill>
                  <a:schemeClr val="dk1"/>
                </a:solidFill>
              </a:rPr>
              <a:t> God </a:t>
            </a:r>
            <a:r>
              <a:rPr i="1" lang="en-US">
                <a:solidFill>
                  <a:schemeClr val="dk1"/>
                </a:solidFill>
              </a:rPr>
              <a:t>made</a:t>
            </a:r>
            <a:r>
              <a:rPr lang="en-US">
                <a:solidFill>
                  <a:schemeClr val="dk1"/>
                </a:solidFill>
              </a:rPr>
              <a:t> the stars, but He </a:t>
            </a:r>
            <a:r>
              <a:rPr i="1" lang="en-US">
                <a:solidFill>
                  <a:schemeClr val="dk1"/>
                </a:solidFill>
              </a:rPr>
              <a:t>begat</a:t>
            </a:r>
            <a:r>
              <a:rPr lang="en-US">
                <a:solidFill>
                  <a:schemeClr val="dk1"/>
                </a:solidFill>
              </a:rPr>
              <a:t> the Son. The stars are not God; the Son is.</a:t>
            </a: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It is ETERNAL:</a:t>
            </a:r>
            <a:r>
              <a:rPr lang="en-US">
                <a:solidFill>
                  <a:schemeClr val="dk1"/>
                </a:solidFill>
              </a:rPr>
              <a:t> Think of Light coming from a Flame. The light is "born" from the flame, but they both start at the exact same time. There was never a Flame without its Light.</a:t>
            </a: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The Bottom Line:</a:t>
            </a:r>
            <a:r>
              <a:rPr lang="en-US">
                <a:solidFill>
                  <a:schemeClr val="dk1"/>
                </a:solidFill>
              </a:rPr>
              <a:t> The Son is the Father’s perfect "Self-Expression." Everything the Father is, the Son is—except for the fact that He is the Son and not the Father.</a:t>
            </a:r>
            <a:endParaRPr>
              <a:solidFill>
                <a:schemeClr val="dk1"/>
              </a:solidFill>
            </a:endParaRPr>
          </a:p>
        </p:txBody>
      </p:sp>
      <p:sp>
        <p:nvSpPr>
          <p:cNvPr id="156" name="Google Shape;156;p21"/>
          <p:cNvSpPr txBox="1"/>
          <p:nvPr/>
        </p:nvSpPr>
        <p:spPr>
          <a:xfrm>
            <a:off x="383175" y="2858500"/>
            <a:ext cx="8062800" cy="15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Char char="●"/>
            </a:pPr>
            <a:r>
              <a:rPr b="1" lang="en-US" sz="1500">
                <a:solidFill>
                  <a:schemeClr val="dk1"/>
                </a:solidFill>
              </a:rPr>
              <a:t>To </a:t>
            </a:r>
            <a:r>
              <a:rPr b="1" lang="en-US" sz="1500" u="sng">
                <a:solidFill>
                  <a:schemeClr val="dk1"/>
                </a:solidFill>
              </a:rPr>
              <a:t>MAKE:</a:t>
            </a:r>
            <a:r>
              <a:rPr lang="en-US" sz="1500">
                <a:solidFill>
                  <a:schemeClr val="dk1"/>
                </a:solidFill>
              </a:rPr>
              <a:t> is to create something </a:t>
            </a:r>
            <a:r>
              <a:rPr i="1" lang="en-US" sz="1500">
                <a:solidFill>
                  <a:schemeClr val="dk1"/>
                </a:solidFill>
              </a:rPr>
              <a:t>different</a:t>
            </a:r>
            <a:r>
              <a:rPr lang="en-US" sz="1500">
                <a:solidFill>
                  <a:schemeClr val="dk1"/>
                </a:solidFill>
              </a:rPr>
              <a:t> from yourself. A carpenter makes a table. The table is wood; the carpenter is human. They do not share the same nature.</a:t>
            </a:r>
            <a:br>
              <a:rPr lang="en-US"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US" sz="1500">
                <a:solidFill>
                  <a:schemeClr val="dk1"/>
                </a:solidFill>
              </a:rPr>
              <a:t>To </a:t>
            </a:r>
            <a:r>
              <a:rPr b="1" lang="en-US" sz="1500" u="sng">
                <a:solidFill>
                  <a:schemeClr val="dk1"/>
                </a:solidFill>
              </a:rPr>
              <a:t>BEGET</a:t>
            </a:r>
            <a:r>
              <a:rPr b="1" lang="en-US" sz="1500">
                <a:solidFill>
                  <a:schemeClr val="dk1"/>
                </a:solidFill>
              </a:rPr>
              <a:t>:</a:t>
            </a:r>
            <a:r>
              <a:rPr lang="en-US" sz="1500">
                <a:solidFill>
                  <a:schemeClr val="dk1"/>
                </a:solidFill>
              </a:rPr>
              <a:t> is to produce something that is the </a:t>
            </a:r>
            <a:r>
              <a:rPr i="1" lang="en-US" sz="1500">
                <a:solidFill>
                  <a:schemeClr val="dk1"/>
                </a:solidFill>
              </a:rPr>
              <a:t>exact same</a:t>
            </a:r>
            <a:r>
              <a:rPr lang="en-US" sz="1500">
                <a:solidFill>
                  <a:schemeClr val="dk1"/>
                </a:solidFill>
              </a:rPr>
              <a:t> as yourself. A human begets a human. A lion begets a lion.</a:t>
            </a:r>
            <a:endParaRPr sz="1500">
              <a:solidFill>
                <a:schemeClr val="dk1"/>
              </a:solidFill>
            </a:endParaRPr>
          </a:p>
          <a:p>
            <a:pPr indent="0" lvl="0" marL="0" rtl="0" algn="l">
              <a:spcBef>
                <a:spcPts val="0"/>
              </a:spcBef>
              <a:spcAft>
                <a:spcPts val="0"/>
              </a:spcAft>
              <a:buNone/>
            </a:pPr>
            <a:r>
              <a:t/>
            </a:r>
            <a:endParaRPr sz="13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image.jpeg" id="161" name="Google Shape;161;p22"/>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62" name="Google Shape;162;p22"/>
          <p:cNvSpPr txBox="1"/>
          <p:nvPr/>
        </p:nvSpPr>
        <p:spPr>
          <a:xfrm>
            <a:off x="521155" y="548665"/>
            <a:ext cx="82296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300" u="none" cap="none" strike="noStrike">
                <a:solidFill>
                  <a:srgbClr val="5A3200"/>
                </a:solidFill>
                <a:latin typeface="Calibri"/>
                <a:ea typeface="Calibri"/>
                <a:cs typeface="Calibri"/>
                <a:sym typeface="Calibri"/>
              </a:rPr>
              <a:t>Deep Dive — </a:t>
            </a:r>
            <a:r>
              <a:rPr b="1" lang="en-US" sz="3300">
                <a:solidFill>
                  <a:srgbClr val="5A3200"/>
                </a:solidFill>
                <a:latin typeface="Calibri"/>
                <a:ea typeface="Calibri"/>
                <a:cs typeface="Calibri"/>
                <a:sym typeface="Calibri"/>
              </a:rPr>
              <a:t>Proceeding The Holy Spirit</a:t>
            </a:r>
            <a:endParaRPr sz="1100"/>
          </a:p>
        </p:txBody>
      </p:sp>
      <p:sp>
        <p:nvSpPr>
          <p:cNvPr id="163" name="Google Shape;163;p22"/>
          <p:cNvSpPr txBox="1"/>
          <p:nvPr/>
        </p:nvSpPr>
        <p:spPr>
          <a:xfrm>
            <a:off x="6511150" y="4796625"/>
            <a:ext cx="3000000" cy="346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t/>
            </a:r>
            <a:endParaRPr sz="1050">
              <a:solidFill>
                <a:srgbClr val="0E0E0E"/>
              </a:solidFill>
            </a:endParaRPr>
          </a:p>
        </p:txBody>
      </p:sp>
      <p:sp>
        <p:nvSpPr>
          <p:cNvPr id="164" name="Google Shape;164;p22"/>
          <p:cNvSpPr txBox="1"/>
          <p:nvPr/>
        </p:nvSpPr>
        <p:spPr>
          <a:xfrm>
            <a:off x="198275" y="1148975"/>
            <a:ext cx="8164200" cy="2916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Proceeding</a:t>
            </a:r>
            <a:r>
              <a:rPr lang="en-US" sz="1300">
                <a:solidFill>
                  <a:schemeClr val="dk1"/>
                </a:solidFill>
              </a:rPr>
              <a:t> describes the Holy Spirit’s eternal relationship to the Father.</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The Holy Spirit is not created.</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 He is not made.</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 He is not begotten like the Son.</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 He eternally proceeds from the Father.</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In plain English:</a:t>
            </a:r>
            <a:br>
              <a:rPr b="1" lang="en-US" sz="1300">
                <a:solidFill>
                  <a:schemeClr val="dk1"/>
                </a:solidFill>
              </a:rPr>
            </a:br>
            <a:r>
              <a:rPr lang="en-US" sz="1300">
                <a:solidFill>
                  <a:schemeClr val="dk1"/>
                </a:solidFill>
              </a:rPr>
              <a:t> “Proceeding” means the Spirit flows from the Father like Breath or Energy. </a:t>
            </a:r>
            <a:br>
              <a:rPr lang="en-US" sz="1300">
                <a:solidFill>
                  <a:schemeClr val="dk1"/>
                </a:solidFill>
              </a:rPr>
            </a:br>
            <a:br>
              <a:rPr lang="en-US" sz="1300">
                <a:solidFill>
                  <a:schemeClr val="dk1"/>
                </a:solidFill>
              </a:rPr>
            </a:br>
            <a:r>
              <a:rPr b="1" lang="en-US" sz="1300">
                <a:solidFill>
                  <a:schemeClr val="dk1"/>
                </a:solidFill>
              </a:rPr>
              <a:t>Why the difference? </a:t>
            </a:r>
            <a:r>
              <a:rPr lang="en-US" sz="1300">
                <a:solidFill>
                  <a:schemeClr val="dk1"/>
                </a:solidFill>
              </a:rPr>
              <a:t>We use a different word (“Proceeding”) because the Spirit relates to the Father differently than the Son does. If the Son is the Word God speaks, the Spirit is the Life/Breath that makes the Word alive.</a:t>
            </a:r>
            <a:endParaRPr b="1" sz="1500">
              <a:solidFill>
                <a:schemeClr val="dk1"/>
              </a:solidFill>
            </a:endParaRPr>
          </a:p>
        </p:txBody>
      </p:sp>
      <p:sp>
        <p:nvSpPr>
          <p:cNvPr id="165" name="Google Shape;165;p22"/>
          <p:cNvSpPr txBox="1"/>
          <p:nvPr/>
        </p:nvSpPr>
        <p:spPr>
          <a:xfrm>
            <a:off x="198275" y="4064975"/>
            <a:ext cx="86076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200">
                <a:solidFill>
                  <a:schemeClr val="dk1"/>
                </a:solidFill>
              </a:rPr>
              <a:t>This does </a:t>
            </a:r>
            <a:r>
              <a:rPr b="1" lang="en-US" sz="1200">
                <a:solidFill>
                  <a:schemeClr val="dk1"/>
                </a:solidFill>
              </a:rPr>
              <a:t>not</a:t>
            </a:r>
            <a:r>
              <a:rPr lang="en-US" sz="1200">
                <a:solidFill>
                  <a:schemeClr val="dk1"/>
                </a:solidFill>
              </a:rPr>
              <a:t> mean the Holy Spirit is just air, energy, or a force.</a:t>
            </a:r>
            <a:br>
              <a:rPr lang="en-US" sz="1200">
                <a:solidFill>
                  <a:schemeClr val="dk1"/>
                </a:solidFill>
              </a:rPr>
            </a:br>
            <a:r>
              <a:rPr lang="en-US" sz="1200">
                <a:solidFill>
                  <a:schemeClr val="dk1"/>
                </a:solidFill>
              </a:rPr>
              <a:t>He is a </a:t>
            </a:r>
            <a:r>
              <a:rPr b="1" lang="en-US" sz="1200">
                <a:solidFill>
                  <a:schemeClr val="dk1"/>
                </a:solidFill>
              </a:rPr>
              <a:t>divine Person</a:t>
            </a:r>
            <a:r>
              <a:rPr lang="en-US" sz="1200">
                <a:solidFill>
                  <a:schemeClr val="dk1"/>
                </a:solidFill>
              </a:rPr>
              <a:t>, fully God, eternal, and one in essence with the Father and the Son.</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The Son is </a:t>
            </a:r>
            <a:r>
              <a:rPr b="1" lang="en-US" sz="1200">
                <a:solidFill>
                  <a:schemeClr val="dk1"/>
                </a:solidFill>
              </a:rPr>
              <a:t>begotten</a:t>
            </a:r>
            <a:r>
              <a:rPr lang="en-US" sz="1200">
                <a:solidFill>
                  <a:schemeClr val="dk1"/>
                </a:solidFill>
              </a:rPr>
              <a:t> from the Father. The Holy Spirit </a:t>
            </a:r>
            <a:r>
              <a:rPr b="1" lang="en-US" sz="1200">
                <a:solidFill>
                  <a:schemeClr val="dk1"/>
                </a:solidFill>
              </a:rPr>
              <a:t>proceeds</a:t>
            </a:r>
            <a:r>
              <a:rPr lang="en-US" sz="1200">
                <a:solidFill>
                  <a:schemeClr val="dk1"/>
                </a:solidFill>
              </a:rPr>
              <a:t> from the Father.</a:t>
            </a:r>
            <a:endParaRPr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rPr>
              <a:t>These are not two ways of being created. They are two eternal relationships inside the Holy Trinity.</a:t>
            </a:r>
            <a:endParaRPr b="1" sz="1300">
              <a:solidFill>
                <a:schemeClr val="dk1"/>
              </a:solidFill>
            </a:endParaRPr>
          </a:p>
        </p:txBody>
      </p:sp>
      <p:sp>
        <p:nvSpPr>
          <p:cNvPr id="166" name="Google Shape;166;p22"/>
          <p:cNvSpPr txBox="1"/>
          <p:nvPr/>
        </p:nvSpPr>
        <p:spPr>
          <a:xfrm>
            <a:off x="268250" y="5142825"/>
            <a:ext cx="7616100" cy="15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rPr>
              <a:t>Bottom Line</a:t>
            </a:r>
            <a:br>
              <a:rPr b="1" lang="en-US" sz="1500">
                <a:solidFill>
                  <a:schemeClr val="dk1"/>
                </a:solidFill>
              </a:rPr>
            </a:br>
            <a:br>
              <a:rPr b="1" lang="en-US" sz="1500">
                <a:solidFill>
                  <a:schemeClr val="dk1"/>
                </a:solidFill>
              </a:rPr>
            </a:br>
            <a:r>
              <a:rPr lang="en-US" sz="1300">
                <a:solidFill>
                  <a:schemeClr val="dk1"/>
                </a:solidFill>
              </a:rPr>
              <a:t>The Holy Spirit proceeds from the Father, gives life, and is worshiped together with the Father and the Son as one God.</a:t>
            </a:r>
            <a:endParaRPr sz="1300">
              <a:solidFill>
                <a:schemeClr val="dk1"/>
              </a:solidFill>
            </a:endParaRPr>
          </a:p>
          <a:p>
            <a:pPr indent="0" lvl="0" marL="457200" rtl="0" algn="l">
              <a:lnSpc>
                <a:spcPct val="115000"/>
              </a:lnSpc>
              <a:spcBef>
                <a:spcPts val="1200"/>
              </a:spcBef>
              <a:spcAft>
                <a:spcPts val="1200"/>
              </a:spcAft>
              <a:buNone/>
            </a:pPr>
            <a:r>
              <a:t/>
            </a:r>
            <a:endParaRPr b="1"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image.jpeg" id="171" name="Google Shape;171;p23"/>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72" name="Google Shape;172;p23"/>
          <p:cNvSpPr txBox="1"/>
          <p:nvPr/>
        </p:nvSpPr>
        <p:spPr>
          <a:xfrm>
            <a:off x="521155" y="548665"/>
            <a:ext cx="82296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300">
                <a:solidFill>
                  <a:srgbClr val="5A3200"/>
                </a:solidFill>
                <a:latin typeface="Calibri"/>
                <a:ea typeface="Calibri"/>
                <a:cs typeface="Calibri"/>
                <a:sym typeface="Calibri"/>
              </a:rPr>
              <a:t>One Essence, Three Eternal Relationships</a:t>
            </a:r>
            <a:endParaRPr sz="1100"/>
          </a:p>
        </p:txBody>
      </p:sp>
      <p:sp>
        <p:nvSpPr>
          <p:cNvPr id="173" name="Google Shape;173;p23"/>
          <p:cNvSpPr txBox="1"/>
          <p:nvPr/>
        </p:nvSpPr>
        <p:spPr>
          <a:xfrm>
            <a:off x="119310" y="1799075"/>
            <a:ext cx="82296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600">
              <a:solidFill>
                <a:srgbClr val="1E1E1E"/>
              </a:solidFill>
              <a:latin typeface="Calibri"/>
              <a:ea typeface="Calibri"/>
              <a:cs typeface="Calibri"/>
              <a:sym typeface="Calibri"/>
            </a:endParaRPr>
          </a:p>
        </p:txBody>
      </p:sp>
      <p:sp>
        <p:nvSpPr>
          <p:cNvPr id="174" name="Google Shape;174;p23"/>
          <p:cNvSpPr txBox="1"/>
          <p:nvPr/>
        </p:nvSpPr>
        <p:spPr>
          <a:xfrm>
            <a:off x="6511150" y="4796625"/>
            <a:ext cx="3000000" cy="3462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t/>
            </a:r>
            <a:endParaRPr sz="1050">
              <a:solidFill>
                <a:srgbClr val="0E0E0E"/>
              </a:solidFill>
            </a:endParaRPr>
          </a:p>
        </p:txBody>
      </p:sp>
      <p:sp>
        <p:nvSpPr>
          <p:cNvPr id="175" name="Google Shape;175;p23"/>
          <p:cNvSpPr txBox="1"/>
          <p:nvPr/>
        </p:nvSpPr>
        <p:spPr>
          <a:xfrm>
            <a:off x="433400" y="1209050"/>
            <a:ext cx="7601400" cy="48270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The Father alone is unbegotten.</a:t>
            </a:r>
            <a:br>
              <a:rPr lang="en-US" sz="1700">
                <a:solidFill>
                  <a:schemeClr val="dk1"/>
                </a:solidFill>
              </a:rPr>
            </a:br>
            <a:r>
              <a:rPr lang="en-US" sz="1700">
                <a:solidFill>
                  <a:schemeClr val="dk1"/>
                </a:solidFill>
              </a:rPr>
              <a:t>The Son is eternally begotten of the Father.</a:t>
            </a:r>
            <a:br>
              <a:rPr lang="en-US" sz="1700">
                <a:solidFill>
                  <a:schemeClr val="dk1"/>
                </a:solidFill>
              </a:rPr>
            </a:br>
            <a:r>
              <a:rPr lang="en-US" sz="1700">
                <a:solidFill>
                  <a:schemeClr val="dk1"/>
                </a:solidFill>
              </a:rPr>
              <a:t>The Holy Spirit eternally proceeds from the Father.</a:t>
            </a:r>
            <a:endParaRPr sz="1700">
              <a:solidFill>
                <a:schemeClr val="dk1"/>
              </a:solidFill>
            </a:endParaRPr>
          </a:p>
          <a:p>
            <a:pPr indent="0" lvl="0" marL="0" rtl="0" algn="l">
              <a:lnSpc>
                <a:spcPct val="115000"/>
              </a:lnSpc>
              <a:spcBef>
                <a:spcPts val="1200"/>
              </a:spcBef>
              <a:spcAft>
                <a:spcPts val="0"/>
              </a:spcAft>
              <a:buNone/>
            </a:pPr>
            <a:r>
              <a:rPr lang="en-US" sz="1700">
                <a:solidFill>
                  <a:schemeClr val="dk1"/>
                </a:solidFill>
              </a:rPr>
              <a:t>These three terms identify the eternal personal distinctions in the Trinity:</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Unbegotten</a:t>
            </a:r>
            <a:r>
              <a:rPr lang="en-US" sz="1700">
                <a:solidFill>
                  <a:schemeClr val="dk1"/>
                </a:solidFill>
              </a:rPr>
              <a:t> distinguishes the Father</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Begotten</a:t>
            </a:r>
            <a:r>
              <a:rPr lang="en-US" sz="1700">
                <a:solidFill>
                  <a:schemeClr val="dk1"/>
                </a:solidFill>
              </a:rPr>
              <a:t> distinguishes the Son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Proceeds</a:t>
            </a:r>
            <a:r>
              <a:rPr lang="en-US" sz="1700">
                <a:solidFill>
                  <a:schemeClr val="dk1"/>
                </a:solidFill>
              </a:rPr>
              <a:t> distinguishes the Holy Spirit</a:t>
            </a:r>
            <a:endParaRPr sz="1700">
              <a:solidFill>
                <a:schemeClr val="dk1"/>
              </a:solidFill>
            </a:endParaRPr>
          </a:p>
          <a:p>
            <a:pPr indent="0" lvl="0" marL="0" rtl="0" algn="l">
              <a:lnSpc>
                <a:spcPct val="115000"/>
              </a:lnSpc>
              <a:spcBef>
                <a:spcPts val="1200"/>
              </a:spcBef>
              <a:spcAft>
                <a:spcPts val="0"/>
              </a:spcAft>
              <a:buNone/>
            </a:pPr>
            <a:r>
              <a:rPr lang="en-US" sz="1700">
                <a:solidFill>
                  <a:schemeClr val="dk1"/>
                </a:solidFill>
              </a:rPr>
              <a:t>The Son and Spirit are both fully God and both from the Father, but they are not the same Person because their origin from the Father is not identical:</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the Son is from the Father by begetting</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 Spirit is from the Father by procession</a:t>
            </a:r>
            <a:endParaRPr sz="1700">
              <a:solidFill>
                <a:schemeClr val="dk1"/>
              </a:solidFill>
            </a:endParaRPr>
          </a:p>
          <a:p>
            <a:pPr indent="0" lvl="0" marL="0" rtl="0" algn="l">
              <a:lnSpc>
                <a:spcPct val="115000"/>
              </a:lnSpc>
              <a:spcBef>
                <a:spcPts val="1200"/>
              </a:spcBef>
              <a:spcAft>
                <a:spcPts val="1200"/>
              </a:spcAft>
              <a:buNone/>
            </a:pPr>
            <a:r>
              <a:rPr lang="en-US" sz="1700">
                <a:solidFill>
                  <a:schemeClr val="dk1"/>
                </a:solidFill>
              </a:rPr>
              <a:t>The Church confesses this distinction, but does not reduce it to biology, mechanics, or material imagery.</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image.jpeg" id="180" name="Google Shape;180;p2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81" name="Google Shape;181;p24"/>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The Two Hands of God — Creation</a:t>
            </a:r>
            <a:endParaRPr/>
          </a:p>
        </p:txBody>
      </p:sp>
      <p:sp>
        <p:nvSpPr>
          <p:cNvPr id="182" name="Google Shape;182;p24"/>
          <p:cNvSpPr txBox="1"/>
          <p:nvPr/>
        </p:nvSpPr>
        <p:spPr>
          <a:xfrm>
            <a:off x="139135" y="1293650"/>
            <a:ext cx="8229600" cy="974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In the teaching of the Church Fathers, especially St. Irenaeus, the Son and the Holy Spirit are called the “Two Hands” of the Father. This teaches that the one God creates and acts through His Word and His Spirit.</a:t>
            </a:r>
            <a:endParaRPr sz="1100">
              <a:solidFill>
                <a:schemeClr val="dk1"/>
              </a:solidFill>
            </a:endParaRPr>
          </a:p>
          <a:p>
            <a:pPr indent="0" lvl="0" marL="0" marR="0" rtl="0" algn="l">
              <a:spcBef>
                <a:spcPts val="1200"/>
              </a:spcBef>
              <a:spcAft>
                <a:spcPts val="0"/>
              </a:spcAft>
              <a:buNone/>
            </a:pPr>
            <a:r>
              <a:t/>
            </a:r>
            <a:endParaRPr b="0" i="0" sz="2200" u="none" cap="none" strike="noStrike">
              <a:solidFill>
                <a:srgbClr val="1E1E1E"/>
              </a:solidFill>
              <a:latin typeface="Calibri"/>
              <a:ea typeface="Calibri"/>
              <a:cs typeface="Calibri"/>
              <a:sym typeface="Calibri"/>
            </a:endParaRPr>
          </a:p>
        </p:txBody>
      </p:sp>
      <p:sp>
        <p:nvSpPr>
          <p:cNvPr id="183" name="Google Shape;183;p24"/>
          <p:cNvSpPr txBox="1"/>
          <p:nvPr/>
        </p:nvSpPr>
        <p:spPr>
          <a:xfrm>
            <a:off x="139125" y="1737350"/>
            <a:ext cx="8483400" cy="527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The Word:</a:t>
            </a:r>
            <a:endParaRPr b="1">
              <a:solidFill>
                <a:schemeClr val="dk1"/>
              </a:solidFill>
            </a:endParaRPr>
          </a:p>
          <a:p>
            <a:pPr indent="0" lvl="0" marL="0" rtl="0" algn="l">
              <a:lnSpc>
                <a:spcPct val="115000"/>
              </a:lnSpc>
              <a:spcBef>
                <a:spcPts val="0"/>
              </a:spcBef>
              <a:spcAft>
                <a:spcPts val="0"/>
              </a:spcAft>
              <a:buNone/>
            </a:pPr>
            <a:r>
              <a:rPr lang="en-US">
                <a:solidFill>
                  <a:schemeClr val="dk1"/>
                </a:solidFill>
              </a:rPr>
              <a:t>“By the Word of the Lord the heavens were made…” (Psalm 33:6)</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The Breath:</a:t>
            </a:r>
            <a:endParaRPr b="1">
              <a:solidFill>
                <a:schemeClr val="dk1"/>
              </a:solidFill>
            </a:endParaRPr>
          </a:p>
          <a:p>
            <a:pPr indent="0" lvl="0" marL="0" rtl="0" algn="l">
              <a:lnSpc>
                <a:spcPct val="115000"/>
              </a:lnSpc>
              <a:spcBef>
                <a:spcPts val="1200"/>
              </a:spcBef>
              <a:spcAft>
                <a:spcPts val="0"/>
              </a:spcAft>
              <a:buNone/>
            </a:pPr>
            <a:r>
              <a:rPr lang="en-US">
                <a:solidFill>
                  <a:schemeClr val="dk1"/>
                </a:solidFill>
              </a:rPr>
              <a:t>“…and all the host of them by the Breath of His mouth.” (Psalm 33:6)</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The Formation of Man:</a:t>
            </a:r>
            <a:endParaRPr b="1">
              <a:solidFill>
                <a:schemeClr val="dk1"/>
              </a:solidFill>
            </a:endParaRPr>
          </a:p>
          <a:p>
            <a:pPr indent="0" lvl="0" marL="0" rtl="0" algn="l">
              <a:lnSpc>
                <a:spcPct val="115000"/>
              </a:lnSpc>
              <a:spcBef>
                <a:spcPts val="1200"/>
              </a:spcBef>
              <a:spcAft>
                <a:spcPts val="0"/>
              </a:spcAft>
              <a:buNone/>
            </a:pPr>
            <a:r>
              <a:rPr lang="en-US">
                <a:solidFill>
                  <a:schemeClr val="dk1"/>
                </a:solidFill>
              </a:rPr>
              <a:t>“Then the Lord God formed man of the dust of the ground, and breathed into his nostrils the breath of life; and man became a living being.” (Genesis 2:7)</a:t>
            </a:r>
            <a:br>
              <a:rPr lang="en-US">
                <a:solidFill>
                  <a:schemeClr val="dk1"/>
                </a:solidFill>
              </a:rPr>
            </a:br>
            <a:br>
              <a:rPr lang="en-US">
                <a:solidFill>
                  <a:schemeClr val="dk1"/>
                </a:solidFill>
              </a:rPr>
            </a:br>
            <a:r>
              <a:rPr lang="en-US">
                <a:solidFill>
                  <a:schemeClr val="dk1"/>
                </a:solidFill>
              </a:rPr>
              <a:t>“In the beginning was the Word, and the Word was with God, and the Word was God.” “All things were made through Him, and without Him nothing was made that was made.” (John 1:1, 3)</a:t>
            </a:r>
            <a:endParaRPr>
              <a:solidFill>
                <a:srgbClr val="FF0000"/>
              </a:solidFill>
            </a:endParaRPr>
          </a:p>
          <a:p>
            <a:pPr indent="0" lvl="0" marL="0" rtl="0" algn="l">
              <a:lnSpc>
                <a:spcPct val="115000"/>
              </a:lnSpc>
              <a:spcBef>
                <a:spcPts val="1200"/>
              </a:spcBef>
              <a:spcAft>
                <a:spcPts val="0"/>
              </a:spcAft>
              <a:buNone/>
            </a:pPr>
            <a:r>
              <a:rPr b="1" lang="en-US">
                <a:solidFill>
                  <a:schemeClr val="dk1"/>
                </a:solidFill>
              </a:rPr>
              <a:t>The Action:</a:t>
            </a:r>
            <a:endParaRPr b="1">
              <a:solidFill>
                <a:schemeClr val="dk1"/>
              </a:solidFill>
            </a:endParaRPr>
          </a:p>
          <a:p>
            <a:pPr indent="0" lvl="0" marL="0" rtl="0" algn="l">
              <a:lnSpc>
                <a:spcPct val="115000"/>
              </a:lnSpc>
              <a:spcBef>
                <a:spcPts val="0"/>
              </a:spcBef>
              <a:spcAft>
                <a:spcPts val="0"/>
              </a:spcAft>
              <a:buNone/>
            </a:pPr>
            <a:r>
              <a:rPr lang="en-US">
                <a:solidFill>
                  <a:schemeClr val="dk1"/>
                </a:solidFill>
              </a:rPr>
              <a:t>The Father creates through His Word (the Son) and gives life through His Breath (the Holy Spirit).</a:t>
            </a:r>
            <a:br>
              <a:rPr lang="en-US">
                <a:solidFill>
                  <a:schemeClr val="dk1"/>
                </a:solidFill>
              </a:rPr>
            </a:br>
            <a:endParaRPr>
              <a:solidFill>
                <a:schemeClr val="dk1"/>
              </a:solidFill>
            </a:endParaRPr>
          </a:p>
          <a:p>
            <a:pPr indent="0" lvl="0" marL="0" rtl="0" algn="l">
              <a:lnSpc>
                <a:spcPct val="115000"/>
              </a:lnSpc>
              <a:spcBef>
                <a:spcPts val="0"/>
              </a:spcBef>
              <a:spcAft>
                <a:spcPts val="0"/>
              </a:spcAft>
              <a:buNone/>
            </a:pPr>
            <a:r>
              <a:rPr b="1" lang="en-US">
                <a:solidFill>
                  <a:schemeClr val="dk1"/>
                </a:solidFill>
              </a:rPr>
              <a:t>Important</a:t>
            </a:r>
            <a:r>
              <a:rPr b="1" lang="en-US">
                <a:solidFill>
                  <a:schemeClr val="dk1"/>
                </a:solidFill>
              </a:rPr>
              <a:t>:</a:t>
            </a:r>
            <a:endParaRPr b="1">
              <a:solidFill>
                <a:schemeClr val="dk1"/>
              </a:solidFill>
            </a:endParaRPr>
          </a:p>
          <a:p>
            <a:pPr indent="0" lvl="0" marL="0" rtl="0" algn="l">
              <a:lnSpc>
                <a:spcPct val="115000"/>
              </a:lnSpc>
              <a:spcBef>
                <a:spcPts val="0"/>
              </a:spcBef>
              <a:spcAft>
                <a:spcPts val="0"/>
              </a:spcAft>
              <a:buNone/>
            </a:pPr>
            <a:r>
              <a:rPr lang="en-US">
                <a:solidFill>
                  <a:schemeClr val="dk1"/>
                </a:solidFill>
              </a:rPr>
              <a:t>This image helps us understand God’s work, but it does not fully explain the mystery of the Trinity.</a:t>
            </a:r>
            <a:endParaRPr>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2200">
              <a:solidFill>
                <a:srgbClr val="1E1E1E"/>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image.jpeg" id="188" name="Google Shape;188;p2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89" name="Google Shape;189;p25"/>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The Two Hands — Salvation</a:t>
            </a:r>
            <a:endParaRPr/>
          </a:p>
        </p:txBody>
      </p:sp>
      <p:sp>
        <p:nvSpPr>
          <p:cNvPr id="190" name="Google Shape;190;p25"/>
          <p:cNvSpPr txBox="1"/>
          <p:nvPr/>
        </p:nvSpPr>
        <p:spPr>
          <a:xfrm>
            <a:off x="168885" y="1511650"/>
            <a:ext cx="8229600" cy="497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i="1" lang="en-US" sz="2000">
                <a:solidFill>
                  <a:schemeClr val="dk1"/>
                </a:solidFill>
              </a:rPr>
              <a:t>The same "Hands" that created us are the same "Hands" that save us.</a:t>
            </a:r>
            <a:endParaRPr i="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The New Creation:</a:t>
            </a:r>
            <a:r>
              <a:rPr lang="en-US" sz="2000">
                <a:solidFill>
                  <a:schemeClr val="dk1"/>
                </a:solidFill>
              </a:rPr>
              <a:t> Just as God used His Word and Breath to create Adam, He used them to restore humanity.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The Incarnation:</a:t>
            </a:r>
            <a:endParaRPr b="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The </a:t>
            </a:r>
            <a:r>
              <a:rPr b="1" lang="en-US" sz="2000">
                <a:solidFill>
                  <a:schemeClr val="dk1"/>
                </a:solidFill>
              </a:rPr>
              <a:t>Father</a:t>
            </a:r>
            <a:r>
              <a:rPr lang="en-US" sz="2000">
                <a:solidFill>
                  <a:schemeClr val="dk1"/>
                </a:solidFill>
              </a:rPr>
              <a:t> wills the salvation of the world.</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The </a:t>
            </a:r>
            <a:r>
              <a:rPr b="1" lang="en-US" sz="2000">
                <a:solidFill>
                  <a:schemeClr val="dk1"/>
                </a:solidFill>
              </a:rPr>
              <a:t>Holy Spirit</a:t>
            </a:r>
            <a:r>
              <a:rPr lang="en-US" sz="2000">
                <a:solidFill>
                  <a:schemeClr val="dk1"/>
                </a:solidFill>
              </a:rPr>
              <a:t> (the Breath/Hand) descends upon the Virgin Mary.</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The </a:t>
            </a:r>
            <a:r>
              <a:rPr b="1" lang="en-US" sz="2000">
                <a:solidFill>
                  <a:schemeClr val="dk1"/>
                </a:solidFill>
              </a:rPr>
              <a:t>Son</a:t>
            </a:r>
            <a:r>
              <a:rPr lang="en-US" sz="2000">
                <a:solidFill>
                  <a:schemeClr val="dk1"/>
                </a:solidFill>
              </a:rPr>
              <a:t> (the Word/Hand) takes on human flesh.</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The Point:</a:t>
            </a:r>
            <a:r>
              <a:rPr lang="en-US" sz="2000">
                <a:solidFill>
                  <a:schemeClr val="dk1"/>
                </a:solidFill>
              </a:rPr>
              <a:t> There is no separation. In every act of God—from creating the stars to the birth of Christ—all three Persons are present and active as One.</a:t>
            </a:r>
            <a:endParaRPr sz="2000">
              <a:solidFill>
                <a:schemeClr val="dk1"/>
              </a:solidFill>
            </a:endParaRPr>
          </a:p>
          <a:p>
            <a:pPr indent="0" lvl="0" marL="0" marR="0" rtl="0" algn="l">
              <a:spcBef>
                <a:spcPts val="1200"/>
              </a:spcBef>
              <a:spcAft>
                <a:spcPts val="0"/>
              </a:spcAft>
              <a:buNone/>
            </a:pPr>
            <a:r>
              <a:rPr lang="en-US" sz="2200">
                <a:solidFill>
                  <a:srgbClr val="FF0000"/>
                </a:solidFill>
                <a:latin typeface="Calibri"/>
                <a:ea typeface="Calibri"/>
                <a:cs typeface="Calibri"/>
                <a:sym typeface="Calibri"/>
              </a:rPr>
              <a:t>I could add more examples of how God </a:t>
            </a:r>
            <a:r>
              <a:rPr lang="en-US" sz="2200">
                <a:solidFill>
                  <a:srgbClr val="FF0000"/>
                </a:solidFill>
                <a:latin typeface="Calibri"/>
                <a:ea typeface="Calibri"/>
                <a:cs typeface="Calibri"/>
                <a:sym typeface="Calibri"/>
              </a:rPr>
              <a:t>worlds</a:t>
            </a:r>
            <a:r>
              <a:rPr lang="en-US" sz="2200">
                <a:solidFill>
                  <a:srgbClr val="FF0000"/>
                </a:solidFill>
                <a:latin typeface="Calibri"/>
                <a:ea typeface="Calibri"/>
                <a:cs typeface="Calibri"/>
                <a:sym typeface="Calibri"/>
              </a:rPr>
              <a:t> as one</a:t>
            </a:r>
            <a:endParaRPr sz="2200">
              <a:solidFill>
                <a:srgbClr val="FF0000"/>
              </a:solidFill>
              <a:latin typeface="Calibri"/>
              <a:ea typeface="Calibri"/>
              <a:cs typeface="Calibri"/>
              <a:sym typeface="Calibri"/>
            </a:endParaRPr>
          </a:p>
          <a:p>
            <a:pPr indent="0" lvl="0" marL="0" marR="0" rtl="0" algn="l">
              <a:spcBef>
                <a:spcPts val="0"/>
              </a:spcBef>
              <a:spcAft>
                <a:spcPts val="0"/>
              </a:spcAft>
              <a:buNone/>
            </a:pPr>
            <a:r>
              <a:t/>
            </a:r>
            <a:endParaRPr b="0" i="0" sz="2200" u="none" cap="none" strike="noStrike">
              <a:solidFill>
                <a:srgbClr val="1E1E1E"/>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image.jpeg" id="195" name="Google Shape;195;p26"/>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96" name="Google Shape;196;p26"/>
          <p:cNvSpPr txBox="1"/>
          <p:nvPr/>
        </p:nvSpPr>
        <p:spPr>
          <a:xfrm>
            <a:off x="704805" y="375740"/>
            <a:ext cx="822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5A3200"/>
                </a:solidFill>
                <a:latin typeface="Calibri"/>
                <a:ea typeface="Calibri"/>
                <a:cs typeface="Calibri"/>
                <a:sym typeface="Calibri"/>
              </a:rPr>
              <a:t>Relevancy of the # 3 </a:t>
            </a:r>
            <a:r>
              <a:rPr b="1" lang="en-US" sz="1900">
                <a:solidFill>
                  <a:srgbClr val="5A3200"/>
                </a:solidFill>
                <a:latin typeface="Calibri"/>
                <a:ea typeface="Calibri"/>
                <a:cs typeface="Calibri"/>
                <a:sym typeface="Calibri"/>
              </a:rPr>
              <a:t>(Not Comparing to the Trinity)</a:t>
            </a:r>
            <a:endParaRPr sz="100"/>
          </a:p>
        </p:txBody>
      </p:sp>
      <p:sp>
        <p:nvSpPr>
          <p:cNvPr id="197" name="Google Shape;197;p26"/>
          <p:cNvSpPr txBox="1"/>
          <p:nvPr/>
        </p:nvSpPr>
        <p:spPr>
          <a:xfrm>
            <a:off x="179660" y="1145000"/>
            <a:ext cx="8229600" cy="5056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rPr>
              <a:t>Scientific &amp; Physical Examples</a:t>
            </a:r>
            <a:endParaRPr b="1" sz="18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Atom:</a:t>
            </a:r>
            <a:r>
              <a:rPr lang="en-US" sz="1200">
                <a:solidFill>
                  <a:schemeClr val="dk1"/>
                </a:solidFill>
              </a:rPr>
              <a:t> Every stable piece of matter is built from </a:t>
            </a:r>
            <a:r>
              <a:rPr b="1" lang="en-US" sz="1200">
                <a:solidFill>
                  <a:schemeClr val="dk1"/>
                </a:solidFill>
              </a:rPr>
              <a:t>Protons, Neutrons, and Electrons</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Space:</a:t>
            </a:r>
            <a:r>
              <a:rPr lang="en-US" sz="1200">
                <a:solidFill>
                  <a:schemeClr val="dk1"/>
                </a:solidFill>
              </a:rPr>
              <a:t> We live in a three-dimensional world defined by </a:t>
            </a:r>
            <a:r>
              <a:rPr b="1" lang="en-US" sz="1200">
                <a:solidFill>
                  <a:schemeClr val="dk1"/>
                </a:solidFill>
              </a:rPr>
              <a:t>Length, Width, and Height</a:t>
            </a:r>
            <a:r>
              <a:rPr lang="en-US" sz="1200">
                <a:solidFill>
                  <a:schemeClr val="dk1"/>
                </a:solidFill>
              </a:rPr>
              <a:t>. You cannot have a physical object without all three.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Time:</a:t>
            </a:r>
            <a:r>
              <a:rPr lang="en-US" sz="1200">
                <a:solidFill>
                  <a:schemeClr val="dk1"/>
                </a:solidFill>
              </a:rPr>
              <a:t> We experience existence through the </a:t>
            </a:r>
            <a:r>
              <a:rPr b="1" lang="en-US" sz="1200">
                <a:solidFill>
                  <a:schemeClr val="dk1"/>
                </a:solidFill>
              </a:rPr>
              <a:t>Past, Present, and Future</a:t>
            </a:r>
            <a:r>
              <a:rPr lang="en-US" sz="1200">
                <a:solidFill>
                  <a:schemeClr val="dk1"/>
                </a:solidFill>
              </a:rPr>
              <a:t>. They are three distinct "times," but they make up one single timeline.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Primary Colors (Light):</a:t>
            </a:r>
            <a:r>
              <a:rPr lang="en-US" sz="1200">
                <a:solidFill>
                  <a:schemeClr val="dk1"/>
                </a:solidFill>
              </a:rPr>
              <a:t> All the colors you see on a screen are made from just three: </a:t>
            </a:r>
            <a:r>
              <a:rPr b="1" lang="en-US" sz="1200">
                <a:solidFill>
                  <a:schemeClr val="dk1"/>
                </a:solidFill>
              </a:rPr>
              <a:t>Red, Green, and Blue</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Triple Point of Water:</a:t>
            </a:r>
            <a:r>
              <a:rPr lang="en-US" sz="1200">
                <a:solidFill>
                  <a:schemeClr val="dk1"/>
                </a:solidFill>
              </a:rPr>
              <a:t> In thermodynamics, there is a specific temperature and pressure where water exists as a </a:t>
            </a:r>
            <a:r>
              <a:rPr b="1" lang="en-US" sz="1200">
                <a:solidFill>
                  <a:schemeClr val="dk1"/>
                </a:solidFill>
              </a:rPr>
              <a:t>Solid, Liquid, and Gas</a:t>
            </a:r>
            <a:r>
              <a:rPr lang="en-US" sz="1200">
                <a:solidFill>
                  <a:schemeClr val="dk1"/>
                </a:solidFill>
              </a:rPr>
              <a:t> all at the same time.</a:t>
            </a:r>
            <a:endParaRPr sz="1200">
              <a:solidFill>
                <a:schemeClr val="dk1"/>
              </a:solidFill>
            </a:endParaRPr>
          </a:p>
          <a:p>
            <a:pPr indent="0" lvl="0" marL="0" rtl="0" algn="l">
              <a:lnSpc>
                <a:spcPct val="115000"/>
              </a:lnSpc>
              <a:spcBef>
                <a:spcPts val="0"/>
              </a:spcBef>
              <a:spcAft>
                <a:spcPts val="0"/>
              </a:spcAft>
              <a:buSzPts val="1100"/>
              <a:buNone/>
            </a:pPr>
            <a:r>
              <a:rPr b="1" lang="en-US" sz="1800">
                <a:solidFill>
                  <a:schemeClr val="dk1"/>
                </a:solidFill>
              </a:rPr>
              <a:t>Human &amp; Biological Examples</a:t>
            </a:r>
            <a:endParaRPr b="1" sz="18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Human Person:</a:t>
            </a:r>
            <a:r>
              <a:rPr lang="en-US" sz="1200">
                <a:solidFill>
                  <a:schemeClr val="dk1"/>
                </a:solidFill>
              </a:rPr>
              <a:t> Traditionally, we describe a human as having a </a:t>
            </a:r>
            <a:r>
              <a:rPr b="1" lang="en-US" sz="1200">
                <a:solidFill>
                  <a:schemeClr val="dk1"/>
                </a:solidFill>
              </a:rPr>
              <a:t>Body, Soul, and Spirit</a:t>
            </a:r>
            <a:r>
              <a:rPr lang="en-US" sz="1200">
                <a:solidFill>
                  <a:schemeClr val="dk1"/>
                </a:solidFill>
              </a:rPr>
              <a:t> (or Mind). One person, three distinct parts.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DNA:</a:t>
            </a:r>
            <a:r>
              <a:rPr lang="en-US" sz="1200">
                <a:solidFill>
                  <a:schemeClr val="dk1"/>
                </a:solidFill>
              </a:rPr>
              <a:t> The genetic code is written in "codons," which are groups of </a:t>
            </a:r>
            <a:r>
              <a:rPr b="1" lang="en-US" sz="1200">
                <a:solidFill>
                  <a:schemeClr val="dk1"/>
                </a:solidFill>
              </a:rPr>
              <a:t>three</a:t>
            </a:r>
            <a:r>
              <a:rPr lang="en-US" sz="1200">
                <a:solidFill>
                  <a:schemeClr val="dk1"/>
                </a:solidFill>
              </a:rPr>
              <a:t> specific chemical bases.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Family Unit:</a:t>
            </a:r>
            <a:r>
              <a:rPr lang="en-US" sz="1200">
                <a:solidFill>
                  <a:schemeClr val="dk1"/>
                </a:solidFill>
              </a:rPr>
              <a:t> The most basic biological building block of a family is often seen as </a:t>
            </a:r>
            <a:r>
              <a:rPr b="1" lang="en-US" sz="1200">
                <a:solidFill>
                  <a:schemeClr val="dk1"/>
                </a:solidFill>
              </a:rPr>
              <a:t>Father, Mother, and Child</a:t>
            </a:r>
            <a:r>
              <a:rPr lang="en-US" sz="1200">
                <a:solidFill>
                  <a:schemeClr val="dk1"/>
                </a:solidFill>
              </a:rPr>
              <a: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rPr>
              <a:t>Mathematical &amp; Structural Examples</a:t>
            </a:r>
            <a:endParaRPr b="1" sz="18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Triangle:</a:t>
            </a:r>
            <a:r>
              <a:rPr lang="en-US" sz="1200">
                <a:solidFill>
                  <a:schemeClr val="dk1"/>
                </a:solidFill>
              </a:rPr>
              <a:t> This is the most stable shape in engineering. It consists of </a:t>
            </a:r>
            <a:r>
              <a:rPr b="1" lang="en-US" sz="1200">
                <a:solidFill>
                  <a:schemeClr val="dk1"/>
                </a:solidFill>
              </a:rPr>
              <a:t>three sides and three angles</a:t>
            </a:r>
            <a:r>
              <a:rPr lang="en-US" sz="1200">
                <a:solidFill>
                  <a:schemeClr val="dk1"/>
                </a:solidFill>
              </a:rPr>
              <a:t>, yet it is one single geometric object.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Musical Triad:</a:t>
            </a:r>
            <a:r>
              <a:rPr lang="en-US" sz="1200">
                <a:solidFill>
                  <a:schemeClr val="dk1"/>
                </a:solidFill>
              </a:rPr>
              <a:t> The most fundamental chord in music is made of </a:t>
            </a:r>
            <a:r>
              <a:rPr b="1" lang="en-US" sz="1200">
                <a:solidFill>
                  <a:schemeClr val="dk1"/>
                </a:solidFill>
              </a:rPr>
              <a:t>three notes</a:t>
            </a:r>
            <a:r>
              <a:rPr lang="en-US" sz="1200">
                <a:solidFill>
                  <a:schemeClr val="dk1"/>
                </a:solidFill>
              </a:rPr>
              <a:t> played at the same time. If you take one away, the chord changes completely.</a:t>
            </a:r>
            <a:endParaRPr sz="1200">
              <a:solidFill>
                <a:schemeClr val="dk1"/>
              </a:solidFill>
            </a:endParaRPr>
          </a:p>
          <a:p>
            <a:pPr indent="-304800" lvl="0" marL="457200" rtl="0" algn="l">
              <a:lnSpc>
                <a:spcPct val="115000"/>
              </a:lnSpc>
              <a:spcBef>
                <a:spcPts val="0"/>
              </a:spcBef>
              <a:spcAft>
                <a:spcPts val="1200"/>
              </a:spcAft>
              <a:buClr>
                <a:schemeClr val="dk1"/>
              </a:buClr>
              <a:buSzPts val="1200"/>
              <a:buChar char="●"/>
            </a:pPr>
            <a:r>
              <a:rPr b="1" lang="en-US" sz="1200">
                <a:solidFill>
                  <a:schemeClr val="dk1"/>
                </a:solidFill>
              </a:rPr>
              <a:t>Navigation:</a:t>
            </a:r>
            <a:r>
              <a:rPr lang="en-US" sz="1200">
                <a:solidFill>
                  <a:schemeClr val="dk1"/>
                </a:solidFill>
              </a:rPr>
              <a:t> To find a specific location on Earth, GPS uses </a:t>
            </a:r>
            <a:r>
              <a:rPr b="1" lang="en-US" sz="1200">
                <a:solidFill>
                  <a:schemeClr val="dk1"/>
                </a:solidFill>
              </a:rPr>
              <a:t>Trilateration</a:t>
            </a:r>
            <a:r>
              <a:rPr lang="en-US" sz="1200">
                <a:solidFill>
                  <a:schemeClr val="dk1"/>
                </a:solidFill>
              </a:rPr>
              <a:t>, which requires signals from at least </a:t>
            </a:r>
            <a:r>
              <a:rPr b="1" lang="en-US" sz="1200">
                <a:solidFill>
                  <a:schemeClr val="dk1"/>
                </a:solidFill>
              </a:rPr>
              <a:t>three</a:t>
            </a:r>
            <a:r>
              <a:rPr lang="en-US" sz="1200">
                <a:solidFill>
                  <a:schemeClr val="dk1"/>
                </a:solidFill>
              </a:rPr>
              <a:t> different satellites to find one single point.</a:t>
            </a:r>
            <a:endParaRPr b="0" i="0" sz="2300" u="none" cap="none" strike="noStrike">
              <a:solidFill>
                <a:srgbClr val="1E1E1E"/>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image.jpeg" id="202" name="Google Shape;202;p27"/>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203" name="Google Shape;203;p27"/>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The Analogy of Fire</a:t>
            </a:r>
            <a:endParaRPr/>
          </a:p>
        </p:txBody>
      </p:sp>
      <p:sp>
        <p:nvSpPr>
          <p:cNvPr id="204" name="Google Shape;204;p27"/>
          <p:cNvSpPr txBox="1"/>
          <p:nvPr/>
        </p:nvSpPr>
        <p:spPr>
          <a:xfrm>
            <a:off x="178785" y="1600850"/>
            <a:ext cx="8229600" cy="508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900">
                <a:solidFill>
                  <a:schemeClr val="dk1"/>
                </a:solidFill>
              </a:rPr>
              <a:t>The Church Fathers use this to help us visualize the Trinity without dividing the Godhead.</a:t>
            </a:r>
            <a:endParaRPr i="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The Flame (The Father):</a:t>
            </a:r>
            <a:r>
              <a:rPr lang="en-US" sz="1900">
                <a:solidFill>
                  <a:schemeClr val="dk1"/>
                </a:solidFill>
              </a:rPr>
              <a:t> The flame is the source. It represents the Father as the "Root" or "Cause."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The Light (The Son):</a:t>
            </a:r>
            <a:r>
              <a:rPr lang="en-US" sz="1900">
                <a:solidFill>
                  <a:schemeClr val="dk1"/>
                </a:solidFill>
              </a:rPr>
              <a:t> As soon as the candle is lit, light is born (</a:t>
            </a:r>
            <a:r>
              <a:rPr b="1" lang="en-US" sz="1900">
                <a:solidFill>
                  <a:schemeClr val="dk1"/>
                </a:solidFill>
              </a:rPr>
              <a:t>begotten</a:t>
            </a:r>
            <a:r>
              <a:rPr lang="en-US" sz="1900">
                <a:solidFill>
                  <a:schemeClr val="dk1"/>
                </a:solidFill>
              </a:rPr>
              <a:t>) from the flame. You cannot have the flame without the light.</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The Heat (The Holy Spirit):</a:t>
            </a:r>
            <a:r>
              <a:rPr lang="en-US" sz="1900">
                <a:solidFill>
                  <a:schemeClr val="dk1"/>
                </a:solidFill>
              </a:rPr>
              <a:t> The heat comes forth (</a:t>
            </a:r>
            <a:r>
              <a:rPr b="1" lang="en-US" sz="1900">
                <a:solidFill>
                  <a:schemeClr val="dk1"/>
                </a:solidFill>
              </a:rPr>
              <a:t>proceeds</a:t>
            </a:r>
            <a:r>
              <a:rPr lang="en-US" sz="1900">
                <a:solidFill>
                  <a:schemeClr val="dk1"/>
                </a:solidFill>
              </a:rPr>
              <a:t>) from the flame. It is distinct from the light, yet inseparable from the flame.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The Lesson:</a:t>
            </a:r>
            <a:endParaRPr b="1" sz="1900">
              <a:solidFill>
                <a:schemeClr val="dk1"/>
              </a:solidFill>
            </a:endParaRPr>
          </a:p>
          <a:p>
            <a:pPr indent="-349250" lvl="1" marL="914400" rtl="0" algn="l">
              <a:lnSpc>
                <a:spcPct val="115000"/>
              </a:lnSpc>
              <a:spcBef>
                <a:spcPts val="0"/>
              </a:spcBef>
              <a:spcAft>
                <a:spcPts val="0"/>
              </a:spcAft>
              <a:buClr>
                <a:schemeClr val="dk1"/>
              </a:buClr>
              <a:buSzPts val="1900"/>
              <a:buAutoNum type="arabicPeriod"/>
            </a:pPr>
            <a:r>
              <a:rPr b="1" lang="en-US" sz="1900">
                <a:solidFill>
                  <a:schemeClr val="dk1"/>
                </a:solidFill>
              </a:rPr>
              <a:t>Unity:</a:t>
            </a:r>
            <a:r>
              <a:rPr lang="en-US" sz="1900">
                <a:solidFill>
                  <a:schemeClr val="dk1"/>
                </a:solidFill>
              </a:rPr>
              <a:t> They are one single fire.</a:t>
            </a:r>
            <a:endParaRPr sz="1900">
              <a:solidFill>
                <a:schemeClr val="dk1"/>
              </a:solidFill>
            </a:endParaRPr>
          </a:p>
          <a:p>
            <a:pPr indent="-349250" lvl="1" marL="914400" rtl="0" algn="l">
              <a:lnSpc>
                <a:spcPct val="115000"/>
              </a:lnSpc>
              <a:spcBef>
                <a:spcPts val="0"/>
              </a:spcBef>
              <a:spcAft>
                <a:spcPts val="0"/>
              </a:spcAft>
              <a:buClr>
                <a:schemeClr val="dk1"/>
              </a:buClr>
              <a:buSzPts val="1900"/>
              <a:buAutoNum type="arabicPeriod"/>
            </a:pPr>
            <a:r>
              <a:rPr b="1" lang="en-US" sz="1900">
                <a:solidFill>
                  <a:schemeClr val="dk1"/>
                </a:solidFill>
              </a:rPr>
              <a:t>Simultaneity:</a:t>
            </a:r>
            <a:r>
              <a:rPr lang="en-US" sz="1900">
                <a:solidFill>
                  <a:schemeClr val="dk1"/>
                </a:solidFill>
              </a:rPr>
              <a:t> The light and heat do not wait to appear; they exist as soon as the flame exists (</a:t>
            </a:r>
            <a:r>
              <a:rPr b="1" lang="en-US" sz="1900">
                <a:solidFill>
                  <a:schemeClr val="dk1"/>
                </a:solidFill>
              </a:rPr>
              <a:t>Co-eternity</a:t>
            </a:r>
            <a:r>
              <a:rPr lang="en-US" sz="1900">
                <a:solidFill>
                  <a:schemeClr val="dk1"/>
                </a:solidFill>
              </a:rPr>
              <a:t>).</a:t>
            </a:r>
            <a:endParaRPr sz="1900">
              <a:solidFill>
                <a:schemeClr val="dk1"/>
              </a:solidFill>
            </a:endParaRPr>
          </a:p>
          <a:p>
            <a:pPr indent="0" lvl="0" marL="139700" rtl="0" algn="l">
              <a:lnSpc>
                <a:spcPct val="115000"/>
              </a:lnSpc>
              <a:spcBef>
                <a:spcPts val="1200"/>
              </a:spcBef>
              <a:spcAft>
                <a:spcPts val="0"/>
              </a:spcAft>
              <a:buNone/>
            </a:pPr>
            <a:r>
              <a:rPr lang="en-US" sz="1550" u="sng">
                <a:solidFill>
                  <a:srgbClr val="FF0000"/>
                </a:solidFill>
              </a:rPr>
              <a:t>This is only an analogy — God is beyond all comparison</a:t>
            </a:r>
            <a:endParaRPr sz="1550" u="sng">
              <a:solidFill>
                <a:srgbClr val="FF0000"/>
              </a:solidFill>
            </a:endParaRPr>
          </a:p>
          <a:p>
            <a:pPr indent="0" lvl="0" marL="0" marR="0" rtl="0" algn="l">
              <a:spcBef>
                <a:spcPts val="0"/>
              </a:spcBef>
              <a:spcAft>
                <a:spcPts val="0"/>
              </a:spcAft>
              <a:buNone/>
            </a:pPr>
            <a:r>
              <a:t/>
            </a:r>
            <a:endParaRPr sz="3000">
              <a:solidFill>
                <a:srgbClr val="1E1E1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image.jpeg" id="209" name="Google Shape;209;p28"/>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210" name="Google Shape;210;p28"/>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Scriptural Witness — Baptism</a:t>
            </a:r>
            <a:endParaRPr/>
          </a:p>
        </p:txBody>
      </p:sp>
      <p:sp>
        <p:nvSpPr>
          <p:cNvPr id="211" name="Google Shape;211;p28"/>
          <p:cNvSpPr txBox="1"/>
          <p:nvPr/>
        </p:nvSpPr>
        <p:spPr>
          <a:xfrm>
            <a:off x="248160" y="1422475"/>
            <a:ext cx="8229600" cy="5570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i="1" lang="en-US" sz="1900">
                <a:solidFill>
                  <a:schemeClr val="dk1"/>
                </a:solidFill>
              </a:rPr>
              <a:t>The physical manifestation of the Trinity at the Jordan River.</a:t>
            </a:r>
            <a:endParaRPr i="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The Revelation at the Jordan:</a:t>
            </a:r>
            <a:endParaRPr b="1" sz="1900">
              <a:solidFill>
                <a:schemeClr val="dk1"/>
              </a:solidFill>
            </a:endParaRPr>
          </a:p>
          <a:p>
            <a:pPr indent="-349250" lvl="1" marL="914400" rtl="0" algn="l">
              <a:lnSpc>
                <a:spcPct val="115000"/>
              </a:lnSpc>
              <a:spcBef>
                <a:spcPts val="0"/>
              </a:spcBef>
              <a:spcAft>
                <a:spcPts val="0"/>
              </a:spcAft>
              <a:buClr>
                <a:schemeClr val="dk1"/>
              </a:buClr>
              <a:buSzPts val="1900"/>
              <a:buAutoNum type="arabicPeriod"/>
            </a:pPr>
            <a:r>
              <a:rPr b="1" lang="en-US" sz="1900">
                <a:solidFill>
                  <a:schemeClr val="dk1"/>
                </a:solidFill>
              </a:rPr>
              <a:t>The Father’s Voice:</a:t>
            </a:r>
            <a:r>
              <a:rPr lang="en-US" sz="1900">
                <a:solidFill>
                  <a:schemeClr val="dk1"/>
                </a:solidFill>
              </a:rPr>
              <a:t> Speaks from the heavens: </a:t>
            </a:r>
            <a:r>
              <a:rPr i="1" lang="en-US" sz="1900">
                <a:solidFill>
                  <a:schemeClr val="dk1"/>
                </a:solidFill>
              </a:rPr>
              <a:t>"This is My beloved Son."</a:t>
            </a:r>
            <a:endParaRPr i="1" sz="1900">
              <a:solidFill>
                <a:schemeClr val="dk1"/>
              </a:solidFill>
            </a:endParaRPr>
          </a:p>
          <a:p>
            <a:pPr indent="-349250" lvl="1" marL="914400" rtl="0" algn="l">
              <a:lnSpc>
                <a:spcPct val="115000"/>
              </a:lnSpc>
              <a:spcBef>
                <a:spcPts val="0"/>
              </a:spcBef>
              <a:spcAft>
                <a:spcPts val="0"/>
              </a:spcAft>
              <a:buClr>
                <a:schemeClr val="dk1"/>
              </a:buClr>
              <a:buSzPts val="1900"/>
              <a:buAutoNum type="arabicPeriod"/>
            </a:pPr>
            <a:r>
              <a:rPr b="1" lang="en-US" sz="1900">
                <a:solidFill>
                  <a:schemeClr val="dk1"/>
                </a:solidFill>
              </a:rPr>
              <a:t>The Son:</a:t>
            </a:r>
            <a:r>
              <a:rPr lang="en-US" sz="1900">
                <a:solidFill>
                  <a:schemeClr val="dk1"/>
                </a:solidFill>
              </a:rPr>
              <a:t> Physically present in the water, being baptized as a man.</a:t>
            </a:r>
            <a:endParaRPr sz="1900">
              <a:solidFill>
                <a:schemeClr val="dk1"/>
              </a:solidFill>
            </a:endParaRPr>
          </a:p>
          <a:p>
            <a:pPr indent="-349250" lvl="1" marL="914400" rtl="0" algn="l">
              <a:lnSpc>
                <a:spcPct val="115000"/>
              </a:lnSpc>
              <a:spcBef>
                <a:spcPts val="0"/>
              </a:spcBef>
              <a:spcAft>
                <a:spcPts val="0"/>
              </a:spcAft>
              <a:buClr>
                <a:schemeClr val="dk1"/>
              </a:buClr>
              <a:buSzPts val="1900"/>
              <a:buAutoNum type="arabicPeriod"/>
            </a:pPr>
            <a:r>
              <a:rPr b="1" lang="en-US" sz="1900">
                <a:solidFill>
                  <a:schemeClr val="dk1"/>
                </a:solidFill>
              </a:rPr>
              <a:t>The Holy Spirit:</a:t>
            </a:r>
            <a:r>
              <a:rPr lang="en-US" sz="1900">
                <a:solidFill>
                  <a:schemeClr val="dk1"/>
                </a:solidFill>
              </a:rPr>
              <a:t> Descending from heaven in the form of a dove.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The Command (Matthew 28:19):</a:t>
            </a:r>
            <a:r>
              <a:rPr lang="en-US" sz="1900">
                <a:solidFill>
                  <a:schemeClr val="dk1"/>
                </a:solidFill>
              </a:rPr>
              <a:t> Christ commanded us to baptize in the </a:t>
            </a:r>
            <a:r>
              <a:rPr b="1" lang="en-US" sz="1900">
                <a:solidFill>
                  <a:schemeClr val="dk1"/>
                </a:solidFill>
              </a:rPr>
              <a:t>Name</a:t>
            </a:r>
            <a:r>
              <a:rPr lang="en-US" sz="1900">
                <a:solidFill>
                  <a:schemeClr val="dk1"/>
                </a:solidFill>
              </a:rPr>
              <a:t> (singular) of the Father, and of the Son, and of the Holy Spirit.</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The Singular Name:</a:t>
            </a:r>
            <a:r>
              <a:rPr lang="en-US" sz="1900">
                <a:solidFill>
                  <a:schemeClr val="dk1"/>
                </a:solidFill>
              </a:rPr>
              <a:t> </a:t>
            </a:r>
            <a:r>
              <a:rPr lang="en-US" sz="1900">
                <a:solidFill>
                  <a:srgbClr val="0E0E0E"/>
                </a:solidFill>
              </a:rPr>
              <a:t>One Name (singular), revealing one God in three Persons, The Godhead. </a:t>
            </a:r>
            <a:br>
              <a:rPr lang="en-US" sz="1900">
                <a:solidFill>
                  <a:srgbClr val="0E0E0E"/>
                </a:solidFill>
              </a:rPr>
            </a:br>
            <a:r>
              <a:rPr lang="en-US" sz="1900">
                <a:solidFill>
                  <a:srgbClr val="0E0E0E"/>
                </a:solidFill>
              </a:rPr>
              <a:t>example: In the “Name.” Not Names, Name of the Father, The son, and the Holy Spirit</a:t>
            </a:r>
            <a:endParaRPr sz="1900">
              <a:solidFill>
                <a:schemeClr val="dk1"/>
              </a:solidFill>
            </a:endParaRPr>
          </a:p>
          <a:p>
            <a:pPr indent="0" lvl="0" marL="0" marR="0" rtl="0" algn="l">
              <a:spcBef>
                <a:spcPts val="1200"/>
              </a:spcBef>
              <a:spcAft>
                <a:spcPts val="0"/>
              </a:spcAft>
              <a:buNone/>
            </a:pPr>
            <a:r>
              <a:t/>
            </a:r>
            <a:endParaRPr sz="3000">
              <a:solidFill>
                <a:srgbClr val="1E1E1E"/>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image.jpeg" id="216" name="Google Shape;216;p29"/>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217" name="Google Shape;217;p29"/>
          <p:cNvSpPr txBox="1"/>
          <p:nvPr/>
        </p:nvSpPr>
        <p:spPr>
          <a:xfrm>
            <a:off x="640080" y="548640"/>
            <a:ext cx="822960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5A3200"/>
                </a:solidFill>
                <a:latin typeface="Calibri"/>
                <a:ea typeface="Calibri"/>
                <a:cs typeface="Calibri"/>
                <a:sym typeface="Calibri"/>
              </a:rPr>
              <a:t>Conclusion — The Tewahedo Mystery</a:t>
            </a:r>
            <a:endParaRPr/>
          </a:p>
        </p:txBody>
      </p:sp>
      <p:sp>
        <p:nvSpPr>
          <p:cNvPr id="218" name="Google Shape;218;p29"/>
          <p:cNvSpPr txBox="1"/>
          <p:nvPr/>
        </p:nvSpPr>
        <p:spPr>
          <a:xfrm>
            <a:off x="457210" y="1531475"/>
            <a:ext cx="8229600" cy="4494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2200">
                <a:solidFill>
                  <a:schemeClr val="dk1"/>
                </a:solidFill>
              </a:rPr>
              <a:t>Unified without Confusion:</a:t>
            </a:r>
            <a:r>
              <a:rPr lang="en-US" sz="2200">
                <a:solidFill>
                  <a:schemeClr val="dk1"/>
                </a:solidFill>
              </a:rPr>
              <a:t> The Father is not the Son, and the Son is not the Spirit. We do not "mix" the Persons (rejecting Modalism).</a:t>
            </a:r>
            <a:br>
              <a:rPr lang="en-US" sz="2200">
                <a:solidFill>
                  <a:schemeClr val="dk1"/>
                </a:solidFill>
              </a:rPr>
            </a:br>
            <a:endParaRPr sz="2200">
              <a:solidFill>
                <a:schemeClr val="dk1"/>
              </a:solidFill>
            </a:endParaRPr>
          </a:p>
          <a:p>
            <a:pPr indent="0" lvl="0" marL="0" rtl="0" algn="l">
              <a:spcBef>
                <a:spcPts val="0"/>
              </a:spcBef>
              <a:spcAft>
                <a:spcPts val="0"/>
              </a:spcAft>
              <a:buClr>
                <a:schemeClr val="dk1"/>
              </a:buClr>
              <a:buSzPts val="1100"/>
              <a:buFont typeface="Arial"/>
              <a:buNone/>
            </a:pPr>
            <a:r>
              <a:rPr b="1" lang="en-US" sz="2200">
                <a:solidFill>
                  <a:schemeClr val="dk1"/>
                </a:solidFill>
              </a:rPr>
              <a:t>Distinguished without Separation:</a:t>
            </a:r>
            <a:r>
              <a:rPr lang="en-US" sz="2200">
                <a:solidFill>
                  <a:schemeClr val="dk1"/>
                </a:solidFill>
              </a:rPr>
              <a:t> They are never "apart." Where one is, the others are also (rejecting Tritheism).</a:t>
            </a:r>
            <a:br>
              <a:rPr lang="en-US" sz="2200">
                <a:solidFill>
                  <a:schemeClr val="dk1"/>
                </a:solidFill>
              </a:rPr>
            </a:br>
            <a:endParaRPr sz="2200">
              <a:solidFill>
                <a:schemeClr val="dk1"/>
              </a:solidFill>
            </a:endParaRPr>
          </a:p>
          <a:p>
            <a:pPr indent="0" lvl="0" marL="0" rtl="0" algn="l">
              <a:spcBef>
                <a:spcPts val="0"/>
              </a:spcBef>
              <a:spcAft>
                <a:spcPts val="0"/>
              </a:spcAft>
              <a:buClr>
                <a:schemeClr val="dk1"/>
              </a:buClr>
              <a:buSzPts val="1100"/>
              <a:buFont typeface="Arial"/>
              <a:buNone/>
            </a:pPr>
            <a:r>
              <a:rPr b="1" lang="en-US" sz="2200">
                <a:solidFill>
                  <a:schemeClr val="dk1"/>
                </a:solidFill>
              </a:rPr>
              <a:t>Our Worship:</a:t>
            </a:r>
            <a:r>
              <a:rPr lang="en-US" sz="2200">
                <a:solidFill>
                  <a:schemeClr val="dk1"/>
                </a:solidFill>
              </a:rPr>
              <a:t> We do not master this mystery with logic; we enter into it through prayer and the Sacraments.</a:t>
            </a:r>
            <a:br>
              <a:rPr lang="en-US" sz="2200">
                <a:solidFill>
                  <a:schemeClr val="dk1"/>
                </a:solidFill>
              </a:rPr>
            </a:br>
            <a:endParaRPr sz="2200">
              <a:solidFill>
                <a:schemeClr val="dk1"/>
              </a:solidFill>
            </a:endParaRPr>
          </a:p>
          <a:p>
            <a:pPr indent="0" lvl="0" marL="0" rtl="0" algn="l">
              <a:spcBef>
                <a:spcPts val="0"/>
              </a:spcBef>
              <a:spcAft>
                <a:spcPts val="0"/>
              </a:spcAft>
              <a:buClr>
                <a:schemeClr val="dk1"/>
              </a:buClr>
              <a:buSzPts val="1100"/>
              <a:buFont typeface="Arial"/>
              <a:buNone/>
            </a:pPr>
            <a:r>
              <a:rPr b="1" lang="en-US" sz="2200">
                <a:solidFill>
                  <a:schemeClr val="dk1"/>
                </a:solidFill>
              </a:rPr>
              <a:t>Doxology:</a:t>
            </a:r>
            <a:r>
              <a:rPr lang="en-US" sz="2200">
                <a:solidFill>
                  <a:schemeClr val="dk1"/>
                </a:solidFill>
              </a:rPr>
              <a:t> "Glory be to the Father, and to the Son, and to the Holy Spirit, now and ever and unto the ages of ages. Amen."</a:t>
            </a:r>
            <a:endParaRPr sz="2200">
              <a:solidFill>
                <a:schemeClr val="dk1"/>
              </a:solidFill>
            </a:endParaRPr>
          </a:p>
          <a:p>
            <a:pPr indent="0" lvl="0" marL="0" marR="0" rtl="0" algn="l">
              <a:spcBef>
                <a:spcPts val="0"/>
              </a:spcBef>
              <a:spcAft>
                <a:spcPts val="0"/>
              </a:spcAft>
              <a:buNone/>
            </a:pPr>
            <a:r>
              <a:t/>
            </a:r>
            <a:endParaRPr sz="2200">
              <a:solidFill>
                <a:srgbClr val="1E1E1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