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cd7f096460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cd7f09646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cd10f32d8c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cd10f32d8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d10f32d8c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cd10f32d8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d10f32d8c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cd10f32d8c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d10f32d8c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cd10f32d8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cd7f096460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cd7f09646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cd7f096460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cd7f096460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85" name="Google Shape;85;p13"/>
          <p:cNvSpPr txBox="1"/>
          <p:nvPr/>
        </p:nvSpPr>
        <p:spPr>
          <a:xfrm>
            <a:off x="640055" y="2041380"/>
            <a:ext cx="7863900" cy="831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800">
                <a:solidFill>
                  <a:srgbClr val="3C2C19"/>
                </a:solidFill>
                <a:latin typeface="Calibri"/>
                <a:ea typeface="Calibri"/>
                <a:cs typeface="Calibri"/>
                <a:sym typeface="Calibri"/>
              </a:rPr>
              <a:t>The Book Of </a:t>
            </a:r>
            <a:r>
              <a:rPr b="1" i="0" lang="en-US" sz="4800" u="none" cap="none" strike="noStrike">
                <a:solidFill>
                  <a:srgbClr val="3C2C19"/>
                </a:solidFill>
                <a:latin typeface="Calibri"/>
                <a:ea typeface="Calibri"/>
                <a:cs typeface="Calibri"/>
                <a:sym typeface="Calibri"/>
              </a:rPr>
              <a:t>Colossians</a:t>
            </a:r>
            <a:endParaRPr sz="4800"/>
          </a:p>
        </p:txBody>
      </p:sp>
      <p:sp>
        <p:nvSpPr>
          <p:cNvPr id="86" name="Google Shape;86;p13"/>
          <p:cNvSpPr txBox="1"/>
          <p:nvPr/>
        </p:nvSpPr>
        <p:spPr>
          <a:xfrm>
            <a:off x="2578150" y="2932450"/>
            <a:ext cx="3680400" cy="45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rgbClr val="888888"/>
                </a:solidFill>
                <a:latin typeface="Calibri"/>
                <a:ea typeface="Calibri"/>
                <a:cs typeface="Calibri"/>
                <a:sym typeface="Calibri"/>
              </a:rPr>
              <a:t>By Dn Yonnas</a:t>
            </a:r>
            <a:endParaRPr sz="1500">
              <a:solidFill>
                <a:srgbClr val="88888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descr="image.png" id="91" name="Google Shape;91;p1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92" name="Google Shape;92;p14"/>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Context and Background</a:t>
            </a:r>
            <a:endParaRPr/>
          </a:p>
        </p:txBody>
      </p:sp>
      <p:sp>
        <p:nvSpPr>
          <p:cNvPr id="93" name="Google Shape;93;p14"/>
          <p:cNvSpPr txBox="1"/>
          <p:nvPr/>
        </p:nvSpPr>
        <p:spPr>
          <a:xfrm>
            <a:off x="777240" y="1234440"/>
            <a:ext cx="8138100" cy="295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2D2214"/>
                </a:solidFill>
                <a:latin typeface="Times New Roman"/>
                <a:ea typeface="Times New Roman"/>
                <a:cs typeface="Times New Roman"/>
                <a:sym typeface="Times New Roman"/>
              </a:rPr>
              <a:t>Author:</a:t>
            </a:r>
            <a:r>
              <a:rPr i="0" lang="en-US" sz="2400" u="none" cap="none" strike="noStrike">
                <a:solidFill>
                  <a:srgbClr val="2D2214"/>
                </a:solidFill>
                <a:latin typeface="Times New Roman"/>
                <a:ea typeface="Times New Roman"/>
                <a:cs typeface="Times New Roman"/>
                <a:sym typeface="Times New Roman"/>
              </a:rPr>
              <a:t> St. Paul the Apostle</a:t>
            </a:r>
            <a:endParaRPr sz="2400">
              <a:latin typeface="Times New Roman"/>
              <a:ea typeface="Times New Roman"/>
              <a:cs typeface="Times New Roman"/>
              <a:sym typeface="Times New Roman"/>
            </a:endParaRPr>
          </a:p>
          <a:p>
            <a:pPr indent="0" lvl="0" marL="0" marR="0" rtl="0" algn="l">
              <a:spcBef>
                <a:spcPts val="600"/>
              </a:spcBef>
              <a:spcAft>
                <a:spcPts val="0"/>
              </a:spcAft>
              <a:buNone/>
            </a:pPr>
            <a:r>
              <a:rPr b="1" i="0" lang="en-US" sz="2400" u="none" cap="none" strike="noStrike">
                <a:solidFill>
                  <a:srgbClr val="2D2214"/>
                </a:solidFill>
                <a:latin typeface="Times New Roman"/>
                <a:ea typeface="Times New Roman"/>
                <a:cs typeface="Times New Roman"/>
                <a:sym typeface="Times New Roman"/>
              </a:rPr>
              <a:t>Audience:</a:t>
            </a:r>
            <a:r>
              <a:rPr i="0" lang="en-US" sz="2400" u="none" cap="none" strike="noStrike">
                <a:solidFill>
                  <a:srgbClr val="2D2214"/>
                </a:solidFill>
                <a:latin typeface="Times New Roman"/>
                <a:ea typeface="Times New Roman"/>
                <a:cs typeface="Times New Roman"/>
                <a:sym typeface="Times New Roman"/>
              </a:rPr>
              <a:t> the church in Colossae</a:t>
            </a:r>
            <a:endParaRPr sz="2400">
              <a:latin typeface="Times New Roman"/>
              <a:ea typeface="Times New Roman"/>
              <a:cs typeface="Times New Roman"/>
              <a:sym typeface="Times New Roman"/>
            </a:endParaRPr>
          </a:p>
          <a:p>
            <a:pPr indent="0" lvl="0" marL="0" marR="0" rtl="0" algn="l">
              <a:spcBef>
                <a:spcPts val="600"/>
              </a:spcBef>
              <a:spcAft>
                <a:spcPts val="0"/>
              </a:spcAft>
              <a:buNone/>
            </a:pPr>
            <a:r>
              <a:rPr b="1" i="0" lang="en-US" sz="2400" u="none" cap="none" strike="noStrike">
                <a:solidFill>
                  <a:srgbClr val="2D2214"/>
                </a:solidFill>
                <a:latin typeface="Times New Roman"/>
                <a:ea typeface="Times New Roman"/>
                <a:cs typeface="Times New Roman"/>
                <a:sym typeface="Times New Roman"/>
              </a:rPr>
              <a:t>Purpose:</a:t>
            </a:r>
            <a:r>
              <a:rPr lang="en-US" sz="1100">
                <a:solidFill>
                  <a:schemeClr val="dk1"/>
                </a:solidFill>
              </a:rPr>
              <a:t> </a:t>
            </a:r>
            <a:r>
              <a:rPr lang="en-US" sz="2400">
                <a:solidFill>
                  <a:schemeClr val="dk1"/>
                </a:solidFill>
                <a:latin typeface="Times New Roman"/>
                <a:ea typeface="Times New Roman"/>
                <a:cs typeface="Times New Roman"/>
                <a:sym typeface="Times New Roman"/>
              </a:rPr>
              <a:t>To proclaim Christ’s supremacy and sufficiency, warn against deception and man-made religion, and call the Church to live a transformed, Christ-centered life rooted in Him.</a:t>
            </a:r>
            <a:endParaRPr sz="2400">
              <a:solidFill>
                <a:schemeClr val="dk1"/>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600"/>
              </a:spcBef>
              <a:spcAft>
                <a:spcPts val="0"/>
              </a:spcAft>
              <a:buNone/>
            </a:pPr>
            <a:r>
              <a:t/>
            </a:r>
            <a:endParaRPr sz="2200">
              <a:solidFill>
                <a:srgbClr val="2D2214"/>
              </a:solidFill>
              <a:latin typeface="Calibri"/>
              <a:ea typeface="Calibri"/>
              <a:cs typeface="Calibri"/>
              <a:sym typeface="Calibri"/>
            </a:endParaRPr>
          </a:p>
        </p:txBody>
      </p:sp>
      <p:sp>
        <p:nvSpPr>
          <p:cNvPr id="94" name="Google Shape;94;p14"/>
          <p:cNvSpPr txBox="1"/>
          <p:nvPr/>
        </p:nvSpPr>
        <p:spPr>
          <a:xfrm>
            <a:off x="777240" y="3502875"/>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1:1–2 (NKJV)</a:t>
            </a:r>
            <a:endParaRPr/>
          </a:p>
        </p:txBody>
      </p:sp>
      <p:sp>
        <p:nvSpPr>
          <p:cNvPr id="95" name="Google Shape;95;p14"/>
          <p:cNvSpPr txBox="1"/>
          <p:nvPr/>
        </p:nvSpPr>
        <p:spPr>
          <a:xfrm>
            <a:off x="777240" y="3810670"/>
            <a:ext cx="81381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“Paul, an apostle of Jesus Christ by the will of God, and Timothy our brother, To the saints and faithful brethren in Christ who are in Colossae: Grace to you and peace from God our Father and the Lord Jesus Christ.”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descr="image.png" id="100" name="Google Shape;100;p1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01" name="Google Shape;101;p15"/>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The Big Message of Colossians</a:t>
            </a:r>
            <a:endParaRPr/>
          </a:p>
        </p:txBody>
      </p:sp>
      <p:sp>
        <p:nvSpPr>
          <p:cNvPr id="102" name="Google Shape;102;p15"/>
          <p:cNvSpPr txBox="1"/>
          <p:nvPr/>
        </p:nvSpPr>
        <p:spPr>
          <a:xfrm>
            <a:off x="257175" y="1128025"/>
            <a:ext cx="8194800" cy="253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a:solidFill>
                  <a:schemeClr val="dk1"/>
                </a:solidFill>
                <a:latin typeface="Times New Roman"/>
                <a:ea typeface="Times New Roman"/>
                <a:cs typeface="Times New Roman"/>
                <a:sym typeface="Times New Roman"/>
              </a:rPr>
              <a:t>The Big Message of Colossians</a:t>
            </a:r>
            <a:endParaRPr b="1">
              <a:solidFill>
                <a:schemeClr val="dk1"/>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latin typeface="Times New Roman"/>
                <a:ea typeface="Times New Roman"/>
                <a:cs typeface="Times New Roman"/>
                <a:sym typeface="Times New Roman"/>
              </a:rPr>
              <a:t>1) Supremacy:</a:t>
            </a:r>
            <a:r>
              <a:rPr lang="en-US">
                <a:solidFill>
                  <a:schemeClr val="dk1"/>
                </a:solidFill>
                <a:latin typeface="Times New Roman"/>
                <a:ea typeface="Times New Roman"/>
                <a:cs typeface="Times New Roman"/>
                <a:sym typeface="Times New Roman"/>
              </a:rPr>
              <a:t> Christ is Creator/Sustainer, Head of the Church, fullness of God (Col 1:16–18; 2:9)</a:t>
            </a:r>
            <a:br>
              <a:rPr lang="en-US">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Times New Roman"/>
                <a:ea typeface="Times New Roman"/>
                <a:cs typeface="Times New Roman"/>
                <a:sym typeface="Times New Roman"/>
              </a:rPr>
              <a:t>2) Reconciliation:</a:t>
            </a:r>
            <a:r>
              <a:rPr lang="en-US">
                <a:solidFill>
                  <a:schemeClr val="dk1"/>
                </a:solidFill>
                <a:latin typeface="Times New Roman"/>
                <a:ea typeface="Times New Roman"/>
                <a:cs typeface="Times New Roman"/>
                <a:sym typeface="Times New Roman"/>
              </a:rPr>
              <a:t> Christ made peace through His blood and restored us to God (Col 1:20–22)</a:t>
            </a:r>
            <a:br>
              <a:rPr lang="en-US">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Times New Roman"/>
                <a:ea typeface="Times New Roman"/>
                <a:cs typeface="Times New Roman"/>
                <a:sym typeface="Times New Roman"/>
              </a:rPr>
              <a:t>3) Stay Rooted:</a:t>
            </a:r>
            <a:r>
              <a:rPr lang="en-US">
                <a:solidFill>
                  <a:schemeClr val="dk1"/>
                </a:solidFill>
                <a:latin typeface="Times New Roman"/>
                <a:ea typeface="Times New Roman"/>
                <a:cs typeface="Times New Roman"/>
                <a:sym typeface="Times New Roman"/>
              </a:rPr>
              <a:t> Don’t be deceived; you are complete in Him (Col 2:8; 2:10)</a:t>
            </a:r>
            <a:br>
              <a:rPr lang="en-US">
                <a:solidFill>
                  <a:schemeClr val="dk1"/>
                </a:solidFill>
                <a:latin typeface="Times New Roman"/>
                <a:ea typeface="Times New Roman"/>
                <a:cs typeface="Times New Roman"/>
                <a:sym typeface="Times New Roman"/>
              </a:rPr>
            </a:br>
            <a:endParaRPr>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Char char="●"/>
            </a:pPr>
            <a:r>
              <a:rPr b="1" lang="en-US">
                <a:solidFill>
                  <a:schemeClr val="dk1"/>
                </a:solidFill>
                <a:latin typeface="Times New Roman"/>
                <a:ea typeface="Times New Roman"/>
                <a:cs typeface="Times New Roman"/>
                <a:sym typeface="Times New Roman"/>
              </a:rPr>
              <a:t>4) New Life:</a:t>
            </a:r>
            <a:r>
              <a:rPr lang="en-US">
                <a:solidFill>
                  <a:schemeClr val="dk1"/>
                </a:solidFill>
                <a:latin typeface="Times New Roman"/>
                <a:ea typeface="Times New Roman"/>
                <a:cs typeface="Times New Roman"/>
                <a:sym typeface="Times New Roman"/>
              </a:rPr>
              <a:t> Set your mind above; put off sin; put on Christ; live prayerfully with grace-filled speech (Col 3:1–2, 5, 12–14; 4:2–6)</a:t>
            </a:r>
            <a:endParaRPr sz="1200">
              <a:solidFill>
                <a:schemeClr val="dk1"/>
              </a:solidFill>
            </a:endParaRPr>
          </a:p>
        </p:txBody>
      </p:sp>
      <p:sp>
        <p:nvSpPr>
          <p:cNvPr id="103" name="Google Shape;103;p15"/>
          <p:cNvSpPr txBox="1"/>
          <p:nvPr/>
        </p:nvSpPr>
        <p:spPr>
          <a:xfrm>
            <a:off x="289050" y="3928600"/>
            <a:ext cx="80238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100">
                <a:solidFill>
                  <a:schemeClr val="dk1"/>
                </a:solidFill>
              </a:rPr>
              <a:t>Core takeaway:</a:t>
            </a:r>
            <a:r>
              <a:rPr lang="en-US" sz="1100">
                <a:solidFill>
                  <a:schemeClr val="dk1"/>
                </a:solidFill>
              </a:rPr>
              <a:t> Colossians proclaims Christ as supreme and sufficient—so we stay rooted in Him and live a transformed life.</a:t>
            </a:r>
            <a:endParaRPr sz="1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6"/>
          <p:cNvSpPr txBox="1"/>
          <p:nvPr/>
        </p:nvSpPr>
        <p:spPr>
          <a:xfrm>
            <a:off x="640080" y="411480"/>
            <a:ext cx="78639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3C2C19"/>
                </a:solidFill>
                <a:latin typeface="Calibri"/>
                <a:ea typeface="Calibri"/>
                <a:cs typeface="Calibri"/>
                <a:sym typeface="Calibri"/>
              </a:rPr>
              <a:t>Staying Rooted In Christ  </a:t>
            </a:r>
            <a:endParaRPr/>
          </a:p>
        </p:txBody>
      </p:sp>
      <p:sp>
        <p:nvSpPr>
          <p:cNvPr id="109" name="Google Shape;109;p16"/>
          <p:cNvSpPr txBox="1"/>
          <p:nvPr/>
        </p:nvSpPr>
        <p:spPr>
          <a:xfrm>
            <a:off x="305850" y="1195525"/>
            <a:ext cx="7555500" cy="351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US" sz="1800">
                <a:solidFill>
                  <a:schemeClr val="dk1"/>
                </a:solidFill>
              </a:rPr>
              <a:t>Why Paul says this (what was happening)</a:t>
            </a:r>
            <a:endParaRPr b="1" sz="1800">
              <a:solidFill>
                <a:schemeClr val="dk1"/>
              </a:solidFill>
            </a:endParaRPr>
          </a:p>
          <a:p>
            <a:pPr indent="0" lvl="0" marL="0" rtl="0" algn="l">
              <a:lnSpc>
                <a:spcPct val="115000"/>
              </a:lnSpc>
              <a:spcBef>
                <a:spcPts val="1200"/>
              </a:spcBef>
              <a:spcAft>
                <a:spcPts val="0"/>
              </a:spcAft>
              <a:buNone/>
            </a:pPr>
            <a:r>
              <a:rPr lang="en-US" sz="1300">
                <a:solidFill>
                  <a:schemeClr val="dk1"/>
                </a:solidFill>
              </a:rPr>
              <a:t>Some people were pushing ideas that sounded “deep” and “spiritual” but subtly changed the center:</a:t>
            </a:r>
            <a:endParaRPr sz="1300">
              <a:solidFill>
                <a:schemeClr val="dk1"/>
              </a:solidFill>
            </a:endParaRPr>
          </a:p>
          <a:p>
            <a:pPr indent="-311150" lvl="0" marL="457200" rtl="0" algn="l">
              <a:lnSpc>
                <a:spcPct val="115000"/>
              </a:lnSpc>
              <a:spcBef>
                <a:spcPts val="1200"/>
              </a:spcBef>
              <a:spcAft>
                <a:spcPts val="0"/>
              </a:spcAft>
              <a:buClr>
                <a:schemeClr val="dk1"/>
              </a:buClr>
              <a:buSzPts val="1300"/>
              <a:buChar char="●"/>
            </a:pPr>
            <a:r>
              <a:rPr b="1" lang="en-US" sz="1300">
                <a:solidFill>
                  <a:schemeClr val="dk1"/>
                </a:solidFill>
              </a:rPr>
              <a:t>Christ + extra rules</a:t>
            </a:r>
            <a:r>
              <a:rPr lang="en-US" sz="1300">
                <a:solidFill>
                  <a:schemeClr val="dk1"/>
                </a:solidFill>
              </a:rPr>
              <a:t> (man-made religion)</a:t>
            </a:r>
            <a:br>
              <a:rPr lang="en-US"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Christ + mystical experiences</a:t>
            </a:r>
            <a:r>
              <a:rPr lang="en-US" sz="1300">
                <a:solidFill>
                  <a:schemeClr val="dk1"/>
                </a:solidFill>
              </a:rPr>
              <a:t> (spiritual pride)</a:t>
            </a:r>
            <a:br>
              <a:rPr lang="en-US"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Christ + philosophies/traditions</a:t>
            </a:r>
            <a:r>
              <a:rPr lang="en-US" sz="1300">
                <a:solidFill>
                  <a:schemeClr val="dk1"/>
                </a:solidFill>
              </a:rPr>
              <a:t> (human wisdom)</a:t>
            </a:r>
            <a:br>
              <a:rPr lang="en-US" sz="1300">
                <a:solidFill>
                  <a:schemeClr val="dk1"/>
                </a:solidFill>
              </a:rPr>
            </a:b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b="1" lang="en-US" sz="1300">
                <a:solidFill>
                  <a:schemeClr val="dk1"/>
                </a:solidFill>
              </a:rPr>
              <a:t>Christ reduced</a:t>
            </a:r>
            <a:r>
              <a:rPr lang="en-US" sz="1300">
                <a:solidFill>
                  <a:schemeClr val="dk1"/>
                </a:solidFill>
              </a:rPr>
              <a:t> (as if He’s not fully God / not enough)</a:t>
            </a:r>
            <a:br>
              <a:rPr lang="en-US" sz="1300">
                <a:solidFill>
                  <a:schemeClr val="dk1"/>
                </a:solidFill>
              </a:rPr>
            </a:br>
            <a:endParaRPr sz="1300">
              <a:solidFill>
                <a:schemeClr val="dk1"/>
              </a:solidFill>
            </a:endParaRPr>
          </a:p>
          <a:p>
            <a:pPr indent="0" lvl="0" marL="0" rtl="0" algn="l">
              <a:lnSpc>
                <a:spcPct val="115000"/>
              </a:lnSpc>
              <a:spcBef>
                <a:spcPts val="1200"/>
              </a:spcBef>
              <a:spcAft>
                <a:spcPts val="0"/>
              </a:spcAft>
              <a:buNone/>
            </a:pPr>
            <a:r>
              <a:t/>
            </a:r>
            <a:endParaRPr sz="900">
              <a:solidFill>
                <a:schemeClr val="dk1"/>
              </a:solidFill>
            </a:endParaRPr>
          </a:p>
          <a:p>
            <a:pPr indent="0" lvl="0" marL="0" rtl="0" algn="l">
              <a:lnSpc>
                <a:spcPct val="115000"/>
              </a:lnSpc>
              <a:spcBef>
                <a:spcPts val="1200"/>
              </a:spcBef>
              <a:spcAft>
                <a:spcPts val="1200"/>
              </a:spcAft>
              <a:buNone/>
            </a:pPr>
            <a:r>
              <a:rPr b="1" lang="en-US" sz="1100">
                <a:solidFill>
                  <a:schemeClr val="dk1"/>
                </a:solidFill>
              </a:rPr>
              <a:t>Core takeaway:</a:t>
            </a:r>
            <a:r>
              <a:rPr lang="en-US" sz="900">
                <a:solidFill>
                  <a:schemeClr val="dk1"/>
                </a:solidFill>
              </a:rPr>
              <a:t>If Christ is reduced, the entire faith collapses into confusion.</a:t>
            </a:r>
            <a:endParaRPr sz="9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nvSpPr>
        <p:spPr>
          <a:xfrm>
            <a:off x="640055" y="237805"/>
            <a:ext cx="7863900" cy="6003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2400"/>
              </a:spcBef>
              <a:spcAft>
                <a:spcPts val="600"/>
              </a:spcAft>
              <a:buSzPts val="1100"/>
              <a:buNone/>
            </a:pPr>
            <a:r>
              <a:rPr b="1" lang="en-US" sz="3300">
                <a:solidFill>
                  <a:schemeClr val="dk1"/>
                </a:solidFill>
                <a:latin typeface="Calibri"/>
                <a:ea typeface="Calibri"/>
                <a:cs typeface="Calibri"/>
                <a:sym typeface="Calibri"/>
              </a:rPr>
              <a:t>Christ + extra rules (man-made religion)</a:t>
            </a:r>
            <a:endParaRPr b="1" sz="3300">
              <a:solidFill>
                <a:srgbClr val="3C2C19"/>
              </a:solidFill>
              <a:latin typeface="Calibri"/>
              <a:ea typeface="Calibri"/>
              <a:cs typeface="Calibri"/>
              <a:sym typeface="Calibri"/>
            </a:endParaRPr>
          </a:p>
        </p:txBody>
      </p:sp>
      <p:sp>
        <p:nvSpPr>
          <p:cNvPr id="115" name="Google Shape;115;p17"/>
          <p:cNvSpPr txBox="1"/>
          <p:nvPr/>
        </p:nvSpPr>
        <p:spPr>
          <a:xfrm>
            <a:off x="109800" y="981925"/>
            <a:ext cx="8924400" cy="284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100">
                <a:solidFill>
                  <a:schemeClr val="dk1"/>
                </a:solidFill>
              </a:rPr>
              <a:t>What it looks like: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Someone treats fasting as the whole faith:</a:t>
            </a:r>
            <a:br>
              <a:rPr b="1" lang="en-US" sz="1100">
                <a:solidFill>
                  <a:schemeClr val="dk1"/>
                </a:solidFill>
              </a:rPr>
            </a:br>
            <a:r>
              <a:rPr lang="en-US" sz="1100">
                <a:solidFill>
                  <a:schemeClr val="dk1"/>
                </a:solidFill>
              </a:rPr>
              <a:t> “If you didn’t fast perfectly, you’re basically not Christian,” while they ignore humility, mercy, confession, and love.</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Making personal opinions into law:</a:t>
            </a:r>
            <a:br>
              <a:rPr lang="en-US" sz="1100">
                <a:solidFill>
                  <a:schemeClr val="dk1"/>
                </a:solidFill>
              </a:rPr>
            </a:br>
            <a:r>
              <a:rPr lang="en-US" sz="1100">
                <a:solidFill>
                  <a:schemeClr val="dk1"/>
                </a:solidFill>
              </a:rPr>
              <a:t> “If you don’t do </a:t>
            </a:r>
            <a:r>
              <a:rPr i="1" lang="en-US" sz="1100">
                <a:solidFill>
                  <a:schemeClr val="dk1"/>
                </a:solidFill>
              </a:rPr>
              <a:t>exactly</a:t>
            </a:r>
            <a:r>
              <a:rPr lang="en-US" sz="1100">
                <a:solidFill>
                  <a:schemeClr val="dk1"/>
                </a:solidFill>
              </a:rPr>
              <a:t> my rule (my prayer count, my strictness, my schedule), you’re wrong,” even when the Church gives guidance through a priest/spiritual father.</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Weaponizing canons instead of using them as medicine:</a:t>
            </a:r>
            <a:br>
              <a:rPr lang="en-US" sz="1100">
                <a:solidFill>
                  <a:schemeClr val="dk1"/>
                </a:solidFill>
              </a:rPr>
            </a:br>
            <a:r>
              <a:rPr lang="en-US" sz="1100">
                <a:solidFill>
                  <a:schemeClr val="dk1"/>
                </a:solidFill>
              </a:rPr>
              <a:t> quoting rules only to condemn, rather than to heal and restore.</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Turning external correctness into righteousness:</a:t>
            </a:r>
            <a:br>
              <a:rPr lang="en-US" sz="1100">
                <a:solidFill>
                  <a:schemeClr val="dk1"/>
                </a:solidFill>
              </a:rPr>
            </a:br>
            <a:r>
              <a:rPr lang="en-US" sz="1100">
                <a:solidFill>
                  <a:schemeClr val="dk1"/>
                </a:solidFill>
              </a:rPr>
              <a:t> “I wear this, I don’t go there, I don’t listen to that,” but there’s no repentance, no forgiveness, no purity of heart.</a:t>
            </a:r>
            <a:endParaRPr sz="1100">
              <a:solidFill>
                <a:schemeClr val="dk1"/>
              </a:solidFill>
            </a:endParaRPr>
          </a:p>
        </p:txBody>
      </p:sp>
      <p:sp>
        <p:nvSpPr>
          <p:cNvPr id="116" name="Google Shape;116;p17"/>
          <p:cNvSpPr txBox="1"/>
          <p:nvPr/>
        </p:nvSpPr>
        <p:spPr>
          <a:xfrm>
            <a:off x="253825" y="4023775"/>
            <a:ext cx="77688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US" sz="1100">
                <a:solidFill>
                  <a:schemeClr val="dk1"/>
                </a:solidFill>
              </a:rPr>
              <a:t>The Colossians correction: </a:t>
            </a:r>
            <a:r>
              <a:rPr lang="en-US" sz="1100">
                <a:solidFill>
                  <a:schemeClr val="dk1"/>
                </a:solidFill>
              </a:rPr>
              <a:t>Rules without Christ-centered repentance create pride and harsh judgment.</a:t>
            </a:r>
            <a:endParaRPr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8"/>
          <p:cNvSpPr txBox="1"/>
          <p:nvPr/>
        </p:nvSpPr>
        <p:spPr>
          <a:xfrm>
            <a:off x="640055" y="337980"/>
            <a:ext cx="7863900" cy="538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2400"/>
              </a:spcBef>
              <a:spcAft>
                <a:spcPts val="600"/>
              </a:spcAft>
              <a:buSzPts val="1100"/>
              <a:buNone/>
            </a:pPr>
            <a:r>
              <a:rPr b="1" lang="en-US" sz="2900">
                <a:solidFill>
                  <a:schemeClr val="dk1"/>
                </a:solidFill>
                <a:latin typeface="Calibri"/>
                <a:ea typeface="Calibri"/>
                <a:cs typeface="Calibri"/>
                <a:sym typeface="Calibri"/>
              </a:rPr>
              <a:t>Christ + mystical experiences (spiritual pride)</a:t>
            </a:r>
            <a:endParaRPr b="1" sz="2900">
              <a:solidFill>
                <a:srgbClr val="3C2C19"/>
              </a:solidFill>
              <a:latin typeface="Calibri"/>
              <a:ea typeface="Calibri"/>
              <a:cs typeface="Calibri"/>
              <a:sym typeface="Calibri"/>
            </a:endParaRPr>
          </a:p>
        </p:txBody>
      </p:sp>
      <p:sp>
        <p:nvSpPr>
          <p:cNvPr id="122" name="Google Shape;122;p18"/>
          <p:cNvSpPr txBox="1"/>
          <p:nvPr/>
        </p:nvSpPr>
        <p:spPr>
          <a:xfrm>
            <a:off x="233800" y="1148900"/>
            <a:ext cx="5070000" cy="3234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100">
                <a:solidFill>
                  <a:schemeClr val="dk1"/>
                </a:solidFill>
              </a:rPr>
              <a:t>What it looks like: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Chasing “feelings” or “spiritual highs” in worship:</a:t>
            </a:r>
            <a:br>
              <a:rPr b="1" lang="en-US" sz="1100">
                <a:solidFill>
                  <a:schemeClr val="dk1"/>
                </a:solidFill>
              </a:rPr>
            </a:br>
            <a:r>
              <a:rPr lang="en-US" sz="1100">
                <a:solidFill>
                  <a:schemeClr val="dk1"/>
                </a:solidFill>
              </a:rPr>
              <a:t> “If I didn’t feel chills/tears today, God wasn’t present.”</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Bragging about spiritual experiences:</a:t>
            </a:r>
            <a:br>
              <a:rPr lang="en-US" sz="1100">
                <a:solidFill>
                  <a:schemeClr val="dk1"/>
                </a:solidFill>
              </a:rPr>
            </a:br>
            <a:r>
              <a:rPr lang="en-US" sz="1100">
                <a:solidFill>
                  <a:schemeClr val="dk1"/>
                </a:solidFill>
              </a:rPr>
              <a:t> dreams, visions, “God told me…” used to impress people or claim authority.</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Seeking “secret knowledge” or dramatic signs:</a:t>
            </a:r>
            <a:br>
              <a:rPr lang="en-US" sz="1100">
                <a:solidFill>
                  <a:schemeClr val="dk1"/>
                </a:solidFill>
              </a:rPr>
            </a:br>
            <a:r>
              <a:rPr lang="en-US" sz="1100">
                <a:solidFill>
                  <a:schemeClr val="dk1"/>
                </a:solidFill>
              </a:rPr>
              <a:t> constantly looking for miracles, prophecies, or “deep revelations,” while neglecting basic obedience, prayer, and humility.</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Thinking spiritual maturity = exotic experiences:</a:t>
            </a:r>
            <a:br>
              <a:rPr lang="en-US" sz="1100">
                <a:solidFill>
                  <a:schemeClr val="dk1"/>
                </a:solidFill>
              </a:rPr>
            </a:br>
            <a:r>
              <a:rPr lang="en-US" sz="1100">
                <a:solidFill>
                  <a:schemeClr val="dk1"/>
                </a:solidFill>
              </a:rPr>
              <a:t> instead of </a:t>
            </a:r>
            <a:r>
              <a:rPr b="1" lang="en-US" sz="1100">
                <a:solidFill>
                  <a:schemeClr val="dk1"/>
                </a:solidFill>
              </a:rPr>
              <a:t>repentance, patience, forgiveness, and purity</a:t>
            </a:r>
            <a:r>
              <a:rPr lang="en-US" sz="1100">
                <a:solidFill>
                  <a:schemeClr val="dk1"/>
                </a:solidFill>
              </a:rPr>
              <a:t>.</a:t>
            </a:r>
            <a:br>
              <a:rPr lang="en-US" sz="1100">
                <a:solidFill>
                  <a:schemeClr val="dk1"/>
                </a:solidFill>
              </a:rPr>
            </a:br>
            <a:endParaRPr sz="1100">
              <a:solidFill>
                <a:schemeClr val="dk1"/>
              </a:solidFill>
            </a:endParaRPr>
          </a:p>
        </p:txBody>
      </p:sp>
      <p:sp>
        <p:nvSpPr>
          <p:cNvPr id="123" name="Google Shape;123;p18"/>
          <p:cNvSpPr txBox="1"/>
          <p:nvPr/>
        </p:nvSpPr>
        <p:spPr>
          <a:xfrm>
            <a:off x="5617775" y="1676450"/>
            <a:ext cx="2985900" cy="21789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100">
                <a:solidFill>
                  <a:schemeClr val="dk1"/>
                </a:solidFill>
              </a:rPr>
              <a:t>Orthodox caution (very traditional):</a:t>
            </a:r>
            <a:endParaRPr b="1" sz="1100">
              <a:solidFill>
                <a:schemeClr val="dk1"/>
              </a:solidFill>
            </a:endParaRPr>
          </a:p>
          <a:p>
            <a:pPr indent="0" lvl="0" marL="0" rtl="0" algn="l">
              <a:lnSpc>
                <a:spcPct val="115000"/>
              </a:lnSpc>
              <a:spcBef>
                <a:spcPts val="1200"/>
              </a:spcBef>
              <a:spcAft>
                <a:spcPts val="0"/>
              </a:spcAft>
              <a:buNone/>
            </a:pPr>
            <a:r>
              <a:rPr lang="en-US" sz="1100">
                <a:solidFill>
                  <a:schemeClr val="dk1"/>
                </a:solidFill>
              </a:rPr>
              <a:t>The Fathers constantly warn that chasing experiences can lead to </a:t>
            </a:r>
            <a:r>
              <a:rPr b="1" lang="en-US" sz="1100">
                <a:solidFill>
                  <a:schemeClr val="dk1"/>
                </a:solidFill>
              </a:rPr>
              <a:t>prelest</a:t>
            </a:r>
            <a:r>
              <a:rPr lang="en-US" sz="1100">
                <a:solidFill>
                  <a:schemeClr val="dk1"/>
                </a:solidFill>
              </a:rPr>
              <a:t> (spiritual delusion). True spirituality is usually quiet, humble, and obedient.</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The Colossians correction:</a:t>
            </a:r>
            <a:endParaRPr b="1" sz="1100">
              <a:solidFill>
                <a:schemeClr val="dk1"/>
              </a:solidFill>
            </a:endParaRPr>
          </a:p>
          <a:p>
            <a:pPr indent="0" lvl="0" marL="0" rtl="0" algn="l">
              <a:lnSpc>
                <a:spcPct val="115000"/>
              </a:lnSpc>
              <a:spcBef>
                <a:spcPts val="1200"/>
              </a:spcBef>
              <a:spcAft>
                <a:spcPts val="1200"/>
              </a:spcAft>
              <a:buNone/>
            </a:pPr>
            <a:r>
              <a:rPr lang="en-US" sz="1100">
                <a:solidFill>
                  <a:schemeClr val="dk1"/>
                </a:solidFill>
              </a:rPr>
              <a:t>Christ is the treasure, not the experience. Holiness is proved by humility, not stories.</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nvSpPr>
        <p:spPr>
          <a:xfrm>
            <a:off x="640055" y="271230"/>
            <a:ext cx="7863900" cy="538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2400"/>
              </a:spcBef>
              <a:spcAft>
                <a:spcPts val="600"/>
              </a:spcAft>
              <a:buSzPts val="1100"/>
              <a:buNone/>
            </a:pPr>
            <a:r>
              <a:rPr b="1" lang="en-US" sz="2900">
                <a:solidFill>
                  <a:schemeClr val="dk1"/>
                </a:solidFill>
                <a:latin typeface="Calibri"/>
                <a:ea typeface="Calibri"/>
                <a:cs typeface="Calibri"/>
                <a:sym typeface="Calibri"/>
              </a:rPr>
              <a:t>Christ + philosophies/traditions (human wisdom)</a:t>
            </a:r>
            <a:endParaRPr b="1" sz="2900">
              <a:solidFill>
                <a:srgbClr val="3C2C19"/>
              </a:solidFill>
              <a:latin typeface="Calibri"/>
              <a:ea typeface="Calibri"/>
              <a:cs typeface="Calibri"/>
              <a:sym typeface="Calibri"/>
            </a:endParaRPr>
          </a:p>
        </p:txBody>
      </p:sp>
      <p:sp>
        <p:nvSpPr>
          <p:cNvPr id="129" name="Google Shape;129;p19"/>
          <p:cNvSpPr txBox="1"/>
          <p:nvPr/>
        </p:nvSpPr>
        <p:spPr>
          <a:xfrm>
            <a:off x="400775" y="881725"/>
            <a:ext cx="5865000" cy="3972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US" sz="1100">
                <a:solidFill>
                  <a:schemeClr val="dk1"/>
                </a:solidFill>
              </a:rPr>
              <a:t>This one needs precision because Orthodoxy loves </a:t>
            </a:r>
            <a:r>
              <a:rPr b="1" lang="en-US" sz="1100">
                <a:solidFill>
                  <a:schemeClr val="dk1"/>
                </a:solidFill>
              </a:rPr>
              <a:t>Holy Tradition</a:t>
            </a:r>
            <a:r>
              <a:rPr lang="en-US" sz="1100">
                <a:solidFill>
                  <a:schemeClr val="dk1"/>
                </a:solidFill>
              </a:rPr>
              <a:t>—but the danger is </a:t>
            </a:r>
            <a:r>
              <a:rPr b="1" lang="en-US" sz="1100">
                <a:solidFill>
                  <a:schemeClr val="dk1"/>
                </a:solidFill>
              </a:rPr>
              <a:t>human tradition</a:t>
            </a:r>
            <a:r>
              <a:rPr lang="en-US" sz="1100">
                <a:solidFill>
                  <a:schemeClr val="dk1"/>
                </a:solidFill>
              </a:rPr>
              <a:t> or outside philosophies becoming the real authority.</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What it looks like: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Treating ethnic/cultural tradition as equal to the Gospel:</a:t>
            </a:r>
            <a:br>
              <a:rPr lang="en-US" sz="1100">
                <a:solidFill>
                  <a:schemeClr val="dk1"/>
                </a:solidFill>
              </a:rPr>
            </a:br>
            <a:r>
              <a:rPr lang="en-US" sz="1100">
                <a:solidFill>
                  <a:schemeClr val="dk1"/>
                </a:solidFill>
              </a:rPr>
              <a:t> “We do it because our people do it,” even if it contradicts humility and love.</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Replacing Christ with “identity Orthodoxy”:</a:t>
            </a:r>
            <a:br>
              <a:rPr b="1" lang="en-US" sz="1100">
                <a:solidFill>
                  <a:schemeClr val="dk1"/>
                </a:solidFill>
              </a:rPr>
            </a:br>
            <a:r>
              <a:rPr lang="en-US" sz="1100">
                <a:solidFill>
                  <a:schemeClr val="dk1"/>
                </a:solidFill>
              </a:rPr>
              <a:t> being Orthodox as a cultural badge (“we are the true ones”) rather than a life of repentance and communion with Christ.</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Importing non-Christian spiritual frameworks as the engine:</a:t>
            </a:r>
            <a:br>
              <a:rPr b="1" lang="en-US" sz="1100">
                <a:solidFill>
                  <a:schemeClr val="dk1"/>
                </a:solidFill>
              </a:rPr>
            </a:br>
            <a:r>
              <a:rPr lang="en-US" sz="1100">
                <a:solidFill>
                  <a:schemeClr val="dk1"/>
                </a:solidFill>
              </a:rPr>
              <a:t> “Orthodoxy + manifestation, astrology, crystals, energy rituals, New Age stuff,” mixing systems that shift trust away from Christ.</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Over-intellectualizing faith:</a:t>
            </a:r>
            <a:br>
              <a:rPr b="1" lang="en-US" sz="1100">
                <a:solidFill>
                  <a:schemeClr val="dk1"/>
                </a:solidFill>
              </a:rPr>
            </a:br>
            <a:r>
              <a:rPr lang="en-US" sz="1100">
                <a:solidFill>
                  <a:schemeClr val="dk1"/>
                </a:solidFill>
              </a:rPr>
              <a:t> using philosophy to win arguments and flex knowledge, while neglecting prayer and obedience.</a:t>
            </a:r>
            <a:br>
              <a:rPr lang="en-US" sz="1100">
                <a:solidFill>
                  <a:schemeClr val="dk1"/>
                </a:solidFill>
              </a:rPr>
            </a:br>
            <a:endParaRPr sz="1100">
              <a:solidFill>
                <a:schemeClr val="dk1"/>
              </a:solidFill>
            </a:endParaRPr>
          </a:p>
        </p:txBody>
      </p:sp>
      <p:sp>
        <p:nvSpPr>
          <p:cNvPr id="130" name="Google Shape;130;p19"/>
          <p:cNvSpPr txBox="1"/>
          <p:nvPr/>
        </p:nvSpPr>
        <p:spPr>
          <a:xfrm>
            <a:off x="6325800" y="2025750"/>
            <a:ext cx="2284500" cy="1092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100">
                <a:solidFill>
                  <a:schemeClr val="dk1"/>
                </a:solidFill>
              </a:rPr>
              <a:t>The Colossians correction:</a:t>
            </a:r>
            <a:endParaRPr b="1" sz="1100">
              <a:solidFill>
                <a:schemeClr val="dk1"/>
              </a:solidFill>
            </a:endParaRPr>
          </a:p>
          <a:p>
            <a:pPr indent="0" lvl="0" marL="0" rtl="0" algn="l">
              <a:lnSpc>
                <a:spcPct val="115000"/>
              </a:lnSpc>
              <a:spcBef>
                <a:spcPts val="1200"/>
              </a:spcBef>
              <a:spcAft>
                <a:spcPts val="1200"/>
              </a:spcAft>
              <a:buNone/>
            </a:pPr>
            <a:r>
              <a:rPr lang="en-US" sz="1100">
                <a:solidFill>
                  <a:schemeClr val="dk1"/>
                </a:solidFill>
              </a:rPr>
              <a:t>Human wisdom becomes dangerous when it starts </a:t>
            </a:r>
            <a:r>
              <a:rPr i="1" lang="en-US" sz="1100">
                <a:solidFill>
                  <a:schemeClr val="dk1"/>
                </a:solidFill>
              </a:rPr>
              <a:t>ruling</a:t>
            </a:r>
            <a:r>
              <a:rPr lang="en-US" sz="1100">
                <a:solidFill>
                  <a:schemeClr val="dk1"/>
                </a:solidFill>
              </a:rPr>
              <a:t> the heart and displacing Christ.</a:t>
            </a:r>
            <a:endParaRPr sz="11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nvSpPr>
        <p:spPr>
          <a:xfrm>
            <a:off x="640055" y="398130"/>
            <a:ext cx="7863900" cy="4926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2400"/>
              </a:spcBef>
              <a:spcAft>
                <a:spcPts val="600"/>
              </a:spcAft>
              <a:buSzPts val="1100"/>
              <a:buNone/>
            </a:pPr>
            <a:r>
              <a:rPr b="1" lang="en-US" sz="2600">
                <a:solidFill>
                  <a:schemeClr val="dk1"/>
                </a:solidFill>
                <a:latin typeface="Calibri"/>
                <a:ea typeface="Calibri"/>
                <a:cs typeface="Calibri"/>
                <a:sym typeface="Calibri"/>
              </a:rPr>
              <a:t>Christ reduced (as if He’s not fully God / not enough)</a:t>
            </a:r>
            <a:endParaRPr b="1" sz="2600">
              <a:solidFill>
                <a:schemeClr val="dk1"/>
              </a:solidFill>
              <a:latin typeface="Calibri"/>
              <a:ea typeface="Calibri"/>
              <a:cs typeface="Calibri"/>
              <a:sym typeface="Calibri"/>
            </a:endParaRPr>
          </a:p>
        </p:txBody>
      </p:sp>
      <p:sp>
        <p:nvSpPr>
          <p:cNvPr id="136" name="Google Shape;136;p20"/>
          <p:cNvSpPr txBox="1"/>
          <p:nvPr/>
        </p:nvSpPr>
        <p:spPr>
          <a:xfrm>
            <a:off x="434200" y="968575"/>
            <a:ext cx="5511000" cy="41667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100">
                <a:solidFill>
                  <a:schemeClr val="dk1"/>
                </a:solidFill>
              </a:rPr>
              <a:t>What it looks like:</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Treating Jesus like just a moral teacher:</a:t>
            </a:r>
            <a:br>
              <a:rPr lang="en-US" sz="1100">
                <a:solidFill>
                  <a:schemeClr val="dk1"/>
                </a:solidFill>
              </a:rPr>
            </a:br>
            <a:r>
              <a:rPr lang="en-US" sz="1100">
                <a:solidFill>
                  <a:schemeClr val="dk1"/>
                </a:solidFill>
              </a:rPr>
              <a:t> “He’s a great example,” but not the living Lord, Savior, and God.</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Treating the sacraments as symbolic only:</a:t>
            </a:r>
            <a:br>
              <a:rPr b="1" lang="en-US" sz="1100">
                <a:solidFill>
                  <a:schemeClr val="dk1"/>
                </a:solidFill>
              </a:rPr>
            </a:br>
            <a:r>
              <a:rPr lang="en-US" sz="1100">
                <a:solidFill>
                  <a:schemeClr val="dk1"/>
                </a:solidFill>
              </a:rPr>
              <a:t> reducing the Church to ideas instead of the real life of Christ given to us.</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Approaching saints/icons like “alternatives” to Christ instead of witnesses to Him:</a:t>
            </a:r>
            <a:br>
              <a:rPr b="1" lang="en-US" sz="1100">
                <a:solidFill>
                  <a:schemeClr val="dk1"/>
                </a:solidFill>
              </a:rPr>
            </a:br>
            <a:r>
              <a:rPr lang="en-US" sz="1100">
                <a:solidFill>
                  <a:schemeClr val="dk1"/>
                </a:solidFill>
              </a:rPr>
              <a:t> asking for help from saints but not repenting, not praying, not seeking Christ.</a:t>
            </a:r>
            <a:br>
              <a:rPr lang="en-US" sz="1100">
                <a:solidFill>
                  <a:schemeClr val="dk1"/>
                </a:solidFill>
              </a:rPr>
            </a:br>
            <a:br>
              <a:rPr lang="en-US" sz="1100">
                <a:solidFill>
                  <a:schemeClr val="dk1"/>
                </a:solidFill>
              </a:rPr>
            </a:br>
            <a:r>
              <a:rPr lang="en-US" sz="1100">
                <a:solidFill>
                  <a:schemeClr val="dk1"/>
                </a:solidFill>
              </a:rPr>
              <a:t> (Orthodox view: saints intercede </a:t>
            </a:r>
            <a:r>
              <a:rPr b="1" lang="en-US" sz="1100">
                <a:solidFill>
                  <a:schemeClr val="dk1"/>
                </a:solidFill>
              </a:rPr>
              <a:t>because of Christ</a:t>
            </a:r>
            <a:r>
              <a:rPr lang="en-US" sz="1100">
                <a:solidFill>
                  <a:schemeClr val="dk1"/>
                </a:solidFill>
              </a:rPr>
              <a:t>, never as replacements for Him.)</a:t>
            </a:r>
            <a:br>
              <a:rPr lang="en-US"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Living like Christ isn’t enough to heal sin:</a:t>
            </a:r>
            <a:br>
              <a:rPr b="1" lang="en-US" sz="1100">
                <a:solidFill>
                  <a:schemeClr val="dk1"/>
                </a:solidFill>
              </a:rPr>
            </a:br>
            <a:r>
              <a:rPr lang="en-US" sz="1100">
                <a:solidFill>
                  <a:schemeClr val="dk1"/>
                </a:solidFill>
              </a:rPr>
              <a:t> “Christ forgives me, but I still need my vice to cope,” so the heart leans on lust, alcohol, validation, money, etc. as the real savior.</a:t>
            </a:r>
            <a:br>
              <a:rPr lang="en-US" sz="1100">
                <a:solidFill>
                  <a:schemeClr val="dk1"/>
                </a:solidFill>
              </a:rPr>
            </a:br>
            <a:endParaRPr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
        <p:nvSpPr>
          <p:cNvPr id="137" name="Google Shape;137;p20"/>
          <p:cNvSpPr txBox="1"/>
          <p:nvPr/>
        </p:nvSpPr>
        <p:spPr>
          <a:xfrm>
            <a:off x="6023750" y="1482900"/>
            <a:ext cx="2546400" cy="1092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100">
                <a:solidFill>
                  <a:schemeClr val="dk1"/>
                </a:solidFill>
              </a:rPr>
              <a:t>The Colossians correction (simple):</a:t>
            </a:r>
            <a:endParaRPr b="1" sz="1100">
              <a:solidFill>
                <a:schemeClr val="dk1"/>
              </a:solidFill>
            </a:endParaRPr>
          </a:p>
          <a:p>
            <a:pPr indent="0" lvl="0" marL="0" rtl="0" algn="l">
              <a:lnSpc>
                <a:spcPct val="115000"/>
              </a:lnSpc>
              <a:spcBef>
                <a:spcPts val="1200"/>
              </a:spcBef>
              <a:spcAft>
                <a:spcPts val="1200"/>
              </a:spcAft>
              <a:buNone/>
            </a:pPr>
            <a:r>
              <a:rPr lang="en-US" sz="1100">
                <a:solidFill>
                  <a:schemeClr val="dk1"/>
                </a:solidFill>
              </a:rPr>
              <a:t>If Christ is truly the fullness of God, then you don’t need another savior.</a:t>
            </a: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descr="image.png" id="142" name="Google Shape;142;p2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43" name="Google Shape;143;p21"/>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Paul’s Prayer for Real Growth</a:t>
            </a:r>
            <a:endParaRPr/>
          </a:p>
        </p:txBody>
      </p:sp>
      <p:sp>
        <p:nvSpPr>
          <p:cNvPr id="144" name="Google Shape;144;p21"/>
          <p:cNvSpPr txBox="1"/>
          <p:nvPr/>
        </p:nvSpPr>
        <p:spPr>
          <a:xfrm>
            <a:off x="777240" y="1234440"/>
            <a:ext cx="8138100" cy="1108200"/>
          </a:xfrm>
          <a:prstGeom prst="rect">
            <a:avLst/>
          </a:prstGeom>
          <a:noFill/>
          <a:ln>
            <a:noFill/>
          </a:ln>
        </p:spPr>
        <p:txBody>
          <a:bodyPr anchorCtr="0" anchor="t" bIns="45700" lIns="91425" spcFirstLastPara="1" rIns="91425" wrap="square" tIns="45700">
            <a:spAutoFit/>
          </a:bodyPr>
          <a:lstStyle/>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Paul prays for wisdom, understanding, and strength.</a:t>
            </a:r>
            <a:endParaRPr/>
          </a:p>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True growth is endurance, fruit, and a life that pleases God.</a:t>
            </a:r>
            <a:endParaRPr/>
          </a:p>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Spiritual maturity looks like patience and steady obedience.</a:t>
            </a:r>
            <a:endParaRPr/>
          </a:p>
        </p:txBody>
      </p:sp>
      <p:sp>
        <p:nvSpPr>
          <p:cNvPr id="145" name="Google Shape;145;p21"/>
          <p:cNvSpPr txBox="1"/>
          <p:nvPr/>
        </p:nvSpPr>
        <p:spPr>
          <a:xfrm>
            <a:off x="777240" y="3305425"/>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1:9–10 (NKJV)</a:t>
            </a:r>
            <a:endParaRPr/>
          </a:p>
        </p:txBody>
      </p:sp>
      <p:sp>
        <p:nvSpPr>
          <p:cNvPr id="146" name="Google Shape;146;p21"/>
          <p:cNvSpPr txBox="1"/>
          <p:nvPr/>
        </p:nvSpPr>
        <p:spPr>
          <a:xfrm>
            <a:off x="777240" y="3613220"/>
            <a:ext cx="81381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“For this reason we also, since the day we heard it, do not cease to pray for you, and to ask that you may be filled with the knowledge of His will in all wisdom and spiritual understanding; that you may walk worthy of the Lord, fully pleasing Him, being fruitful in every good work and increasing in the knowledge of God.”</a:t>
            </a:r>
            <a:endParaRPr/>
          </a:p>
        </p:txBody>
      </p:sp>
      <p:sp>
        <p:nvSpPr>
          <p:cNvPr id="147" name="Google Shape;147;p21"/>
          <p:cNvSpPr txBox="1"/>
          <p:nvPr/>
        </p:nvSpPr>
        <p:spPr>
          <a:xfrm>
            <a:off x="723815" y="2783605"/>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Real growth is a life that pleases God—steady, fruitful, enduring.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descr="image.png" id="152" name="Google Shape;152;p2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53" name="Google Shape;153;p22"/>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Christ Reveals the Invisible God</a:t>
            </a:r>
            <a:endParaRPr/>
          </a:p>
        </p:txBody>
      </p:sp>
      <p:sp>
        <p:nvSpPr>
          <p:cNvPr id="154" name="Google Shape;154;p22"/>
          <p:cNvSpPr txBox="1"/>
          <p:nvPr/>
        </p:nvSpPr>
        <p:spPr>
          <a:xfrm>
            <a:off x="777240" y="1234440"/>
            <a:ext cx="8138100" cy="1293000"/>
          </a:xfrm>
          <a:prstGeom prst="rect">
            <a:avLst/>
          </a:prstGeom>
          <a:noFill/>
          <a:ln>
            <a:noFill/>
          </a:ln>
        </p:spPr>
        <p:txBody>
          <a:bodyPr anchorCtr="0" anchor="t" bIns="45700" lIns="91425" spcFirstLastPara="1" rIns="91425" wrap="square" tIns="45700">
            <a:spAutoFit/>
          </a:bodyPr>
          <a:lstStyle/>
          <a:p>
            <a:pPr indent="-393700" lvl="0" marL="457200" marR="0" rtl="0" algn="l">
              <a:spcBef>
                <a:spcPts val="0"/>
              </a:spcBef>
              <a:spcAft>
                <a:spcPts val="0"/>
              </a:spcAft>
              <a:buClr>
                <a:srgbClr val="2D2214"/>
              </a:buClr>
              <a:buSzPts val="2600"/>
              <a:buFont typeface="Calibri"/>
              <a:buChar char="●"/>
            </a:pPr>
            <a:r>
              <a:rPr b="0" i="0" lang="en-US" sz="2600" u="none" cap="none" strike="noStrike">
                <a:solidFill>
                  <a:srgbClr val="2D2214"/>
                </a:solidFill>
                <a:latin typeface="Calibri"/>
                <a:ea typeface="Calibri"/>
                <a:cs typeface="Calibri"/>
                <a:sym typeface="Calibri"/>
              </a:rPr>
              <a:t>Christ is the perfect revelation of God.</a:t>
            </a:r>
            <a:endParaRPr sz="1800"/>
          </a:p>
          <a:p>
            <a:pPr indent="-393700" lvl="0" marL="457200" marR="0" rtl="0" algn="l">
              <a:spcBef>
                <a:spcPts val="0"/>
              </a:spcBef>
              <a:spcAft>
                <a:spcPts val="0"/>
              </a:spcAft>
              <a:buClr>
                <a:srgbClr val="2D2214"/>
              </a:buClr>
              <a:buSzPts val="2600"/>
              <a:buFont typeface="Calibri"/>
              <a:buChar char="●"/>
            </a:pPr>
            <a:r>
              <a:rPr b="0" i="0" lang="en-US" sz="2600" u="none" cap="none" strike="noStrike">
                <a:solidFill>
                  <a:srgbClr val="2D2214"/>
                </a:solidFill>
                <a:latin typeface="Calibri"/>
                <a:ea typeface="Calibri"/>
                <a:cs typeface="Calibri"/>
                <a:sym typeface="Calibri"/>
              </a:rPr>
              <a:t>He is not a created being.</a:t>
            </a:r>
            <a:endParaRPr sz="1800"/>
          </a:p>
          <a:p>
            <a:pPr indent="-368300" lvl="0" marL="457200" marR="0" rtl="0" algn="l">
              <a:spcBef>
                <a:spcPts val="0"/>
              </a:spcBef>
              <a:spcAft>
                <a:spcPts val="0"/>
              </a:spcAft>
              <a:buClr>
                <a:srgbClr val="2D2214"/>
              </a:buClr>
              <a:buSzPts val="2200"/>
              <a:buFont typeface="Calibri"/>
              <a:buChar char="●"/>
            </a:pPr>
            <a:r>
              <a:rPr b="0" i="0" lang="en-US" sz="2600" u="none" cap="none" strike="noStrike">
                <a:solidFill>
                  <a:srgbClr val="2D2214"/>
                </a:solidFill>
                <a:latin typeface="Calibri"/>
                <a:ea typeface="Calibri"/>
                <a:cs typeface="Calibri"/>
                <a:sym typeface="Calibri"/>
              </a:rPr>
              <a:t>If you want to know God, look at Christ</a:t>
            </a:r>
            <a:r>
              <a:rPr b="0" i="0" lang="en-US" sz="2200" u="none" cap="none" strike="noStrike">
                <a:solidFill>
                  <a:srgbClr val="2D2214"/>
                </a:solidFill>
                <a:latin typeface="Calibri"/>
                <a:ea typeface="Calibri"/>
                <a:cs typeface="Calibri"/>
                <a:sym typeface="Calibri"/>
              </a:rPr>
              <a:t>.</a:t>
            </a:r>
            <a:endParaRPr/>
          </a:p>
        </p:txBody>
      </p:sp>
      <p:sp>
        <p:nvSpPr>
          <p:cNvPr id="155" name="Google Shape;155;p22"/>
          <p:cNvSpPr txBox="1"/>
          <p:nvPr/>
        </p:nvSpPr>
        <p:spPr>
          <a:xfrm>
            <a:off x="777215" y="3429000"/>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1:15 (NKJV)</a:t>
            </a:r>
            <a:endParaRPr/>
          </a:p>
        </p:txBody>
      </p:sp>
      <p:sp>
        <p:nvSpPr>
          <p:cNvPr id="156" name="Google Shape;156;p22"/>
          <p:cNvSpPr txBox="1"/>
          <p:nvPr/>
        </p:nvSpPr>
        <p:spPr>
          <a:xfrm>
            <a:off x="777215" y="3659520"/>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“He is the image of the invisible God, the firstborn over all creation.”</a:t>
            </a:r>
            <a:endParaRPr/>
          </a:p>
        </p:txBody>
      </p:sp>
      <p:sp>
        <p:nvSpPr>
          <p:cNvPr id="157" name="Google Shape;157;p22"/>
          <p:cNvSpPr txBox="1"/>
          <p:nvPr/>
        </p:nvSpPr>
        <p:spPr>
          <a:xfrm>
            <a:off x="777215" y="2831743"/>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To know God truly, look at Christ.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descr="image.png" id="162" name="Google Shape;162;p23"/>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63" name="Google Shape;163;p23"/>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Christ Created All Things</a:t>
            </a:r>
            <a:endParaRPr/>
          </a:p>
        </p:txBody>
      </p:sp>
      <p:sp>
        <p:nvSpPr>
          <p:cNvPr id="164" name="Google Shape;164;p23"/>
          <p:cNvSpPr txBox="1"/>
          <p:nvPr/>
        </p:nvSpPr>
        <p:spPr>
          <a:xfrm>
            <a:off x="777240" y="1234440"/>
            <a:ext cx="8138100" cy="1108200"/>
          </a:xfrm>
          <a:prstGeom prst="rect">
            <a:avLst/>
          </a:prstGeom>
          <a:noFill/>
          <a:ln>
            <a:noFill/>
          </a:ln>
        </p:spPr>
        <p:txBody>
          <a:bodyPr anchorCtr="0" anchor="t" bIns="45700" lIns="91425" spcFirstLastPara="1" rIns="91425" wrap="square" tIns="45700">
            <a:spAutoFit/>
          </a:bodyPr>
          <a:lstStyle/>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Christ is Creator, not created.</a:t>
            </a:r>
            <a:endParaRPr/>
          </a:p>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Everything exists through Him and for Him.</a:t>
            </a:r>
            <a:endParaRPr/>
          </a:p>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If all things are for Him, your life is for Him too.</a:t>
            </a:r>
            <a:endParaRPr/>
          </a:p>
        </p:txBody>
      </p:sp>
      <p:sp>
        <p:nvSpPr>
          <p:cNvPr id="165" name="Google Shape;165;p23"/>
          <p:cNvSpPr txBox="1"/>
          <p:nvPr/>
        </p:nvSpPr>
        <p:spPr>
          <a:xfrm>
            <a:off x="777190" y="3338450"/>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1:16 (NKJV)</a:t>
            </a:r>
            <a:endParaRPr/>
          </a:p>
        </p:txBody>
      </p:sp>
      <p:sp>
        <p:nvSpPr>
          <p:cNvPr id="166" name="Google Shape;166;p23"/>
          <p:cNvSpPr txBox="1"/>
          <p:nvPr/>
        </p:nvSpPr>
        <p:spPr>
          <a:xfrm>
            <a:off x="777165" y="3646245"/>
            <a:ext cx="81381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“For by Him all things were created that are in heaven and that are on earth, visible and invisible, whether thrones or dominions or principalities or powers. All things were created through Him and for Him.”</a:t>
            </a:r>
            <a:endParaRPr/>
          </a:p>
        </p:txBody>
      </p:sp>
      <p:sp>
        <p:nvSpPr>
          <p:cNvPr id="167" name="Google Shape;167;p23"/>
          <p:cNvSpPr txBox="1"/>
          <p:nvPr/>
        </p:nvSpPr>
        <p:spPr>
          <a:xfrm>
            <a:off x="777215" y="2870405"/>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All creation is through Him and for Him—your life included.</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descr="image.png" id="172" name="Google Shape;172;p2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73" name="Google Shape;173;p24"/>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Christ Holds Everything Together</a:t>
            </a:r>
            <a:endParaRPr/>
          </a:p>
        </p:txBody>
      </p:sp>
      <p:sp>
        <p:nvSpPr>
          <p:cNvPr id="174" name="Google Shape;174;p24"/>
          <p:cNvSpPr txBox="1"/>
          <p:nvPr/>
        </p:nvSpPr>
        <p:spPr>
          <a:xfrm>
            <a:off x="777240" y="1234440"/>
            <a:ext cx="8138100" cy="1246800"/>
          </a:xfrm>
          <a:prstGeom prst="rect">
            <a:avLst/>
          </a:prstGeom>
          <a:noFill/>
          <a:ln>
            <a:noFill/>
          </a:ln>
        </p:spPr>
        <p:txBody>
          <a:bodyPr anchorCtr="0" anchor="t" bIns="45700" lIns="91425" spcFirstLastPara="1" rIns="91425" wrap="square" tIns="45700">
            <a:spAutoFit/>
          </a:bodyPr>
          <a:lstStyle/>
          <a:p>
            <a:pPr indent="-387350" lvl="0" marL="457200" marR="0" rtl="0" algn="l">
              <a:spcBef>
                <a:spcPts val="0"/>
              </a:spcBef>
              <a:spcAft>
                <a:spcPts val="0"/>
              </a:spcAft>
              <a:buClr>
                <a:srgbClr val="2D2214"/>
              </a:buClr>
              <a:buSzPts val="2500"/>
              <a:buFont typeface="Calibri"/>
              <a:buChar char="●"/>
            </a:pPr>
            <a:r>
              <a:rPr b="0" i="0" lang="en-US" sz="2500" u="none" cap="none" strike="noStrike">
                <a:solidFill>
                  <a:srgbClr val="2D2214"/>
                </a:solidFill>
                <a:latin typeface="Calibri"/>
                <a:ea typeface="Calibri"/>
                <a:cs typeface="Calibri"/>
                <a:sym typeface="Calibri"/>
              </a:rPr>
              <a:t>Christ is not only Creator, but Sustainer.</a:t>
            </a:r>
            <a:endParaRPr sz="1700"/>
          </a:p>
          <a:p>
            <a:pPr indent="-387350" lvl="0" marL="457200" marR="0" rtl="0" algn="l">
              <a:spcBef>
                <a:spcPts val="0"/>
              </a:spcBef>
              <a:spcAft>
                <a:spcPts val="0"/>
              </a:spcAft>
              <a:buClr>
                <a:srgbClr val="2D2214"/>
              </a:buClr>
              <a:buSzPts val="2500"/>
              <a:buFont typeface="Calibri"/>
              <a:buChar char="●"/>
            </a:pPr>
            <a:r>
              <a:rPr b="0" i="0" lang="en-US" sz="2500" u="none" cap="none" strike="noStrike">
                <a:solidFill>
                  <a:srgbClr val="2D2214"/>
                </a:solidFill>
                <a:latin typeface="Calibri"/>
                <a:ea typeface="Calibri"/>
                <a:cs typeface="Calibri"/>
                <a:sym typeface="Calibri"/>
              </a:rPr>
              <a:t>Without Christ, everything collapses.</a:t>
            </a:r>
            <a:endParaRPr sz="1700"/>
          </a:p>
          <a:p>
            <a:pPr indent="-387350" lvl="0" marL="457200" marR="0" rtl="0" algn="l">
              <a:spcBef>
                <a:spcPts val="0"/>
              </a:spcBef>
              <a:spcAft>
                <a:spcPts val="0"/>
              </a:spcAft>
              <a:buClr>
                <a:srgbClr val="2D2214"/>
              </a:buClr>
              <a:buSzPts val="2500"/>
              <a:buFont typeface="Calibri"/>
              <a:buChar char="●"/>
            </a:pPr>
            <a:r>
              <a:rPr b="0" i="0" lang="en-US" sz="2500" u="none" cap="none" strike="noStrike">
                <a:solidFill>
                  <a:srgbClr val="2D2214"/>
                </a:solidFill>
                <a:latin typeface="Calibri"/>
                <a:ea typeface="Calibri"/>
                <a:cs typeface="Calibri"/>
                <a:sym typeface="Calibri"/>
              </a:rPr>
              <a:t>If He holds creation together, He can hold you together.</a:t>
            </a:r>
            <a:endParaRPr sz="1700"/>
          </a:p>
        </p:txBody>
      </p:sp>
      <p:sp>
        <p:nvSpPr>
          <p:cNvPr id="175" name="Google Shape;175;p24"/>
          <p:cNvSpPr txBox="1"/>
          <p:nvPr/>
        </p:nvSpPr>
        <p:spPr>
          <a:xfrm>
            <a:off x="777240" y="3505425"/>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1:17 (NKJV)</a:t>
            </a:r>
            <a:endParaRPr/>
          </a:p>
        </p:txBody>
      </p:sp>
      <p:sp>
        <p:nvSpPr>
          <p:cNvPr id="176" name="Google Shape;176;p24"/>
          <p:cNvSpPr txBox="1"/>
          <p:nvPr/>
        </p:nvSpPr>
        <p:spPr>
          <a:xfrm>
            <a:off x="777215" y="3813220"/>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“And He is before all things, and in Him all things consist.”</a:t>
            </a:r>
            <a:endParaRPr/>
          </a:p>
        </p:txBody>
      </p:sp>
      <p:sp>
        <p:nvSpPr>
          <p:cNvPr id="177" name="Google Shape;177;p24"/>
          <p:cNvSpPr txBox="1"/>
          <p:nvPr/>
        </p:nvSpPr>
        <p:spPr>
          <a:xfrm>
            <a:off x="777240" y="2745980"/>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If He holds all things together, He can hold you together.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descr="image.png" id="182" name="Google Shape;182;p2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83" name="Google Shape;183;p25"/>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Christ Reconciles Us by His Blood</a:t>
            </a:r>
            <a:endParaRPr/>
          </a:p>
        </p:txBody>
      </p:sp>
      <p:sp>
        <p:nvSpPr>
          <p:cNvPr id="184" name="Google Shape;184;p25"/>
          <p:cNvSpPr txBox="1"/>
          <p:nvPr/>
        </p:nvSpPr>
        <p:spPr>
          <a:xfrm>
            <a:off x="777240" y="1234440"/>
            <a:ext cx="8138100" cy="1339200"/>
          </a:xfrm>
          <a:prstGeom prst="rect">
            <a:avLst/>
          </a:prstGeom>
          <a:noFill/>
          <a:ln>
            <a:noFill/>
          </a:ln>
        </p:spPr>
        <p:txBody>
          <a:bodyPr anchorCtr="0" anchor="t" bIns="45700" lIns="91425" spcFirstLastPara="1" rIns="91425" wrap="square" tIns="45700">
            <a:spAutoFit/>
          </a:bodyPr>
          <a:lstStyle/>
          <a:p>
            <a:pPr indent="-400050" lvl="0" marL="457200" marR="0" rtl="0" algn="l">
              <a:spcBef>
                <a:spcPts val="0"/>
              </a:spcBef>
              <a:spcAft>
                <a:spcPts val="0"/>
              </a:spcAft>
              <a:buClr>
                <a:srgbClr val="2D2214"/>
              </a:buClr>
              <a:buSzPts val="2700"/>
              <a:buFont typeface="Calibri"/>
              <a:buChar char="●"/>
            </a:pPr>
            <a:r>
              <a:rPr b="0" i="0" lang="en-US" sz="2700" u="none" cap="none" strike="noStrike">
                <a:solidFill>
                  <a:srgbClr val="2D2214"/>
                </a:solidFill>
                <a:latin typeface="Calibri"/>
                <a:ea typeface="Calibri"/>
                <a:cs typeface="Calibri"/>
                <a:sym typeface="Calibri"/>
              </a:rPr>
              <a:t>Salvation is not self-improvement </a:t>
            </a:r>
            <a:r>
              <a:rPr lang="en-US" sz="2700">
                <a:solidFill>
                  <a:srgbClr val="2D2214"/>
                </a:solidFill>
                <a:latin typeface="Calibri"/>
                <a:ea typeface="Calibri"/>
                <a:cs typeface="Calibri"/>
                <a:sym typeface="Calibri"/>
              </a:rPr>
              <a:t>alone</a:t>
            </a:r>
            <a:r>
              <a:rPr b="0" i="0" lang="en-US" sz="2700" u="none" cap="none" strike="noStrike">
                <a:solidFill>
                  <a:srgbClr val="2D2214"/>
                </a:solidFill>
                <a:latin typeface="Calibri"/>
                <a:ea typeface="Calibri"/>
                <a:cs typeface="Calibri"/>
                <a:sym typeface="Calibri"/>
              </a:rPr>
              <a:t>.</a:t>
            </a:r>
            <a:endParaRPr sz="1900"/>
          </a:p>
          <a:p>
            <a:pPr indent="-400050" lvl="0" marL="457200" marR="0" rtl="0" algn="l">
              <a:spcBef>
                <a:spcPts val="0"/>
              </a:spcBef>
              <a:spcAft>
                <a:spcPts val="0"/>
              </a:spcAft>
              <a:buClr>
                <a:srgbClr val="2D2214"/>
              </a:buClr>
              <a:buSzPts val="2700"/>
              <a:buFont typeface="Calibri"/>
              <a:buChar char="●"/>
            </a:pPr>
            <a:r>
              <a:rPr b="0" i="0" lang="en-US" sz="2700" u="none" cap="none" strike="noStrike">
                <a:solidFill>
                  <a:srgbClr val="2D2214"/>
                </a:solidFill>
                <a:latin typeface="Calibri"/>
                <a:ea typeface="Calibri"/>
                <a:cs typeface="Calibri"/>
                <a:sym typeface="Calibri"/>
              </a:rPr>
              <a:t>We were enemies, now reconciled.</a:t>
            </a:r>
            <a:endParaRPr sz="1900"/>
          </a:p>
          <a:p>
            <a:pPr indent="-400050" lvl="0" marL="457200" marR="0" rtl="0" algn="l">
              <a:spcBef>
                <a:spcPts val="0"/>
              </a:spcBef>
              <a:spcAft>
                <a:spcPts val="0"/>
              </a:spcAft>
              <a:buClr>
                <a:srgbClr val="2D2214"/>
              </a:buClr>
              <a:buSzPts val="2700"/>
              <a:buFont typeface="Calibri"/>
              <a:buChar char="●"/>
            </a:pPr>
            <a:r>
              <a:rPr b="0" i="0" lang="en-US" sz="2700" u="none" cap="none" strike="noStrike">
                <a:solidFill>
                  <a:srgbClr val="2D2214"/>
                </a:solidFill>
                <a:latin typeface="Calibri"/>
                <a:ea typeface="Calibri"/>
                <a:cs typeface="Calibri"/>
                <a:sym typeface="Calibri"/>
              </a:rPr>
              <a:t>Christ makes peace through the cross.</a:t>
            </a:r>
            <a:endParaRPr sz="1900"/>
          </a:p>
        </p:txBody>
      </p:sp>
      <p:sp>
        <p:nvSpPr>
          <p:cNvPr id="185" name="Google Shape;185;p25"/>
          <p:cNvSpPr txBox="1"/>
          <p:nvPr/>
        </p:nvSpPr>
        <p:spPr>
          <a:xfrm>
            <a:off x="777190" y="3452400"/>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1:20 (NKJV)</a:t>
            </a:r>
            <a:endParaRPr/>
          </a:p>
        </p:txBody>
      </p:sp>
      <p:sp>
        <p:nvSpPr>
          <p:cNvPr id="186" name="Google Shape;186;p25"/>
          <p:cNvSpPr txBox="1"/>
          <p:nvPr/>
        </p:nvSpPr>
        <p:spPr>
          <a:xfrm>
            <a:off x="743840" y="3760195"/>
            <a:ext cx="81381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“And by Him to reconcile all things to Himself, by Him, whether things on earth or things in heaven, having made peace through the blood of His cross.”</a:t>
            </a:r>
            <a:endParaRPr/>
          </a:p>
        </p:txBody>
      </p:sp>
      <p:sp>
        <p:nvSpPr>
          <p:cNvPr id="187" name="Google Shape;187;p25"/>
          <p:cNvSpPr txBox="1"/>
          <p:nvPr/>
        </p:nvSpPr>
        <p:spPr>
          <a:xfrm>
            <a:off x="777215" y="2843680"/>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Peace with God comes through the cross—Christ made peace by His blood.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descr="image.png" id="192" name="Google Shape;192;p2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93" name="Google Shape;193;p26"/>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Beware of Teachings That Capture You</a:t>
            </a:r>
            <a:endParaRPr/>
          </a:p>
        </p:txBody>
      </p:sp>
      <p:sp>
        <p:nvSpPr>
          <p:cNvPr id="194" name="Google Shape;194;p26"/>
          <p:cNvSpPr txBox="1"/>
          <p:nvPr/>
        </p:nvSpPr>
        <p:spPr>
          <a:xfrm>
            <a:off x="777240" y="1234440"/>
            <a:ext cx="8138100" cy="1108200"/>
          </a:xfrm>
          <a:prstGeom prst="rect">
            <a:avLst/>
          </a:prstGeom>
          <a:noFill/>
          <a:ln>
            <a:noFill/>
          </a:ln>
        </p:spPr>
        <p:txBody>
          <a:bodyPr anchorCtr="0" anchor="t" bIns="45700" lIns="91425" spcFirstLastPara="1" rIns="91425" wrap="square" tIns="45700">
            <a:spAutoFit/>
          </a:bodyPr>
          <a:lstStyle/>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False teaching can sound wise and spiritual.</a:t>
            </a:r>
            <a:endParaRPr/>
          </a:p>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But it pulls you away from Christ’s sufficiency.</a:t>
            </a:r>
            <a:endParaRPr/>
          </a:p>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Not everything that sounds spiritual is from God.</a:t>
            </a:r>
            <a:endParaRPr/>
          </a:p>
        </p:txBody>
      </p:sp>
      <p:sp>
        <p:nvSpPr>
          <p:cNvPr id="195" name="Google Shape;195;p26"/>
          <p:cNvSpPr txBox="1"/>
          <p:nvPr/>
        </p:nvSpPr>
        <p:spPr>
          <a:xfrm>
            <a:off x="777215" y="3218200"/>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2:8 (NKJV)</a:t>
            </a:r>
            <a:endParaRPr/>
          </a:p>
        </p:txBody>
      </p:sp>
      <p:sp>
        <p:nvSpPr>
          <p:cNvPr id="196" name="Google Shape;196;p26"/>
          <p:cNvSpPr txBox="1"/>
          <p:nvPr/>
        </p:nvSpPr>
        <p:spPr>
          <a:xfrm>
            <a:off x="777215" y="3559320"/>
            <a:ext cx="81381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“Beware lest anyone cheat you through philosophy and empty deceit, according to the tradition of men, according to the basic principles of the world, and not according to Christ.”</a:t>
            </a:r>
            <a:endParaRPr/>
          </a:p>
        </p:txBody>
      </p:sp>
      <p:sp>
        <p:nvSpPr>
          <p:cNvPr id="197" name="Google Shape;197;p26"/>
          <p:cNvSpPr txBox="1"/>
          <p:nvPr/>
        </p:nvSpPr>
        <p:spPr>
          <a:xfrm>
            <a:off x="717140" y="2723455"/>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Not everything that sounds spiritual is from God—measure it by Christ.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pic>
        <p:nvPicPr>
          <p:cNvPr descr="image.png" id="202" name="Google Shape;202;p2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03" name="Google Shape;203;p27"/>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You Are Complete in Christ</a:t>
            </a:r>
            <a:endParaRPr/>
          </a:p>
        </p:txBody>
      </p:sp>
      <p:sp>
        <p:nvSpPr>
          <p:cNvPr id="204" name="Google Shape;204;p27"/>
          <p:cNvSpPr txBox="1"/>
          <p:nvPr/>
        </p:nvSpPr>
        <p:spPr>
          <a:xfrm>
            <a:off x="777240" y="1234440"/>
            <a:ext cx="8138100" cy="1631700"/>
          </a:xfrm>
          <a:prstGeom prst="rect">
            <a:avLst/>
          </a:prstGeom>
          <a:noFill/>
          <a:ln>
            <a:noFill/>
          </a:ln>
        </p:spPr>
        <p:txBody>
          <a:bodyPr anchorCtr="0" anchor="t" bIns="45700" lIns="91425" spcFirstLastPara="1" rIns="91425" wrap="square" tIns="45700">
            <a:spAutoFit/>
          </a:bodyPr>
          <a:lstStyle/>
          <a:p>
            <a:pPr indent="-387350" lvl="0" marL="457200" marR="0" rtl="0" algn="l">
              <a:spcBef>
                <a:spcPts val="0"/>
              </a:spcBef>
              <a:spcAft>
                <a:spcPts val="0"/>
              </a:spcAft>
              <a:buClr>
                <a:srgbClr val="2D2214"/>
              </a:buClr>
              <a:buSzPts val="2500"/>
              <a:buFont typeface="Calibri"/>
              <a:buChar char="●"/>
            </a:pPr>
            <a:r>
              <a:rPr b="0" i="0" lang="en-US" sz="2500" u="none" cap="none" strike="noStrike">
                <a:solidFill>
                  <a:srgbClr val="2D2214"/>
                </a:solidFill>
                <a:latin typeface="Calibri"/>
                <a:ea typeface="Calibri"/>
                <a:cs typeface="Calibri"/>
                <a:sym typeface="Calibri"/>
              </a:rPr>
              <a:t>You don’t need “Christ + something else.”</a:t>
            </a:r>
            <a:endParaRPr sz="1700"/>
          </a:p>
          <a:p>
            <a:pPr indent="-387350" lvl="0" marL="457200" marR="0" rtl="0" algn="l">
              <a:spcBef>
                <a:spcPts val="0"/>
              </a:spcBef>
              <a:spcAft>
                <a:spcPts val="0"/>
              </a:spcAft>
              <a:buClr>
                <a:srgbClr val="2D2214"/>
              </a:buClr>
              <a:buSzPts val="2500"/>
              <a:buFont typeface="Calibri"/>
              <a:buChar char="●"/>
            </a:pPr>
            <a:r>
              <a:rPr b="0" i="0" lang="en-US" sz="2500" u="none" cap="none" strike="noStrike">
                <a:solidFill>
                  <a:srgbClr val="2D2214"/>
                </a:solidFill>
                <a:latin typeface="Calibri"/>
                <a:ea typeface="Calibri"/>
                <a:cs typeface="Calibri"/>
                <a:sym typeface="Calibri"/>
              </a:rPr>
              <a:t>Christ is enough.</a:t>
            </a:r>
            <a:endParaRPr sz="1700"/>
          </a:p>
          <a:p>
            <a:pPr indent="-387350" lvl="0" marL="457200" marR="0" rtl="0" algn="l">
              <a:spcBef>
                <a:spcPts val="0"/>
              </a:spcBef>
              <a:spcAft>
                <a:spcPts val="0"/>
              </a:spcAft>
              <a:buClr>
                <a:srgbClr val="2D2214"/>
              </a:buClr>
              <a:buSzPts val="2500"/>
              <a:buFont typeface="Calibri"/>
              <a:buChar char="●"/>
            </a:pPr>
            <a:r>
              <a:rPr b="0" i="0" lang="en-US" sz="2500" u="none" cap="none" strike="noStrike">
                <a:solidFill>
                  <a:srgbClr val="2D2214"/>
                </a:solidFill>
                <a:latin typeface="Calibri"/>
                <a:ea typeface="Calibri"/>
                <a:cs typeface="Calibri"/>
                <a:sym typeface="Calibri"/>
              </a:rPr>
              <a:t>The enemy wants you to feel incomplete without validation.</a:t>
            </a:r>
            <a:endParaRPr sz="1700"/>
          </a:p>
        </p:txBody>
      </p:sp>
      <p:sp>
        <p:nvSpPr>
          <p:cNvPr id="205" name="Google Shape;205;p27"/>
          <p:cNvSpPr txBox="1"/>
          <p:nvPr/>
        </p:nvSpPr>
        <p:spPr>
          <a:xfrm>
            <a:off x="777240" y="4079925"/>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2:10 (NKJV)</a:t>
            </a:r>
            <a:endParaRPr/>
          </a:p>
        </p:txBody>
      </p:sp>
      <p:sp>
        <p:nvSpPr>
          <p:cNvPr id="206" name="Google Shape;206;p27"/>
          <p:cNvSpPr txBox="1"/>
          <p:nvPr/>
        </p:nvSpPr>
        <p:spPr>
          <a:xfrm>
            <a:off x="777240" y="4290695"/>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“And you are complete in Him, who is the head of all principality and power.”</a:t>
            </a:r>
            <a:endParaRPr/>
          </a:p>
        </p:txBody>
      </p:sp>
      <p:sp>
        <p:nvSpPr>
          <p:cNvPr id="207" name="Google Shape;207;p27"/>
          <p:cNvSpPr txBox="1"/>
          <p:nvPr/>
        </p:nvSpPr>
        <p:spPr>
          <a:xfrm>
            <a:off x="777240" y="3185305"/>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You are complete in Christ—stop living like you’re missing something.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descr="image.png" id="212" name="Google Shape;212;p2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13" name="Google Shape;213;p28"/>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Christ Is the Substance</a:t>
            </a:r>
            <a:endParaRPr/>
          </a:p>
        </p:txBody>
      </p:sp>
      <p:sp>
        <p:nvSpPr>
          <p:cNvPr id="214" name="Google Shape;214;p28"/>
          <p:cNvSpPr txBox="1"/>
          <p:nvPr/>
        </p:nvSpPr>
        <p:spPr>
          <a:xfrm>
            <a:off x="777240" y="1234440"/>
            <a:ext cx="8138100" cy="1339200"/>
          </a:xfrm>
          <a:prstGeom prst="rect">
            <a:avLst/>
          </a:prstGeom>
          <a:noFill/>
          <a:ln>
            <a:noFill/>
          </a:ln>
        </p:spPr>
        <p:txBody>
          <a:bodyPr anchorCtr="0" anchor="t" bIns="45700" lIns="91425" spcFirstLastPara="1" rIns="91425" wrap="square" tIns="45700">
            <a:spAutoFit/>
          </a:bodyPr>
          <a:lstStyle/>
          <a:p>
            <a:pPr indent="-400050" lvl="0" marL="457200" marR="0" rtl="0" algn="l">
              <a:spcBef>
                <a:spcPts val="0"/>
              </a:spcBef>
              <a:spcAft>
                <a:spcPts val="0"/>
              </a:spcAft>
              <a:buClr>
                <a:srgbClr val="2D2214"/>
              </a:buClr>
              <a:buSzPts val="2700"/>
              <a:buFont typeface="Calibri"/>
              <a:buChar char="●"/>
            </a:pPr>
            <a:r>
              <a:rPr b="0" i="0" lang="en-US" sz="2700" u="none" cap="none" strike="noStrike">
                <a:solidFill>
                  <a:srgbClr val="2D2214"/>
                </a:solidFill>
                <a:latin typeface="Calibri"/>
                <a:ea typeface="Calibri"/>
                <a:cs typeface="Calibri"/>
                <a:sym typeface="Calibri"/>
              </a:rPr>
              <a:t>Do not let people replace Christ with performance.</a:t>
            </a:r>
            <a:endParaRPr sz="1900"/>
          </a:p>
          <a:p>
            <a:pPr indent="-400050" lvl="0" marL="457200" marR="0" rtl="0" algn="l">
              <a:spcBef>
                <a:spcPts val="0"/>
              </a:spcBef>
              <a:spcAft>
                <a:spcPts val="0"/>
              </a:spcAft>
              <a:buClr>
                <a:srgbClr val="2D2214"/>
              </a:buClr>
              <a:buSzPts val="2700"/>
              <a:buFont typeface="Calibri"/>
              <a:buChar char="●"/>
            </a:pPr>
            <a:r>
              <a:rPr b="0" i="0" lang="en-US" sz="2700" u="none" cap="none" strike="noStrike">
                <a:solidFill>
                  <a:srgbClr val="2D2214"/>
                </a:solidFill>
                <a:latin typeface="Calibri"/>
                <a:ea typeface="Calibri"/>
                <a:cs typeface="Calibri"/>
                <a:sym typeface="Calibri"/>
              </a:rPr>
              <a:t>Shadows point to Christ — He is the reality.</a:t>
            </a:r>
            <a:endParaRPr sz="1900"/>
          </a:p>
          <a:p>
            <a:pPr indent="-400050" lvl="0" marL="457200" marR="0" rtl="0" algn="l">
              <a:spcBef>
                <a:spcPts val="0"/>
              </a:spcBef>
              <a:spcAft>
                <a:spcPts val="0"/>
              </a:spcAft>
              <a:buClr>
                <a:srgbClr val="2D2214"/>
              </a:buClr>
              <a:buSzPts val="2700"/>
              <a:buFont typeface="Calibri"/>
              <a:buChar char="●"/>
            </a:pPr>
            <a:r>
              <a:rPr b="0" i="0" lang="en-US" sz="2700" u="none" cap="none" strike="noStrike">
                <a:solidFill>
                  <a:srgbClr val="2D2214"/>
                </a:solidFill>
                <a:latin typeface="Calibri"/>
                <a:ea typeface="Calibri"/>
                <a:cs typeface="Calibri"/>
                <a:sym typeface="Calibri"/>
              </a:rPr>
              <a:t>Keep Christ at the center of worship and life.</a:t>
            </a:r>
            <a:endParaRPr sz="1900"/>
          </a:p>
        </p:txBody>
      </p:sp>
      <p:sp>
        <p:nvSpPr>
          <p:cNvPr id="215" name="Google Shape;215;p28"/>
          <p:cNvSpPr txBox="1"/>
          <p:nvPr/>
        </p:nvSpPr>
        <p:spPr>
          <a:xfrm>
            <a:off x="777240" y="3886200"/>
            <a:ext cx="81381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2:16–17 (NKJV)</a:t>
            </a:r>
            <a:endParaRPr/>
          </a:p>
        </p:txBody>
      </p:sp>
      <p:sp>
        <p:nvSpPr>
          <p:cNvPr id="216" name="Google Shape;216;p28"/>
          <p:cNvSpPr txBox="1"/>
          <p:nvPr/>
        </p:nvSpPr>
        <p:spPr>
          <a:xfrm>
            <a:off x="777240" y="4160520"/>
            <a:ext cx="8138160" cy="8686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“So let no one judge you in food or in drink, or regarding a festival or a new moon or sabbaths, which are a shadow of things to come, but the substance is of Christ.”</a:t>
            </a:r>
            <a:endParaRPr/>
          </a:p>
        </p:txBody>
      </p:sp>
      <p:sp>
        <p:nvSpPr>
          <p:cNvPr id="217" name="Google Shape;217;p28"/>
          <p:cNvSpPr txBox="1"/>
          <p:nvPr/>
        </p:nvSpPr>
        <p:spPr>
          <a:xfrm>
            <a:off x="777240" y="3017355"/>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Don’t trade Christ for external performance—He is the substance.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descr="image.png" id="222" name="Google Shape;222;p29"/>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23" name="Google Shape;223;p29"/>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Set Your Mind Above</a:t>
            </a:r>
            <a:endParaRPr/>
          </a:p>
        </p:txBody>
      </p:sp>
      <p:sp>
        <p:nvSpPr>
          <p:cNvPr id="224" name="Google Shape;224;p29"/>
          <p:cNvSpPr txBox="1"/>
          <p:nvPr/>
        </p:nvSpPr>
        <p:spPr>
          <a:xfrm>
            <a:off x="777240" y="1234440"/>
            <a:ext cx="8138100" cy="1108200"/>
          </a:xfrm>
          <a:prstGeom prst="rect">
            <a:avLst/>
          </a:prstGeom>
          <a:noFill/>
          <a:ln>
            <a:noFill/>
          </a:ln>
        </p:spPr>
        <p:txBody>
          <a:bodyPr anchorCtr="0" anchor="t" bIns="45700" lIns="91425" spcFirstLastPara="1" rIns="91425" wrap="square" tIns="45700">
            <a:spAutoFit/>
          </a:bodyPr>
          <a:lstStyle/>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A new life needs a new focus.</a:t>
            </a:r>
            <a:endParaRPr/>
          </a:p>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Where the mind goes, the life follows.</a:t>
            </a:r>
            <a:endParaRPr/>
          </a:p>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Holiness begins with what you seek.</a:t>
            </a:r>
            <a:endParaRPr/>
          </a:p>
        </p:txBody>
      </p:sp>
      <p:sp>
        <p:nvSpPr>
          <p:cNvPr id="225" name="Google Shape;225;p29"/>
          <p:cNvSpPr txBox="1"/>
          <p:nvPr/>
        </p:nvSpPr>
        <p:spPr>
          <a:xfrm>
            <a:off x="777215" y="3605650"/>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3:1–2 (NKJV)</a:t>
            </a:r>
            <a:endParaRPr/>
          </a:p>
        </p:txBody>
      </p:sp>
      <p:sp>
        <p:nvSpPr>
          <p:cNvPr id="226" name="Google Shape;226;p29"/>
          <p:cNvSpPr txBox="1"/>
          <p:nvPr/>
        </p:nvSpPr>
        <p:spPr>
          <a:xfrm>
            <a:off x="777190" y="3913445"/>
            <a:ext cx="81381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“If then you were raised with Christ, seek those things which are above, where Christ is, sitting at the right hand of God. Set your mind on things above, not on things on the earth.”</a:t>
            </a:r>
            <a:endParaRPr/>
          </a:p>
        </p:txBody>
      </p:sp>
      <p:sp>
        <p:nvSpPr>
          <p:cNvPr id="227" name="Google Shape;227;p29"/>
          <p:cNvSpPr txBox="1"/>
          <p:nvPr/>
        </p:nvSpPr>
        <p:spPr>
          <a:xfrm>
            <a:off x="777240" y="2830330"/>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Holiness starts with what you seek and set your mind 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descr="image.png" id="232" name="Google Shape;232;p30"/>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33" name="Google Shape;233;p30"/>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Put to Death the Old Life</a:t>
            </a:r>
            <a:endParaRPr/>
          </a:p>
        </p:txBody>
      </p:sp>
      <p:sp>
        <p:nvSpPr>
          <p:cNvPr id="234" name="Google Shape;234;p30"/>
          <p:cNvSpPr txBox="1"/>
          <p:nvPr/>
        </p:nvSpPr>
        <p:spPr>
          <a:xfrm>
            <a:off x="777240" y="1234440"/>
            <a:ext cx="8138100" cy="1200600"/>
          </a:xfrm>
          <a:prstGeom prst="rect">
            <a:avLst/>
          </a:prstGeom>
          <a:noFill/>
          <a:ln>
            <a:noFill/>
          </a:ln>
        </p:spPr>
        <p:txBody>
          <a:bodyPr anchorCtr="0" anchor="t" bIns="45700" lIns="91425" spcFirstLastPara="1" rIns="91425" wrap="square" tIns="45700">
            <a:spAutoFit/>
          </a:bodyPr>
          <a:lstStyle/>
          <a:p>
            <a:pPr indent="-381000" lvl="0" marL="457200" marR="0" rtl="0" algn="l">
              <a:spcBef>
                <a:spcPts val="0"/>
              </a:spcBef>
              <a:spcAft>
                <a:spcPts val="0"/>
              </a:spcAft>
              <a:buClr>
                <a:srgbClr val="2D2214"/>
              </a:buClr>
              <a:buSzPts val="2400"/>
              <a:buFont typeface="Calibri"/>
              <a:buChar char="●"/>
            </a:pPr>
            <a:r>
              <a:rPr b="0" i="0" lang="en-US" sz="2400" u="none" cap="none" strike="noStrike">
                <a:solidFill>
                  <a:srgbClr val="2D2214"/>
                </a:solidFill>
                <a:latin typeface="Calibri"/>
                <a:ea typeface="Calibri"/>
                <a:cs typeface="Calibri"/>
                <a:sym typeface="Calibri"/>
              </a:rPr>
              <a:t>Paul is direct: put sin to death.</a:t>
            </a:r>
            <a:endParaRPr sz="1600"/>
          </a:p>
          <a:p>
            <a:pPr indent="-381000" lvl="0" marL="457200" marR="0" rtl="0" algn="l">
              <a:spcBef>
                <a:spcPts val="0"/>
              </a:spcBef>
              <a:spcAft>
                <a:spcPts val="0"/>
              </a:spcAft>
              <a:buClr>
                <a:srgbClr val="2D2214"/>
              </a:buClr>
              <a:buSzPts val="2400"/>
              <a:buFont typeface="Calibri"/>
              <a:buChar char="●"/>
            </a:pPr>
            <a:r>
              <a:rPr b="0" i="0" lang="en-US" sz="2400" u="none" cap="none" strike="noStrike">
                <a:solidFill>
                  <a:srgbClr val="2D2214"/>
                </a:solidFill>
                <a:latin typeface="Calibri"/>
                <a:ea typeface="Calibri"/>
                <a:cs typeface="Calibri"/>
                <a:sym typeface="Calibri"/>
              </a:rPr>
              <a:t>Sin is not a pet; it’s a disease.</a:t>
            </a:r>
            <a:endParaRPr sz="1600"/>
          </a:p>
          <a:p>
            <a:pPr indent="-381000" lvl="0" marL="457200" marR="0" rtl="0" algn="l">
              <a:spcBef>
                <a:spcPts val="0"/>
              </a:spcBef>
              <a:spcAft>
                <a:spcPts val="0"/>
              </a:spcAft>
              <a:buClr>
                <a:srgbClr val="2D2214"/>
              </a:buClr>
              <a:buSzPts val="2400"/>
              <a:buFont typeface="Calibri"/>
              <a:buChar char="●"/>
            </a:pPr>
            <a:r>
              <a:rPr b="0" i="0" lang="en-US" sz="2400" u="none" cap="none" strike="noStrike">
                <a:solidFill>
                  <a:srgbClr val="2D2214"/>
                </a:solidFill>
                <a:latin typeface="Calibri"/>
                <a:ea typeface="Calibri"/>
                <a:cs typeface="Calibri"/>
                <a:sym typeface="Calibri"/>
              </a:rPr>
              <a:t>Grace gives power to kill sin.</a:t>
            </a:r>
            <a:endParaRPr sz="1600"/>
          </a:p>
        </p:txBody>
      </p:sp>
      <p:sp>
        <p:nvSpPr>
          <p:cNvPr id="235" name="Google Shape;235;p30"/>
          <p:cNvSpPr txBox="1"/>
          <p:nvPr/>
        </p:nvSpPr>
        <p:spPr>
          <a:xfrm>
            <a:off x="777240" y="3759275"/>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3:5 (NKJV)</a:t>
            </a:r>
            <a:endParaRPr/>
          </a:p>
        </p:txBody>
      </p:sp>
      <p:sp>
        <p:nvSpPr>
          <p:cNvPr id="236" name="Google Shape;236;p30"/>
          <p:cNvSpPr txBox="1"/>
          <p:nvPr/>
        </p:nvSpPr>
        <p:spPr>
          <a:xfrm>
            <a:off x="777215" y="4067070"/>
            <a:ext cx="81381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“Therefore put to death your members which are on the earth: fornication, uncleanness, passion, evil desire, and covetousness, which is idolatry.”</a:t>
            </a:r>
            <a:endParaRPr/>
          </a:p>
        </p:txBody>
      </p:sp>
      <p:sp>
        <p:nvSpPr>
          <p:cNvPr id="237" name="Google Shape;237;p30"/>
          <p:cNvSpPr txBox="1"/>
          <p:nvPr/>
        </p:nvSpPr>
        <p:spPr>
          <a:xfrm>
            <a:off x="777240" y="2897130"/>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Grace empowers you to kill sin, not manage it.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descr="image.png" id="242" name="Google Shape;242;p31"/>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43" name="Google Shape;243;p31"/>
          <p:cNvSpPr txBox="1"/>
          <p:nvPr/>
        </p:nvSpPr>
        <p:spPr>
          <a:xfrm>
            <a:off x="640080" y="411480"/>
            <a:ext cx="7863900" cy="64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Put Off / </a:t>
            </a:r>
            <a:r>
              <a:rPr b="1" i="0" lang="en-US" sz="3600" u="none" cap="none" strike="noStrike">
                <a:solidFill>
                  <a:srgbClr val="3C2C19"/>
                </a:solidFill>
                <a:latin typeface="Calibri"/>
                <a:ea typeface="Calibri"/>
                <a:cs typeface="Calibri"/>
                <a:sym typeface="Calibri"/>
              </a:rPr>
              <a:t>Put On</a:t>
            </a:r>
            <a:endParaRPr/>
          </a:p>
        </p:txBody>
      </p:sp>
      <p:sp>
        <p:nvSpPr>
          <p:cNvPr id="244" name="Google Shape;244;p31"/>
          <p:cNvSpPr txBox="1"/>
          <p:nvPr/>
        </p:nvSpPr>
        <p:spPr>
          <a:xfrm>
            <a:off x="423190" y="1234440"/>
            <a:ext cx="8138100" cy="1200600"/>
          </a:xfrm>
          <a:prstGeom prst="rect">
            <a:avLst/>
          </a:prstGeom>
          <a:noFill/>
          <a:ln>
            <a:noFill/>
          </a:ln>
        </p:spPr>
        <p:txBody>
          <a:bodyPr anchorCtr="0" anchor="t" bIns="45700" lIns="91425" spcFirstLastPara="1" rIns="91425" wrap="square" tIns="45700">
            <a:spAutoFit/>
          </a:bodyPr>
          <a:lstStyle/>
          <a:p>
            <a:pPr indent="-381000" lvl="0" marL="457200" marR="0" rtl="0" algn="l">
              <a:spcBef>
                <a:spcPts val="0"/>
              </a:spcBef>
              <a:spcAft>
                <a:spcPts val="0"/>
              </a:spcAft>
              <a:buClr>
                <a:srgbClr val="2D2214"/>
              </a:buClr>
              <a:buSzPts val="2400"/>
              <a:buFont typeface="Calibri"/>
              <a:buChar char="●"/>
            </a:pPr>
            <a:r>
              <a:rPr b="0" i="0" lang="en-US" sz="2400" u="none" cap="none" strike="noStrike">
                <a:solidFill>
                  <a:srgbClr val="2D2214"/>
                </a:solidFill>
                <a:latin typeface="Calibri"/>
                <a:ea typeface="Calibri"/>
                <a:cs typeface="Calibri"/>
                <a:sym typeface="Calibri"/>
              </a:rPr>
              <a:t>Put </a:t>
            </a:r>
            <a:r>
              <a:rPr b="0" i="0" lang="en-US" sz="2400" u="none" cap="none" strike="noStrike">
                <a:solidFill>
                  <a:srgbClr val="2D2214"/>
                </a:solidFill>
                <a:latin typeface="Calibri"/>
                <a:ea typeface="Calibri"/>
                <a:cs typeface="Calibri"/>
                <a:sym typeface="Calibri"/>
              </a:rPr>
              <a:t>off</a:t>
            </a:r>
            <a:r>
              <a:rPr b="0" i="0" lang="en-US" sz="2400" u="none" cap="none" strike="noStrike">
                <a:solidFill>
                  <a:srgbClr val="2D2214"/>
                </a:solidFill>
                <a:latin typeface="Calibri"/>
                <a:ea typeface="Calibri"/>
                <a:cs typeface="Calibri"/>
                <a:sym typeface="Calibri"/>
              </a:rPr>
              <a:t> anger, wrath, malice, and lying.</a:t>
            </a:r>
            <a:endParaRPr sz="1600"/>
          </a:p>
          <a:p>
            <a:pPr indent="-381000" lvl="0" marL="457200" marR="0" rtl="0" algn="l">
              <a:spcBef>
                <a:spcPts val="0"/>
              </a:spcBef>
              <a:spcAft>
                <a:spcPts val="0"/>
              </a:spcAft>
              <a:buClr>
                <a:srgbClr val="2D2214"/>
              </a:buClr>
              <a:buSzPts val="2400"/>
              <a:buFont typeface="Calibri"/>
              <a:buChar char="●"/>
            </a:pPr>
            <a:r>
              <a:rPr b="0" i="0" lang="en-US" sz="2400" u="none" cap="none" strike="noStrike">
                <a:solidFill>
                  <a:srgbClr val="2D2214"/>
                </a:solidFill>
                <a:latin typeface="Calibri"/>
                <a:ea typeface="Calibri"/>
                <a:cs typeface="Calibri"/>
                <a:sym typeface="Calibri"/>
              </a:rPr>
              <a:t>Put on mercy, kindness, humility, patience.</a:t>
            </a:r>
            <a:endParaRPr sz="1600"/>
          </a:p>
          <a:p>
            <a:pPr indent="-381000" lvl="0" marL="457200" marR="0" rtl="0" algn="l">
              <a:spcBef>
                <a:spcPts val="0"/>
              </a:spcBef>
              <a:spcAft>
                <a:spcPts val="0"/>
              </a:spcAft>
              <a:buClr>
                <a:srgbClr val="2D2214"/>
              </a:buClr>
              <a:buSzPts val="2400"/>
              <a:buFont typeface="Calibri"/>
              <a:buChar char="●"/>
            </a:pPr>
            <a:r>
              <a:rPr b="0" i="0" lang="en-US" sz="2400" u="none" cap="none" strike="noStrike">
                <a:solidFill>
                  <a:srgbClr val="2D2214"/>
                </a:solidFill>
                <a:latin typeface="Calibri"/>
                <a:ea typeface="Calibri"/>
                <a:cs typeface="Calibri"/>
                <a:sym typeface="Calibri"/>
              </a:rPr>
              <a:t>Holiness is not only what you stop — it’s what you become.</a:t>
            </a:r>
            <a:endParaRPr sz="1600"/>
          </a:p>
        </p:txBody>
      </p:sp>
      <p:sp>
        <p:nvSpPr>
          <p:cNvPr id="245" name="Google Shape;245;p31"/>
          <p:cNvSpPr txBox="1"/>
          <p:nvPr/>
        </p:nvSpPr>
        <p:spPr>
          <a:xfrm>
            <a:off x="777240" y="3685800"/>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3:12 (NKJV)</a:t>
            </a:r>
            <a:endParaRPr/>
          </a:p>
        </p:txBody>
      </p:sp>
      <p:sp>
        <p:nvSpPr>
          <p:cNvPr id="246" name="Google Shape;246;p31"/>
          <p:cNvSpPr txBox="1"/>
          <p:nvPr/>
        </p:nvSpPr>
        <p:spPr>
          <a:xfrm>
            <a:off x="777215" y="3993595"/>
            <a:ext cx="81381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“Therefore, as the elect of God, holy and beloved, put on tender mercies, kindness, humility, meekness, longsuffering.”</a:t>
            </a:r>
            <a:endParaRPr/>
          </a:p>
        </p:txBody>
      </p:sp>
      <p:sp>
        <p:nvSpPr>
          <p:cNvPr id="247" name="Google Shape;247;p31"/>
          <p:cNvSpPr txBox="1"/>
          <p:nvPr/>
        </p:nvSpPr>
        <p:spPr>
          <a:xfrm>
            <a:off x="777240" y="2750180"/>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Holiness is not only what you stop—it’s what you become.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descr="image.png" id="252" name="Google Shape;252;p32"/>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53" name="Google Shape;253;p32"/>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Love and Peace Hold the Church Together</a:t>
            </a:r>
            <a:endParaRPr/>
          </a:p>
        </p:txBody>
      </p:sp>
      <p:sp>
        <p:nvSpPr>
          <p:cNvPr id="254" name="Google Shape;254;p32"/>
          <p:cNvSpPr txBox="1"/>
          <p:nvPr/>
        </p:nvSpPr>
        <p:spPr>
          <a:xfrm>
            <a:off x="777240" y="1708715"/>
            <a:ext cx="8138100" cy="1108200"/>
          </a:xfrm>
          <a:prstGeom prst="rect">
            <a:avLst/>
          </a:prstGeom>
          <a:noFill/>
          <a:ln>
            <a:noFill/>
          </a:ln>
        </p:spPr>
        <p:txBody>
          <a:bodyPr anchorCtr="0" anchor="t" bIns="45700" lIns="91425" spcFirstLastPara="1" rIns="91425" wrap="square" tIns="45700">
            <a:spAutoFit/>
          </a:bodyPr>
          <a:lstStyle/>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Love is the bond of perfection.</a:t>
            </a:r>
            <a:endParaRPr/>
          </a:p>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Peace must rule the heart.</a:t>
            </a:r>
            <a:endParaRPr/>
          </a:p>
          <a:p>
            <a:pPr indent="-368300" lvl="0" marL="457200" marR="0" rtl="0" algn="l">
              <a:spcBef>
                <a:spcPts val="0"/>
              </a:spcBef>
              <a:spcAft>
                <a:spcPts val="0"/>
              </a:spcAft>
              <a:buClr>
                <a:srgbClr val="2D2214"/>
              </a:buClr>
              <a:buSzPts val="2200"/>
              <a:buFont typeface="Calibri"/>
              <a:buChar char="●"/>
            </a:pPr>
            <a:r>
              <a:rPr b="0" i="0" lang="en-US" sz="2200" u="none" cap="none" strike="noStrike">
                <a:solidFill>
                  <a:srgbClr val="2D2214"/>
                </a:solidFill>
                <a:latin typeface="Calibri"/>
                <a:ea typeface="Calibri"/>
                <a:cs typeface="Calibri"/>
                <a:sym typeface="Calibri"/>
              </a:rPr>
              <a:t>Unity is spiritual discipline.</a:t>
            </a:r>
            <a:endParaRPr/>
          </a:p>
        </p:txBody>
      </p:sp>
      <p:sp>
        <p:nvSpPr>
          <p:cNvPr id="255" name="Google Shape;255;p32"/>
          <p:cNvSpPr txBox="1"/>
          <p:nvPr/>
        </p:nvSpPr>
        <p:spPr>
          <a:xfrm>
            <a:off x="777190" y="3659075"/>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3:14–15 (NKJV)</a:t>
            </a:r>
            <a:endParaRPr/>
          </a:p>
        </p:txBody>
      </p:sp>
      <p:sp>
        <p:nvSpPr>
          <p:cNvPr id="256" name="Google Shape;256;p32"/>
          <p:cNvSpPr txBox="1"/>
          <p:nvPr/>
        </p:nvSpPr>
        <p:spPr>
          <a:xfrm>
            <a:off x="777190" y="3886720"/>
            <a:ext cx="81381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“But above all these things put on love, which is the bond of perfection. And let the peace of God rule in your hearts, to which also you were called in one body; and be thankful.”</a:t>
            </a:r>
            <a:endParaRPr/>
          </a:p>
        </p:txBody>
      </p:sp>
      <p:sp>
        <p:nvSpPr>
          <p:cNvPr id="257" name="Google Shape;257;p32"/>
          <p:cNvSpPr txBox="1"/>
          <p:nvPr/>
        </p:nvSpPr>
        <p:spPr>
          <a:xfrm>
            <a:off x="777240" y="3191543"/>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Love and peace are the marks of maturity in one Body.</a:t>
            </a:r>
            <a:endParaRPr/>
          </a:p>
        </p:txBody>
      </p:sp>
      <p:sp>
        <p:nvSpPr>
          <p:cNvPr id="258" name="Google Shape;258;p32"/>
          <p:cNvSpPr txBox="1"/>
          <p:nvPr/>
        </p:nvSpPr>
        <p:spPr>
          <a:xfrm>
            <a:off x="5310300" y="1080850"/>
            <a:ext cx="3278100" cy="2081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100">
                <a:solidFill>
                  <a:schemeClr val="dk1"/>
                </a:solidFill>
              </a:rPr>
              <a:t>Love is the “tie” that holds every Christian virtue together and brings them to maturity.</a:t>
            </a:r>
            <a:endParaRPr b="1" sz="1100">
              <a:solidFill>
                <a:schemeClr val="dk1"/>
              </a:solidFill>
            </a:endParaRPr>
          </a:p>
          <a:p>
            <a:pPr indent="0" lvl="0" marL="0" rtl="0" algn="l">
              <a:lnSpc>
                <a:spcPct val="115000"/>
              </a:lnSpc>
              <a:spcBef>
                <a:spcPts val="1200"/>
              </a:spcBef>
              <a:spcAft>
                <a:spcPts val="0"/>
              </a:spcAft>
              <a:buNone/>
            </a:pPr>
            <a:r>
              <a:rPr lang="en-US" sz="1100">
                <a:solidFill>
                  <a:schemeClr val="dk1"/>
                </a:solidFill>
              </a:rPr>
              <a:t>Paul just listed virtues like mercy, kindness, humility, meekness, patience, forgiveness (Col 3:12–13). Those virtues can exist in a small, incomplete way—</a:t>
            </a:r>
            <a:r>
              <a:rPr b="1" lang="en-US" sz="1100">
                <a:solidFill>
                  <a:schemeClr val="dk1"/>
                </a:solidFill>
              </a:rPr>
              <a:t>but love binds them into one unified, mature life.</a:t>
            </a:r>
            <a:endParaRPr b="1" sz="1100">
              <a:solidFill>
                <a:schemeClr val="dk1"/>
              </a:solidFill>
            </a:endParaRPr>
          </a:p>
          <a:p>
            <a:pPr indent="0" lvl="0" marL="0" rtl="0" algn="l">
              <a:lnSpc>
                <a:spcPct val="115000"/>
              </a:lnSpc>
              <a:spcBef>
                <a:spcPts val="1400"/>
              </a:spcBef>
              <a:spcAft>
                <a:spcPts val="400"/>
              </a:spcAft>
              <a:buNone/>
            </a:pPr>
            <a:r>
              <a:rPr b="1" lang="en-US" sz="1300">
                <a:solidFill>
                  <a:schemeClr val="dk1"/>
                </a:solidFill>
              </a:rPr>
              <a:t>“Bond” = what holds it together</a:t>
            </a:r>
            <a:endParaRPr b="1" sz="13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3"/>
          <p:cNvSpPr txBox="1"/>
          <p:nvPr/>
        </p:nvSpPr>
        <p:spPr>
          <a:xfrm>
            <a:off x="640080" y="411480"/>
            <a:ext cx="78639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3C2C19"/>
                </a:solidFill>
                <a:latin typeface="Calibri"/>
                <a:ea typeface="Calibri"/>
                <a:cs typeface="Calibri"/>
                <a:sym typeface="Calibri"/>
              </a:rPr>
              <a:t>Love The Bond Of Perfection </a:t>
            </a:r>
            <a:endParaRPr/>
          </a:p>
        </p:txBody>
      </p:sp>
      <p:sp>
        <p:nvSpPr>
          <p:cNvPr id="264" name="Google Shape;264;p33"/>
          <p:cNvSpPr txBox="1"/>
          <p:nvPr/>
        </p:nvSpPr>
        <p:spPr>
          <a:xfrm>
            <a:off x="584875" y="1315150"/>
            <a:ext cx="7974300" cy="31263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dk1"/>
              </a:buClr>
              <a:buSzPts val="1400"/>
              <a:buChar char="●"/>
            </a:pPr>
            <a:r>
              <a:rPr b="1" lang="en-US">
                <a:solidFill>
                  <a:schemeClr val="dk1"/>
                </a:solidFill>
              </a:rPr>
              <a:t>Colossians 3:14</a:t>
            </a:r>
            <a:r>
              <a:rPr lang="en-US">
                <a:solidFill>
                  <a:schemeClr val="dk1"/>
                </a:solidFill>
              </a:rPr>
              <a:t> — “Above all these things put on love, which is the bond of perfection.”</a:t>
            </a:r>
            <a:br>
              <a:rPr lang="en-US">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1 Corinthians 13:13</a:t>
            </a:r>
            <a:r>
              <a:rPr lang="en-US">
                <a:solidFill>
                  <a:schemeClr val="dk1"/>
                </a:solidFill>
              </a:rPr>
              <a:t> — “And now abide faith, hope, love, these three; but the greatest of these is love.”</a:t>
            </a:r>
            <a:br>
              <a:rPr lang="en-US">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1 Corinthians 13:1–3</a:t>
            </a:r>
            <a:r>
              <a:rPr lang="en-US">
                <a:solidFill>
                  <a:schemeClr val="dk1"/>
                </a:solidFill>
              </a:rPr>
              <a:t> — Without love, gifts/sacrifice mean nothing.</a:t>
            </a:r>
            <a:br>
              <a:rPr lang="en-US">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Matthew 22:37–40</a:t>
            </a:r>
            <a:r>
              <a:rPr lang="en-US">
                <a:solidFill>
                  <a:schemeClr val="dk1"/>
                </a:solidFill>
              </a:rPr>
              <a:t> — The greatest commandments (love God, love neighbor); “on these hang all the Law and the Prophets.”</a:t>
            </a:r>
            <a:br>
              <a:rPr lang="en-US">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rPr>
              <a:t>Romans 13:10</a:t>
            </a:r>
            <a:r>
              <a:rPr lang="en-US">
                <a:solidFill>
                  <a:schemeClr val="dk1"/>
                </a:solidFill>
              </a:rPr>
              <a:t> — “Love does no harm… therefore love is the fulfillment of the law.”</a:t>
            </a:r>
            <a:br>
              <a:rPr lang="en-US">
                <a:solidFill>
                  <a:schemeClr val="dk1"/>
                </a:solidFill>
              </a:rPr>
            </a:br>
            <a:endParaRPr>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descr="image.png" id="269" name="Google Shape;269;p34"/>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70" name="Google Shape;270;p34"/>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The Word and Worship in Daily Life</a:t>
            </a:r>
            <a:endParaRPr/>
          </a:p>
        </p:txBody>
      </p:sp>
      <p:sp>
        <p:nvSpPr>
          <p:cNvPr id="271" name="Google Shape;271;p34"/>
          <p:cNvSpPr txBox="1"/>
          <p:nvPr/>
        </p:nvSpPr>
        <p:spPr>
          <a:xfrm>
            <a:off x="777240" y="1234440"/>
            <a:ext cx="8138100" cy="1246800"/>
          </a:xfrm>
          <a:prstGeom prst="rect">
            <a:avLst/>
          </a:prstGeom>
          <a:noFill/>
          <a:ln>
            <a:noFill/>
          </a:ln>
        </p:spPr>
        <p:txBody>
          <a:bodyPr anchorCtr="0" anchor="t" bIns="45700" lIns="91425" spcFirstLastPara="1" rIns="91425" wrap="square" tIns="45700">
            <a:spAutoFit/>
          </a:bodyPr>
          <a:lstStyle/>
          <a:p>
            <a:pPr indent="-387350" lvl="0" marL="457200" marR="0" rtl="0" algn="l">
              <a:spcBef>
                <a:spcPts val="0"/>
              </a:spcBef>
              <a:spcAft>
                <a:spcPts val="0"/>
              </a:spcAft>
              <a:buClr>
                <a:srgbClr val="2D2214"/>
              </a:buClr>
              <a:buSzPts val="2500"/>
              <a:buFont typeface="Calibri"/>
              <a:buChar char="●"/>
            </a:pPr>
            <a:r>
              <a:rPr b="0" i="0" lang="en-US" sz="2500" u="none" cap="none" strike="noStrike">
                <a:solidFill>
                  <a:srgbClr val="2D2214"/>
                </a:solidFill>
                <a:latin typeface="Calibri"/>
                <a:ea typeface="Calibri"/>
                <a:cs typeface="Calibri"/>
                <a:sym typeface="Calibri"/>
              </a:rPr>
              <a:t>Let the word of Christ dwell in you richly.</a:t>
            </a:r>
            <a:endParaRPr sz="1700"/>
          </a:p>
          <a:p>
            <a:pPr indent="-387350" lvl="0" marL="457200" marR="0" rtl="0" algn="l">
              <a:spcBef>
                <a:spcPts val="0"/>
              </a:spcBef>
              <a:spcAft>
                <a:spcPts val="0"/>
              </a:spcAft>
              <a:buClr>
                <a:srgbClr val="2D2214"/>
              </a:buClr>
              <a:buSzPts val="2500"/>
              <a:buFont typeface="Calibri"/>
              <a:buChar char="●"/>
            </a:pPr>
            <a:r>
              <a:rPr b="0" i="0" lang="en-US" sz="2500" u="none" cap="none" strike="noStrike">
                <a:solidFill>
                  <a:srgbClr val="2D2214"/>
                </a:solidFill>
                <a:latin typeface="Calibri"/>
                <a:ea typeface="Calibri"/>
                <a:cs typeface="Calibri"/>
                <a:sym typeface="Calibri"/>
              </a:rPr>
              <a:t>Teach, exhort, and worship with wisdom.</a:t>
            </a:r>
            <a:endParaRPr sz="1700"/>
          </a:p>
          <a:p>
            <a:pPr indent="-387350" lvl="0" marL="457200" marR="0" rtl="0" algn="l">
              <a:spcBef>
                <a:spcPts val="0"/>
              </a:spcBef>
              <a:spcAft>
                <a:spcPts val="0"/>
              </a:spcAft>
              <a:buClr>
                <a:srgbClr val="2D2214"/>
              </a:buClr>
              <a:buSzPts val="2500"/>
              <a:buFont typeface="Calibri"/>
              <a:buChar char="●"/>
            </a:pPr>
            <a:r>
              <a:rPr b="0" i="0" lang="en-US" sz="2500" u="none" cap="none" strike="noStrike">
                <a:solidFill>
                  <a:srgbClr val="2D2214"/>
                </a:solidFill>
                <a:latin typeface="Calibri"/>
                <a:ea typeface="Calibri"/>
                <a:cs typeface="Calibri"/>
                <a:sym typeface="Calibri"/>
              </a:rPr>
              <a:t>A strong Christian is full of Scripture and praise.</a:t>
            </a:r>
            <a:endParaRPr sz="1700"/>
          </a:p>
        </p:txBody>
      </p:sp>
      <p:sp>
        <p:nvSpPr>
          <p:cNvPr id="272" name="Google Shape;272;p34"/>
          <p:cNvSpPr txBox="1"/>
          <p:nvPr/>
        </p:nvSpPr>
        <p:spPr>
          <a:xfrm>
            <a:off x="777190" y="3521463"/>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3:16 (NKJV)</a:t>
            </a:r>
            <a:endParaRPr/>
          </a:p>
        </p:txBody>
      </p:sp>
      <p:sp>
        <p:nvSpPr>
          <p:cNvPr id="273" name="Google Shape;273;p34"/>
          <p:cNvSpPr txBox="1"/>
          <p:nvPr/>
        </p:nvSpPr>
        <p:spPr>
          <a:xfrm>
            <a:off x="777165" y="3829270"/>
            <a:ext cx="81381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“Let the word of Christ dwell in you richly in all wisdom, teaching and admonishing one another in psalms and hymns and spiritual songs, singing with grace in your hearts to the Lord.”</a:t>
            </a:r>
            <a:endParaRPr/>
          </a:p>
        </p:txBody>
      </p:sp>
      <p:sp>
        <p:nvSpPr>
          <p:cNvPr id="274" name="Google Shape;274;p34"/>
          <p:cNvSpPr txBox="1"/>
          <p:nvPr/>
        </p:nvSpPr>
        <p:spPr>
          <a:xfrm>
            <a:off x="777215" y="2863755"/>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A strong Christian is full of Scripture and worship.</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pic>
        <p:nvPicPr>
          <p:cNvPr descr="image.png" id="279" name="Google Shape;279;p35"/>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80" name="Google Shape;280;p35"/>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Whatever You Do — Do It in Jesus’ Name</a:t>
            </a:r>
            <a:endParaRPr/>
          </a:p>
        </p:txBody>
      </p:sp>
      <p:sp>
        <p:nvSpPr>
          <p:cNvPr id="281" name="Google Shape;281;p35"/>
          <p:cNvSpPr txBox="1"/>
          <p:nvPr/>
        </p:nvSpPr>
        <p:spPr>
          <a:xfrm>
            <a:off x="777240" y="1703853"/>
            <a:ext cx="8138100" cy="1200600"/>
          </a:xfrm>
          <a:prstGeom prst="rect">
            <a:avLst/>
          </a:prstGeom>
          <a:noFill/>
          <a:ln>
            <a:noFill/>
          </a:ln>
        </p:spPr>
        <p:txBody>
          <a:bodyPr anchorCtr="0" anchor="t" bIns="45700" lIns="91425" spcFirstLastPara="1" rIns="91425" wrap="square" tIns="45700">
            <a:spAutoFit/>
          </a:bodyPr>
          <a:lstStyle/>
          <a:p>
            <a:pPr indent="-381000" lvl="0" marL="457200" marR="0" rtl="0" algn="l">
              <a:spcBef>
                <a:spcPts val="0"/>
              </a:spcBef>
              <a:spcAft>
                <a:spcPts val="0"/>
              </a:spcAft>
              <a:buClr>
                <a:srgbClr val="2D2214"/>
              </a:buClr>
              <a:buSzPts val="2400"/>
              <a:buFont typeface="Calibri"/>
              <a:buChar char="●"/>
            </a:pPr>
            <a:r>
              <a:rPr b="0" i="0" lang="en-US" sz="2400" u="none" cap="none" strike="noStrike">
                <a:solidFill>
                  <a:srgbClr val="2D2214"/>
                </a:solidFill>
                <a:latin typeface="Calibri"/>
                <a:ea typeface="Calibri"/>
                <a:cs typeface="Calibri"/>
                <a:sym typeface="Calibri"/>
              </a:rPr>
              <a:t>Faith is not only Sunday.</a:t>
            </a:r>
            <a:endParaRPr sz="1600"/>
          </a:p>
          <a:p>
            <a:pPr indent="-381000" lvl="0" marL="457200" marR="0" rtl="0" algn="l">
              <a:spcBef>
                <a:spcPts val="0"/>
              </a:spcBef>
              <a:spcAft>
                <a:spcPts val="0"/>
              </a:spcAft>
              <a:buClr>
                <a:srgbClr val="2D2214"/>
              </a:buClr>
              <a:buSzPts val="2400"/>
              <a:buFont typeface="Calibri"/>
              <a:buChar char="●"/>
            </a:pPr>
            <a:r>
              <a:rPr b="0" i="0" lang="en-US" sz="2400" u="none" cap="none" strike="noStrike">
                <a:solidFill>
                  <a:srgbClr val="2D2214"/>
                </a:solidFill>
                <a:latin typeface="Calibri"/>
                <a:ea typeface="Calibri"/>
                <a:cs typeface="Calibri"/>
                <a:sym typeface="Calibri"/>
              </a:rPr>
              <a:t>Your work, speech, and actions matter.</a:t>
            </a:r>
            <a:endParaRPr sz="1600"/>
          </a:p>
          <a:p>
            <a:pPr indent="-381000" lvl="0" marL="457200" marR="0" rtl="0" algn="l">
              <a:spcBef>
                <a:spcPts val="0"/>
              </a:spcBef>
              <a:spcAft>
                <a:spcPts val="0"/>
              </a:spcAft>
              <a:buClr>
                <a:srgbClr val="2D2214"/>
              </a:buClr>
              <a:buSzPts val="2400"/>
              <a:buFont typeface="Calibri"/>
              <a:buChar char="●"/>
            </a:pPr>
            <a:r>
              <a:rPr b="0" i="0" lang="en-US" sz="2400" u="none" cap="none" strike="noStrike">
                <a:solidFill>
                  <a:srgbClr val="2D2214"/>
                </a:solidFill>
                <a:latin typeface="Calibri"/>
                <a:ea typeface="Calibri"/>
                <a:cs typeface="Calibri"/>
                <a:sym typeface="Calibri"/>
              </a:rPr>
              <a:t>If Christ is Lord, He is Lord of your Monday too.</a:t>
            </a:r>
            <a:endParaRPr sz="1600"/>
          </a:p>
        </p:txBody>
      </p:sp>
      <p:sp>
        <p:nvSpPr>
          <p:cNvPr id="282" name="Google Shape;282;p35"/>
          <p:cNvSpPr txBox="1"/>
          <p:nvPr/>
        </p:nvSpPr>
        <p:spPr>
          <a:xfrm>
            <a:off x="777215" y="3840475"/>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3:17 (NKJV)</a:t>
            </a:r>
            <a:endParaRPr/>
          </a:p>
        </p:txBody>
      </p:sp>
      <p:sp>
        <p:nvSpPr>
          <p:cNvPr id="283" name="Google Shape;283;p35"/>
          <p:cNvSpPr txBox="1"/>
          <p:nvPr/>
        </p:nvSpPr>
        <p:spPr>
          <a:xfrm>
            <a:off x="777215" y="4104920"/>
            <a:ext cx="81381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“And whatever you do in word or deed, do all in the name of the Lord Jesus, giving thanks to God the Father through Him.”</a:t>
            </a:r>
            <a:endParaRPr/>
          </a:p>
        </p:txBody>
      </p:sp>
      <p:sp>
        <p:nvSpPr>
          <p:cNvPr id="284" name="Google Shape;284;p35"/>
          <p:cNvSpPr txBox="1"/>
          <p:nvPr/>
        </p:nvSpPr>
        <p:spPr>
          <a:xfrm>
            <a:off x="777240" y="3225980"/>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If Christ is Lord, He is Lord of your Monday—every word and deed.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descr="image.png" id="289" name="Google Shape;289;p3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90" name="Google Shape;290;p36"/>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Prayer and Watchfulness</a:t>
            </a:r>
            <a:endParaRPr/>
          </a:p>
        </p:txBody>
      </p:sp>
      <p:sp>
        <p:nvSpPr>
          <p:cNvPr id="291" name="Google Shape;291;p36"/>
          <p:cNvSpPr txBox="1"/>
          <p:nvPr/>
        </p:nvSpPr>
        <p:spPr>
          <a:xfrm>
            <a:off x="777240" y="1234440"/>
            <a:ext cx="8138100" cy="1293000"/>
          </a:xfrm>
          <a:prstGeom prst="rect">
            <a:avLst/>
          </a:prstGeom>
          <a:noFill/>
          <a:ln>
            <a:noFill/>
          </a:ln>
        </p:spPr>
        <p:txBody>
          <a:bodyPr anchorCtr="0" anchor="t" bIns="45700" lIns="91425" spcFirstLastPara="1" rIns="91425" wrap="square" tIns="45700">
            <a:spAutoFit/>
          </a:bodyPr>
          <a:lstStyle/>
          <a:p>
            <a:pPr indent="-393700" lvl="0" marL="457200" marR="0" rtl="0" algn="l">
              <a:spcBef>
                <a:spcPts val="0"/>
              </a:spcBef>
              <a:spcAft>
                <a:spcPts val="0"/>
              </a:spcAft>
              <a:buClr>
                <a:srgbClr val="2D2214"/>
              </a:buClr>
              <a:buSzPts val="2600"/>
              <a:buFont typeface="Calibri"/>
              <a:buChar char="●"/>
            </a:pPr>
            <a:r>
              <a:rPr b="0" i="0" lang="en-US" sz="2600" u="none" cap="none" strike="noStrike">
                <a:solidFill>
                  <a:srgbClr val="2D2214"/>
                </a:solidFill>
                <a:latin typeface="Calibri"/>
                <a:ea typeface="Calibri"/>
                <a:cs typeface="Calibri"/>
                <a:sym typeface="Calibri"/>
              </a:rPr>
              <a:t>Prayer must be consistent and awake.</a:t>
            </a:r>
            <a:endParaRPr sz="1800"/>
          </a:p>
          <a:p>
            <a:pPr indent="-393700" lvl="0" marL="457200" marR="0" rtl="0" algn="l">
              <a:spcBef>
                <a:spcPts val="0"/>
              </a:spcBef>
              <a:spcAft>
                <a:spcPts val="0"/>
              </a:spcAft>
              <a:buClr>
                <a:srgbClr val="2D2214"/>
              </a:buClr>
              <a:buSzPts val="2600"/>
              <a:buFont typeface="Calibri"/>
              <a:buChar char="●"/>
            </a:pPr>
            <a:r>
              <a:rPr b="0" i="0" lang="en-US" sz="2600" u="none" cap="none" strike="noStrike">
                <a:solidFill>
                  <a:srgbClr val="2D2214"/>
                </a:solidFill>
                <a:latin typeface="Calibri"/>
                <a:ea typeface="Calibri"/>
                <a:cs typeface="Calibri"/>
                <a:sym typeface="Calibri"/>
              </a:rPr>
              <a:t>Watchfulness is spiritual seriousness.</a:t>
            </a:r>
            <a:endParaRPr sz="1800"/>
          </a:p>
          <a:p>
            <a:pPr indent="-393700" lvl="0" marL="457200" marR="0" rtl="0" algn="l">
              <a:spcBef>
                <a:spcPts val="0"/>
              </a:spcBef>
              <a:spcAft>
                <a:spcPts val="0"/>
              </a:spcAft>
              <a:buClr>
                <a:srgbClr val="2D2214"/>
              </a:buClr>
              <a:buSzPts val="2600"/>
              <a:buFont typeface="Calibri"/>
              <a:buChar char="●"/>
            </a:pPr>
            <a:r>
              <a:rPr b="0" i="0" lang="en-US" sz="2600" u="none" cap="none" strike="noStrike">
                <a:solidFill>
                  <a:srgbClr val="2D2214"/>
                </a:solidFill>
                <a:latin typeface="Calibri"/>
                <a:ea typeface="Calibri"/>
                <a:cs typeface="Calibri"/>
                <a:sym typeface="Calibri"/>
              </a:rPr>
              <a:t>Prayer opens doors for the Gospel.</a:t>
            </a:r>
            <a:endParaRPr sz="1800"/>
          </a:p>
        </p:txBody>
      </p:sp>
      <p:sp>
        <p:nvSpPr>
          <p:cNvPr id="292" name="Google Shape;292;p36"/>
          <p:cNvSpPr txBox="1"/>
          <p:nvPr/>
        </p:nvSpPr>
        <p:spPr>
          <a:xfrm>
            <a:off x="777190" y="3398575"/>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4:2–3 (NKJV)</a:t>
            </a:r>
            <a:endParaRPr/>
          </a:p>
        </p:txBody>
      </p:sp>
      <p:sp>
        <p:nvSpPr>
          <p:cNvPr id="293" name="Google Shape;293;p36"/>
          <p:cNvSpPr txBox="1"/>
          <p:nvPr/>
        </p:nvSpPr>
        <p:spPr>
          <a:xfrm>
            <a:off x="777165" y="3706370"/>
            <a:ext cx="8138100" cy="831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“Continue earnestly in prayer, being vigilant in it with thanksgiving; meanwhile praying also for us, that God would open to us a door for the word, to speak the mystery of Christ, for which I am also in chains.”</a:t>
            </a:r>
            <a:endParaRPr/>
          </a:p>
        </p:txBody>
      </p:sp>
      <p:sp>
        <p:nvSpPr>
          <p:cNvPr id="294" name="Google Shape;294;p36"/>
          <p:cNvSpPr txBox="1"/>
          <p:nvPr/>
        </p:nvSpPr>
        <p:spPr>
          <a:xfrm>
            <a:off x="777215" y="2763530"/>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A vigilant prayer life keeps your spirit awake and your mission open.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descr="image.png" id="299" name="Google Shape;299;p37"/>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00" name="Google Shape;300;p37"/>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Walk in Wisdom Toward Outsiders</a:t>
            </a:r>
            <a:endParaRPr/>
          </a:p>
        </p:txBody>
      </p:sp>
      <p:sp>
        <p:nvSpPr>
          <p:cNvPr id="301" name="Google Shape;301;p37"/>
          <p:cNvSpPr txBox="1"/>
          <p:nvPr/>
        </p:nvSpPr>
        <p:spPr>
          <a:xfrm>
            <a:off x="777240" y="1234440"/>
            <a:ext cx="8138100" cy="1200600"/>
          </a:xfrm>
          <a:prstGeom prst="rect">
            <a:avLst/>
          </a:prstGeom>
          <a:noFill/>
          <a:ln>
            <a:noFill/>
          </a:ln>
        </p:spPr>
        <p:txBody>
          <a:bodyPr anchorCtr="0" anchor="t" bIns="45700" lIns="91425" spcFirstLastPara="1" rIns="91425" wrap="square" tIns="45700">
            <a:spAutoFit/>
          </a:bodyPr>
          <a:lstStyle/>
          <a:p>
            <a:pPr indent="-381000" lvl="0" marL="457200" marR="0" rtl="0" algn="l">
              <a:spcBef>
                <a:spcPts val="0"/>
              </a:spcBef>
              <a:spcAft>
                <a:spcPts val="0"/>
              </a:spcAft>
              <a:buClr>
                <a:srgbClr val="2D2214"/>
              </a:buClr>
              <a:buSzPts val="2400"/>
              <a:buFont typeface="Calibri"/>
              <a:buChar char="●"/>
            </a:pPr>
            <a:r>
              <a:rPr b="0" i="0" lang="en-US" sz="2400" u="none" cap="none" strike="noStrike">
                <a:solidFill>
                  <a:srgbClr val="2D2214"/>
                </a:solidFill>
                <a:latin typeface="Calibri"/>
                <a:ea typeface="Calibri"/>
                <a:cs typeface="Calibri"/>
                <a:sym typeface="Calibri"/>
              </a:rPr>
              <a:t>How you talk matters.</a:t>
            </a:r>
            <a:endParaRPr sz="1600"/>
          </a:p>
          <a:p>
            <a:pPr indent="-381000" lvl="0" marL="457200" marR="0" rtl="0" algn="l">
              <a:spcBef>
                <a:spcPts val="0"/>
              </a:spcBef>
              <a:spcAft>
                <a:spcPts val="0"/>
              </a:spcAft>
              <a:buClr>
                <a:srgbClr val="2D2214"/>
              </a:buClr>
              <a:buSzPts val="2400"/>
              <a:buFont typeface="Calibri"/>
              <a:buChar char="●"/>
            </a:pPr>
            <a:r>
              <a:rPr b="0" i="0" lang="en-US" sz="2400" u="none" cap="none" strike="noStrike">
                <a:solidFill>
                  <a:srgbClr val="2D2214"/>
                </a:solidFill>
                <a:latin typeface="Calibri"/>
                <a:ea typeface="Calibri"/>
                <a:cs typeface="Calibri"/>
                <a:sym typeface="Calibri"/>
              </a:rPr>
              <a:t>Grace in speech is witness.</a:t>
            </a:r>
            <a:endParaRPr sz="1600"/>
          </a:p>
          <a:p>
            <a:pPr indent="-381000" lvl="0" marL="457200" marR="0" rtl="0" algn="l">
              <a:spcBef>
                <a:spcPts val="0"/>
              </a:spcBef>
              <a:spcAft>
                <a:spcPts val="0"/>
              </a:spcAft>
              <a:buClr>
                <a:srgbClr val="2D2214"/>
              </a:buClr>
              <a:buSzPts val="2400"/>
              <a:buFont typeface="Calibri"/>
              <a:buChar char="●"/>
            </a:pPr>
            <a:r>
              <a:rPr b="0" i="0" lang="en-US" sz="2400" u="none" cap="none" strike="noStrike">
                <a:solidFill>
                  <a:srgbClr val="2D2214"/>
                </a:solidFill>
                <a:latin typeface="Calibri"/>
                <a:ea typeface="Calibri"/>
                <a:cs typeface="Calibri"/>
                <a:sym typeface="Calibri"/>
              </a:rPr>
              <a:t>Many read you before they read Scripture.</a:t>
            </a:r>
            <a:endParaRPr sz="1600"/>
          </a:p>
        </p:txBody>
      </p:sp>
      <p:sp>
        <p:nvSpPr>
          <p:cNvPr id="302" name="Google Shape;302;p37"/>
          <p:cNvSpPr txBox="1"/>
          <p:nvPr/>
        </p:nvSpPr>
        <p:spPr>
          <a:xfrm>
            <a:off x="777190" y="3268975"/>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4:5–6 (NKJV)</a:t>
            </a:r>
            <a:endParaRPr/>
          </a:p>
        </p:txBody>
      </p:sp>
      <p:sp>
        <p:nvSpPr>
          <p:cNvPr id="303" name="Google Shape;303;p37"/>
          <p:cNvSpPr txBox="1"/>
          <p:nvPr/>
        </p:nvSpPr>
        <p:spPr>
          <a:xfrm>
            <a:off x="777165" y="3549795"/>
            <a:ext cx="81381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“Walk in wisdom toward those who are outside, redeeming the time. Let your speech always be with grace, seasoned with salt, that you may know how you ought to answer each one.”</a:t>
            </a:r>
            <a:endParaRPr/>
          </a:p>
        </p:txBody>
      </p:sp>
      <p:sp>
        <p:nvSpPr>
          <p:cNvPr id="304" name="Google Shape;304;p37"/>
          <p:cNvSpPr txBox="1"/>
          <p:nvPr/>
        </p:nvSpPr>
        <p:spPr>
          <a:xfrm>
            <a:off x="777215" y="2776880"/>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Your speech is part of your witness—let it be grace-filled.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descr="image.png" id="309" name="Google Shape;309;p3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310" name="Google Shape;310;p38"/>
          <p:cNvSpPr txBox="1"/>
          <p:nvPr/>
        </p:nvSpPr>
        <p:spPr>
          <a:xfrm>
            <a:off x="640080" y="411480"/>
            <a:ext cx="7863840" cy="64008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3C2C19"/>
                </a:solidFill>
                <a:latin typeface="Calibri"/>
                <a:ea typeface="Calibri"/>
                <a:cs typeface="Calibri"/>
                <a:sym typeface="Calibri"/>
              </a:rPr>
              <a:t>Final Summary and Challenge</a:t>
            </a:r>
            <a:endParaRPr/>
          </a:p>
        </p:txBody>
      </p:sp>
      <p:sp>
        <p:nvSpPr>
          <p:cNvPr id="311" name="Google Shape;311;p38"/>
          <p:cNvSpPr txBox="1"/>
          <p:nvPr/>
        </p:nvSpPr>
        <p:spPr>
          <a:xfrm>
            <a:off x="777240" y="1234440"/>
            <a:ext cx="8138100" cy="1339200"/>
          </a:xfrm>
          <a:prstGeom prst="rect">
            <a:avLst/>
          </a:prstGeom>
          <a:noFill/>
          <a:ln>
            <a:noFill/>
          </a:ln>
        </p:spPr>
        <p:txBody>
          <a:bodyPr anchorCtr="0" anchor="t" bIns="45700" lIns="91425" spcFirstLastPara="1" rIns="91425" wrap="square" tIns="45700">
            <a:spAutoFit/>
          </a:bodyPr>
          <a:lstStyle/>
          <a:p>
            <a:pPr indent="-400050" lvl="0" marL="457200" marR="0" rtl="0" algn="l">
              <a:spcBef>
                <a:spcPts val="0"/>
              </a:spcBef>
              <a:spcAft>
                <a:spcPts val="0"/>
              </a:spcAft>
              <a:buClr>
                <a:srgbClr val="2D2214"/>
              </a:buClr>
              <a:buSzPts val="2700"/>
              <a:buFont typeface="Calibri"/>
              <a:buChar char="●"/>
            </a:pPr>
            <a:r>
              <a:rPr b="0" i="0" lang="en-US" sz="2700" u="none" cap="none" strike="noStrike">
                <a:solidFill>
                  <a:srgbClr val="2D2214"/>
                </a:solidFill>
                <a:latin typeface="Calibri"/>
                <a:ea typeface="Calibri"/>
                <a:cs typeface="Calibri"/>
                <a:sym typeface="Calibri"/>
              </a:rPr>
              <a:t>Christ is supreme — keep Him central.</a:t>
            </a:r>
            <a:endParaRPr sz="1900"/>
          </a:p>
          <a:p>
            <a:pPr indent="-400050" lvl="0" marL="457200" marR="0" rtl="0" algn="l">
              <a:spcBef>
                <a:spcPts val="0"/>
              </a:spcBef>
              <a:spcAft>
                <a:spcPts val="0"/>
              </a:spcAft>
              <a:buClr>
                <a:srgbClr val="2D2214"/>
              </a:buClr>
              <a:buSzPts val="2700"/>
              <a:buFont typeface="Calibri"/>
              <a:buChar char="●"/>
            </a:pPr>
            <a:r>
              <a:rPr b="0" i="0" lang="en-US" sz="2700" u="none" cap="none" strike="noStrike">
                <a:solidFill>
                  <a:srgbClr val="2D2214"/>
                </a:solidFill>
                <a:latin typeface="Calibri"/>
                <a:ea typeface="Calibri"/>
                <a:cs typeface="Calibri"/>
                <a:sym typeface="Calibri"/>
              </a:rPr>
              <a:t>Stay rooted; reject anything that replaces Him.</a:t>
            </a:r>
            <a:endParaRPr sz="1900"/>
          </a:p>
          <a:p>
            <a:pPr indent="-400050" lvl="0" marL="457200" marR="0" rtl="0" algn="l">
              <a:spcBef>
                <a:spcPts val="0"/>
              </a:spcBef>
              <a:spcAft>
                <a:spcPts val="0"/>
              </a:spcAft>
              <a:buClr>
                <a:srgbClr val="2D2214"/>
              </a:buClr>
              <a:buSzPts val="2700"/>
              <a:buFont typeface="Calibri"/>
              <a:buChar char="●"/>
            </a:pPr>
            <a:r>
              <a:rPr b="0" i="0" lang="en-US" sz="2700" u="none" cap="none" strike="noStrike">
                <a:solidFill>
                  <a:srgbClr val="2D2214"/>
                </a:solidFill>
                <a:latin typeface="Calibri"/>
                <a:ea typeface="Calibri"/>
                <a:cs typeface="Calibri"/>
                <a:sym typeface="Calibri"/>
              </a:rPr>
              <a:t>Put sin to death; put on holiness; live prayerfully.</a:t>
            </a:r>
            <a:endParaRPr sz="1900"/>
          </a:p>
        </p:txBody>
      </p:sp>
      <p:sp>
        <p:nvSpPr>
          <p:cNvPr id="312" name="Google Shape;312;p38"/>
          <p:cNvSpPr txBox="1"/>
          <p:nvPr/>
        </p:nvSpPr>
        <p:spPr>
          <a:xfrm>
            <a:off x="777190" y="3765950"/>
            <a:ext cx="8138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5A4628"/>
                </a:solidFill>
                <a:latin typeface="Calibri"/>
                <a:ea typeface="Calibri"/>
                <a:cs typeface="Calibri"/>
                <a:sym typeface="Calibri"/>
              </a:rPr>
              <a:t>Colossians 3:3 (NKJV)</a:t>
            </a:r>
            <a:endParaRPr/>
          </a:p>
        </p:txBody>
      </p:sp>
      <p:sp>
        <p:nvSpPr>
          <p:cNvPr id="313" name="Google Shape;313;p38"/>
          <p:cNvSpPr txBox="1"/>
          <p:nvPr/>
        </p:nvSpPr>
        <p:spPr>
          <a:xfrm>
            <a:off x="777215" y="4033595"/>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1" lang="en-US" sz="1600" u="none" cap="none" strike="noStrike">
                <a:solidFill>
                  <a:srgbClr val="5A4628"/>
                </a:solidFill>
                <a:latin typeface="Calibri"/>
                <a:ea typeface="Calibri"/>
                <a:cs typeface="Calibri"/>
                <a:sym typeface="Calibri"/>
              </a:rPr>
              <a:t>“For you died, and your life is hidden with Christ in God.”</a:t>
            </a:r>
            <a:endParaRPr/>
          </a:p>
        </p:txBody>
      </p:sp>
      <p:sp>
        <p:nvSpPr>
          <p:cNvPr id="314" name="Google Shape;314;p38"/>
          <p:cNvSpPr txBox="1"/>
          <p:nvPr/>
        </p:nvSpPr>
        <p:spPr>
          <a:xfrm>
            <a:off x="777215" y="3207068"/>
            <a:ext cx="8138100" cy="338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5A4628"/>
                </a:solidFill>
                <a:latin typeface="Calibri"/>
                <a:ea typeface="Calibri"/>
                <a:cs typeface="Calibri"/>
                <a:sym typeface="Calibri"/>
              </a:rPr>
              <a:t>Core takeaway: </a:t>
            </a:r>
            <a:r>
              <a:rPr b="0" i="0" lang="en-US" sz="1600" u="none" cap="none" strike="noStrike">
                <a:solidFill>
                  <a:srgbClr val="372A18"/>
                </a:solidFill>
                <a:latin typeface="Calibri"/>
                <a:ea typeface="Calibri"/>
                <a:cs typeface="Calibri"/>
                <a:sym typeface="Calibri"/>
              </a:rPr>
              <a:t>Keep Christ central: stay rooted, reject replacements, put on holiness.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9"/>
          <p:cNvSpPr txBox="1"/>
          <p:nvPr/>
        </p:nvSpPr>
        <p:spPr>
          <a:xfrm>
            <a:off x="1682075" y="1894050"/>
            <a:ext cx="5345100" cy="135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5400">
                <a:solidFill>
                  <a:schemeClr val="dk1"/>
                </a:solidFill>
                <a:latin typeface="Calibri"/>
                <a:ea typeface="Calibri"/>
                <a:cs typeface="Calibri"/>
                <a:sym typeface="Calibri"/>
              </a:rPr>
              <a:t>QUESTIONS?</a:t>
            </a:r>
            <a:endParaRPr sz="54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