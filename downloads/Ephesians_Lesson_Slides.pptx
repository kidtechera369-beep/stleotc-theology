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jpeg" ContentType="image/jpeg"/>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9a23228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9a23228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c9a232283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c9a232283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c9a232283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c9a232283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9a232283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9a232283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9a232283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9a232283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9a232283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9a232283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9a232283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9a232283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9a232283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9a232283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9a2322833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9a2322833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9a2322833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9a232283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9a232283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9a232283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9a232283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9a232283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9a2322833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c9a2322833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The Book Of Ephesians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Dn Yonnas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909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Context And Background</a:t>
            </a:r>
            <a:endParaRPr/>
          </a:p>
        </p:txBody>
      </p:sp>
      <p:sp>
        <p:nvSpPr>
          <p:cNvPr id="61" name="Google Shape;61;p14"/>
          <p:cNvSpPr txBox="1"/>
          <p:nvPr>
            <p:ph idx="1" type="body"/>
          </p:nvPr>
        </p:nvSpPr>
        <p:spPr>
          <a:xfrm>
            <a:off x="311700" y="1152475"/>
            <a:ext cx="5226000" cy="36975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b="1" lang="en" sz="1100">
                <a:solidFill>
                  <a:schemeClr val="dk1"/>
                </a:solidFill>
              </a:rPr>
              <a:t>Author:</a:t>
            </a:r>
            <a:r>
              <a:rPr lang="en" sz="1100">
                <a:solidFill>
                  <a:schemeClr val="dk1"/>
                </a:solidFill>
              </a:rPr>
              <a:t> St. Paul the Apostle</a:t>
            </a:r>
            <a:endParaRPr sz="1100">
              <a:solidFill>
                <a:schemeClr val="dk1"/>
              </a:solidFill>
            </a:endParaRPr>
          </a:p>
          <a:p>
            <a:pPr indent="0" lvl="0" marL="0" rtl="0" algn="l">
              <a:spcBef>
                <a:spcPts val="1200"/>
              </a:spcBef>
              <a:spcAft>
                <a:spcPts val="0"/>
              </a:spcAft>
              <a:buNone/>
            </a:pPr>
            <a:r>
              <a:rPr b="1" lang="en" sz="1100">
                <a:solidFill>
                  <a:schemeClr val="dk1"/>
                </a:solidFill>
              </a:rPr>
              <a:t>Contex</a:t>
            </a:r>
            <a:r>
              <a:rPr b="1" lang="en" sz="1100">
                <a:solidFill>
                  <a:schemeClr val="dk1"/>
                </a:solidFill>
              </a:rPr>
              <a:t>t</a:t>
            </a:r>
            <a:r>
              <a:rPr b="1" lang="en" sz="1100">
                <a:solidFill>
                  <a:schemeClr val="dk1"/>
                </a:solidFill>
              </a:rPr>
              <a:t>:</a:t>
            </a:r>
            <a:r>
              <a:rPr lang="en" sz="1100">
                <a:solidFill>
                  <a:schemeClr val="dk1"/>
                </a:solidFill>
              </a:rPr>
              <a:t> Written c. 60–62 AD during his first imprisonment in Rome; one of the "Prison Epistles."</a:t>
            </a:r>
            <a:endParaRPr sz="1100">
              <a:solidFill>
                <a:schemeClr val="dk1"/>
              </a:solidFill>
            </a:endParaRPr>
          </a:p>
          <a:p>
            <a:pPr indent="0" lvl="0" marL="0" rtl="0" algn="l">
              <a:spcBef>
                <a:spcPts val="1200"/>
              </a:spcBef>
              <a:spcAft>
                <a:spcPts val="0"/>
              </a:spcAft>
              <a:buNone/>
            </a:pPr>
            <a:r>
              <a:rPr b="1" lang="en" sz="1100">
                <a:solidFill>
                  <a:schemeClr val="dk1"/>
                </a:solidFill>
              </a:rPr>
              <a:t>Audience:</a:t>
            </a:r>
            <a:r>
              <a:rPr lang="en" sz="1100">
                <a:solidFill>
                  <a:schemeClr val="dk1"/>
                </a:solidFill>
              </a:rPr>
              <a:t> The local Church in Ephesus and an </a:t>
            </a:r>
            <a:r>
              <a:rPr b="1" lang="en" sz="1100">
                <a:solidFill>
                  <a:schemeClr val="dk1"/>
                </a:solidFill>
              </a:rPr>
              <a:t>Encyclical</a:t>
            </a:r>
            <a:r>
              <a:rPr lang="en" sz="1100">
                <a:solidFill>
                  <a:schemeClr val="dk1"/>
                </a:solidFill>
              </a:rPr>
              <a:t> (universal) message to the Body of Christ throughout the ages.</a:t>
            </a:r>
            <a:endParaRPr sz="1100">
              <a:solidFill>
                <a:schemeClr val="dk1"/>
              </a:solidFill>
            </a:endParaRPr>
          </a:p>
          <a:p>
            <a:pPr indent="0" lvl="0" marL="0" rtl="0" algn="l">
              <a:spcBef>
                <a:spcPts val="1400"/>
              </a:spcBef>
              <a:spcAft>
                <a:spcPts val="0"/>
              </a:spcAft>
              <a:buNone/>
            </a:pPr>
            <a:r>
              <a:rPr b="1" lang="en" sz="1300">
                <a:solidFill>
                  <a:schemeClr val="dk1"/>
                </a:solidFill>
              </a:rPr>
              <a:t>The Purpose: The "Icon" of the New Creation</a:t>
            </a:r>
            <a:endParaRPr b="1" sz="13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The Ontological Unity:</a:t>
            </a:r>
            <a:r>
              <a:rPr lang="en" sz="1100">
                <a:solidFill>
                  <a:schemeClr val="dk1"/>
                </a:solidFill>
              </a:rPr>
              <a:t> To reveal the Church not merely as a group, but as the </a:t>
            </a:r>
            <a:r>
              <a:rPr b="1" lang="en" sz="1100">
                <a:solidFill>
                  <a:schemeClr val="dk1"/>
                </a:solidFill>
              </a:rPr>
              <a:t>fullness of Christ</a:t>
            </a:r>
            <a:r>
              <a:rPr lang="en" sz="1100">
                <a:solidFill>
                  <a:schemeClr val="dk1"/>
                </a:solidFill>
              </a:rPr>
              <a:t>—His living Body and the Holy Temple where God dwells.</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Reconciliation:</a:t>
            </a:r>
            <a:r>
              <a:rPr lang="en" sz="1100">
                <a:solidFill>
                  <a:schemeClr val="dk1"/>
                </a:solidFill>
              </a:rPr>
              <a:t> To proclaim the "Mystery" hidden from ages: that Jews and Gentiles are joined into </a:t>
            </a:r>
            <a:r>
              <a:rPr b="1" lang="en" sz="1100">
                <a:solidFill>
                  <a:schemeClr val="dk1"/>
                </a:solidFill>
              </a:rPr>
              <a:t>One New Humanity</a:t>
            </a:r>
            <a:r>
              <a:rPr lang="en" sz="1100">
                <a:solidFill>
                  <a:schemeClr val="dk1"/>
                </a:solidFill>
              </a:rPr>
              <a:t>, destroying the "middle wall of partition."</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Liturgical Life:</a:t>
            </a:r>
            <a:r>
              <a:rPr lang="en" sz="1100">
                <a:solidFill>
                  <a:schemeClr val="dk1"/>
                </a:solidFill>
              </a:rPr>
              <a:t> To instruct the baptized in the </a:t>
            </a:r>
            <a:r>
              <a:rPr b="1" lang="en" sz="1100">
                <a:solidFill>
                  <a:schemeClr val="dk1"/>
                </a:solidFill>
              </a:rPr>
              <a:t>Way of Holiness</a:t>
            </a:r>
            <a:r>
              <a:rPr lang="en" sz="1100">
                <a:solidFill>
                  <a:schemeClr val="dk1"/>
                </a:solidFill>
              </a:rPr>
              <a:t>, transitioning from the old man to the new man in Christ.</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Ascetic Struggle:</a:t>
            </a:r>
            <a:r>
              <a:rPr lang="en" sz="1100">
                <a:solidFill>
                  <a:schemeClr val="dk1"/>
                </a:solidFill>
              </a:rPr>
              <a:t> To equip the faithful for </a:t>
            </a:r>
            <a:r>
              <a:rPr b="1" lang="en" sz="1100">
                <a:solidFill>
                  <a:schemeClr val="dk1"/>
                </a:solidFill>
              </a:rPr>
              <a:t>Spiritual Warfare</a:t>
            </a:r>
            <a:r>
              <a:rPr lang="en" sz="1100">
                <a:solidFill>
                  <a:schemeClr val="dk1"/>
                </a:solidFill>
              </a:rPr>
              <a:t>, providing the "Armor of God" to stand firm against the powers of darkness.</a:t>
            </a:r>
            <a:endParaRPr/>
          </a:p>
        </p:txBody>
      </p:sp>
      <p:pic>
        <p:nvPicPr>
          <p:cNvPr id="62" name="Google Shape;62;p14"/>
          <p:cNvPicPr preferRelativeResize="0"/>
          <p:nvPr/>
        </p:nvPicPr>
        <p:blipFill>
          <a:blip r:embed="rId3">
            <a:alphaModFix/>
          </a:blip>
          <a:stretch>
            <a:fillRect/>
          </a:stretch>
        </p:blipFill>
        <p:spPr>
          <a:xfrm>
            <a:off x="5703075" y="1195900"/>
            <a:ext cx="2599675" cy="32444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4269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Central Revelation: The Church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8" name="Google Shape;68;p15"/>
          <p:cNvSpPr txBox="1"/>
          <p:nvPr>
            <p:ph idx="1" type="body"/>
          </p:nvPr>
        </p:nvSpPr>
        <p:spPr>
          <a:xfrm>
            <a:off x="311700" y="1056025"/>
            <a:ext cx="5563500" cy="39909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018"/>
              <a:buFont typeface="Arial"/>
              <a:buNone/>
            </a:pPr>
            <a:r>
              <a:rPr lang="en" sz="1246">
                <a:solidFill>
                  <a:schemeClr val="dk1"/>
                </a:solidFill>
              </a:rPr>
              <a:t>The central revelation of Ephesians is </a:t>
            </a:r>
            <a:r>
              <a:rPr b="1" lang="en" sz="1246">
                <a:solidFill>
                  <a:schemeClr val="dk1"/>
                </a:solidFill>
              </a:rPr>
              <a:t>the Church</a:t>
            </a:r>
            <a:r>
              <a:rPr lang="en" sz="1246">
                <a:solidFill>
                  <a:schemeClr val="dk1"/>
                </a:solidFill>
              </a:rPr>
              <a:t>.</a:t>
            </a:r>
            <a:endParaRPr sz="1246">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en" sz="1246">
                <a:solidFill>
                  <a:schemeClr val="dk1"/>
                </a:solidFill>
              </a:rPr>
              <a:t>Not merely “individual spirituality,” but </a:t>
            </a:r>
            <a:r>
              <a:rPr b="1" lang="en" sz="1246">
                <a:solidFill>
                  <a:schemeClr val="dk1"/>
                </a:solidFill>
              </a:rPr>
              <a:t>the mystery of Christ and His Body</a:t>
            </a:r>
            <a:r>
              <a:rPr lang="en" sz="1246">
                <a:solidFill>
                  <a:schemeClr val="dk1"/>
                </a:solidFill>
              </a:rPr>
              <a:t>.</a:t>
            </a:r>
            <a:endParaRPr sz="1246">
              <a:solidFill>
                <a:schemeClr val="dk1"/>
              </a:solidFill>
            </a:endParaRPr>
          </a:p>
          <a:p>
            <a:pPr indent="0" lvl="0" marL="0" rtl="0" algn="l">
              <a:lnSpc>
                <a:spcPct val="95000"/>
              </a:lnSpc>
              <a:spcBef>
                <a:spcPts val="1200"/>
              </a:spcBef>
              <a:spcAft>
                <a:spcPts val="0"/>
              </a:spcAft>
              <a:buClr>
                <a:schemeClr val="dk1"/>
              </a:buClr>
              <a:buSzPts val="1018"/>
              <a:buFont typeface="Arial"/>
              <a:buNone/>
            </a:pPr>
            <a:r>
              <a:rPr b="1" lang="en" sz="1246">
                <a:solidFill>
                  <a:schemeClr val="dk1"/>
                </a:solidFill>
              </a:rPr>
              <a:t>Oriental Orthodox emphasis:</a:t>
            </a:r>
            <a:endParaRPr b="1" sz="1246">
              <a:solidFill>
                <a:schemeClr val="dk1"/>
              </a:solidFill>
            </a:endParaRPr>
          </a:p>
          <a:p>
            <a:pPr indent="-307701" lvl="0" marL="457200" rtl="0" algn="l">
              <a:lnSpc>
                <a:spcPct val="95000"/>
              </a:lnSpc>
              <a:spcBef>
                <a:spcPts val="1200"/>
              </a:spcBef>
              <a:spcAft>
                <a:spcPts val="0"/>
              </a:spcAft>
              <a:buClr>
                <a:schemeClr val="dk1"/>
              </a:buClr>
              <a:buSzPts val="1246"/>
              <a:buChar char="●"/>
            </a:pPr>
            <a:r>
              <a:rPr lang="en" sz="1246">
                <a:solidFill>
                  <a:schemeClr val="dk1"/>
                </a:solidFill>
              </a:rPr>
              <a:t>The Church is a </a:t>
            </a:r>
            <a:r>
              <a:rPr b="1" lang="en" sz="1246">
                <a:solidFill>
                  <a:schemeClr val="dk1"/>
                </a:solidFill>
              </a:rPr>
              <a:t>living reality</a:t>
            </a:r>
            <a:r>
              <a:rPr lang="en" sz="1246">
                <a:solidFill>
                  <a:schemeClr val="dk1"/>
                </a:solidFill>
              </a:rPr>
              <a:t>, not an idea.</a:t>
            </a:r>
            <a:br>
              <a:rPr lang="en" sz="1246">
                <a:solidFill>
                  <a:schemeClr val="dk1"/>
                </a:solidFill>
              </a:rPr>
            </a:br>
            <a:endParaRPr sz="1246">
              <a:solidFill>
                <a:schemeClr val="dk1"/>
              </a:solidFill>
            </a:endParaRPr>
          </a:p>
          <a:p>
            <a:pPr indent="-307701" lvl="0" marL="457200" rtl="0" algn="l">
              <a:lnSpc>
                <a:spcPct val="95000"/>
              </a:lnSpc>
              <a:spcBef>
                <a:spcPts val="0"/>
              </a:spcBef>
              <a:spcAft>
                <a:spcPts val="0"/>
              </a:spcAft>
              <a:buClr>
                <a:schemeClr val="dk1"/>
              </a:buClr>
              <a:buSzPts val="1246"/>
              <a:buChar char="●"/>
            </a:pPr>
            <a:r>
              <a:rPr lang="en" sz="1246">
                <a:solidFill>
                  <a:schemeClr val="dk1"/>
                </a:solidFill>
              </a:rPr>
              <a:t>Christ is the </a:t>
            </a:r>
            <a:r>
              <a:rPr b="1" lang="en" sz="1246">
                <a:solidFill>
                  <a:schemeClr val="dk1"/>
                </a:solidFill>
              </a:rPr>
              <a:t>Head</a:t>
            </a:r>
            <a:r>
              <a:rPr lang="en" sz="1246">
                <a:solidFill>
                  <a:schemeClr val="dk1"/>
                </a:solidFill>
              </a:rPr>
              <a:t>, the Church is </a:t>
            </a:r>
            <a:r>
              <a:rPr b="1" lang="en" sz="1246">
                <a:solidFill>
                  <a:schemeClr val="dk1"/>
                </a:solidFill>
              </a:rPr>
              <a:t>His Body</a:t>
            </a:r>
            <a:r>
              <a:rPr lang="en" sz="1246">
                <a:solidFill>
                  <a:schemeClr val="dk1"/>
                </a:solidFill>
              </a:rPr>
              <a:t>.</a:t>
            </a:r>
            <a:br>
              <a:rPr lang="en" sz="1246">
                <a:solidFill>
                  <a:schemeClr val="dk1"/>
                </a:solidFill>
              </a:rPr>
            </a:br>
            <a:endParaRPr sz="1246">
              <a:solidFill>
                <a:schemeClr val="dk1"/>
              </a:solidFill>
            </a:endParaRPr>
          </a:p>
          <a:p>
            <a:pPr indent="0" lvl="0" marL="0" rtl="0" algn="l">
              <a:lnSpc>
                <a:spcPct val="95000"/>
              </a:lnSpc>
              <a:spcBef>
                <a:spcPts val="1200"/>
              </a:spcBef>
              <a:spcAft>
                <a:spcPts val="0"/>
              </a:spcAft>
              <a:buClr>
                <a:schemeClr val="dk1"/>
              </a:buClr>
              <a:buSzPts val="1018"/>
              <a:buFont typeface="Arial"/>
              <a:buNone/>
            </a:pPr>
            <a:r>
              <a:rPr b="1" lang="en" sz="1246">
                <a:solidFill>
                  <a:schemeClr val="dk1"/>
                </a:solidFill>
              </a:rPr>
              <a:t>Bible verses (KJV):</a:t>
            </a:r>
            <a:endParaRPr b="1" sz="1246">
              <a:solidFill>
                <a:schemeClr val="dk1"/>
              </a:solidFill>
            </a:endParaRPr>
          </a:p>
          <a:p>
            <a:pPr indent="0" lvl="0" marL="0" rtl="0" algn="l">
              <a:lnSpc>
                <a:spcPct val="95000"/>
              </a:lnSpc>
              <a:spcBef>
                <a:spcPts val="1200"/>
              </a:spcBef>
              <a:spcAft>
                <a:spcPts val="0"/>
              </a:spcAft>
              <a:buClr>
                <a:schemeClr val="dk1"/>
              </a:buClr>
              <a:buSzPts val="1018"/>
              <a:buFont typeface="Arial"/>
              <a:buNone/>
            </a:pPr>
            <a:r>
              <a:rPr b="1" lang="en" sz="1246">
                <a:solidFill>
                  <a:schemeClr val="dk1"/>
                </a:solidFill>
              </a:rPr>
              <a:t>Ephesians 1:22–23</a:t>
            </a:r>
            <a:endParaRPr b="1" sz="1246">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en" sz="1246">
                <a:solidFill>
                  <a:schemeClr val="dk1"/>
                </a:solidFill>
              </a:rPr>
              <a:t>“And hath put all things under his feet, and gave him to be the head over all things to the church,</a:t>
            </a:r>
            <a:endParaRPr sz="1246">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en" sz="1246">
                <a:solidFill>
                  <a:schemeClr val="dk1"/>
                </a:solidFill>
              </a:rPr>
              <a:t>Which is his body, the fulness of him that filleth all in all.”</a:t>
            </a:r>
            <a:endParaRPr sz="1246">
              <a:solidFill>
                <a:schemeClr val="dk1"/>
              </a:solidFill>
            </a:endParaRPr>
          </a:p>
          <a:p>
            <a:pPr indent="0" lvl="0" marL="0" rtl="0" algn="l">
              <a:lnSpc>
                <a:spcPct val="95000"/>
              </a:lnSpc>
              <a:spcBef>
                <a:spcPts val="1200"/>
              </a:spcBef>
              <a:spcAft>
                <a:spcPts val="1200"/>
              </a:spcAft>
              <a:buSzPts val="1018"/>
              <a:buNone/>
            </a:pPr>
            <a:r>
              <a:t/>
            </a:r>
            <a:endParaRPr sz="1665"/>
          </a:p>
        </p:txBody>
      </p:sp>
      <p:pic>
        <p:nvPicPr>
          <p:cNvPr id="69" name="Google Shape;69;p15"/>
          <p:cNvPicPr preferRelativeResize="0"/>
          <p:nvPr/>
        </p:nvPicPr>
        <p:blipFill>
          <a:blip r:embed="rId3">
            <a:alphaModFix/>
          </a:blip>
          <a:stretch>
            <a:fillRect/>
          </a:stretch>
        </p:blipFill>
        <p:spPr>
          <a:xfrm>
            <a:off x="5840375" y="1238013"/>
            <a:ext cx="2797074" cy="27970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540250" y="356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Church as Body and Bride </a:t>
            </a:r>
            <a:endParaRPr/>
          </a:p>
        </p:txBody>
      </p:sp>
      <p:sp>
        <p:nvSpPr>
          <p:cNvPr id="75" name="Google Shape;75;p16"/>
          <p:cNvSpPr txBox="1"/>
          <p:nvPr>
            <p:ph idx="1" type="body"/>
          </p:nvPr>
        </p:nvSpPr>
        <p:spPr>
          <a:xfrm>
            <a:off x="311700" y="1017725"/>
            <a:ext cx="4596900" cy="3416400"/>
          </a:xfrm>
          <a:prstGeom prst="rect">
            <a:avLst/>
          </a:prstGeom>
          <a:ln>
            <a:noFill/>
          </a:ln>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chemeClr val="dk1"/>
                </a:solidFill>
              </a:rPr>
              <a:t>Paul uses "Theophanic" images to show that salvation is a communal reality, not a private one.</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The Body and the Head</a:t>
            </a:r>
            <a:r>
              <a:rPr lang="en" sz="1100">
                <a:solidFill>
                  <a:schemeClr val="dk1"/>
                </a:solidFill>
              </a:rPr>
              <a:t> (</a:t>
            </a:r>
            <a:r>
              <a:rPr i="1" lang="en" sz="1100">
                <a:solidFill>
                  <a:schemeClr val="dk1"/>
                </a:solidFill>
              </a:rPr>
              <a:t>Eph 1:22–23</a:t>
            </a:r>
            <a:r>
              <a:rPr lang="en" sz="1100">
                <a:solidFill>
                  <a:schemeClr val="dk1"/>
                </a:solidFill>
              </a:rPr>
              <a:t>)</a:t>
            </a: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Theological Point:</a:t>
            </a:r>
            <a:r>
              <a:rPr lang="en" sz="1100">
                <a:solidFill>
                  <a:schemeClr val="dk1"/>
                </a:solidFill>
              </a:rPr>
              <a:t> The Church is the "Fullness" of Christ. As a body cannot live without a head, and a head is not complete without its members, Christ chooses to be "completed" by us.</a:t>
            </a:r>
            <a:br>
              <a:rPr lang="en" sz="1100">
                <a:solidFill>
                  <a:schemeClr val="dk1"/>
                </a:solidFill>
              </a:rPr>
            </a:b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Bride and the Bridegroom</a:t>
            </a:r>
            <a:r>
              <a:rPr lang="en" sz="1100">
                <a:solidFill>
                  <a:schemeClr val="dk1"/>
                </a:solidFill>
              </a:rPr>
              <a:t> (</a:t>
            </a:r>
            <a:r>
              <a:rPr i="1" lang="en" sz="1100">
                <a:solidFill>
                  <a:schemeClr val="dk1"/>
                </a:solidFill>
              </a:rPr>
              <a:t>Eph 5:23–32</a:t>
            </a:r>
            <a:r>
              <a:rPr lang="en" sz="1100">
                <a:solidFill>
                  <a:schemeClr val="dk1"/>
                </a:solidFill>
              </a:rPr>
              <a:t>)</a:t>
            </a: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Theological Point:</a:t>
            </a:r>
            <a:r>
              <a:rPr lang="en" sz="1100">
                <a:solidFill>
                  <a:schemeClr val="dk1"/>
                </a:solidFill>
              </a:rPr>
              <a:t> This is the "Great Mystery." It reveals that the goal of human life is a </a:t>
            </a:r>
            <a:r>
              <a:rPr b="1" lang="en" sz="1100">
                <a:solidFill>
                  <a:schemeClr val="dk1"/>
                </a:solidFill>
              </a:rPr>
              <a:t>Sacramental Union</a:t>
            </a:r>
            <a:r>
              <a:rPr lang="en" sz="1100">
                <a:solidFill>
                  <a:schemeClr val="dk1"/>
                </a:solidFill>
              </a:rPr>
              <a:t>. Just as a husband and wife become "one flesh," the Church becomes "one spirit" with Christ.</a:t>
            </a:r>
            <a:endParaRPr sz="1100">
              <a:solidFill>
                <a:schemeClr val="dk1"/>
              </a:solidFill>
            </a:endParaRPr>
          </a:p>
          <a:p>
            <a:pPr indent="0" lvl="0" marL="0" rtl="0" algn="l">
              <a:spcBef>
                <a:spcPts val="1200"/>
              </a:spcBef>
              <a:spcAft>
                <a:spcPts val="1200"/>
              </a:spcAft>
              <a:buNone/>
            </a:pPr>
            <a:r>
              <a:t/>
            </a:r>
            <a:endParaRPr sz="1500">
              <a:solidFill>
                <a:schemeClr val="dk1"/>
              </a:solidFill>
            </a:endParaRPr>
          </a:p>
        </p:txBody>
      </p:sp>
      <p:sp>
        <p:nvSpPr>
          <p:cNvPr id="76" name="Google Shape;76;p16"/>
          <p:cNvSpPr txBox="1"/>
          <p:nvPr/>
        </p:nvSpPr>
        <p:spPr>
          <a:xfrm>
            <a:off x="5324000" y="1017725"/>
            <a:ext cx="3000000" cy="3070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Bible verses (KJV):</a:t>
            </a:r>
            <a:endParaRPr b="1" sz="1100">
              <a:solidFill>
                <a:schemeClr val="dk1"/>
              </a:solidFill>
            </a:endParaRPr>
          </a:p>
          <a:p>
            <a:pPr indent="0" lvl="0" marL="0" rtl="0" algn="l">
              <a:lnSpc>
                <a:spcPct val="115000"/>
              </a:lnSpc>
              <a:spcBef>
                <a:spcPts val="1200"/>
              </a:spcBef>
              <a:spcAft>
                <a:spcPts val="0"/>
              </a:spcAft>
              <a:buNone/>
            </a:pPr>
            <a:r>
              <a:rPr b="1" lang="en" sz="1100">
                <a:solidFill>
                  <a:schemeClr val="dk1"/>
                </a:solidFill>
              </a:rPr>
              <a:t>Ephesians 1:22–23</a:t>
            </a:r>
            <a:endParaRPr b="1" sz="1100">
              <a:solidFill>
                <a:schemeClr val="dk1"/>
              </a:solidFill>
            </a:endParaRPr>
          </a:p>
          <a:p>
            <a:pPr indent="0" lvl="0" marL="0" rtl="0" algn="l">
              <a:lnSpc>
                <a:spcPct val="115000"/>
              </a:lnSpc>
              <a:spcBef>
                <a:spcPts val="1200"/>
              </a:spcBef>
              <a:spcAft>
                <a:spcPts val="0"/>
              </a:spcAft>
              <a:buNone/>
            </a:pPr>
            <a:r>
              <a:rPr lang="en" sz="1100">
                <a:solidFill>
                  <a:schemeClr val="dk1"/>
                </a:solidFill>
              </a:rPr>
              <a:t>“And hath put all things under his feet, and gave him to be the head over all things to the church,</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Which is his body, the </a:t>
            </a:r>
            <a:r>
              <a:rPr lang="en" sz="1100">
                <a:solidFill>
                  <a:schemeClr val="dk1"/>
                </a:solidFill>
              </a:rPr>
              <a:t>fullness</a:t>
            </a:r>
            <a:r>
              <a:rPr lang="en" sz="1100">
                <a:solidFill>
                  <a:schemeClr val="dk1"/>
                </a:solidFill>
              </a:rPr>
              <a:t> of him that filleth all in all.”</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Ephesians 5:23</a:t>
            </a:r>
            <a:endParaRPr b="1" sz="1100">
              <a:solidFill>
                <a:schemeClr val="dk1"/>
              </a:solidFill>
            </a:endParaRPr>
          </a:p>
          <a:p>
            <a:pPr indent="0" lvl="0" marL="0" rtl="0" algn="l">
              <a:lnSpc>
                <a:spcPct val="115000"/>
              </a:lnSpc>
              <a:spcBef>
                <a:spcPts val="1200"/>
              </a:spcBef>
              <a:spcAft>
                <a:spcPts val="1200"/>
              </a:spcAft>
              <a:buNone/>
            </a:pPr>
            <a:r>
              <a:rPr lang="en" sz="1100">
                <a:solidFill>
                  <a:schemeClr val="dk1"/>
                </a:solidFill>
              </a:rPr>
              <a:t>“For the husband is the head of the wife, even as Christ is the head of the church: and he is the saviour of the body.”</a:t>
            </a:r>
            <a:endParaRPr sz="1100">
              <a:solidFill>
                <a:schemeClr val="dk1"/>
              </a:solidFill>
            </a:endParaRPr>
          </a:p>
        </p:txBody>
      </p:sp>
      <p:sp>
        <p:nvSpPr>
          <p:cNvPr id="77" name="Google Shape;77;p16"/>
          <p:cNvSpPr txBox="1"/>
          <p:nvPr/>
        </p:nvSpPr>
        <p:spPr>
          <a:xfrm>
            <a:off x="311700" y="3962075"/>
            <a:ext cx="8255400" cy="93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 The Definition</a:t>
            </a:r>
            <a:endParaRPr b="1" sz="1300">
              <a:solidFill>
                <a:schemeClr val="dk1"/>
              </a:solidFill>
            </a:endParaRPr>
          </a:p>
          <a:p>
            <a:pPr indent="0" lvl="0" marL="0" rtl="0" algn="l">
              <a:lnSpc>
                <a:spcPct val="115000"/>
              </a:lnSpc>
              <a:spcBef>
                <a:spcPts val="1200"/>
              </a:spcBef>
              <a:spcAft>
                <a:spcPts val="1200"/>
              </a:spcAft>
              <a:buNone/>
            </a:pPr>
            <a:r>
              <a:rPr lang="en" sz="1100">
                <a:solidFill>
                  <a:schemeClr val="dk1"/>
                </a:solidFill>
              </a:rPr>
              <a:t>A </a:t>
            </a:r>
            <a:r>
              <a:rPr b="1" lang="en" sz="1100">
                <a:solidFill>
                  <a:schemeClr val="dk1"/>
                </a:solidFill>
              </a:rPr>
              <a:t>theophany</a:t>
            </a:r>
            <a:r>
              <a:rPr lang="en" sz="1100">
                <a:solidFill>
                  <a:schemeClr val="dk1"/>
                </a:solidFill>
              </a:rPr>
              <a:t> is a "God-showing." When we say an image is "theophanic," we mean it isn't just a metaphor or a pretty picture; it is a description of how God’s </a:t>
            </a:r>
            <a:r>
              <a:rPr b="1" lang="en" sz="1100">
                <a:solidFill>
                  <a:schemeClr val="dk1"/>
                </a:solidFill>
              </a:rPr>
              <a:t>Uncreated Light</a:t>
            </a:r>
            <a:r>
              <a:rPr lang="en" sz="1100">
                <a:solidFill>
                  <a:schemeClr val="dk1"/>
                </a:solidFill>
              </a:rPr>
              <a:t> and presence break into our world.</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534900" y="452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Body and the Head: Organic Unity</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600">
                <a:solidFill>
                  <a:schemeClr val="dk1"/>
                </a:solidFill>
              </a:rPr>
              <a:t>While we often think of "the Body" as a metaphor for teamwork, the biblical context is more </a:t>
            </a:r>
            <a:r>
              <a:rPr b="1" lang="en" sz="1600">
                <a:solidFill>
                  <a:schemeClr val="dk1"/>
                </a:solidFill>
              </a:rPr>
              <a:t>organic</a:t>
            </a:r>
            <a:r>
              <a:rPr lang="en" sz="1600">
                <a:solidFill>
                  <a:schemeClr val="dk1"/>
                </a:solidFill>
              </a:rPr>
              <a:t> and </a:t>
            </a:r>
            <a:r>
              <a:rPr b="1" lang="en" sz="1600">
                <a:solidFill>
                  <a:schemeClr val="dk1"/>
                </a:solidFill>
              </a:rPr>
              <a:t>vital</a:t>
            </a:r>
            <a:r>
              <a:rPr lang="en" sz="1600">
                <a:solidFill>
                  <a:schemeClr val="dk1"/>
                </a:solidFill>
              </a:rPr>
              <a:t>.</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Life-Source:</a:t>
            </a:r>
            <a:r>
              <a:rPr lang="en" sz="1600">
                <a:solidFill>
                  <a:schemeClr val="dk1"/>
                </a:solidFill>
              </a:rPr>
              <a:t> A body without a head is a corpse. By calling Christ the "Head," Paul is saying that the Church’s very life, direction, and "nervous system" come from Him.</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Interdependence:</a:t>
            </a:r>
            <a:r>
              <a:rPr lang="en" sz="1600">
                <a:solidFill>
                  <a:schemeClr val="dk1"/>
                </a:solidFill>
              </a:rPr>
              <a:t> In a body, a toe cannot claim to be independent of the lungs. This shatters the idea of "private" Christianity. If one part of the body suffers, the whole system feels the stress.</a:t>
            </a:r>
            <a:endParaRPr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The "Fullness":</a:t>
            </a:r>
            <a:r>
              <a:rPr lang="en" sz="1600">
                <a:solidFill>
                  <a:schemeClr val="dk1"/>
                </a:solidFill>
              </a:rPr>
              <a:t> Ephesians 1:23 calls the Church "the fullness of him who fills all in all." This suggests that Christ chooses to manifest His presence on Earth </a:t>
            </a:r>
            <a:r>
              <a:rPr i="1" lang="en" sz="1600">
                <a:solidFill>
                  <a:schemeClr val="dk1"/>
                </a:solidFill>
              </a:rPr>
              <a:t>through</a:t>
            </a:r>
            <a:r>
              <a:rPr lang="en" sz="1600">
                <a:solidFill>
                  <a:schemeClr val="dk1"/>
                </a:solidFill>
              </a:rPr>
              <a:t> this collective group, rather than appearing as a solo actor.</a:t>
            </a:r>
            <a:endParaRPr sz="16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4053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Bride and the Bridegroom: Covenantal Intimacy</a:t>
            </a:r>
            <a:endParaRPr/>
          </a:p>
        </p:txBody>
      </p:sp>
      <p:sp>
        <p:nvSpPr>
          <p:cNvPr id="89" name="Google Shape;89;p18"/>
          <p:cNvSpPr txBox="1"/>
          <p:nvPr>
            <p:ph idx="1" type="body"/>
          </p:nvPr>
        </p:nvSpPr>
        <p:spPr>
          <a:xfrm>
            <a:off x="304650" y="1119500"/>
            <a:ext cx="50139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300">
                <a:solidFill>
                  <a:schemeClr val="dk1"/>
                </a:solidFill>
              </a:rPr>
              <a:t>If the "Body" emphasizes </a:t>
            </a:r>
            <a:r>
              <a:rPr b="1" lang="en" sz="1300">
                <a:solidFill>
                  <a:schemeClr val="dk1"/>
                </a:solidFill>
              </a:rPr>
              <a:t>unity and function</a:t>
            </a:r>
            <a:r>
              <a:rPr lang="en" sz="1300">
                <a:solidFill>
                  <a:schemeClr val="dk1"/>
                </a:solidFill>
              </a:rPr>
              <a:t>, the "Bride" emphasizes </a:t>
            </a:r>
            <a:r>
              <a:rPr b="1" lang="en" sz="1300">
                <a:solidFill>
                  <a:schemeClr val="dk1"/>
                </a:solidFill>
              </a:rPr>
              <a:t>love and identity</a:t>
            </a:r>
            <a:r>
              <a:rPr lang="en" sz="1300">
                <a:solidFill>
                  <a:schemeClr val="dk1"/>
                </a:solidFill>
              </a:rPr>
              <a:t>.</a:t>
            </a:r>
            <a:endParaRPr sz="1300">
              <a:solidFill>
                <a:schemeClr val="dk1"/>
              </a:solidFill>
            </a:endParaRPr>
          </a:p>
          <a:p>
            <a:pPr indent="-311150" lvl="0" marL="457200" rtl="0" algn="l">
              <a:spcBef>
                <a:spcPts val="1200"/>
              </a:spcBef>
              <a:spcAft>
                <a:spcPts val="0"/>
              </a:spcAft>
              <a:buClr>
                <a:schemeClr val="dk1"/>
              </a:buClr>
              <a:buSzPts val="1300"/>
              <a:buChar char="●"/>
            </a:pPr>
            <a:r>
              <a:rPr b="1" lang="en" sz="1300">
                <a:solidFill>
                  <a:schemeClr val="dk1"/>
                </a:solidFill>
              </a:rPr>
              <a:t>Sacrificial Devotion:</a:t>
            </a:r>
            <a:r>
              <a:rPr lang="en" sz="1300">
                <a:solidFill>
                  <a:schemeClr val="dk1"/>
                </a:solidFill>
              </a:rPr>
              <a:t> Paul points out that Christ "gave himself up" for the Bride (Eph 5:25). This moves salvation away from a legal transaction and into the realm of a marriage covenant.</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The Process of Sanctification:</a:t>
            </a:r>
            <a:r>
              <a:rPr lang="en" sz="1300">
                <a:solidFill>
                  <a:schemeClr val="dk1"/>
                </a:solidFill>
              </a:rPr>
              <a:t> The text describes Christ "washing" the Bride with the word to present her "without stain or wrinkle." This shows that the Church’s holiness isn't a DIY project; it is the result of Christ’s ongoing care for His people as a whole.</a:t>
            </a: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The "Great Mystery":</a:t>
            </a:r>
            <a:r>
              <a:rPr lang="en" sz="1300">
                <a:solidFill>
                  <a:schemeClr val="dk1"/>
                </a:solidFill>
              </a:rPr>
              <a:t> Paul explicitly says that human marriage is a "signpost" pointing toward this deeper reality. The ultimate goal of history is the union of the Creator with His creation.</a:t>
            </a:r>
            <a:endParaRPr sz="1300">
              <a:solidFill>
                <a:schemeClr val="dk1"/>
              </a:solidFill>
            </a:endParaRPr>
          </a:p>
          <a:p>
            <a:pPr indent="0" lvl="0" marL="0" rtl="0" algn="l">
              <a:spcBef>
                <a:spcPts val="1200"/>
              </a:spcBef>
              <a:spcAft>
                <a:spcPts val="0"/>
              </a:spcAft>
              <a:buClr>
                <a:schemeClr val="dk1"/>
              </a:buClr>
              <a:buSzPts val="1100"/>
              <a:buFont typeface="Arial"/>
              <a:buNone/>
            </a:pPr>
            <a:r>
              <a:t/>
            </a:r>
            <a:endParaRPr sz="1300">
              <a:solidFill>
                <a:schemeClr val="dk1"/>
              </a:solidFill>
            </a:endParaRPr>
          </a:p>
          <a:p>
            <a:pPr indent="0" lvl="0" marL="0" rtl="0" algn="l">
              <a:spcBef>
                <a:spcPts val="0"/>
              </a:spcBef>
              <a:spcAft>
                <a:spcPts val="1200"/>
              </a:spcAft>
              <a:buNone/>
            </a:pPr>
            <a:r>
              <a:t/>
            </a:r>
            <a:endParaRPr/>
          </a:p>
        </p:txBody>
      </p:sp>
      <p:sp>
        <p:nvSpPr>
          <p:cNvPr id="90" name="Google Shape;90;p18"/>
          <p:cNvSpPr txBox="1"/>
          <p:nvPr/>
        </p:nvSpPr>
        <p:spPr>
          <a:xfrm>
            <a:off x="5566875" y="1928400"/>
            <a:ext cx="3000000" cy="12867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In the </a:t>
            </a:r>
            <a:r>
              <a:rPr b="1" lang="en" sz="1100">
                <a:solidFill>
                  <a:schemeClr val="dk1"/>
                </a:solidFill>
              </a:rPr>
              <a:t>King James Version (KJV)</a:t>
            </a:r>
            <a:r>
              <a:rPr lang="en" sz="1100">
                <a:solidFill>
                  <a:schemeClr val="dk1"/>
                </a:solidFill>
              </a:rPr>
              <a:t>, Ephesians 5:25 reads:</a:t>
            </a:r>
            <a:endParaRPr sz="1100">
              <a:solidFill>
                <a:schemeClr val="dk1"/>
              </a:solidFill>
            </a:endParaRPr>
          </a:p>
          <a:p>
            <a:pPr indent="0" lvl="0" marL="381000" marR="381000" rtl="0" algn="l">
              <a:lnSpc>
                <a:spcPct val="115000"/>
              </a:lnSpc>
              <a:spcBef>
                <a:spcPts val="1200"/>
              </a:spcBef>
              <a:spcAft>
                <a:spcPts val="1200"/>
              </a:spcAft>
              <a:buNone/>
            </a:pPr>
            <a:r>
              <a:rPr lang="en" sz="1100">
                <a:solidFill>
                  <a:schemeClr val="dk1"/>
                </a:solidFill>
              </a:rPr>
              <a:t>"Husbands, love your wives, even as Christ also loved the church, and gave himself for it;"</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428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Core Message</a:t>
            </a:r>
            <a:endParaRPr/>
          </a:p>
        </p:txBody>
      </p:sp>
      <p:sp>
        <p:nvSpPr>
          <p:cNvPr id="96" name="Google Shape;96;p19"/>
          <p:cNvSpPr txBox="1"/>
          <p:nvPr>
            <p:ph idx="1" type="body"/>
          </p:nvPr>
        </p:nvSpPr>
        <p:spPr>
          <a:xfrm>
            <a:off x="311700" y="1152475"/>
            <a:ext cx="43773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solidFill>
                  <a:schemeClr val="dk1"/>
                </a:solidFill>
              </a:rPr>
              <a:t>God’s plan is to </a:t>
            </a:r>
            <a:r>
              <a:rPr b="1" lang="en" sz="1100">
                <a:solidFill>
                  <a:schemeClr val="dk1"/>
                </a:solidFill>
              </a:rPr>
              <a:t>gather all things into Christ</a:t>
            </a:r>
            <a:r>
              <a:rPr lang="en"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Church is the </a:t>
            </a:r>
            <a:r>
              <a:rPr b="1" lang="en" sz="1100">
                <a:solidFill>
                  <a:schemeClr val="dk1"/>
                </a:solidFill>
              </a:rPr>
              <a:t>visible sign</a:t>
            </a:r>
            <a:r>
              <a:rPr lang="en" sz="1100">
                <a:solidFill>
                  <a:schemeClr val="dk1"/>
                </a:solidFill>
              </a:rPr>
              <a:t> of that gathering.</a:t>
            </a:r>
            <a:endParaRPr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Salvation is not only forgiveness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Salvation is </a:t>
            </a:r>
            <a:r>
              <a:rPr b="1" lang="en" sz="1100">
                <a:solidFill>
                  <a:schemeClr val="dk1"/>
                </a:solidFill>
              </a:rPr>
              <a:t>new creation</a:t>
            </a:r>
            <a:r>
              <a:rPr lang="en" sz="1100">
                <a:solidFill>
                  <a:schemeClr val="dk1"/>
                </a:solidFill>
              </a:rPr>
              <a:t>, </a:t>
            </a:r>
            <a:r>
              <a:rPr b="1" lang="en" sz="1100">
                <a:solidFill>
                  <a:schemeClr val="dk1"/>
                </a:solidFill>
              </a:rPr>
              <a:t>union</a:t>
            </a:r>
            <a:r>
              <a:rPr lang="en" sz="1100">
                <a:solidFill>
                  <a:schemeClr val="dk1"/>
                </a:solidFill>
              </a:rPr>
              <a:t>, and a </a:t>
            </a:r>
            <a:r>
              <a:rPr b="1" lang="en" sz="1100">
                <a:solidFill>
                  <a:schemeClr val="dk1"/>
                </a:solidFill>
              </a:rPr>
              <a:t>new humanity in Christ.</a:t>
            </a:r>
            <a:br>
              <a:rPr b="1" lang="en" sz="1100">
                <a:solidFill>
                  <a:schemeClr val="dk1"/>
                </a:solidFill>
              </a:rPr>
            </a:br>
            <a:endParaRPr b="1" sz="1100">
              <a:solidFill>
                <a:schemeClr val="dk1"/>
              </a:solidFill>
            </a:endParaRPr>
          </a:p>
          <a:p>
            <a:pPr indent="0" lvl="0" marL="0" rtl="0" algn="l">
              <a:spcBef>
                <a:spcPts val="1200"/>
              </a:spcBef>
              <a:spcAft>
                <a:spcPts val="1200"/>
              </a:spcAft>
              <a:buNone/>
            </a:pPr>
            <a:r>
              <a:t/>
            </a:r>
            <a:endParaRPr/>
          </a:p>
        </p:txBody>
      </p:sp>
      <p:sp>
        <p:nvSpPr>
          <p:cNvPr id="97" name="Google Shape;97;p19"/>
          <p:cNvSpPr txBox="1"/>
          <p:nvPr/>
        </p:nvSpPr>
        <p:spPr>
          <a:xfrm>
            <a:off x="428700" y="3161425"/>
            <a:ext cx="4260300" cy="10920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Bible verses (KJV):</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Ephesians 1:10</a:t>
            </a:r>
            <a:r>
              <a:rPr lang="en" sz="1100">
                <a:solidFill>
                  <a:schemeClr val="dk1"/>
                </a:solidFill>
              </a:rPr>
              <a:t> — “That in the dispensation of the fulness of times he might gather together in one all things in Christ, both which are in heaven, and which are on earth; even in him:”</a:t>
            </a:r>
            <a:endParaRPr sz="1100">
              <a:solidFill>
                <a:schemeClr val="dk1"/>
              </a:solidFill>
            </a:endParaRPr>
          </a:p>
        </p:txBody>
      </p:sp>
      <p:pic>
        <p:nvPicPr>
          <p:cNvPr id="98" name="Google Shape;98;p19"/>
          <p:cNvPicPr preferRelativeResize="0"/>
          <p:nvPr/>
        </p:nvPicPr>
        <p:blipFill>
          <a:blip r:embed="rId3">
            <a:alphaModFix/>
          </a:blip>
          <a:stretch>
            <a:fillRect/>
          </a:stretch>
        </p:blipFill>
        <p:spPr>
          <a:xfrm>
            <a:off x="5179800" y="1152475"/>
            <a:ext cx="3021000" cy="3021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981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Grace In an Orthodox Understanding</a:t>
            </a:r>
            <a:endParaRPr/>
          </a:p>
        </p:txBody>
      </p:sp>
      <p:sp>
        <p:nvSpPr>
          <p:cNvPr id="104" name="Google Shape;104;p20"/>
          <p:cNvSpPr txBox="1"/>
          <p:nvPr>
            <p:ph idx="1" type="body"/>
          </p:nvPr>
        </p:nvSpPr>
        <p:spPr>
          <a:xfrm>
            <a:off x="258925" y="1137950"/>
            <a:ext cx="45894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1200"/>
              </a:spcBef>
              <a:spcAft>
                <a:spcPts val="0"/>
              </a:spcAft>
              <a:buClr>
                <a:schemeClr val="dk1"/>
              </a:buClr>
              <a:buSzPct val="68750"/>
              <a:buFont typeface="Arial"/>
              <a:buNone/>
            </a:pPr>
            <a:r>
              <a:rPr lang="en" sz="1600">
                <a:solidFill>
                  <a:schemeClr val="dk1"/>
                </a:solidFill>
              </a:rPr>
              <a:t>Ephesians teaches grace clearly:</a:t>
            </a:r>
            <a:endParaRPr sz="1600">
              <a:solidFill>
                <a:schemeClr val="dk1"/>
              </a:solidFill>
            </a:endParaRPr>
          </a:p>
          <a:p>
            <a:pPr indent="-322580" lvl="0" marL="457200" rtl="0" algn="l">
              <a:spcBef>
                <a:spcPts val="1200"/>
              </a:spcBef>
              <a:spcAft>
                <a:spcPts val="0"/>
              </a:spcAft>
              <a:buClr>
                <a:schemeClr val="dk1"/>
              </a:buClr>
              <a:buSzPct val="100000"/>
              <a:buChar char="●"/>
            </a:pPr>
            <a:r>
              <a:rPr lang="en" sz="1600">
                <a:solidFill>
                  <a:schemeClr val="dk1"/>
                </a:solidFill>
              </a:rPr>
              <a:t>“By grace you have been saved…” (</a:t>
            </a:r>
            <a:r>
              <a:rPr b="1" lang="en" sz="1600">
                <a:solidFill>
                  <a:schemeClr val="dk1"/>
                </a:solidFill>
              </a:rPr>
              <a:t>Eph 2:8</a:t>
            </a:r>
            <a:r>
              <a:rPr lang="en" sz="1600">
                <a:solidFill>
                  <a:schemeClr val="dk1"/>
                </a:solidFill>
              </a:rPr>
              <a:t>)</a:t>
            </a:r>
            <a:br>
              <a:rPr lang="en" sz="1600">
                <a:solidFill>
                  <a:schemeClr val="dk1"/>
                </a:solidFill>
              </a:rPr>
            </a:br>
            <a:endParaRPr sz="1600">
              <a:solidFill>
                <a:schemeClr val="dk1"/>
              </a:solidFill>
            </a:endParaRPr>
          </a:p>
          <a:p>
            <a:pPr indent="0" lvl="0" marL="0" rtl="0" algn="l">
              <a:spcBef>
                <a:spcPts val="1200"/>
              </a:spcBef>
              <a:spcAft>
                <a:spcPts val="0"/>
              </a:spcAft>
              <a:buClr>
                <a:schemeClr val="dk1"/>
              </a:buClr>
              <a:buSzPct val="68750"/>
              <a:buFont typeface="Arial"/>
              <a:buNone/>
            </a:pPr>
            <a:r>
              <a:rPr b="1" lang="en" sz="1600">
                <a:solidFill>
                  <a:schemeClr val="dk1"/>
                </a:solidFill>
              </a:rPr>
              <a:t>Oriental Orthodox clarity:</a:t>
            </a:r>
            <a:endParaRPr b="1" sz="1600">
              <a:solidFill>
                <a:schemeClr val="dk1"/>
              </a:solidFill>
            </a:endParaRPr>
          </a:p>
          <a:p>
            <a:pPr indent="-322580" lvl="0" marL="457200" rtl="0" algn="l">
              <a:spcBef>
                <a:spcPts val="1200"/>
              </a:spcBef>
              <a:spcAft>
                <a:spcPts val="0"/>
              </a:spcAft>
              <a:buClr>
                <a:schemeClr val="dk1"/>
              </a:buClr>
              <a:buSzPct val="100000"/>
              <a:buChar char="●"/>
            </a:pPr>
            <a:r>
              <a:rPr lang="en" sz="1600">
                <a:solidFill>
                  <a:schemeClr val="dk1"/>
                </a:solidFill>
              </a:rPr>
              <a:t>Grace is </a:t>
            </a:r>
            <a:r>
              <a:rPr b="1" lang="en" sz="1600">
                <a:solidFill>
                  <a:schemeClr val="dk1"/>
                </a:solidFill>
              </a:rPr>
              <a:t>God’s life and power</a:t>
            </a:r>
            <a:r>
              <a:rPr lang="en" sz="1600">
                <a:solidFill>
                  <a:schemeClr val="dk1"/>
                </a:solidFill>
              </a:rPr>
              <a:t> given to heal and transform.</a:t>
            </a:r>
            <a:br>
              <a:rPr lang="en" sz="1600">
                <a:solidFill>
                  <a:schemeClr val="dk1"/>
                </a:solidFill>
              </a:rPr>
            </a:br>
            <a:endParaRPr sz="1600">
              <a:solidFill>
                <a:schemeClr val="dk1"/>
              </a:solidFill>
            </a:endParaRPr>
          </a:p>
          <a:p>
            <a:pPr indent="-293211" lvl="0" marL="457200" rtl="0" algn="l">
              <a:spcBef>
                <a:spcPts val="0"/>
              </a:spcBef>
              <a:spcAft>
                <a:spcPts val="0"/>
              </a:spcAft>
              <a:buClr>
                <a:schemeClr val="dk1"/>
              </a:buClr>
              <a:buSzPct val="68750"/>
              <a:buChar char="●"/>
            </a:pPr>
            <a:r>
              <a:rPr lang="en" sz="1600">
                <a:solidFill>
                  <a:schemeClr val="dk1"/>
                </a:solidFill>
              </a:rPr>
              <a:t>Grace does </a:t>
            </a:r>
            <a:r>
              <a:rPr b="1" lang="en" sz="1600">
                <a:solidFill>
                  <a:schemeClr val="dk1"/>
                </a:solidFill>
              </a:rPr>
              <a:t>not cancel obedience</a:t>
            </a:r>
            <a:r>
              <a:rPr lang="en" sz="1600">
                <a:solidFill>
                  <a:schemeClr val="dk1"/>
                </a:solidFill>
              </a:rPr>
              <a:t>; it </a:t>
            </a:r>
            <a:r>
              <a:rPr b="1" lang="en" sz="1600">
                <a:solidFill>
                  <a:schemeClr val="dk1"/>
                </a:solidFill>
              </a:rPr>
              <a:t>creates and empowers</a:t>
            </a:r>
            <a:r>
              <a:rPr lang="en" sz="1600">
                <a:solidFill>
                  <a:schemeClr val="dk1"/>
                </a:solidFill>
              </a:rPr>
              <a:t> it.</a:t>
            </a:r>
            <a:br>
              <a:rPr lang="en" sz="1100">
                <a:solidFill>
                  <a:schemeClr val="dk1"/>
                </a:solidFill>
              </a:rPr>
            </a:br>
            <a:endParaRPr sz="1100">
              <a:solidFill>
                <a:schemeClr val="dk1"/>
              </a:solidFill>
            </a:endParaRPr>
          </a:p>
          <a:p>
            <a:pPr indent="0" lvl="0" marL="0" rtl="0" algn="l">
              <a:spcBef>
                <a:spcPts val="1200"/>
              </a:spcBef>
              <a:spcAft>
                <a:spcPts val="1200"/>
              </a:spcAft>
              <a:buNone/>
            </a:pPr>
            <a:r>
              <a:t/>
            </a:r>
            <a:endParaRPr/>
          </a:p>
        </p:txBody>
      </p:sp>
      <p:sp>
        <p:nvSpPr>
          <p:cNvPr id="105" name="Google Shape;105;p20"/>
          <p:cNvSpPr txBox="1"/>
          <p:nvPr/>
        </p:nvSpPr>
        <p:spPr>
          <a:xfrm>
            <a:off x="5239625" y="2123100"/>
            <a:ext cx="3000000" cy="897300"/>
          </a:xfrm>
          <a:prstGeom prst="rect">
            <a:avLst/>
          </a:prstGeom>
          <a:noFill/>
          <a:ln cap="flat" cmpd="sng" w="19050">
            <a:solidFill>
              <a:srgbClr val="000000"/>
            </a:solidFill>
            <a:prstDash val="dot"/>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Ephesians 2:8–10</a:t>
            </a:r>
            <a:r>
              <a:rPr lang="en" sz="1100">
                <a:solidFill>
                  <a:schemeClr val="dk1"/>
                </a:solidFill>
              </a:rPr>
              <a:t> (grace → created for good works)</a:t>
            </a:r>
            <a:endParaRPr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Ephesians 1:4</a:t>
            </a:r>
            <a:r>
              <a:rPr lang="en" sz="1100">
                <a:solidFill>
                  <a:schemeClr val="dk1"/>
                </a:solidFill>
              </a:rPr>
              <a:t> (called to be holy)</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419700" y="437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Structure Of Ephesians </a:t>
            </a:r>
            <a:endParaRPr/>
          </a:p>
        </p:txBody>
      </p:sp>
      <p:sp>
        <p:nvSpPr>
          <p:cNvPr id="111" name="Google Shape;111;p21"/>
          <p:cNvSpPr txBox="1"/>
          <p:nvPr>
            <p:ph idx="1" type="body"/>
          </p:nvPr>
        </p:nvSpPr>
        <p:spPr>
          <a:xfrm>
            <a:off x="304875" y="1428900"/>
            <a:ext cx="6301200" cy="2285700"/>
          </a:xfrm>
          <a:prstGeom prst="rect">
            <a:avLst/>
          </a:prstGeom>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rPr b="1" lang="en" sz="1816">
                <a:solidFill>
                  <a:schemeClr val="dk1"/>
                </a:solidFill>
              </a:rPr>
              <a:t>Ch. 1–3:</a:t>
            </a:r>
            <a:r>
              <a:rPr lang="en" sz="1816">
                <a:solidFill>
                  <a:schemeClr val="dk1"/>
                </a:solidFill>
              </a:rPr>
              <a:t> Identity (What God has done in Christ)</a:t>
            </a:r>
            <a:endParaRPr sz="1816">
              <a:solidFill>
                <a:schemeClr val="dk1"/>
              </a:solidFill>
            </a:endParaRPr>
          </a:p>
          <a:p>
            <a:pPr indent="0" lvl="0" marL="0" rtl="0" algn="l">
              <a:spcBef>
                <a:spcPts val="1200"/>
              </a:spcBef>
              <a:spcAft>
                <a:spcPts val="0"/>
              </a:spcAft>
              <a:buClr>
                <a:schemeClr val="dk1"/>
              </a:buClr>
              <a:buSzPct val="60565"/>
              <a:buFont typeface="Arial"/>
              <a:buNone/>
            </a:pPr>
            <a:r>
              <a:t/>
            </a:r>
            <a:endParaRPr sz="1816">
              <a:solidFill>
                <a:schemeClr val="dk1"/>
              </a:solidFill>
            </a:endParaRPr>
          </a:p>
          <a:p>
            <a:pPr indent="0" lvl="0" marL="0" rtl="0" algn="l">
              <a:spcBef>
                <a:spcPts val="1200"/>
              </a:spcBef>
              <a:spcAft>
                <a:spcPts val="0"/>
              </a:spcAft>
              <a:buNone/>
            </a:pPr>
            <a:r>
              <a:rPr b="1" lang="en" sz="1816">
                <a:solidFill>
                  <a:schemeClr val="dk1"/>
                </a:solidFill>
              </a:rPr>
              <a:t>Ch. 4–5:</a:t>
            </a:r>
            <a:r>
              <a:rPr lang="en" sz="1816">
                <a:solidFill>
                  <a:schemeClr val="dk1"/>
                </a:solidFill>
              </a:rPr>
              <a:t> Life (How the Church must live)</a:t>
            </a:r>
            <a:endParaRPr sz="1816">
              <a:solidFill>
                <a:schemeClr val="dk1"/>
              </a:solidFill>
            </a:endParaRPr>
          </a:p>
          <a:p>
            <a:pPr indent="0" lvl="0" marL="0" rtl="0" algn="l">
              <a:spcBef>
                <a:spcPts val="1200"/>
              </a:spcBef>
              <a:spcAft>
                <a:spcPts val="0"/>
              </a:spcAft>
              <a:buClr>
                <a:schemeClr val="dk1"/>
              </a:buClr>
              <a:buSzPct val="60565"/>
              <a:buFont typeface="Arial"/>
              <a:buNone/>
            </a:pPr>
            <a:r>
              <a:t/>
            </a:r>
            <a:endParaRPr sz="1816">
              <a:solidFill>
                <a:schemeClr val="dk1"/>
              </a:solidFill>
            </a:endParaRPr>
          </a:p>
          <a:p>
            <a:pPr indent="0" lvl="0" marL="0" rtl="0" algn="l">
              <a:spcBef>
                <a:spcPts val="1200"/>
              </a:spcBef>
              <a:spcAft>
                <a:spcPts val="0"/>
              </a:spcAft>
              <a:buClr>
                <a:schemeClr val="dk1"/>
              </a:buClr>
              <a:buSzPct val="60565"/>
              <a:buFont typeface="Arial"/>
              <a:buNone/>
            </a:pPr>
            <a:r>
              <a:rPr b="1" lang="en" sz="1816">
                <a:solidFill>
                  <a:schemeClr val="dk1"/>
                </a:solidFill>
              </a:rPr>
              <a:t>Ch. 6:</a:t>
            </a:r>
            <a:r>
              <a:rPr lang="en" sz="1816">
                <a:solidFill>
                  <a:schemeClr val="dk1"/>
                </a:solidFill>
              </a:rPr>
              <a:t> </a:t>
            </a:r>
            <a:r>
              <a:rPr lang="en" sz="1816">
                <a:solidFill>
                  <a:schemeClr val="dk1"/>
                </a:solidFill>
              </a:rPr>
              <a:t>Spiritual</a:t>
            </a:r>
            <a:r>
              <a:rPr lang="en" sz="1816">
                <a:solidFill>
                  <a:schemeClr val="dk1"/>
                </a:solidFill>
              </a:rPr>
              <a:t> Warfare (How believers stand and endure)</a:t>
            </a:r>
            <a:endParaRPr sz="1816">
              <a:solidFill>
                <a:schemeClr val="dk1"/>
              </a:solidFill>
            </a:endParaRPr>
          </a:p>
          <a:p>
            <a:pPr indent="0" lvl="0" marL="0" rtl="0" algn="l">
              <a:spcBef>
                <a:spcPts val="1200"/>
              </a:spcBef>
              <a:spcAft>
                <a:spcPts val="1200"/>
              </a:spcAft>
              <a:buNone/>
            </a:pPr>
            <a:r>
              <a:t/>
            </a:r>
            <a:endParaRPr/>
          </a:p>
        </p:txBody>
      </p:sp>
      <p:pic>
        <p:nvPicPr>
          <p:cNvPr id="112" name="Google Shape;112;p21"/>
          <p:cNvPicPr preferRelativeResize="0"/>
          <p:nvPr/>
        </p:nvPicPr>
        <p:blipFill>
          <a:blip r:embed="rId3">
            <a:alphaModFix/>
          </a:blip>
          <a:stretch>
            <a:fillRect/>
          </a:stretch>
        </p:blipFill>
        <p:spPr>
          <a:xfrm>
            <a:off x="5632125" y="1170125"/>
            <a:ext cx="2631475" cy="2631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981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 Chapters 1–3: The Divine Identity (The "Indicative")</a:t>
            </a:r>
            <a:endParaRPr/>
          </a:p>
        </p:txBody>
      </p:sp>
      <p:sp>
        <p:nvSpPr>
          <p:cNvPr id="118" name="Google Shape;118;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1200"/>
              </a:spcBef>
              <a:spcAft>
                <a:spcPts val="0"/>
              </a:spcAft>
              <a:buClr>
                <a:schemeClr val="dk1"/>
              </a:buClr>
              <a:buSzPct val="50000"/>
              <a:buFont typeface="Arial"/>
              <a:buNone/>
            </a:pPr>
            <a:r>
              <a:rPr lang="en" sz="2200">
                <a:solidFill>
                  <a:schemeClr val="dk1"/>
                </a:solidFill>
              </a:rPr>
              <a:t>Before St. Paul gives a single command, he spends three chapters explaining what God has already finished.</a:t>
            </a:r>
            <a:endParaRPr sz="2200">
              <a:solidFill>
                <a:schemeClr val="dk1"/>
              </a:solidFill>
            </a:endParaRPr>
          </a:p>
          <a:p>
            <a:pPr indent="-326390" lvl="0" marL="457200" rtl="0" algn="l">
              <a:spcBef>
                <a:spcPts val="1200"/>
              </a:spcBef>
              <a:spcAft>
                <a:spcPts val="0"/>
              </a:spcAft>
              <a:buClr>
                <a:schemeClr val="dk1"/>
              </a:buClr>
              <a:buSzPct val="100000"/>
              <a:buChar char="●"/>
            </a:pPr>
            <a:r>
              <a:rPr b="1" lang="en" sz="2200">
                <a:solidFill>
                  <a:schemeClr val="dk1"/>
                </a:solidFill>
              </a:rPr>
              <a:t>The Theology:</a:t>
            </a:r>
            <a:r>
              <a:rPr lang="en" sz="2200">
                <a:solidFill>
                  <a:schemeClr val="dk1"/>
                </a:solidFill>
              </a:rPr>
              <a:t> You are adopted, redeemed, and sealed.</a:t>
            </a:r>
            <a:endParaRPr sz="2200">
              <a:solidFill>
                <a:schemeClr val="dk1"/>
              </a:solidFill>
            </a:endParaRPr>
          </a:p>
          <a:p>
            <a:pPr indent="0" lvl="0" marL="457200" rtl="0" algn="l">
              <a:spcBef>
                <a:spcPts val="1200"/>
              </a:spcBef>
              <a:spcAft>
                <a:spcPts val="0"/>
              </a:spcAft>
              <a:buNone/>
            </a:pPr>
            <a:r>
              <a:t/>
            </a:r>
            <a:endParaRPr sz="2200">
              <a:solidFill>
                <a:schemeClr val="dk1"/>
              </a:solidFill>
            </a:endParaRPr>
          </a:p>
          <a:p>
            <a:pPr indent="-326390" lvl="0" marL="457200" rtl="0" algn="l">
              <a:spcBef>
                <a:spcPts val="1200"/>
              </a:spcBef>
              <a:spcAft>
                <a:spcPts val="0"/>
              </a:spcAft>
              <a:buClr>
                <a:schemeClr val="dk1"/>
              </a:buClr>
              <a:buSzPct val="100000"/>
              <a:buChar char="●"/>
            </a:pPr>
            <a:r>
              <a:rPr b="1" lang="en" sz="2200">
                <a:solidFill>
                  <a:schemeClr val="dk1"/>
                </a:solidFill>
              </a:rPr>
              <a:t>The Shift:</a:t>
            </a:r>
            <a:r>
              <a:rPr lang="en" sz="2200">
                <a:solidFill>
                  <a:schemeClr val="dk1"/>
                </a:solidFill>
              </a:rPr>
              <a:t> We move from being "dead in trespasses" to being seated in "heavenly places."</a:t>
            </a:r>
            <a:endParaRPr sz="2200">
              <a:solidFill>
                <a:schemeClr val="dk1"/>
              </a:solidFill>
            </a:endParaRPr>
          </a:p>
          <a:p>
            <a:pPr indent="0" lvl="0" marL="457200" rtl="0" algn="l">
              <a:spcBef>
                <a:spcPts val="1200"/>
              </a:spcBef>
              <a:spcAft>
                <a:spcPts val="0"/>
              </a:spcAft>
              <a:buNone/>
            </a:pPr>
            <a:r>
              <a:t/>
            </a:r>
            <a:endParaRPr sz="2200">
              <a:solidFill>
                <a:schemeClr val="dk1"/>
              </a:solidFill>
            </a:endParaRPr>
          </a:p>
          <a:p>
            <a:pPr indent="-326390" lvl="0" marL="457200" rtl="0" algn="l">
              <a:spcBef>
                <a:spcPts val="1200"/>
              </a:spcBef>
              <a:spcAft>
                <a:spcPts val="0"/>
              </a:spcAft>
              <a:buClr>
                <a:schemeClr val="dk1"/>
              </a:buClr>
              <a:buSzPct val="100000"/>
              <a:buChar char="●"/>
            </a:pPr>
            <a:r>
              <a:rPr b="1" lang="en" sz="2200">
                <a:solidFill>
                  <a:schemeClr val="dk1"/>
                </a:solidFill>
              </a:rPr>
              <a:t>The Goal:</a:t>
            </a:r>
            <a:r>
              <a:rPr lang="en" sz="2200">
                <a:solidFill>
                  <a:schemeClr val="dk1"/>
                </a:solidFill>
              </a:rPr>
              <a:t> To understand that the Church is not a human invention, but a divine mystery revealed.</a:t>
            </a:r>
            <a:endParaRPr sz="22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412500" y="437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Chapters 4–5: The Christian Life (The "Imperative")</a:t>
            </a:r>
            <a:endParaRPr/>
          </a:p>
        </p:txBody>
      </p:sp>
      <p:sp>
        <p:nvSpPr>
          <p:cNvPr id="124" name="Google Shape;124;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1200"/>
              </a:spcBef>
              <a:spcAft>
                <a:spcPts val="0"/>
              </a:spcAft>
              <a:buClr>
                <a:schemeClr val="dk1"/>
              </a:buClr>
              <a:buSzPts val="1100"/>
              <a:buFont typeface="Arial"/>
              <a:buNone/>
            </a:pPr>
            <a:r>
              <a:rPr b="1" lang="en" sz="1700">
                <a:solidFill>
                  <a:schemeClr val="dk1"/>
                </a:solidFill>
              </a:rPr>
              <a:t>Key Verse: Ephesians 4:1</a:t>
            </a:r>
            <a:r>
              <a:rPr lang="en" sz="1700">
                <a:solidFill>
                  <a:schemeClr val="dk1"/>
                </a:solidFill>
              </a:rPr>
              <a:t> — </a:t>
            </a:r>
            <a:r>
              <a:rPr i="1" lang="en" sz="1700">
                <a:solidFill>
                  <a:schemeClr val="dk1"/>
                </a:solidFill>
              </a:rPr>
              <a:t>"I therefore... beseech you that ye walk worthy of the vocation wherewith ye are called."</a:t>
            </a:r>
            <a:endParaRPr i="1" sz="1700">
              <a:solidFill>
                <a:schemeClr val="dk1"/>
              </a:solidFill>
            </a:endParaRPr>
          </a:p>
          <a:p>
            <a:pPr indent="-336550" lvl="0" marL="457200" rtl="0" algn="l">
              <a:lnSpc>
                <a:spcPct val="95000"/>
              </a:lnSpc>
              <a:spcBef>
                <a:spcPts val="1200"/>
              </a:spcBef>
              <a:spcAft>
                <a:spcPts val="0"/>
              </a:spcAft>
              <a:buClr>
                <a:schemeClr val="dk1"/>
              </a:buClr>
              <a:buSzPts val="1700"/>
              <a:buChar char="●"/>
            </a:pPr>
            <a:r>
              <a:rPr b="1" lang="en" sz="1700">
                <a:solidFill>
                  <a:schemeClr val="dk1"/>
                </a:solidFill>
              </a:rPr>
              <a:t>The Transition:</a:t>
            </a:r>
            <a:r>
              <a:rPr lang="en" sz="1700">
                <a:solidFill>
                  <a:schemeClr val="dk1"/>
                </a:solidFill>
              </a:rPr>
              <a:t> The word "therefore" is the hinge. Because of who you </a:t>
            </a:r>
            <a:r>
              <a:rPr i="1" lang="en" sz="1700">
                <a:solidFill>
                  <a:schemeClr val="dk1"/>
                </a:solidFill>
              </a:rPr>
              <a:t>are</a:t>
            </a:r>
            <a:r>
              <a:rPr lang="en" sz="1700">
                <a:solidFill>
                  <a:schemeClr val="dk1"/>
                </a:solidFill>
              </a:rPr>
              <a:t> (Ch. 1–3), this is how you must </a:t>
            </a:r>
            <a:r>
              <a:rPr i="1" lang="en" sz="1700">
                <a:solidFill>
                  <a:schemeClr val="dk1"/>
                </a:solidFill>
              </a:rPr>
              <a:t>live</a:t>
            </a:r>
            <a:r>
              <a:rPr lang="en" sz="1700">
                <a:solidFill>
                  <a:schemeClr val="dk1"/>
                </a:solidFill>
              </a:rPr>
              <a:t> (Ch. 4–5).</a:t>
            </a:r>
            <a:endParaRPr sz="1700">
              <a:solidFill>
                <a:schemeClr val="dk1"/>
              </a:solidFill>
            </a:endParaRPr>
          </a:p>
          <a:p>
            <a:pPr indent="0" lvl="0" marL="457200" rtl="0" algn="l">
              <a:lnSpc>
                <a:spcPct val="95000"/>
              </a:lnSpc>
              <a:spcBef>
                <a:spcPts val="1200"/>
              </a:spcBef>
              <a:spcAft>
                <a:spcPts val="0"/>
              </a:spcAft>
              <a:buNone/>
            </a:pPr>
            <a:r>
              <a:t/>
            </a:r>
            <a:endParaRPr sz="1700">
              <a:solidFill>
                <a:schemeClr val="dk1"/>
              </a:solidFill>
            </a:endParaRPr>
          </a:p>
          <a:p>
            <a:pPr indent="-336550" lvl="0" marL="457200" rtl="0" algn="l">
              <a:lnSpc>
                <a:spcPct val="95000"/>
              </a:lnSpc>
              <a:spcBef>
                <a:spcPts val="1200"/>
              </a:spcBef>
              <a:spcAft>
                <a:spcPts val="0"/>
              </a:spcAft>
              <a:buClr>
                <a:schemeClr val="dk1"/>
              </a:buClr>
              <a:buSzPts val="1700"/>
              <a:buChar char="●"/>
            </a:pPr>
            <a:r>
              <a:rPr b="1" lang="en" sz="1700">
                <a:solidFill>
                  <a:schemeClr val="dk1"/>
                </a:solidFill>
              </a:rPr>
              <a:t>The Practice:</a:t>
            </a:r>
            <a:r>
              <a:rPr lang="en" sz="1700">
                <a:solidFill>
                  <a:schemeClr val="dk1"/>
                </a:solidFill>
              </a:rPr>
              <a:t> This isn't about "getting" saved; it's about "walking" out the salvation you already have. It covers unity, purity, and the "Body and Bride" relationships in the home and church.</a:t>
            </a:r>
            <a:endParaRPr sz="1700">
              <a:solidFill>
                <a:schemeClr val="dk1"/>
              </a:solidFill>
            </a:endParaRPr>
          </a:p>
          <a:p>
            <a:pPr indent="0" lvl="0" marL="0" rtl="0" algn="l">
              <a:lnSpc>
                <a:spcPct val="95000"/>
              </a:lnSpc>
              <a:spcBef>
                <a:spcPts val="1200"/>
              </a:spcBef>
              <a:spcAft>
                <a:spcPts val="1200"/>
              </a:spcAft>
              <a:buNone/>
            </a:pPr>
            <a:r>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981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 6: The Spiritual Warfare (The "Endurance")</a:t>
            </a:r>
            <a:endParaRPr/>
          </a:p>
        </p:txBody>
      </p:sp>
      <p:sp>
        <p:nvSpPr>
          <p:cNvPr id="130" name="Google Shape;13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1200"/>
              </a:spcBef>
              <a:spcAft>
                <a:spcPts val="0"/>
              </a:spcAft>
              <a:buClr>
                <a:schemeClr val="dk1"/>
              </a:buClr>
              <a:buSzPts val="1018"/>
              <a:buFont typeface="Arial"/>
              <a:buNone/>
            </a:pPr>
            <a:r>
              <a:rPr b="1" lang="en" sz="1835">
                <a:solidFill>
                  <a:schemeClr val="dk1"/>
                </a:solidFill>
              </a:rPr>
              <a:t>Key Verse: Ephesians 6:10–11</a:t>
            </a:r>
            <a:r>
              <a:rPr lang="en" sz="1835">
                <a:solidFill>
                  <a:schemeClr val="dk1"/>
                </a:solidFill>
              </a:rPr>
              <a:t> — </a:t>
            </a:r>
            <a:r>
              <a:rPr i="1" lang="en" sz="1835">
                <a:solidFill>
                  <a:schemeClr val="dk1"/>
                </a:solidFill>
              </a:rPr>
              <a:t>"Finally, my brethren, be strong in the Lord... Put on the whole armour of God."</a:t>
            </a:r>
            <a:endParaRPr i="1" sz="1835">
              <a:solidFill>
                <a:schemeClr val="dk1"/>
              </a:solidFill>
            </a:endParaRPr>
          </a:p>
          <a:p>
            <a:pPr indent="-345123" lvl="0" marL="457200" rtl="0" algn="l">
              <a:lnSpc>
                <a:spcPct val="95000"/>
              </a:lnSpc>
              <a:spcBef>
                <a:spcPts val="1200"/>
              </a:spcBef>
              <a:spcAft>
                <a:spcPts val="0"/>
              </a:spcAft>
              <a:buClr>
                <a:schemeClr val="dk1"/>
              </a:buClr>
              <a:buSzPts val="1835"/>
              <a:buChar char="●"/>
            </a:pPr>
            <a:r>
              <a:rPr b="1" lang="en" sz="1835">
                <a:solidFill>
                  <a:schemeClr val="dk1"/>
                </a:solidFill>
              </a:rPr>
              <a:t>The Reality:</a:t>
            </a:r>
            <a:r>
              <a:rPr lang="en" sz="1835">
                <a:solidFill>
                  <a:schemeClr val="dk1"/>
                </a:solidFill>
              </a:rPr>
              <a:t> A "worthy walk" inevitably triggers opposition.</a:t>
            </a:r>
            <a:endParaRPr sz="1835">
              <a:solidFill>
                <a:schemeClr val="dk1"/>
              </a:solidFill>
            </a:endParaRPr>
          </a:p>
          <a:p>
            <a:pPr indent="0" lvl="0" marL="457200" rtl="0" algn="l">
              <a:lnSpc>
                <a:spcPct val="95000"/>
              </a:lnSpc>
              <a:spcBef>
                <a:spcPts val="1200"/>
              </a:spcBef>
              <a:spcAft>
                <a:spcPts val="0"/>
              </a:spcAft>
              <a:buSzPts val="1018"/>
              <a:buNone/>
            </a:pPr>
            <a:r>
              <a:t/>
            </a:r>
            <a:endParaRPr sz="1835">
              <a:solidFill>
                <a:schemeClr val="dk1"/>
              </a:solidFill>
            </a:endParaRPr>
          </a:p>
          <a:p>
            <a:pPr indent="-345123" lvl="0" marL="457200" rtl="0" algn="l">
              <a:lnSpc>
                <a:spcPct val="95000"/>
              </a:lnSpc>
              <a:spcBef>
                <a:spcPts val="1200"/>
              </a:spcBef>
              <a:spcAft>
                <a:spcPts val="0"/>
              </a:spcAft>
              <a:buClr>
                <a:schemeClr val="dk1"/>
              </a:buClr>
              <a:buSzPts val="1835"/>
              <a:buChar char="●"/>
            </a:pPr>
            <a:r>
              <a:rPr b="1" lang="en" sz="1835">
                <a:solidFill>
                  <a:schemeClr val="dk1"/>
                </a:solidFill>
              </a:rPr>
              <a:t>The Strategy:</a:t>
            </a:r>
            <a:r>
              <a:rPr lang="en" sz="1835">
                <a:solidFill>
                  <a:schemeClr val="dk1"/>
                </a:solidFill>
              </a:rPr>
              <a:t> Notice that the armor is mostly defensive. The goal isn't to "win" a new victory (Christ already did that in Ch. 1), but to </a:t>
            </a:r>
            <a:r>
              <a:rPr b="1" lang="en" sz="1835">
                <a:solidFill>
                  <a:schemeClr val="dk1"/>
                </a:solidFill>
              </a:rPr>
              <a:t>stand</a:t>
            </a:r>
            <a:r>
              <a:rPr lang="en" sz="1835">
                <a:solidFill>
                  <a:schemeClr val="dk1"/>
                </a:solidFill>
              </a:rPr>
              <a:t> and hold the ground Christ has already won.</a:t>
            </a:r>
            <a:endParaRPr sz="1835">
              <a:solidFill>
                <a:schemeClr val="dk1"/>
              </a:solidFill>
            </a:endParaRPr>
          </a:p>
          <a:p>
            <a:pPr indent="0" lvl="0" marL="0" rtl="0" algn="l">
              <a:lnSpc>
                <a:spcPct val="95000"/>
              </a:lnSpc>
              <a:spcBef>
                <a:spcPts val="1200"/>
              </a:spcBef>
              <a:spcAft>
                <a:spcPts val="1200"/>
              </a:spcAft>
              <a:buSzPts val="1018"/>
              <a:buNone/>
            </a:pPr>
            <a:r>
              <a:t/>
            </a:r>
            <a:endParaRPr sz="2683"/>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4413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Identity: Our Blessings In Christ (Eph 1) </a:t>
            </a:r>
            <a:endParaRPr b="1" sz="1700"/>
          </a:p>
          <a:p>
            <a:pPr indent="0" lvl="0" marL="0" rtl="0" algn="l">
              <a:spcBef>
                <a:spcPts val="0"/>
              </a:spcBef>
              <a:spcAft>
                <a:spcPts val="0"/>
              </a:spcAft>
              <a:buNone/>
            </a:pPr>
            <a:r>
              <a:t/>
            </a:r>
            <a:endParaRPr/>
          </a:p>
        </p:txBody>
      </p:sp>
      <p:sp>
        <p:nvSpPr>
          <p:cNvPr id="136" name="Google Shape;136;p25"/>
          <p:cNvSpPr txBox="1"/>
          <p:nvPr>
            <p:ph idx="1" type="body"/>
          </p:nvPr>
        </p:nvSpPr>
        <p:spPr>
          <a:xfrm>
            <a:off x="311700" y="1152475"/>
            <a:ext cx="4575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300">
                <a:solidFill>
                  <a:schemeClr val="dk1"/>
                </a:solidFill>
              </a:rPr>
              <a:t>Paul names spiritual blessings:</a:t>
            </a:r>
            <a:endParaRPr sz="1300">
              <a:solidFill>
                <a:schemeClr val="dk1"/>
              </a:solidFill>
            </a:endParaRPr>
          </a:p>
          <a:p>
            <a:pPr indent="-311150" lvl="0" marL="457200" rtl="0" algn="l">
              <a:spcBef>
                <a:spcPts val="1200"/>
              </a:spcBef>
              <a:spcAft>
                <a:spcPts val="0"/>
              </a:spcAft>
              <a:buClr>
                <a:schemeClr val="dk1"/>
              </a:buClr>
              <a:buSzPts val="1300"/>
              <a:buChar char="●"/>
            </a:pPr>
            <a:r>
              <a:rPr b="1" lang="en" sz="1300">
                <a:solidFill>
                  <a:schemeClr val="dk1"/>
                </a:solidFill>
              </a:rPr>
              <a:t>Chosen for holiness</a:t>
            </a:r>
            <a:r>
              <a:rPr lang="en" sz="1300">
                <a:solidFill>
                  <a:schemeClr val="dk1"/>
                </a:solidFill>
              </a:rPr>
              <a:t> (1:4)</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Adopted</a:t>
            </a:r>
            <a:r>
              <a:rPr lang="en" sz="1300">
                <a:solidFill>
                  <a:schemeClr val="dk1"/>
                </a:solidFill>
              </a:rPr>
              <a:t> as children (1:5)</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Redeemed</a:t>
            </a:r>
            <a:r>
              <a:rPr lang="en" sz="1300">
                <a:solidFill>
                  <a:schemeClr val="dk1"/>
                </a:solidFill>
              </a:rPr>
              <a:t> (1:7)</a:t>
            </a:r>
            <a:br>
              <a:rPr lang="en" sz="1300">
                <a:solidFill>
                  <a:schemeClr val="dk1"/>
                </a:solidFill>
              </a:rPr>
            </a:br>
            <a:endParaRPr sz="1300">
              <a:solidFill>
                <a:schemeClr val="dk1"/>
              </a:solidFill>
            </a:endParaRPr>
          </a:p>
          <a:p>
            <a:pPr indent="-311150" lvl="0" marL="457200" rtl="0" algn="l">
              <a:spcBef>
                <a:spcPts val="0"/>
              </a:spcBef>
              <a:spcAft>
                <a:spcPts val="0"/>
              </a:spcAft>
              <a:buClr>
                <a:schemeClr val="dk1"/>
              </a:buClr>
              <a:buSzPts val="1300"/>
              <a:buChar char="●"/>
            </a:pPr>
            <a:r>
              <a:rPr b="1" lang="en" sz="1300">
                <a:solidFill>
                  <a:schemeClr val="dk1"/>
                </a:solidFill>
              </a:rPr>
              <a:t>Sealed</a:t>
            </a:r>
            <a:r>
              <a:rPr lang="en" sz="1300">
                <a:solidFill>
                  <a:schemeClr val="dk1"/>
                </a:solidFill>
              </a:rPr>
              <a:t> with the Holy Spirit (1:13–14)</a:t>
            </a:r>
            <a:br>
              <a:rPr lang="en" sz="1300">
                <a:solidFill>
                  <a:schemeClr val="dk1"/>
                </a:solidFill>
              </a:rPr>
            </a:b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Key idea:</a:t>
            </a:r>
            <a:r>
              <a:rPr lang="en" sz="1300">
                <a:solidFill>
                  <a:schemeClr val="dk1"/>
                </a:solidFill>
              </a:rPr>
              <a:t> Your identity is not your past. Your identity is </a:t>
            </a:r>
            <a:r>
              <a:rPr b="1" lang="en" sz="1300">
                <a:solidFill>
                  <a:schemeClr val="dk1"/>
                </a:solidFill>
              </a:rPr>
              <a:t>Christ</a:t>
            </a:r>
            <a:r>
              <a:rPr lang="en" sz="1300">
                <a:solidFill>
                  <a:schemeClr val="dk1"/>
                </a:solidFill>
              </a:rPr>
              <a:t>.</a:t>
            </a:r>
            <a:endParaRPr sz="1300">
              <a:solidFill>
                <a:schemeClr val="dk1"/>
              </a:solidFill>
            </a:endParaRPr>
          </a:p>
          <a:p>
            <a:pPr indent="0" lvl="0" marL="0" rtl="0" algn="l">
              <a:spcBef>
                <a:spcPts val="1200"/>
              </a:spcBef>
              <a:spcAft>
                <a:spcPts val="0"/>
              </a:spcAft>
              <a:buClr>
                <a:schemeClr val="dk1"/>
              </a:buClr>
              <a:buSzPts val="1100"/>
              <a:buFont typeface="Arial"/>
              <a:buNone/>
            </a:pPr>
            <a:r>
              <a:rPr b="1" lang="en" sz="1300">
                <a:solidFill>
                  <a:schemeClr val="dk1"/>
                </a:solidFill>
              </a:rPr>
              <a:t>Key verses:</a:t>
            </a:r>
            <a:r>
              <a:rPr lang="en" sz="1300">
                <a:solidFill>
                  <a:schemeClr val="dk1"/>
                </a:solidFill>
              </a:rPr>
              <a:t> </a:t>
            </a:r>
            <a:r>
              <a:rPr b="1" lang="en" sz="1300">
                <a:solidFill>
                  <a:schemeClr val="dk1"/>
                </a:solidFill>
              </a:rPr>
              <a:t>Ephesians 1:4, 1:7, 1:13–14</a:t>
            </a:r>
            <a:endParaRPr b="1" sz="1300">
              <a:solidFill>
                <a:schemeClr val="dk1"/>
              </a:solidFill>
            </a:endParaRPr>
          </a:p>
          <a:p>
            <a:pPr indent="0" lvl="0" marL="0" rtl="0" algn="l">
              <a:spcBef>
                <a:spcPts val="1200"/>
              </a:spcBef>
              <a:spcAft>
                <a:spcPts val="1200"/>
              </a:spcAft>
              <a:buNone/>
            </a:pPr>
            <a:r>
              <a:t/>
            </a:r>
            <a:endParaRPr sz="2000"/>
          </a:p>
        </p:txBody>
      </p:sp>
      <p:sp>
        <p:nvSpPr>
          <p:cNvPr id="137" name="Google Shape;137;p25"/>
          <p:cNvSpPr txBox="1"/>
          <p:nvPr/>
        </p:nvSpPr>
        <p:spPr>
          <a:xfrm>
            <a:off x="4471200" y="1187125"/>
            <a:ext cx="4183200" cy="3541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Ephesians 1:4</a:t>
            </a:r>
            <a:r>
              <a:rPr lang="en" sz="1100">
                <a:solidFill>
                  <a:schemeClr val="dk1"/>
                </a:solidFill>
              </a:rPr>
              <a:t> — “According as he hath chosen us in him before the foundation of the world, that we should be holy and without blame before him in love:”</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Ephesians 1:5</a:t>
            </a:r>
            <a:r>
              <a:rPr lang="en" sz="1100">
                <a:solidFill>
                  <a:schemeClr val="dk1"/>
                </a:solidFill>
              </a:rPr>
              <a:t> — “Having predestinated us unto the adoption of children by Jesus Christ to himself, according to the good pleasure of his will,”</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Ephesians 1:7</a:t>
            </a:r>
            <a:r>
              <a:rPr lang="en" sz="1100">
                <a:solidFill>
                  <a:schemeClr val="dk1"/>
                </a:solidFill>
              </a:rPr>
              <a:t> — “In whom we have redemption through his blood, the forgiveness of sins, according to the riches of his grace;”</a:t>
            </a:r>
            <a:endParaRPr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Ephesians 1:13–14</a:t>
            </a:r>
            <a:r>
              <a:rPr lang="en" sz="1100">
                <a:solidFill>
                  <a:schemeClr val="dk1"/>
                </a:solidFill>
              </a:rPr>
              <a:t> — “In whom ye also trusted, after that ye heard the word of truth, the gospel of your salvation: in whom also after that ye believed, ye were sealed with that holy Spirit of promise, Which is the earnest of our inheritance until the redemption of the purchased possession, unto the praise of his glory.”</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9087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Paul's</a:t>
            </a:r>
            <a:r>
              <a:rPr lang="en"/>
              <a:t> Prayer for illumination </a:t>
            </a:r>
            <a:endParaRPr/>
          </a:p>
        </p:txBody>
      </p:sp>
      <p:sp>
        <p:nvSpPr>
          <p:cNvPr id="143" name="Google Shape;143;p26"/>
          <p:cNvSpPr txBox="1"/>
          <p:nvPr>
            <p:ph idx="1" type="body"/>
          </p:nvPr>
        </p:nvSpPr>
        <p:spPr>
          <a:xfrm>
            <a:off x="311700" y="1051675"/>
            <a:ext cx="5462700" cy="41511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1100">
                <a:solidFill>
                  <a:schemeClr val="dk1"/>
                </a:solidFill>
              </a:rPr>
              <a:t>St. Paul prays that the Church receives:</a:t>
            </a:r>
            <a:endParaRPr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The Spirit of Wisdom &amp; Revelation:</a:t>
            </a:r>
            <a:r>
              <a:rPr lang="en" sz="1100">
                <a:solidFill>
                  <a:schemeClr val="dk1"/>
                </a:solidFill>
              </a:rPr>
              <a:t> To know God not as a concept, but through a living relationship (</a:t>
            </a:r>
            <a:r>
              <a:rPr i="1" lang="en" sz="1100">
                <a:solidFill>
                  <a:schemeClr val="dk1"/>
                </a:solidFill>
              </a:rPr>
              <a:t>Colossians 2:3</a:t>
            </a:r>
            <a:r>
              <a:rPr lang="en" sz="1100">
                <a:solidFill>
                  <a:schemeClr val="dk1"/>
                </a:solidFill>
              </a:rPr>
              <a:t>).</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Enlightened "Eyes of the Heart":</a:t>
            </a:r>
            <a:r>
              <a:rPr lang="en" sz="1100">
                <a:solidFill>
                  <a:schemeClr val="dk1"/>
                </a:solidFill>
              </a:rPr>
              <a:t> To perceive our </a:t>
            </a:r>
            <a:r>
              <a:rPr b="1" lang="en" sz="1100">
                <a:solidFill>
                  <a:schemeClr val="dk1"/>
                </a:solidFill>
              </a:rPr>
              <a:t>Hope</a:t>
            </a:r>
            <a:r>
              <a:rPr lang="en" sz="1100">
                <a:solidFill>
                  <a:schemeClr val="dk1"/>
                </a:solidFill>
              </a:rPr>
              <a:t> (calling), our </a:t>
            </a:r>
            <a:r>
              <a:rPr b="1" lang="en" sz="1100">
                <a:solidFill>
                  <a:schemeClr val="dk1"/>
                </a:solidFill>
              </a:rPr>
              <a:t>Inheritance</a:t>
            </a:r>
            <a:r>
              <a:rPr lang="en" sz="1100">
                <a:solidFill>
                  <a:schemeClr val="dk1"/>
                </a:solidFill>
              </a:rPr>
              <a:t> (the Kingdom), and the </a:t>
            </a:r>
            <a:r>
              <a:rPr b="1" lang="en" sz="1100">
                <a:solidFill>
                  <a:schemeClr val="dk1"/>
                </a:solidFill>
              </a:rPr>
              <a:t>Power</a:t>
            </a:r>
            <a:r>
              <a:rPr lang="en" sz="1100">
                <a:solidFill>
                  <a:schemeClr val="dk1"/>
                </a:solidFill>
              </a:rPr>
              <a:t> of the Resurrection.</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The Orthodox Way of Knowing:</a:t>
            </a:r>
            <a:r>
              <a:rPr lang="en" sz="1100">
                <a:solidFill>
                  <a:schemeClr val="dk1"/>
                </a:solidFill>
              </a:rPr>
              <a:t> Theology is not a trophy for the proud; it is a gift received through </a:t>
            </a:r>
            <a:r>
              <a:rPr b="1" lang="en" sz="1100">
                <a:solidFill>
                  <a:schemeClr val="dk1"/>
                </a:solidFill>
              </a:rPr>
              <a:t>Prayer and Humility</a:t>
            </a:r>
            <a:r>
              <a:rPr lang="en"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Bible verses (KJV):</a:t>
            </a:r>
            <a:endParaRPr b="1"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Ephesians 1:17–19</a:t>
            </a:r>
            <a:endParaRPr b="1"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“That the God of our Lord Jesus Christ, the Father of glory, may give unto you the spirit of wisdom and revelation in the knowledge of him:</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The eyes of your understanding being enlightened; that ye may know what is the hope of his calling, and what the riches of the glory of his inheritance in the saints,</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And what is the exceeding greatness of his power to us-ward who believe, according to the working of his mighty power,”</a:t>
            </a:r>
            <a:endParaRPr sz="1100">
              <a:solidFill>
                <a:schemeClr val="dk1"/>
              </a:solidFill>
            </a:endParaRPr>
          </a:p>
          <a:p>
            <a:pPr indent="0" lvl="0" marL="0" rtl="0" algn="l">
              <a:spcBef>
                <a:spcPts val="1200"/>
              </a:spcBef>
              <a:spcAft>
                <a:spcPts val="1200"/>
              </a:spcAft>
              <a:buNone/>
            </a:pPr>
            <a:r>
              <a:t/>
            </a:r>
            <a:endParaRPr/>
          </a:p>
        </p:txBody>
      </p:sp>
      <p:sp>
        <p:nvSpPr>
          <p:cNvPr id="144" name="Google Shape;144;p26"/>
          <p:cNvSpPr txBox="1"/>
          <p:nvPr/>
        </p:nvSpPr>
        <p:spPr>
          <a:xfrm>
            <a:off x="5817875" y="1412050"/>
            <a:ext cx="3000000" cy="28338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None/>
            </a:pPr>
            <a:r>
              <a:rPr b="1" lang="en" sz="1300">
                <a:solidFill>
                  <a:schemeClr val="dk1"/>
                </a:solidFill>
              </a:rPr>
              <a:t>The Orthodox Way: Prayer over Pride</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Theology as Doxology:</a:t>
            </a:r>
            <a:r>
              <a:rPr lang="en" sz="1100">
                <a:solidFill>
                  <a:schemeClr val="dk1"/>
                </a:solidFill>
              </a:rPr>
              <a:t> As the Desert Fathers taught, "If you are a theologian, you will pray truly; and if you pray truly, you are a theologian."</a:t>
            </a:r>
            <a:endParaRPr sz="11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Humility:</a:t>
            </a:r>
            <a:r>
              <a:rPr lang="en" sz="1100">
                <a:solidFill>
                  <a:schemeClr val="dk1"/>
                </a:solidFill>
              </a:rPr>
              <a:t> Knowledge without prayer leads to pride. Revelation is a </a:t>
            </a:r>
            <a:r>
              <a:rPr b="1" lang="en" sz="1100">
                <a:solidFill>
                  <a:schemeClr val="dk1"/>
                </a:solidFill>
              </a:rPr>
              <a:t>gift</a:t>
            </a:r>
            <a:r>
              <a:rPr lang="en" sz="1100">
                <a:solidFill>
                  <a:schemeClr val="dk1"/>
                </a:solidFill>
              </a:rPr>
              <a:t> received on one's knees, not a trophy won by the intellect.</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