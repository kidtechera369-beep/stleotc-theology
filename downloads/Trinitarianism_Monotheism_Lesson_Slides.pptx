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2: Lesson Objectives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3: Introduction — Why This Lesson Matters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4: Our Faith Begins with One God</a:t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5: The Trinity Is Not Polytheism</a:t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6: Christ Reveals the Trinity</a:t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7: What Does “Hypostasis” Mean?</a:t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8: The Three Hypostases</a:t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9: Important Precaution</a:t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10: No Separation in the Trinity</a:t>
            </a:r>
            <a:endParaRPr/>
          </a:p>
        </p:txBody>
      </p:sp>
      <p:sp>
        <p:nvSpPr>
          <p:cNvPr id="167" name="Google Shape;1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11: No One Comes Before the Other in Time</a:t>
            </a:r>
            <a:endParaRPr/>
          </a:p>
        </p:txBody>
      </p:sp>
      <p:sp>
        <p:nvSpPr>
          <p:cNvPr id="181" name="Google Shape;1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12: Analogy of Man</a:t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13: Analogy of the Sun</a:t>
            </a:r>
            <a:endParaRPr/>
          </a:p>
        </p:txBody>
      </p:sp>
      <p:sp>
        <p:nvSpPr>
          <p:cNvPr id="212" name="Google Shape;2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14: The Role of the Holy Trinity in Our Life</a:t>
            </a:r>
            <a:endParaRPr/>
          </a:p>
        </p:txBody>
      </p:sp>
      <p:sp>
        <p:nvSpPr>
          <p:cNvPr id="230" name="Google Shape;2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15: The Work of the Father</a:t>
            </a:r>
            <a:endParaRPr/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16: The Work of the Son</a:t>
            </a:r>
            <a:endParaRPr/>
          </a:p>
        </p:txBody>
      </p:sp>
      <p:sp>
        <p:nvSpPr>
          <p:cNvPr id="265" name="Google Shape;26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17: The Work of the Holy Spirit</a:t>
            </a:r>
            <a:endParaRPr/>
          </a:p>
        </p:txBody>
      </p:sp>
      <p:sp>
        <p:nvSpPr>
          <p:cNvPr id="282" name="Google Shape;28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18: The Trinity in Baptism</a:t>
            </a:r>
            <a:endParaRPr/>
          </a:p>
        </p:txBody>
      </p:sp>
      <p:sp>
        <p:nvSpPr>
          <p:cNvPr id="299" name="Google Shape;2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19: Common Misunderstandings to Avoid</a:t>
            </a:r>
            <a:endParaRPr/>
          </a:p>
        </p:txBody>
      </p:sp>
      <p:sp>
        <p:nvSpPr>
          <p:cNvPr id="313" name="Google Shape;31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20: Orthodox Summary</a:t>
            </a:r>
            <a:endParaRPr/>
          </a:p>
        </p:txBody>
      </p:sp>
      <p:sp>
        <p:nvSpPr>
          <p:cNvPr id="335" name="Google Shape;33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89b715023_0_6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89b715023_0_6:notes"/>
          <p:cNvSpPr/>
          <p:nvPr>
            <p:ph idx="2" type="sldImg"/>
          </p:nvPr>
        </p:nvSpPr>
        <p:spPr>
          <a:xfrm>
            <a:off x="381256" y="914376"/>
            <a:ext cx="6096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21: Practical Application</a:t>
            </a:r>
            <a:endParaRPr/>
          </a:p>
        </p:txBody>
      </p:sp>
      <p:sp>
        <p:nvSpPr>
          <p:cNvPr id="357" name="Google Shape;35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22: Discussion Questions</a:t>
            </a:r>
            <a:endParaRPr/>
          </a:p>
        </p:txBody>
      </p:sp>
      <p:sp>
        <p:nvSpPr>
          <p:cNvPr id="369" name="Google Shape;36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23: Memory Verse Review</a:t>
            </a:r>
            <a:endParaRPr/>
          </a:p>
        </p:txBody>
      </p:sp>
      <p:sp>
        <p:nvSpPr>
          <p:cNvPr id="380" name="Google Shape;3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24: Conclusion</a:t>
            </a:r>
            <a:endParaRPr/>
          </a:p>
        </p:txBody>
      </p:sp>
      <p:sp>
        <p:nvSpPr>
          <p:cNvPr id="396" name="Google Shape;39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609584" y="6356350"/>
            <a:ext cx="284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165489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737367" y="6356350"/>
            <a:ext cx="284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713232" y="914400"/>
            <a:ext cx="10744200" cy="4846320"/>
          </a:xfrm>
          <a:prstGeom prst="rect">
            <a:avLst/>
          </a:prstGeom>
          <a:solidFill>
            <a:srgbClr val="FFF7E4">
              <a:alpha val="92156"/>
            </a:srgbClr>
          </a:solidFill>
          <a:ln cap="flat" cmpd="sng" w="190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914400" y="1709928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3300"/>
              <a:buFont typeface="Georgia"/>
              <a:buNone/>
            </a:pPr>
            <a:r>
              <a:rPr b="1" lang="en-US" sz="33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Trinitarianism and Monotheism</a:t>
            </a:r>
            <a:endParaRPr sz="3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1005840" y="251460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One God in Three Hypostases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1828800" y="3310128"/>
            <a:ext cx="8549640" cy="1024128"/>
          </a:xfrm>
          <a:prstGeom prst="roundRect">
            <a:avLst>
              <a:gd fmla="val 7143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084832" y="3474720"/>
            <a:ext cx="8037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“I and My Father are one.”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084832" y="3986784"/>
            <a:ext cx="80375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John 10:30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60120" y="521208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Debre Nazreth St. Mary &amp; St. Gabriel Ethiopian Orthodox Tewahedo Church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5321300" y="4544550"/>
            <a:ext cx="283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By Dn Yonnas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384050" y="765601"/>
            <a:ext cx="10970400" cy="5580300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23732" y="765602"/>
            <a:ext cx="10744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31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Lesson Objectives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5"/>
          <p:cNvCxnSpPr/>
          <p:nvPr/>
        </p:nvCxnSpPr>
        <p:spPr>
          <a:xfrm>
            <a:off x="2666848" y="129464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5"/>
          <p:cNvSpPr/>
          <p:nvPr/>
        </p:nvSpPr>
        <p:spPr>
          <a:xfrm>
            <a:off x="1234440" y="1508760"/>
            <a:ext cx="987552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One God:</a:t>
            </a:r>
            <a:r>
              <a:rPr lang="en-US" sz="2400">
                <a:solidFill>
                  <a:schemeClr val="dk1"/>
                </a:solidFill>
              </a:rPr>
              <a:t> Oriental Orthodoxy is fully monotheistic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Three Hypostases:</a:t>
            </a:r>
            <a:r>
              <a:rPr lang="en-US" sz="2400">
                <a:solidFill>
                  <a:schemeClr val="dk1"/>
                </a:solidFill>
              </a:rPr>
              <a:t> We believe in the Father, Son, and Holy Spirit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Unity without separation:</a:t>
            </a:r>
            <a:r>
              <a:rPr lang="en-US" sz="2400">
                <a:solidFill>
                  <a:schemeClr val="dk1"/>
                </a:solidFill>
              </a:rPr>
              <a:t> distinct, but never divided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A revealed mystery:</a:t>
            </a:r>
            <a:r>
              <a:rPr lang="en-US" sz="2400">
                <a:solidFill>
                  <a:schemeClr val="dk1"/>
                </a:solidFill>
              </a:rPr>
              <a:t> known through Scripture and the Church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The Trinity at work:</a:t>
            </a:r>
            <a:r>
              <a:rPr lang="en-US" sz="2400">
                <a:solidFill>
                  <a:schemeClr val="dk1"/>
                </a:solidFill>
              </a:rPr>
              <a:t> creation, salvation, and sanctification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b="1" lang="en-US" sz="2400">
                <a:solidFill>
                  <a:schemeClr val="dk1"/>
                </a:solidFill>
              </a:rPr>
              <a:t>Our response:</a:t>
            </a:r>
            <a:r>
              <a:rPr lang="en-US" sz="2400">
                <a:solidFill>
                  <a:schemeClr val="dk1"/>
                </a:solidFill>
              </a:rPr>
              <a:t> worship, faith, prayer, and holy living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4180D"/>
              </a:solidFill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384048" y="475488"/>
            <a:ext cx="11421000" cy="5870400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Introduction — Why This Lesson Matters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6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6"/>
          <p:cNvSpPr/>
          <p:nvPr/>
        </p:nvSpPr>
        <p:spPr>
          <a:xfrm>
            <a:off x="1143000" y="150876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Many people misunderstand Christianity and accuse Christians of worshiping three gods.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234440" y="2331720"/>
            <a:ext cx="9738360" cy="2286000"/>
          </a:xfrm>
          <a:prstGeom prst="roundRect">
            <a:avLst>
              <a:gd fmla="val 16667" name="adj"/>
            </a:avLst>
          </a:prstGeom>
          <a:solidFill>
            <a:srgbClr val="FFFFFF">
              <a:alpha val="81960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463040" y="2606040"/>
            <a:ext cx="9235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Church teaches clearly: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463040" y="3017520"/>
            <a:ext cx="9235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We believe in One God.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45920" y="3657600"/>
            <a:ext cx="8915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One true God exists eternally as the Father, the Son, and the Holy Spirit.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645920" y="4892040"/>
            <a:ext cx="8915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1600"/>
              <a:buFont typeface="Arial"/>
              <a:buNone/>
            </a:pPr>
            <a:r>
              <a:rPr i="1" lang="en-US" sz="16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This is revealed by God through Holy Scripture and preserved in the faith of the Church.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Our Faith Begins with One God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7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7"/>
          <p:cNvSpPr/>
          <p:nvPr/>
        </p:nvSpPr>
        <p:spPr>
          <a:xfrm>
            <a:off x="1005840" y="150876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The Christian faith is completely monotheistic.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1325880" y="2148840"/>
            <a:ext cx="9555480" cy="914400"/>
          </a:xfrm>
          <a:prstGeom prst="roundRect">
            <a:avLst>
              <a:gd fmla="val 8000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581912" y="2313432"/>
            <a:ext cx="90434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“Hear, O Israel: The Lord our God, the Lord is one.”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581912" y="2825496"/>
            <a:ext cx="9043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Deuteronomy 6:4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325880" y="3337560"/>
            <a:ext cx="9555480" cy="914400"/>
          </a:xfrm>
          <a:prstGeom prst="roundRect">
            <a:avLst>
              <a:gd fmla="val 8000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581912" y="3502152"/>
            <a:ext cx="90434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“You believe that there is one God. You do well.”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581912" y="4014216"/>
            <a:ext cx="9043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James 2:19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188720" y="4709160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The Orthodox Creed also begins: “Truly we believe in one God…”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80" name="Google Shape;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The Trinity Is Not Polytheism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8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8"/>
          <p:cNvSpPr/>
          <p:nvPr/>
        </p:nvSpPr>
        <p:spPr>
          <a:xfrm>
            <a:off x="868680" y="1417320"/>
            <a:ext cx="5074920" cy="43434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263640" y="1417320"/>
            <a:ext cx="5074920" cy="43434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1097280" y="16002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700"/>
              <a:buFont typeface="Georgia"/>
              <a:buNone/>
            </a:pPr>
            <a:r>
              <a:rPr b="1" lang="en-US" sz="19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We do NOT believe in: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6492240" y="16002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700"/>
              <a:buFont typeface="Georgia"/>
              <a:buNone/>
            </a:pPr>
            <a:r>
              <a:rPr b="1" lang="en-US" sz="1900">
                <a:solidFill>
                  <a:srgbClr val="2F5B2C"/>
                </a:solidFill>
                <a:latin typeface="Georgia"/>
                <a:ea typeface="Georgia"/>
                <a:cs typeface="Georgia"/>
                <a:sym typeface="Georgia"/>
              </a:rPr>
              <a:t>We confess: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280103" y="1783050"/>
            <a:ext cx="44349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Three gods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Three separate divine beings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One God divided into parts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One Person merely pretending to be three persons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583650" y="1503150"/>
            <a:ext cx="44349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One God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One divine essence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Three Hypostases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Father, Son, and Holy Spirit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Christ Reveals the Trinity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9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9"/>
          <p:cNvSpPr/>
          <p:nvPr/>
        </p:nvSpPr>
        <p:spPr>
          <a:xfrm>
            <a:off x="914400" y="1417320"/>
            <a:ext cx="10378440" cy="1325880"/>
          </a:xfrm>
          <a:prstGeom prst="roundRect">
            <a:avLst>
              <a:gd fmla="val 5517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1170432" y="1581912"/>
            <a:ext cx="9866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“Go therefore and make disciples of all the nations, baptizing them in the name of the Father and of the Son and of the Holy Spirit.”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1170432" y="2196951"/>
            <a:ext cx="98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Matthew 28:19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868675" y="2818675"/>
            <a:ext cx="4274700" cy="29418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6629400" y="2819000"/>
            <a:ext cx="4709400" cy="29418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697230" y="2915725"/>
            <a:ext cx="4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“In the name”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649290" y="2818675"/>
            <a:ext cx="4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2F5B2C"/>
                </a:solidFill>
                <a:latin typeface="Georgia"/>
                <a:ea typeface="Georgia"/>
                <a:cs typeface="Georgia"/>
                <a:sym typeface="Georgia"/>
              </a:rPr>
              <a:t>Father, Son, Holy Spirit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1234450" y="3589225"/>
            <a:ext cx="44349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683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Shows unity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One divine Name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One God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6629400" y="2823350"/>
            <a:ext cx="44349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68300" lvl="0" marL="13716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Shows distinction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13716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Three Hypostases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13716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Revealed by Christ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914400" y="5852160"/>
            <a:ext cx="10378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One Name, Three Hypostases.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116" name="Google Shape;1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What Does “Hypostasis” Mean?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10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0"/>
          <p:cNvSpPr/>
          <p:nvPr/>
        </p:nvSpPr>
        <p:spPr>
          <a:xfrm>
            <a:off x="1005840" y="1417320"/>
            <a:ext cx="10149840" cy="4069080"/>
          </a:xfrm>
          <a:prstGeom prst="roundRect">
            <a:avLst>
              <a:gd fmla="val 16667" name="adj"/>
            </a:avLst>
          </a:prstGeom>
          <a:solidFill>
            <a:srgbClr val="FFFFFF">
              <a:alpha val="83921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325880" y="1783080"/>
            <a:ext cx="9555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4180D"/>
                </a:solidFill>
              </a:rPr>
              <a:t>Hypostasis is a Greek theological term.</a:t>
            </a:r>
            <a:b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800"/>
              <a:buFont typeface="Arial"/>
              <a:buChar char="-"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In Orthodox teaching, it refers to a real personal distinction within the One God.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1800"/>
              <a:buFont typeface="Arial"/>
              <a:buChar char="-"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It can be understood as a distinct personal reality or personal property within the one divine nature.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1800"/>
              <a:buFont typeface="Arial"/>
              <a:buChar char="-"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Three Hypostases are not separate gods; they are the eternal personal realities of the One God.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1234440" y="5074935"/>
            <a:ext cx="973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2F5B2C"/>
                </a:solidFill>
                <a:latin typeface="Georgia"/>
                <a:ea typeface="Georgia"/>
                <a:cs typeface="Georgia"/>
                <a:sym typeface="Georgia"/>
              </a:rPr>
              <a:t>The Father • The Son • The Holy Spirit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129" name="Google Shape;1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1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The Three Hypostases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1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1"/>
          <p:cNvSpPr/>
          <p:nvPr/>
        </p:nvSpPr>
        <p:spPr>
          <a:xfrm>
            <a:off x="868680" y="1691640"/>
            <a:ext cx="3337560" cy="3200400"/>
          </a:xfrm>
          <a:prstGeom prst="roundRect">
            <a:avLst>
              <a:gd fmla="val 16667" name="adj"/>
            </a:avLst>
          </a:prstGeom>
          <a:solidFill>
            <a:srgbClr val="FFFFFF">
              <a:alpha val="85882"/>
            </a:srgbClr>
          </a:solidFill>
          <a:ln cap="flat" cmpd="sng" w="139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1051560" y="19659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The Father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11"/>
          <p:cNvCxnSpPr/>
          <p:nvPr/>
        </p:nvCxnSpPr>
        <p:spPr>
          <a:xfrm>
            <a:off x="1280160" y="251460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1"/>
          <p:cNvSpPr/>
          <p:nvPr/>
        </p:nvSpPr>
        <p:spPr>
          <a:xfrm>
            <a:off x="1188720" y="2852928"/>
            <a:ext cx="2697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origin, source, and fountainhead.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4617720" y="1691640"/>
            <a:ext cx="3337560" cy="3200400"/>
          </a:xfrm>
          <a:prstGeom prst="roundRect">
            <a:avLst>
              <a:gd fmla="val 16667" name="adj"/>
            </a:avLst>
          </a:prstGeom>
          <a:solidFill>
            <a:srgbClr val="FFFFFF">
              <a:alpha val="85882"/>
            </a:srgbClr>
          </a:solidFill>
          <a:ln cap="flat" cmpd="sng" w="139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800600" y="19659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The Son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11"/>
          <p:cNvCxnSpPr/>
          <p:nvPr/>
        </p:nvCxnSpPr>
        <p:spPr>
          <a:xfrm>
            <a:off x="5029200" y="251460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1"/>
          <p:cNvSpPr/>
          <p:nvPr/>
        </p:nvSpPr>
        <p:spPr>
          <a:xfrm>
            <a:off x="4937760" y="2852928"/>
            <a:ext cx="2697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Word, the divine intellect, begotten of the Father.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366760" y="1691640"/>
            <a:ext cx="3337560" cy="3200400"/>
          </a:xfrm>
          <a:prstGeom prst="roundRect">
            <a:avLst>
              <a:gd fmla="val 16667" name="adj"/>
            </a:avLst>
          </a:prstGeom>
          <a:solidFill>
            <a:srgbClr val="FFFFFF">
              <a:alpha val="85882"/>
            </a:srgbClr>
          </a:solidFill>
          <a:ln cap="flat" cmpd="sng" w="139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8549640" y="19659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The Holy Spirit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1"/>
          <p:cNvCxnSpPr/>
          <p:nvPr/>
        </p:nvCxnSpPr>
        <p:spPr>
          <a:xfrm>
            <a:off x="8778240" y="251460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1"/>
          <p:cNvSpPr/>
          <p:nvPr/>
        </p:nvSpPr>
        <p:spPr>
          <a:xfrm>
            <a:off x="8686800" y="2852928"/>
            <a:ext cx="2697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giver of life, proceeding from the Father, the Spirit of life.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These names are not human inventions. Christ Himself gives them in Matthew 28:19.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Important Precaution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12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2"/>
          <p:cNvSpPr/>
          <p:nvPr/>
        </p:nvSpPr>
        <p:spPr>
          <a:xfrm>
            <a:off x="1005840" y="141732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When we speak about the Father, Son, and Holy Spirit, we must be careful.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868675" y="2057399"/>
            <a:ext cx="5074800" cy="37032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6263650" y="2057524"/>
            <a:ext cx="5074800" cy="37032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097218" y="2214850"/>
            <a:ext cx="4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We reject: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6492190" y="2121400"/>
            <a:ext cx="4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2F5B2C"/>
                </a:solidFill>
                <a:latin typeface="Georgia"/>
                <a:ea typeface="Georgia"/>
                <a:cs typeface="Georgia"/>
                <a:sym typeface="Georgia"/>
              </a:rPr>
              <a:t>Equal in: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1234440" y="2057400"/>
            <a:ext cx="4434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Father as “more divine”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Son as “less divine”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Holy Spirit as a lesser force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629400" y="2534950"/>
            <a:ext cx="4434900" cy="28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Honor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Divinity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Essence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Eternity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Glory and Worship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169" name="Google Shape;1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3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No Separation in the Trinity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13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3"/>
          <p:cNvSpPr/>
          <p:nvPr/>
        </p:nvSpPr>
        <p:spPr>
          <a:xfrm>
            <a:off x="1120150" y="2260990"/>
            <a:ext cx="9966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-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Father, Son, and Holy Spirit are distinct, but never separated.</a:t>
            </a:r>
            <a:b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2418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Char char="-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Son is in the Father. The Father is in the Son. The Holy Spirit is with the Father and the Son.</a:t>
            </a:r>
            <a:b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Char char="-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Three are always united in essence, will, power, and divine action.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1374170" y="4892025"/>
            <a:ext cx="9327000" cy="960000"/>
          </a:xfrm>
          <a:prstGeom prst="roundRect">
            <a:avLst>
              <a:gd fmla="val 7619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1673352" y="5143417"/>
            <a:ext cx="881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“I am in the Father, and the Father in Me.”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1687065" y="5577706"/>
            <a:ext cx="881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John 14:10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183" name="Google Shape;1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4"/>
          <p:cNvSpPr/>
          <p:nvPr/>
        </p:nvSpPr>
        <p:spPr>
          <a:xfrm>
            <a:off x="383998" y="493775"/>
            <a:ext cx="11421000" cy="5870400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No One Comes Before the Other in Time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4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4"/>
          <p:cNvSpPr/>
          <p:nvPr/>
        </p:nvSpPr>
        <p:spPr>
          <a:xfrm>
            <a:off x="1124738" y="1753165"/>
            <a:ext cx="9966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600"/>
              <a:buFont typeface="Arial"/>
              <a:buChar char="-"/>
            </a:pPr>
            <a:r>
              <a:rPr lang="en-US" sz="2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Father never existed without the Son or the Holy Spirit.</a:t>
            </a:r>
            <a:br>
              <a:rPr lang="en-US" sz="2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</a:b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600"/>
              <a:buFont typeface="Arial"/>
              <a:buChar char="-"/>
            </a:pPr>
            <a:r>
              <a:rPr lang="en-US" sz="2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There was never a time when the Father was without His Word or without His Spirit.</a:t>
            </a:r>
            <a:br>
              <a:rPr lang="en-US" sz="2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</a:b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600"/>
              <a:buFont typeface="Arial"/>
              <a:buChar char="-"/>
            </a:pPr>
            <a:r>
              <a:rPr lang="en-US" sz="26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There was never a time when the Son or the Holy Spirit did not exist.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1239003" y="4800590"/>
            <a:ext cx="9738300" cy="1280100"/>
          </a:xfrm>
          <a:prstGeom prst="roundRect">
            <a:avLst>
              <a:gd fmla="val 16667" name="adj"/>
            </a:avLst>
          </a:prstGeom>
          <a:solidFill>
            <a:srgbClr val="FFFFFF">
              <a:alpha val="80000"/>
            </a:srgbClr>
          </a:solidFill>
          <a:ln cap="flat" cmpd="sng" w="139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1499622" y="5115722"/>
            <a:ext cx="918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Like a candle: flame and light come together; neither precedes the other.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1513335" y="5504935"/>
            <a:ext cx="918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Likewise, the Father, Son, and Holy Spirit are eternal together.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Analogy of Man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5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5"/>
          <p:cNvSpPr/>
          <p:nvPr/>
        </p:nvSpPr>
        <p:spPr>
          <a:xfrm>
            <a:off x="868680" y="1417320"/>
            <a:ext cx="5074920" cy="43434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263640" y="1417320"/>
            <a:ext cx="5074920" cy="43434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1097280" y="16002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A human person has: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6492240" y="160020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2F5B2C"/>
                </a:solidFill>
                <a:latin typeface="Georgia"/>
                <a:ea typeface="Georgia"/>
                <a:cs typeface="Georgia"/>
                <a:sym typeface="Georgia"/>
              </a:rPr>
              <a:t>What this helps show: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1234440" y="2057400"/>
            <a:ext cx="4434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Inner existence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Intellect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Life or liveliness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629400" y="2057400"/>
            <a:ext cx="4434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Unity and distinction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mind is not separated from the person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God remains greater than every comparison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960120" y="580644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1450"/>
              <a:buFont typeface="Arial"/>
              <a:buNone/>
            </a:pPr>
            <a:r>
              <a:rPr i="1" lang="en-US" sz="145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Every analogy is limited. We use it humbly, not as a full explanation of God.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214" name="Google Shape;2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6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Analogy of the Sun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6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6"/>
          <p:cNvSpPr/>
          <p:nvPr/>
        </p:nvSpPr>
        <p:spPr>
          <a:xfrm>
            <a:off x="1097280" y="1444752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The sun can help us understand unity and distinction.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868675" y="2057399"/>
            <a:ext cx="5074800" cy="37032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263650" y="2057524"/>
            <a:ext cx="5074800" cy="3703200"/>
          </a:xfrm>
          <a:prstGeom prst="roundRect">
            <a:avLst>
              <a:gd fmla="val 16667" name="adj"/>
            </a:avLst>
          </a:prstGeom>
          <a:solidFill>
            <a:srgbClr val="FFFDF4">
              <a:alpha val="92156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097218" y="2311875"/>
            <a:ext cx="4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The sun has: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6492190" y="2247175"/>
            <a:ext cx="461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2F5B2C"/>
                </a:solidFill>
                <a:latin typeface="Georgia"/>
                <a:ea typeface="Georgia"/>
                <a:cs typeface="Georgia"/>
                <a:sym typeface="Georgia"/>
              </a:rPr>
              <a:t>The point: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234440" y="2057400"/>
            <a:ext cx="4434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Disc of fire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Light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Heat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6629400" y="2057400"/>
            <a:ext cx="4434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Distinct in effect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Not separated from the sun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A limited analogy for the Trinity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960120" y="580644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Likewise, the Father, Son, and Holy Spirit are distinct, but not separated.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The Role of the Holy Trinity in Our Life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7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7"/>
          <p:cNvSpPr/>
          <p:nvPr/>
        </p:nvSpPr>
        <p:spPr>
          <a:xfrm>
            <a:off x="1143000" y="1463040"/>
            <a:ext cx="9921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The Trinity is not only a doctrine to memorize. The Holy Trinity is active in our salvation.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1874520" y="2468880"/>
            <a:ext cx="8458200" cy="658368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2148840" y="26151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The Father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4754880" y="261518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wills and sends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1874520" y="3383280"/>
            <a:ext cx="8458200" cy="658368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2148840" y="35295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The Son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4754880" y="352958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redeems and restores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874520" y="4297680"/>
            <a:ext cx="8458200" cy="658368"/>
          </a:xfrm>
          <a:prstGeom prst="roundRect">
            <a:avLst>
              <a:gd fmla="val 16667" name="adj"/>
            </a:avLst>
          </a:prstGeom>
          <a:solidFill>
            <a:srgbClr val="FFFFFF">
              <a:alpha val="85098"/>
            </a:srgbClr>
          </a:solidFill>
          <a:ln cap="flat" cmpd="sng" w="1270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2148840" y="44439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The Holy Spirit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4754880" y="444398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sanctifies and gives life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252" name="Google Shape;2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8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The Work of the Father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18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8"/>
          <p:cNvSpPr/>
          <p:nvPr/>
        </p:nvSpPr>
        <p:spPr>
          <a:xfrm>
            <a:off x="1325880" y="1417320"/>
            <a:ext cx="9509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Chose us in Christ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Destined us in love to be His children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Called us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Created all things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Receives us when we repent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188720" y="3931920"/>
            <a:ext cx="978408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1444752" y="4096512"/>
            <a:ext cx="9272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“He chose us in Him before the foundation of the world.”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1467565" y="4480676"/>
            <a:ext cx="927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Ephesians 1:4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914400" y="5779008"/>
            <a:ext cx="10378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Related references: Ephesians 1:3–5 • Romans 8:30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267" name="Google Shape;2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9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The Work of the Son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9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9"/>
          <p:cNvSpPr/>
          <p:nvPr/>
        </p:nvSpPr>
        <p:spPr>
          <a:xfrm>
            <a:off x="1325880" y="1417320"/>
            <a:ext cx="95097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Gives life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Redeems us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Forgives sins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Restores the image of God in man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Became man for our salvation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1188720" y="3703320"/>
            <a:ext cx="978408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1444752" y="3867912"/>
            <a:ext cx="9272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“In Him was life, and the life was the light of men.”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1444752" y="4263426"/>
            <a:ext cx="927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John 1:4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1188720" y="4663440"/>
            <a:ext cx="978408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1444752" y="4828032"/>
            <a:ext cx="9272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“In Him we have redemption through His blood, the forgiveness of sins.”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1444752" y="5234934"/>
            <a:ext cx="927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Ephesians 1:7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284" name="Google Shape;2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The Work of the Holy Spirit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20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20"/>
          <p:cNvSpPr/>
          <p:nvPr/>
        </p:nvSpPr>
        <p:spPr>
          <a:xfrm>
            <a:off x="1325880" y="1417320"/>
            <a:ext cx="950976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Gives new birth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Sanctifies us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Convicts the world of sin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Comforts us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Raises our worship to God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1188720" y="3703320"/>
            <a:ext cx="978408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1444752" y="3867912"/>
            <a:ext cx="9272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“Unless one is born of water and the Spirit, he cannot enter the kingdom of God.”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1444752" y="4263426"/>
            <a:ext cx="927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John 3:5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1188720" y="4663440"/>
            <a:ext cx="9784080" cy="822960"/>
          </a:xfrm>
          <a:prstGeom prst="roundRect">
            <a:avLst>
              <a:gd fmla="val 8889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1444752" y="4828032"/>
            <a:ext cx="9272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“He will convict the world of sin.”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1444752" y="5234934"/>
            <a:ext cx="927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John 16:8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01" name="Google Shape;3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The Trinity in Baptism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21"/>
          <p:cNvSpPr/>
          <p:nvPr/>
        </p:nvSpPr>
        <p:spPr>
          <a:xfrm>
            <a:off x="1143000" y="1463040"/>
            <a:ext cx="9875520" cy="960120"/>
          </a:xfrm>
          <a:prstGeom prst="roundRect">
            <a:avLst>
              <a:gd fmla="val 7619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1399032" y="1627632"/>
            <a:ext cx="93634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“In the name of the Father and of the Son and of the Holy Spirit.”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1399032" y="2139696"/>
            <a:ext cx="9363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Matthew 28:19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1234440" y="2971800"/>
            <a:ext cx="9692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In Orthodox life, baptism is not only symbolic.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It is the new birth by water and the Spirit.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Through baptism, we are united to Christ, receive new life, and enter the life of the Church.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15" name="Google Shape;3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Common Misunderstandings to Avoid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22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22"/>
          <p:cNvSpPr/>
          <p:nvPr/>
        </p:nvSpPr>
        <p:spPr>
          <a:xfrm>
            <a:off x="868680" y="1325880"/>
            <a:ext cx="10469880" cy="804672"/>
          </a:xfrm>
          <a:prstGeom prst="roundRect">
            <a:avLst>
              <a:gd fmla="val 16667" name="adj"/>
            </a:avLst>
          </a:prstGeom>
          <a:solidFill>
            <a:srgbClr val="FFFFFF">
              <a:alpha val="83921"/>
            </a:srgbClr>
          </a:solidFill>
          <a:ln cap="flat" cmpd="sng" w="101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1051560" y="1453896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False: Christians believe in three gods.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5989320" y="145389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Truth: We believe in One God.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868680" y="2350008"/>
            <a:ext cx="10469880" cy="804672"/>
          </a:xfrm>
          <a:prstGeom prst="roundRect">
            <a:avLst>
              <a:gd fmla="val 16667" name="adj"/>
            </a:avLst>
          </a:prstGeom>
          <a:solidFill>
            <a:srgbClr val="FFFFFF">
              <a:alpha val="83921"/>
            </a:srgbClr>
          </a:solidFill>
          <a:ln cap="flat" cmpd="sng" w="101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51560" y="2478024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False: The Three are just three names for one Person.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5989320" y="247802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Truth: They are three real Hypostases.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868680" y="3374136"/>
            <a:ext cx="10469880" cy="804672"/>
          </a:xfrm>
          <a:prstGeom prst="roundRect">
            <a:avLst>
              <a:gd fmla="val 16667" name="adj"/>
            </a:avLst>
          </a:prstGeom>
          <a:solidFill>
            <a:srgbClr val="FFFFFF">
              <a:alpha val="83921"/>
            </a:srgbClr>
          </a:solidFill>
          <a:ln cap="flat" cmpd="sng" w="101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1051560" y="35021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False: The Son and Holy Spirit are created beings.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5989320" y="35021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Truth: They are eternal and divine.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868680" y="4398264"/>
            <a:ext cx="10469880" cy="804672"/>
          </a:xfrm>
          <a:prstGeom prst="roundRect">
            <a:avLst>
              <a:gd fmla="val 16667" name="adj"/>
            </a:avLst>
          </a:prstGeom>
          <a:solidFill>
            <a:srgbClr val="FFFFFF">
              <a:alpha val="83921"/>
            </a:srgbClr>
          </a:solidFill>
          <a:ln cap="flat" cmpd="sng" w="101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1051560" y="45262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False: The Trinity can be fully explained by human logic.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5989320" y="45262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B2C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2F5B2C"/>
                </a:solidFill>
                <a:latin typeface="Arial"/>
                <a:ea typeface="Arial"/>
                <a:cs typeface="Arial"/>
                <a:sym typeface="Arial"/>
              </a:rPr>
              <a:t>Truth: The Trinity is a divine mystery revealed by God.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37" name="Google Shape;3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3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Orthodox Summary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3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23"/>
          <p:cNvSpPr/>
          <p:nvPr/>
        </p:nvSpPr>
        <p:spPr>
          <a:xfrm>
            <a:off x="1051560" y="141732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We worship One God.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1234440" y="2148840"/>
            <a:ext cx="9875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This One God is not alone or lifeless.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He is eternally Father, Son, and Holy Spirit.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Father is the source.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Son is begotten of the Father.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Holy Spirit proceeds from the Father.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They are distinct in Hypostasis, but one in essence, divinity, glory, and worship.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eg" id="348" name="Google Shape;3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4"/>
          <p:cNvSpPr txBox="1"/>
          <p:nvPr/>
        </p:nvSpPr>
        <p:spPr>
          <a:xfrm>
            <a:off x="853417" y="548640"/>
            <a:ext cx="1097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5A3200"/>
                </a:solidFill>
                <a:latin typeface="Calibri"/>
                <a:ea typeface="Calibri"/>
                <a:cs typeface="Calibri"/>
                <a:sym typeface="Calibri"/>
              </a:rPr>
              <a:t>The Foundation — The Nicene Creed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371723" y="1431475"/>
            <a:ext cx="7318500" cy="4199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Nicene Creed: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“We believe in one God, God the Father Almighty, Maker of heaven and earth, and of all things visible and invisible.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in one Lord Jesus Christ, the only-begotten Son of God, begotten of the Father before all worlds; Light of Light, very God of very God, begotten, not made, being of one essence with the Father; by whom all things were made;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for us men and for our salvation came down from heaven, and was incarnate of the Holy Spirit and of the Virgin Mary, and became man;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was crucified for us under Pontius Pilate, and suffered and was buried;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third day He rose again, according to the Scriptures;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ascended into heaven, and sits at the right hand of the Father;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He shall come again with glory to judge the living and the dead; whose kingdom shall have no end.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we believe in the Holy Spirit, the Lord, the Giver of Life, who proceeds from the Father; who with the Father and the Son together is worshipped and glorified; who spoke by the prophets.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in one holy catholic and apostolic Church.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acknowledge one baptism for the remission of sins.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look for the resurrection of the dead, and the life of the world to come. Amen.”</a:t>
            </a:r>
            <a:endParaRPr i="0" sz="2200" u="none" cap="none" strike="noStrike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7690328" y="2636175"/>
            <a:ext cx="4122300" cy="295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dk1"/>
                </a:solidFill>
              </a:rPr>
              <a:t>The Creed was established during two major Church councils: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First Council of Nicaea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First Council of Constantinople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dk1"/>
                </a:solidFill>
              </a:rPr>
              <a:t>The purpose was to: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Defend the truth about Christ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Reject false teachings (like denying Christ’s divinity)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Unite the Church in one clear belief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352" name="Google Shape;352;p24"/>
          <p:cNvSpPr txBox="1"/>
          <p:nvPr/>
        </p:nvSpPr>
        <p:spPr>
          <a:xfrm>
            <a:off x="7690328" y="1431475"/>
            <a:ext cx="4122300" cy="1245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Nicene Creed is the official statement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of faith of the Church.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It clearly defines what we believe about God, especially about: The Trinity.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2761626" y="1337925"/>
            <a:ext cx="3999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E0E0E"/>
                </a:solidFill>
              </a:rPr>
              <a:t>(Excerpt from the Nicene-Constantinopolitan Creed)</a:t>
            </a:r>
            <a:endParaRPr i="1" sz="1050">
              <a:solidFill>
                <a:srgbClr val="0E0E0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59" name="Google Shape;3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5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Practical Application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25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25"/>
          <p:cNvSpPr/>
          <p:nvPr/>
        </p:nvSpPr>
        <p:spPr>
          <a:xfrm>
            <a:off x="1051560" y="141732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Because God is Trinity: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1394420" y="2337750"/>
            <a:ext cx="94641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We worship one God with reverence:</a:t>
            </a:r>
            <a:r>
              <a:rPr lang="en-US" sz="1900">
                <a:solidFill>
                  <a:schemeClr val="dk1"/>
                </a:solidFill>
              </a:rPr>
              <a:t> Father, Son, and Holy Spirit, one in essence and glory.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We pray in a Trinitarian way:</a:t>
            </a:r>
            <a:r>
              <a:rPr lang="en-US" sz="1900">
                <a:solidFill>
                  <a:schemeClr val="dk1"/>
                </a:solidFill>
              </a:rPr>
              <a:t> to the Father, through the Son, in the Holy Spirit.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We live in communion:</a:t>
            </a:r>
            <a:r>
              <a:rPr lang="en-US" sz="1900">
                <a:solidFill>
                  <a:schemeClr val="dk1"/>
                </a:solidFill>
              </a:rPr>
              <a:t> because God Himself is eternal love and communion.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We guard the true faith:</a:t>
            </a:r>
            <a:r>
              <a:rPr lang="en-US" sz="1900">
                <a:solidFill>
                  <a:schemeClr val="dk1"/>
                </a:solidFill>
              </a:rPr>
              <a:t> rejecting confusion, false teaching, and the idea of “three gods.”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We confess with confidence:</a:t>
            </a:r>
            <a:r>
              <a:rPr lang="en-US" sz="1900">
                <a:solidFill>
                  <a:schemeClr val="dk1"/>
                </a:solidFill>
              </a:rPr>
              <a:t> the faith revealed by Christ, taught by the apostles, and preserved by the Church.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We seek holiness:</a:t>
            </a:r>
            <a:r>
              <a:rPr lang="en-US" sz="1900">
                <a:solidFill>
                  <a:schemeClr val="dk1"/>
                </a:solidFill>
              </a:rPr>
              <a:t> allowing the Holy Spirit to sanctify us and draw us into the life of God.</a:t>
            </a:r>
            <a:endParaRPr sz="19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4180D"/>
              </a:solidFill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71" name="Google Shape;3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Discussion Questions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6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26"/>
          <p:cNvSpPr/>
          <p:nvPr/>
        </p:nvSpPr>
        <p:spPr>
          <a:xfrm>
            <a:off x="1188720" y="1463040"/>
            <a:ext cx="996696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Why do some people misunderstand the Trinity as belief in three gods?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How does Matthew 28:19 show both unity and distinction?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Why is it important to say the Father, Son, and Holy Spirit are distinct but not separated?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Which analogy helps you most: man, the sun, or the candle? Why?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How does the doctrine of the Trinity affect the way we pray and worship?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82" name="Google Shape;3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7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Memory Verse Review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27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27"/>
          <p:cNvSpPr/>
          <p:nvPr/>
        </p:nvSpPr>
        <p:spPr>
          <a:xfrm>
            <a:off x="1737360" y="1828800"/>
            <a:ext cx="8686800" cy="1051560"/>
          </a:xfrm>
          <a:prstGeom prst="roundRect">
            <a:avLst>
              <a:gd fmla="val 6957" name="adj"/>
            </a:avLst>
          </a:prstGeom>
          <a:solidFill>
            <a:srgbClr val="FFFFFF">
              <a:alpha val="78039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1993392" y="1993392"/>
            <a:ext cx="8174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000"/>
              <a:buFont typeface="Georgia"/>
              <a:buNone/>
            </a:pPr>
            <a:r>
              <a:rPr i="1" lang="en-US" sz="20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“I and My Father are one.”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1993392" y="2505456"/>
            <a:ext cx="8174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7B1E13"/>
                </a:solidFill>
                <a:latin typeface="Arial"/>
                <a:ea typeface="Arial"/>
                <a:cs typeface="Arial"/>
                <a:sym typeface="Arial"/>
              </a:rPr>
              <a:t>John 10:30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1463040" y="3520440"/>
            <a:ext cx="9235440" cy="1143000"/>
          </a:xfrm>
          <a:prstGeom prst="roundRect">
            <a:avLst>
              <a:gd fmla="val 16667" name="adj"/>
            </a:avLst>
          </a:prstGeom>
          <a:solidFill>
            <a:srgbClr val="FFFFFF">
              <a:alpha val="83921"/>
            </a:srgbClr>
          </a:solidFill>
          <a:ln cap="flat" cmpd="sng" w="13950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1691640" y="376732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Reflection Question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1828800" y="4133088"/>
            <a:ext cx="8549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What does this verse teach us about the unity of the Father and the Son?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398" name="Google Shape;3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8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28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8"/>
          <p:cNvSpPr/>
          <p:nvPr/>
        </p:nvSpPr>
        <p:spPr>
          <a:xfrm>
            <a:off x="1143000" y="1508760"/>
            <a:ext cx="99669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We believe in One God in Three Hypostases.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We do not worship three gods.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We worship the Father, the Son, and the Holy Spirit: one in essence, divinity, glory, and worship.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The Trinity is a mystery, but it is not confusion.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spcBef>
                <a:spcPts val="1000"/>
              </a:spcBef>
              <a:spcAft>
                <a:spcPts val="1000"/>
              </a:spcAft>
              <a:buClr>
                <a:srgbClr val="24180D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It is the true faith revealed by Christ, taught by the apostles, preserved by the Church, and confessed in the Orthodox Creed.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bg_trinity_wide.jpg" id="409" name="Google Shape;4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9"/>
          <p:cNvSpPr/>
          <p:nvPr/>
        </p:nvSpPr>
        <p:spPr>
          <a:xfrm>
            <a:off x="384048" y="475488"/>
            <a:ext cx="11420856" cy="5870448"/>
          </a:xfrm>
          <a:prstGeom prst="rect">
            <a:avLst/>
          </a:prstGeom>
          <a:solidFill>
            <a:srgbClr val="FFF8E7">
              <a:alpha val="87843"/>
            </a:srgbClr>
          </a:solidFill>
          <a:ln cap="flat" cmpd="sng" w="15225">
            <a:solidFill>
              <a:srgbClr val="B6821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731520" y="530352"/>
            <a:ext cx="10744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500"/>
              <a:buFont typeface="Georgia"/>
              <a:buNone/>
            </a:pPr>
            <a:r>
              <a:rPr b="1" lang="en-US" sz="2500">
                <a:solidFill>
                  <a:srgbClr val="3D2412"/>
                </a:solidFill>
                <a:latin typeface="Georgia"/>
                <a:ea typeface="Georgia"/>
                <a:cs typeface="Georgia"/>
                <a:sym typeface="Georgia"/>
              </a:rPr>
              <a:t>Closing Statement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29"/>
          <p:cNvCxnSpPr/>
          <p:nvPr/>
        </p:nvCxnSpPr>
        <p:spPr>
          <a:xfrm>
            <a:off x="2651760" y="1078992"/>
            <a:ext cx="6858000" cy="0"/>
          </a:xfrm>
          <a:prstGeom prst="straightConnector1">
            <a:avLst/>
          </a:prstGeom>
          <a:noFill/>
          <a:ln cap="flat" cmpd="sng" w="16500">
            <a:solidFill>
              <a:srgbClr val="A36B0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29"/>
          <p:cNvSpPr/>
          <p:nvPr/>
        </p:nvSpPr>
        <p:spPr>
          <a:xfrm>
            <a:off x="1005840" y="150876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E13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7B1E13"/>
                </a:solidFill>
                <a:latin typeface="Georgia"/>
                <a:ea typeface="Georgia"/>
                <a:cs typeface="Georgia"/>
                <a:sym typeface="Georgia"/>
              </a:rPr>
              <a:t>Final takeaway: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1234440" y="2057400"/>
            <a:ext cx="9738360" cy="1874520"/>
          </a:xfrm>
          <a:prstGeom prst="roundRect">
            <a:avLst>
              <a:gd fmla="val 16667" name="adj"/>
            </a:avLst>
          </a:prstGeom>
          <a:solidFill>
            <a:srgbClr val="FFFFFF">
              <a:alpha val="83921"/>
            </a:srgbClr>
          </a:solidFill>
          <a:ln cap="flat" cmpd="sng" w="15225">
            <a:solidFill>
              <a:srgbClr val="A3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1554480" y="2423160"/>
            <a:ext cx="9098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2412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3D2412"/>
                </a:solidFill>
                <a:latin typeface="Arial"/>
                <a:ea typeface="Arial"/>
                <a:cs typeface="Arial"/>
                <a:sym typeface="Arial"/>
              </a:rPr>
              <a:t>The Holy Trinity teaches us that God is One, eternal, living, loving, and revealed to us as Father, Son, and Holy Spirit.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1600200" y="4343400"/>
            <a:ext cx="9006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180D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180D"/>
                </a:solidFill>
                <a:latin typeface="Arial"/>
                <a:ea typeface="Arial"/>
                <a:cs typeface="Arial"/>
                <a:sym typeface="Arial"/>
              </a:rPr>
              <a:t>To know the Trinity is not only to know a doctrine; it is to enter the life, worship, and salvation given to us by the One true God.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713232" y="6419088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552B"/>
              </a:buClr>
              <a:buSzPts val="720"/>
              <a:buFont typeface="Arial"/>
              <a:buNone/>
            </a:pPr>
            <a:r>
              <a:rPr i="1" lang="en-US" sz="720">
                <a:solidFill>
                  <a:srgbClr val="6C552B"/>
                </a:solidFill>
                <a:latin typeface="Arial"/>
                <a:ea typeface="Arial"/>
                <a:cs typeface="Arial"/>
                <a:sym typeface="Arial"/>
              </a:rPr>
              <a:t>Scripture references: OSB/NKJV wording where quoted • Source: Week 19 lesson article, “Trinitarianism and Monotheism.”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