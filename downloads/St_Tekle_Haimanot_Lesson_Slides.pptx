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472990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472990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4729908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4729908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472990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472990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472990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472990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472990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472990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472990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472990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4729908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34729908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4729908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34729908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34729908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34729908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472990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3472990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4729908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34729908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Life Of Saint Tekle Haimanot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Dn Yonnas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Saint Teklehaimanot: The Six-Winged Pillar of Faith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497800" cy="41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Name &amp; Meaning:</a:t>
            </a:r>
            <a:r>
              <a:rPr lang="en" sz="1211">
                <a:solidFill>
                  <a:schemeClr val="dk1"/>
                </a:solidFill>
              </a:rPr>
              <a:t> </a:t>
            </a:r>
            <a:r>
              <a:rPr b="1" lang="en" sz="1211">
                <a:solidFill>
                  <a:schemeClr val="dk1"/>
                </a:solidFill>
              </a:rPr>
              <a:t>Tekle Haymanot</a:t>
            </a:r>
            <a:r>
              <a:rPr lang="en" sz="1211">
                <a:solidFill>
                  <a:schemeClr val="dk1"/>
                </a:solidFill>
              </a:rPr>
              <a:t> ("Plant of Faith"). His </a:t>
            </a:r>
            <a:r>
              <a:rPr i="1" lang="en" sz="1211">
                <a:solidFill>
                  <a:schemeClr val="dk1"/>
                </a:solidFill>
              </a:rPr>
              <a:t>Gädlä</a:t>
            </a:r>
            <a:r>
              <a:rPr lang="en" sz="1211">
                <a:solidFill>
                  <a:schemeClr val="dk1"/>
                </a:solidFill>
              </a:rPr>
              <a:t> (life story) elaborates this as </a:t>
            </a:r>
            <a:r>
              <a:rPr b="1" lang="en" sz="1211">
                <a:solidFill>
                  <a:schemeClr val="dk1"/>
                </a:solidFill>
              </a:rPr>
              <a:t>"Plant of the Father, the Son, and the Holy Spirit."</a:t>
            </a:r>
            <a:br>
              <a:rPr b="1" lang="en" sz="1211">
                <a:solidFill>
                  <a:schemeClr val="dk1"/>
                </a:solidFill>
              </a:rPr>
            </a:br>
            <a:endParaRPr b="1"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Identity:</a:t>
            </a:r>
            <a:r>
              <a:rPr lang="en" sz="1211">
                <a:solidFill>
                  <a:schemeClr val="dk1"/>
                </a:solidFill>
              </a:rPr>
              <a:t> Monk, Hermit, Missionary, and </a:t>
            </a:r>
            <a:r>
              <a:rPr b="1" lang="en" sz="1211">
                <a:solidFill>
                  <a:schemeClr val="dk1"/>
                </a:solidFill>
              </a:rPr>
              <a:t>Founder of Debre Libanos Monastery</a:t>
            </a:r>
            <a:r>
              <a:rPr lang="en" sz="1211">
                <a:solidFill>
                  <a:schemeClr val="dk1"/>
                </a:solidFill>
              </a:rPr>
              <a:t> (Shewa).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Origin:</a:t>
            </a:r>
            <a:r>
              <a:rPr lang="en" sz="1211">
                <a:solidFill>
                  <a:schemeClr val="dk1"/>
                </a:solidFill>
              </a:rPr>
              <a:t> Born in </a:t>
            </a:r>
            <a:r>
              <a:rPr b="1" lang="en" sz="1211">
                <a:solidFill>
                  <a:schemeClr val="dk1"/>
                </a:solidFill>
              </a:rPr>
              <a:t>Zorare (Bulga, Shewa)</a:t>
            </a:r>
            <a:r>
              <a:rPr lang="en" sz="1211">
                <a:solidFill>
                  <a:schemeClr val="dk1"/>
                </a:solidFill>
              </a:rPr>
              <a:t> to the priest </a:t>
            </a:r>
            <a:r>
              <a:rPr b="1" lang="en" sz="1211">
                <a:solidFill>
                  <a:schemeClr val="dk1"/>
                </a:solidFill>
              </a:rPr>
              <a:t>Tsega Ze’ab</a:t>
            </a:r>
            <a:r>
              <a:rPr lang="en" sz="1211">
                <a:solidFill>
                  <a:schemeClr val="dk1"/>
                </a:solidFill>
              </a:rPr>
              <a:t> ("Grace of God") and </a:t>
            </a:r>
            <a:r>
              <a:rPr b="1" lang="en" sz="1211">
                <a:solidFill>
                  <a:schemeClr val="dk1"/>
                </a:solidFill>
              </a:rPr>
              <a:t>Egzi’e Haraya</a:t>
            </a:r>
            <a:r>
              <a:rPr lang="en" sz="1211">
                <a:solidFill>
                  <a:schemeClr val="dk1"/>
                </a:solidFill>
              </a:rPr>
              <a:t> ("Choice of God," also called Sarah).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Veneration:</a:t>
            </a:r>
            <a:r>
              <a:rPr lang="en" sz="1211">
                <a:solidFill>
                  <a:schemeClr val="dk1"/>
                </a:solidFill>
              </a:rPr>
              <a:t> Feast day is </a:t>
            </a:r>
            <a:r>
              <a:rPr b="1" lang="en" sz="1211">
                <a:solidFill>
                  <a:schemeClr val="dk1"/>
                </a:solidFill>
              </a:rPr>
              <a:t>August 30</a:t>
            </a:r>
            <a:r>
              <a:rPr lang="en" sz="1211">
                <a:solidFill>
                  <a:schemeClr val="dk1"/>
                </a:solidFill>
              </a:rPr>
              <a:t> (Gregorian) / </a:t>
            </a:r>
            <a:r>
              <a:rPr b="1" lang="en" sz="1211">
                <a:solidFill>
                  <a:schemeClr val="dk1"/>
                </a:solidFill>
              </a:rPr>
              <a:t>Nehase 24</a:t>
            </a:r>
            <a:r>
              <a:rPr lang="en" sz="1211">
                <a:solidFill>
                  <a:schemeClr val="dk1"/>
                </a:solidFill>
              </a:rPr>
              <a:t> (Ethiopian). Veneration is </a:t>
            </a:r>
            <a:r>
              <a:rPr b="1" lang="en" sz="1211">
                <a:solidFill>
                  <a:schemeClr val="dk1"/>
                </a:solidFill>
              </a:rPr>
              <a:t>official</a:t>
            </a:r>
            <a:r>
              <a:rPr lang="en" sz="1211">
                <a:solidFill>
                  <a:schemeClr val="dk1"/>
                </a:solidFill>
              </a:rPr>
              <a:t> in Rome and Egypt (Coptic Church).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Iconography:</a:t>
            </a:r>
            <a:r>
              <a:rPr lang="en" sz="1211">
                <a:solidFill>
                  <a:schemeClr val="dk1"/>
                </a:solidFill>
              </a:rPr>
              <a:t> Depicted with </a:t>
            </a:r>
            <a:r>
              <a:rPr b="1" lang="en" sz="1211">
                <a:solidFill>
                  <a:schemeClr val="dk1"/>
                </a:solidFill>
              </a:rPr>
              <a:t>six wings</a:t>
            </a:r>
            <a:r>
              <a:rPr lang="en" sz="1211">
                <a:solidFill>
                  <a:schemeClr val="dk1"/>
                </a:solidFill>
              </a:rPr>
              <a:t> (Seraphic grace) and standing on </a:t>
            </a:r>
            <a:r>
              <a:rPr b="1" lang="en" sz="1211">
                <a:solidFill>
                  <a:schemeClr val="dk1"/>
                </a:solidFill>
              </a:rPr>
              <a:t>one leg</a:t>
            </a:r>
            <a:r>
              <a:rPr lang="en" sz="1211">
                <a:solidFill>
                  <a:schemeClr val="dk1"/>
                </a:solidFill>
              </a:rPr>
              <a:t> (a sign of unceasing, sacrificial prayer).</a:t>
            </a:r>
            <a:endParaRPr sz="121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613" y="1189813"/>
            <a:ext cx="2390775" cy="3171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 of Ethiopia in the 13th Century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60183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Land:</a:t>
            </a:r>
            <a:r>
              <a:rPr lang="en" sz="1400">
                <a:solidFill>
                  <a:schemeClr val="dk1"/>
                </a:solidFill>
              </a:rPr>
              <a:t> Ethiopia's central and southern provinces (like Shewa, where he was born).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Political Climate:</a:t>
            </a:r>
            <a:r>
              <a:rPr lang="en" sz="1400">
                <a:solidFill>
                  <a:schemeClr val="dk1"/>
                </a:solidFill>
              </a:rPr>
              <a:t> A period of instability following the Zagwe Dynasty.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Spiritual Climate: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Christianity, while strong in the North, had weakened in the South.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Syncretism: Many people mixed Christian beliefs with local pagan rituals and spirit worship.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Isolation: Priests were few, and monastic centers of learning were far away.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 need for </a:t>
            </a:r>
            <a:r>
              <a:rPr i="1" lang="en" sz="1400">
                <a:solidFill>
                  <a:schemeClr val="dk1"/>
                </a:solidFill>
              </a:rPr>
              <a:t>re-evangelization</a:t>
            </a:r>
            <a:r>
              <a:rPr lang="en" sz="1400">
                <a:solidFill>
                  <a:schemeClr val="dk1"/>
                </a:solidFill>
              </a:rPr>
              <a:t> from within.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9875" y="1319425"/>
            <a:ext cx="2860927" cy="286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Childhood: A Child of Prophecy and Early Grace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5723400" cy="4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Father:</a:t>
            </a:r>
            <a:r>
              <a:rPr lang="en" sz="1530">
                <a:solidFill>
                  <a:schemeClr val="dk1"/>
                </a:solidFill>
              </a:rPr>
              <a:t> Priest </a:t>
            </a:r>
            <a:r>
              <a:rPr b="1" lang="en" sz="1530">
                <a:solidFill>
                  <a:schemeClr val="dk1"/>
                </a:solidFill>
              </a:rPr>
              <a:t>Tsega Ze’ab</a:t>
            </a:r>
            <a:r>
              <a:rPr lang="en" sz="1530">
                <a:solidFill>
                  <a:schemeClr val="dk1"/>
                </a:solidFill>
              </a:rPr>
              <a:t> ("Grace of God").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Mother:</a:t>
            </a:r>
            <a:r>
              <a:rPr lang="en" sz="1530">
                <a:solidFill>
                  <a:schemeClr val="dk1"/>
                </a:solidFill>
              </a:rPr>
              <a:t> </a:t>
            </a:r>
            <a:r>
              <a:rPr b="1" lang="en" sz="1530">
                <a:solidFill>
                  <a:schemeClr val="dk1"/>
                </a:solidFill>
              </a:rPr>
              <a:t>Egzi’e Haraya</a:t>
            </a:r>
            <a:r>
              <a:rPr lang="en" sz="1530">
                <a:solidFill>
                  <a:schemeClr val="dk1"/>
                </a:solidFill>
              </a:rPr>
              <a:t> ("Choice of God," also known as Sarah).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Trial:</a:t>
            </a:r>
            <a:r>
              <a:rPr lang="en" sz="1530">
                <a:solidFill>
                  <a:schemeClr val="dk1"/>
                </a:solidFill>
              </a:rPr>
              <a:t> A righteous, wealthy, and devout couple who were </a:t>
            </a:r>
            <a:r>
              <a:rPr b="1" lang="en" sz="1530">
                <a:solidFill>
                  <a:schemeClr val="dk1"/>
                </a:solidFill>
              </a:rPr>
              <a:t>barren</a:t>
            </a:r>
            <a:r>
              <a:rPr lang="en" sz="1530">
                <a:solidFill>
                  <a:schemeClr val="dk1"/>
                </a:solidFill>
              </a:rPr>
              <a:t> (childless) for many years.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Vow:</a:t>
            </a:r>
            <a:r>
              <a:rPr lang="en" sz="1530">
                <a:solidFill>
                  <a:schemeClr val="dk1"/>
                </a:solidFill>
              </a:rPr>
              <a:t> They prayed constantly, fasted, and gave alms, pledging their firstborn child to the service of God.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Promise:</a:t>
            </a:r>
            <a:r>
              <a:rPr lang="en" sz="1530">
                <a:solidFill>
                  <a:schemeClr val="dk1"/>
                </a:solidFill>
              </a:rPr>
              <a:t> The </a:t>
            </a:r>
            <a:r>
              <a:rPr b="1" lang="en" sz="1530">
                <a:solidFill>
                  <a:schemeClr val="dk1"/>
                </a:solidFill>
              </a:rPr>
              <a:t>Archangel Michael</a:t>
            </a:r>
            <a:r>
              <a:rPr lang="en" sz="1530">
                <a:solidFill>
                  <a:schemeClr val="dk1"/>
                </a:solidFill>
              </a:rPr>
              <a:t> appeared to them, announcing they would bear a son who would "renew the faith of Ethiopia" and be a light to the nation.</a:t>
            </a:r>
            <a:endParaRPr sz="15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84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900" y="1324875"/>
            <a:ext cx="2804101" cy="2804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 &amp; Monastic Training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25275" y="1152475"/>
            <a:ext cx="6308400" cy="3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Divine Call:</a:t>
            </a:r>
            <a:r>
              <a:rPr lang="en" sz="1532">
                <a:solidFill>
                  <a:schemeClr val="dk1"/>
                </a:solidFill>
              </a:rPr>
              <a:t> While he was a young deacon, the </a:t>
            </a:r>
            <a:r>
              <a:rPr b="1" lang="en" sz="1532">
                <a:solidFill>
                  <a:schemeClr val="dk1"/>
                </a:solidFill>
              </a:rPr>
              <a:t>Archangel Michael</a:t>
            </a:r>
            <a:r>
              <a:rPr lang="en" sz="1532">
                <a:solidFill>
                  <a:schemeClr val="dk1"/>
                </a:solidFill>
              </a:rPr>
              <a:t> appeared to him in the forest.</a:t>
            </a: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Command (The "What"):</a:t>
            </a:r>
            <a:r>
              <a:rPr lang="en" sz="1532">
                <a:solidFill>
                  <a:schemeClr val="dk1"/>
                </a:solidFill>
              </a:rPr>
              <a:t> The angel gave him a direct and specific command: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was to </a:t>
            </a:r>
            <a:r>
              <a:rPr b="1" lang="en" sz="1532">
                <a:solidFill>
                  <a:schemeClr val="dk1"/>
                </a:solidFill>
              </a:rPr>
              <a:t>renounce the world</a:t>
            </a:r>
            <a:r>
              <a:rPr lang="en" sz="1532">
                <a:solidFill>
                  <a:schemeClr val="dk1"/>
                </a:solidFill>
              </a:rPr>
              <a:t> entirely.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must </a:t>
            </a:r>
            <a:r>
              <a:rPr b="1" lang="en" sz="1532">
                <a:solidFill>
                  <a:schemeClr val="dk1"/>
                </a:solidFill>
              </a:rPr>
              <a:t>give up the marriage</a:t>
            </a:r>
            <a:r>
              <a:rPr lang="en" sz="1532">
                <a:solidFill>
                  <a:schemeClr val="dk1"/>
                </a:solidFill>
              </a:rPr>
              <a:t> his parents had arranged for him.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was to dedicate his entire life to </a:t>
            </a:r>
            <a:r>
              <a:rPr b="1" lang="en" sz="1532">
                <a:solidFill>
                  <a:schemeClr val="dk1"/>
                </a:solidFill>
              </a:rPr>
              <a:t>"saving souls"</a:t>
            </a:r>
            <a:r>
              <a:rPr lang="en" sz="1532">
                <a:solidFill>
                  <a:schemeClr val="dk1"/>
                </a:solidFill>
              </a:rPr>
              <a:t> and preaching the Gospel.</a:t>
            </a: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New Name:</a:t>
            </a:r>
            <a:r>
              <a:rPr lang="en" sz="1532">
                <a:solidFill>
                  <a:schemeClr val="dk1"/>
                </a:solidFill>
              </a:rPr>
              <a:t> It was at this moment that the angel gave him his new, prophetic name: </a:t>
            </a:r>
            <a:r>
              <a:rPr b="1" lang="en" sz="1532">
                <a:solidFill>
                  <a:schemeClr val="dk1"/>
                </a:solidFill>
              </a:rPr>
              <a:t>Tekle Haymanot</a:t>
            </a:r>
            <a:r>
              <a:rPr lang="en" sz="1532">
                <a:solidFill>
                  <a:schemeClr val="dk1"/>
                </a:solidFill>
              </a:rPr>
              <a:t> ("Plant of Faith").</a:t>
            </a:r>
            <a:br>
              <a:rPr lang="en" sz="1532">
                <a:solidFill>
                  <a:schemeClr val="dk1"/>
                </a:solidFill>
              </a:rPr>
            </a:b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07"/>
              <a:buFont typeface="Arial"/>
              <a:buNone/>
            </a:pPr>
            <a:r>
              <a:rPr b="1" lang="en" sz="1532">
                <a:solidFill>
                  <a:schemeClr val="dk1"/>
                </a:solidFill>
              </a:rPr>
              <a:t>Ordination:</a:t>
            </a:r>
            <a:r>
              <a:rPr lang="en" sz="1532">
                <a:solidFill>
                  <a:schemeClr val="dk1"/>
                </a:solidFill>
              </a:rPr>
              <a:t> Following this call, the Archangel directed him to go to the Coptic Bishop, </a:t>
            </a:r>
            <a:r>
              <a:rPr b="1" lang="en" sz="1532">
                <a:solidFill>
                  <a:schemeClr val="dk1"/>
                </a:solidFill>
              </a:rPr>
              <a:t>Abuna Kirollos (Cyril) of Alexandria</a:t>
            </a:r>
            <a:r>
              <a:rPr lang="en" sz="1532">
                <a:solidFill>
                  <a:schemeClr val="dk1"/>
                </a:solidFill>
              </a:rPr>
              <a:t>, who was visiting the region. Recognizing the divine grace in him, the bishop ordained him as a </a:t>
            </a:r>
            <a:r>
              <a:rPr b="1" lang="en" sz="1532">
                <a:solidFill>
                  <a:schemeClr val="dk1"/>
                </a:solidFill>
              </a:rPr>
              <a:t>priest</a:t>
            </a:r>
            <a:r>
              <a:rPr lang="en" sz="1532">
                <a:solidFill>
                  <a:schemeClr val="dk1"/>
                </a:solidFill>
              </a:rPr>
              <a:t>.</a:t>
            </a:r>
            <a:endParaRPr b="1"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1807"/>
              <a:buFont typeface="Arial"/>
              <a:buNone/>
            </a:pPr>
            <a:r>
              <a:rPr b="1" lang="en" sz="1532">
                <a:solidFill>
                  <a:schemeClr val="dk1"/>
                </a:solidFill>
              </a:rPr>
              <a:t>Monastic Training (The Two Streams):</a:t>
            </a:r>
            <a:endParaRPr b="1"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32">
                <a:solidFill>
                  <a:schemeClr val="dk1"/>
                </a:solidFill>
              </a:rPr>
              <a:t>Lake Hayq (Istefanos Monastery):</a:t>
            </a:r>
            <a:r>
              <a:rPr lang="en" sz="1532">
                <a:solidFill>
                  <a:schemeClr val="dk1"/>
                </a:solidFill>
              </a:rPr>
              <a:t> Studied under Abba Iyasus Mo’a, learning the communal (cenobitic) life, theology, and chant.</a:t>
            </a:r>
            <a:br>
              <a:rPr lang="en" sz="1532">
                <a:solidFill>
                  <a:schemeClr val="dk1"/>
                </a:solidFill>
              </a:rPr>
            </a:b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32">
                <a:solidFill>
                  <a:schemeClr val="dk1"/>
                </a:solidFill>
              </a:rPr>
              <a:t>Debre Damo:</a:t>
            </a:r>
            <a:r>
              <a:rPr lang="en" sz="1532">
                <a:solidFill>
                  <a:schemeClr val="dk1"/>
                </a:solidFill>
              </a:rPr>
              <a:t> Traveled to the legendary clifftop monastery of Abba Aragawi to learn the severe, solitary (hermit) life of asceticism.</a:t>
            </a:r>
            <a:endParaRPr sz="1532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675" y="1060350"/>
            <a:ext cx="2659327" cy="3416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Miracle of the Six Wings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5539200" cy="37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Command:</a:t>
            </a:r>
            <a:r>
              <a:rPr lang="en" sz="1318">
                <a:solidFill>
                  <a:schemeClr val="dk1"/>
                </a:solidFill>
              </a:rPr>
              <a:t> After nine years at Debre Damo, an angel commanded him to descend and begin his mission to the South.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Descent:</a:t>
            </a:r>
            <a:r>
              <a:rPr lang="en" sz="1318">
                <a:solidFill>
                  <a:schemeClr val="dk1"/>
                </a:solidFill>
              </a:rPr>
              <a:t> The monks began to lower him by rope from the sheer cliff (the only way down).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Miracle:</a:t>
            </a:r>
            <a:r>
              <a:rPr lang="en" sz="1318">
                <a:solidFill>
                  <a:schemeClr val="dk1"/>
                </a:solidFill>
              </a:rPr>
              <a:t> Halfway down, the rope snapped. (His </a:t>
            </a:r>
            <a:r>
              <a:rPr i="1" lang="en" sz="1318">
                <a:solidFill>
                  <a:schemeClr val="dk1"/>
                </a:solidFill>
              </a:rPr>
              <a:t>Gädlä</a:t>
            </a:r>
            <a:r>
              <a:rPr lang="en" sz="1318">
                <a:solidFill>
                  <a:schemeClr val="dk1"/>
                </a:solidFill>
              </a:rPr>
              <a:t> says Satan, enraged at his obedience, cut the rope).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en" sz="1318">
                <a:solidFill>
                  <a:schemeClr val="dk1"/>
                </a:solidFill>
              </a:rPr>
              <a:t>As he fell, </a:t>
            </a:r>
            <a:r>
              <a:rPr b="1" lang="en" sz="1318">
                <a:solidFill>
                  <a:schemeClr val="dk1"/>
                </a:solidFill>
              </a:rPr>
              <a:t>six brilliant wings</a:t>
            </a:r>
            <a:r>
              <a:rPr lang="en" sz="1318">
                <a:solidFill>
                  <a:schemeClr val="dk1"/>
                </a:solidFill>
              </a:rPr>
              <a:t> burst from his back, and he flew safely to the ground.</a:t>
            </a:r>
            <a:endParaRPr sz="1318"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Meaning:</a:t>
            </a:r>
            <a:r>
              <a:rPr lang="en" sz="1318">
                <a:solidFill>
                  <a:schemeClr val="dk1"/>
                </a:solidFill>
              </a:rPr>
              <a:t> This was his "ordination by heaven." It was the divine seal of approval, confirming his apostolic mission and identifying him with the Seraphim.</a:t>
            </a:r>
            <a:br>
              <a:rPr lang="en" sz="1965">
                <a:solidFill>
                  <a:schemeClr val="dk1"/>
                </a:solidFill>
              </a:rPr>
            </a:br>
            <a:endParaRPr sz="1965">
              <a:solidFill>
                <a:schemeClr val="dk1"/>
              </a:solidFill>
            </a:endParaRPr>
          </a:p>
          <a:p>
            <a:pPr indent="-3406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sz="1765">
                <a:solidFill>
                  <a:schemeClr val="dk1"/>
                </a:solidFill>
              </a:rPr>
              <a:t>Symbol of divine grace and angelic zeal; each wing represents Faith, Hope, Charity, Obedience, Purity, Humility</a:t>
            </a:r>
            <a:endParaRPr sz="176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550" y="1333775"/>
            <a:ext cx="2792826" cy="2785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Great Mission: Evangelizing Damot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Mission Field &amp; Initial Contact:</a:t>
            </a:r>
            <a:r>
              <a:rPr lang="en" sz="1218">
                <a:solidFill>
                  <a:schemeClr val="dk1"/>
                </a:solidFill>
              </a:rPr>
              <a:t> Guided by the Holy Spirit, St. Teklehaimanot entered the pagan kingdom of </a:t>
            </a:r>
            <a:r>
              <a:rPr b="1" lang="en" sz="1218">
                <a:solidFill>
                  <a:schemeClr val="dk1"/>
                </a:solidFill>
              </a:rPr>
              <a:t>Damot</a:t>
            </a:r>
            <a:r>
              <a:rPr lang="en" sz="1218">
                <a:solidFill>
                  <a:schemeClr val="dk1"/>
                </a:solidFill>
              </a:rPr>
              <a:t>. He first made contact with the </a:t>
            </a:r>
            <a:r>
              <a:rPr b="1" lang="en" sz="1218">
                <a:solidFill>
                  <a:schemeClr val="dk1"/>
                </a:solidFill>
              </a:rPr>
              <a:t>Prince</a:t>
            </a:r>
            <a:r>
              <a:rPr lang="en" sz="1218">
                <a:solidFill>
                  <a:schemeClr val="dk1"/>
                </a:solidFill>
              </a:rPr>
              <a:t> (the chief noble/heir).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First Miracle:</a:t>
            </a:r>
            <a:r>
              <a:rPr lang="en" sz="1218">
                <a:solidFill>
                  <a:schemeClr val="dk1"/>
                </a:solidFill>
              </a:rPr>
              <a:t> The saint demonstrated the power of Christ by </a:t>
            </a:r>
            <a:r>
              <a:rPr b="1" lang="en" sz="1218">
                <a:solidFill>
                  <a:schemeClr val="dk1"/>
                </a:solidFill>
              </a:rPr>
              <a:t>casting out a demon</a:t>
            </a:r>
            <a:r>
              <a:rPr lang="en" sz="1218">
                <a:solidFill>
                  <a:schemeClr val="dk1"/>
                </a:solidFill>
              </a:rPr>
              <a:t> and healing the Prince from a grave affliction, leading to the Prince's immediate conversion and baptism.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King's Fury:</a:t>
            </a:r>
            <a:r>
              <a:rPr lang="en" sz="1218">
                <a:solidFill>
                  <a:schemeClr val="dk1"/>
                </a:solidFill>
              </a:rPr>
              <a:t> The King, </a:t>
            </a:r>
            <a:r>
              <a:rPr b="1" lang="en" sz="1218">
                <a:solidFill>
                  <a:schemeClr val="dk1"/>
                </a:solidFill>
              </a:rPr>
              <a:t>Motolomi</a:t>
            </a:r>
            <a:r>
              <a:rPr lang="en" sz="1218">
                <a:solidFill>
                  <a:schemeClr val="dk1"/>
                </a:solidFill>
              </a:rPr>
              <a:t>, was furious that his </a:t>
            </a:r>
            <a:r>
              <a:rPr b="1" lang="en" sz="1218">
                <a:solidFill>
                  <a:schemeClr val="dk1"/>
                </a:solidFill>
              </a:rPr>
              <a:t>heir and court</a:t>
            </a:r>
            <a:r>
              <a:rPr lang="en" sz="1218">
                <a:solidFill>
                  <a:schemeClr val="dk1"/>
                </a:solidFill>
              </a:rPr>
              <a:t> had converted, seeing it as a collapse of his religious and political authority, which relied on the worship of a </a:t>
            </a:r>
            <a:r>
              <a:rPr b="1" lang="en" sz="1218">
                <a:solidFill>
                  <a:schemeClr val="dk1"/>
                </a:solidFill>
              </a:rPr>
              <a:t>great serpent idol</a:t>
            </a:r>
            <a:r>
              <a:rPr lang="en" sz="1218">
                <a:solidFill>
                  <a:schemeClr val="dk1"/>
                </a:solidFill>
              </a:rPr>
              <a:t> (</a:t>
            </a:r>
            <a:r>
              <a:rPr i="1" lang="en" sz="1218">
                <a:solidFill>
                  <a:schemeClr val="dk1"/>
                </a:solidFill>
              </a:rPr>
              <a:t>zedo</a:t>
            </a:r>
            <a:r>
              <a:rPr lang="en" sz="1218">
                <a:solidFill>
                  <a:schemeClr val="dk1"/>
                </a:solidFill>
              </a:rPr>
              <a:t>).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Confrontation &amp; Divine Protection:</a:t>
            </a:r>
            <a:r>
              <a:rPr lang="en" sz="1218">
                <a:solidFill>
                  <a:schemeClr val="dk1"/>
                </a:solidFill>
              </a:rPr>
              <a:t> Motolomi escalated the conflict, sending an </a:t>
            </a:r>
            <a:r>
              <a:rPr b="1" lang="en" sz="1218">
                <a:solidFill>
                  <a:schemeClr val="dk1"/>
                </a:solidFill>
              </a:rPr>
              <a:t>army</a:t>
            </a:r>
            <a:r>
              <a:rPr lang="en" sz="1218">
                <a:solidFill>
                  <a:schemeClr val="dk1"/>
                </a:solidFill>
              </a:rPr>
              <a:t> to kill </a:t>
            </a:r>
            <a:r>
              <a:rPr b="1" lang="en" sz="1218">
                <a:solidFill>
                  <a:schemeClr val="dk1"/>
                </a:solidFill>
              </a:rPr>
              <a:t>both the saint and the converted Prince</a:t>
            </a:r>
            <a:r>
              <a:rPr lang="en" sz="1218">
                <a:solidFill>
                  <a:schemeClr val="dk1"/>
                </a:solidFill>
              </a:rPr>
              <a:t>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The soldiers' spears, thrown at the saint, </a:t>
            </a:r>
            <a:r>
              <a:rPr b="1" lang="en" sz="1218">
                <a:solidFill>
                  <a:schemeClr val="dk1"/>
                </a:solidFill>
              </a:rPr>
              <a:t>stopped in mid-air</a:t>
            </a:r>
            <a:r>
              <a:rPr lang="en" sz="1218">
                <a:solidFill>
                  <a:schemeClr val="dk1"/>
                </a:solidFill>
              </a:rPr>
              <a:t>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Motolomi threw his own spear, which </a:t>
            </a:r>
            <a:r>
              <a:rPr b="1" lang="en" sz="1218">
                <a:solidFill>
                  <a:schemeClr val="dk1"/>
                </a:solidFill>
              </a:rPr>
              <a:t>reversed direction</a:t>
            </a:r>
            <a:r>
              <a:rPr lang="en" sz="1218">
                <a:solidFill>
                  <a:schemeClr val="dk1"/>
                </a:solidFill>
              </a:rPr>
              <a:t> and killed his </a:t>
            </a:r>
            <a:r>
              <a:rPr b="1" lang="en" sz="1218">
                <a:solidFill>
                  <a:schemeClr val="dk1"/>
                </a:solidFill>
              </a:rPr>
              <a:t>horse</a:t>
            </a:r>
            <a:r>
              <a:rPr lang="en" sz="1218">
                <a:solidFill>
                  <a:schemeClr val="dk1"/>
                </a:solidFill>
              </a:rPr>
              <a:t> (a symbol of his earthly power), mercifully sparing his life.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Final Signs:</a:t>
            </a:r>
            <a:r>
              <a:rPr lang="en" sz="1218">
                <a:solidFill>
                  <a:schemeClr val="dk1"/>
                </a:solidFill>
              </a:rPr>
              <a:t> The saint cursed the </a:t>
            </a:r>
            <a:r>
              <a:rPr b="1" lang="en" sz="1218">
                <a:solidFill>
                  <a:schemeClr val="dk1"/>
                </a:solidFill>
              </a:rPr>
              <a:t>serpent idol</a:t>
            </a:r>
            <a:r>
              <a:rPr lang="en" sz="1218">
                <a:solidFill>
                  <a:schemeClr val="dk1"/>
                </a:solidFill>
              </a:rPr>
              <a:t>, which died, and then prayed, causing </a:t>
            </a:r>
            <a:r>
              <a:rPr b="1" lang="en" sz="1218">
                <a:solidFill>
                  <a:schemeClr val="dk1"/>
                </a:solidFill>
              </a:rPr>
              <a:t>rain to immediately fall</a:t>
            </a:r>
            <a:r>
              <a:rPr lang="en" sz="1218">
                <a:solidFill>
                  <a:schemeClr val="dk1"/>
                </a:solidFill>
              </a:rPr>
              <a:t> during the severe drought.</a:t>
            </a:r>
            <a:br>
              <a:rPr lang="en" sz="1218">
                <a:solidFill>
                  <a:schemeClr val="dk1"/>
                </a:solidFill>
              </a:rPr>
            </a:b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Total Conversion:</a:t>
            </a:r>
            <a:r>
              <a:rPr lang="en" sz="1218">
                <a:solidFill>
                  <a:schemeClr val="dk1"/>
                </a:solidFill>
              </a:rPr>
              <a:t> Humbled by these acts of judgment and mercy, </a:t>
            </a:r>
            <a:r>
              <a:rPr b="1" lang="en" sz="1218">
                <a:solidFill>
                  <a:schemeClr val="dk1"/>
                </a:solidFill>
              </a:rPr>
              <a:t>King Motolomi, the Prince, and the entire populace repented, were baptized, and consecrated their land to Christ.</a:t>
            </a:r>
            <a:endParaRPr b="1"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Founding Debre Libanos (1284)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44850" y="971100"/>
            <a:ext cx="5661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Foundation (c. 1284):</a:t>
            </a:r>
            <a:r>
              <a:rPr lang="en" sz="1526">
                <a:solidFill>
                  <a:schemeClr val="dk1"/>
                </a:solidFill>
              </a:rPr>
              <a:t> After his mission, he founded the monastery o</a:t>
            </a:r>
            <a:r>
              <a:rPr lang="en" sz="1526">
                <a:solidFill>
                  <a:schemeClr val="dk1"/>
                </a:solidFill>
              </a:rPr>
              <a:t>f </a:t>
            </a:r>
            <a:r>
              <a:rPr b="1" lang="en" sz="1526">
                <a:solidFill>
                  <a:schemeClr val="dk1"/>
                </a:solidFill>
              </a:rPr>
              <a:t>Debre Libanos</a:t>
            </a:r>
            <a:r>
              <a:rPr lang="en" sz="1526">
                <a:solidFill>
                  <a:schemeClr val="dk1"/>
                </a:solidFill>
              </a:rPr>
              <a:t> ("Mount of Lebanon") in Shewa.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Spiritual Capital:</a:t>
            </a:r>
            <a:r>
              <a:rPr lang="en" sz="1526">
                <a:solidFill>
                  <a:schemeClr val="dk1"/>
                </a:solidFill>
              </a:rPr>
              <a:t> This monastery grew to become the single most important spiritual center in all of Ethiopia.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</a:t>
            </a:r>
            <a:r>
              <a:rPr b="1" i="1" lang="en" sz="1526">
                <a:solidFill>
                  <a:schemeClr val="dk1"/>
                </a:solidFill>
              </a:rPr>
              <a:t>Ichege</a:t>
            </a:r>
            <a:r>
              <a:rPr b="1" lang="en" sz="1526">
                <a:solidFill>
                  <a:schemeClr val="dk1"/>
                </a:solidFill>
              </a:rPr>
              <a:t>:</a:t>
            </a:r>
            <a:r>
              <a:rPr lang="en" sz="1526">
                <a:solidFill>
                  <a:schemeClr val="dk1"/>
                </a:solidFill>
              </a:rPr>
              <a:t> He established the office of the </a:t>
            </a:r>
            <a:r>
              <a:rPr b="1" lang="en" sz="1526">
                <a:solidFill>
                  <a:schemeClr val="dk1"/>
                </a:solidFill>
              </a:rPr>
              <a:t>Ichege</a:t>
            </a:r>
            <a:r>
              <a:rPr lang="en" sz="1526">
                <a:solidFill>
                  <a:schemeClr val="dk1"/>
                </a:solidFill>
              </a:rPr>
              <a:t>, the Abbot of Debre Libanos.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National Importance:</a:t>
            </a:r>
            <a:endParaRPr b="1"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The </a:t>
            </a:r>
            <a:r>
              <a:rPr i="1" lang="en" sz="1526">
                <a:solidFill>
                  <a:schemeClr val="dk1"/>
                </a:solidFill>
              </a:rPr>
              <a:t>Ichege</a:t>
            </a:r>
            <a:r>
              <a:rPr lang="en" sz="1526">
                <a:solidFill>
                  <a:schemeClr val="dk1"/>
                </a:solidFill>
              </a:rPr>
              <a:t> became the highest-ranking </a:t>
            </a:r>
            <a:r>
              <a:rPr b="1" lang="en" sz="1526">
                <a:solidFill>
                  <a:schemeClr val="dk1"/>
                </a:solidFill>
              </a:rPr>
              <a:t>native-born</a:t>
            </a:r>
            <a:r>
              <a:rPr lang="en" sz="1526">
                <a:solidFill>
                  <a:schemeClr val="dk1"/>
                </a:solidFill>
              </a:rPr>
              <a:t> Church official in Ethiopia (second only to the Coptic Abuna).</a:t>
            </a:r>
            <a:endParaRPr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This gave the Ethiopian Church administrative stability and a unified, internal leadership for the first time.</a:t>
            </a:r>
            <a:endParaRPr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Debre Libanos became the "mother monastery" for hundreds of other monasteries across the nation.</a:t>
            </a:r>
            <a:endParaRPr sz="1526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6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965">
              <a:solidFill>
                <a:schemeClr val="dk1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300" y="1187888"/>
            <a:ext cx="3088924" cy="27677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Seven Years on One Leg: The Triumph of Spirit Over Flesh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367275"/>
            <a:ext cx="506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Final Vow:</a:t>
            </a:r>
            <a:r>
              <a:rPr lang="en" sz="1500">
                <a:solidFill>
                  <a:schemeClr val="dk1"/>
                </a:solidFill>
              </a:rPr>
              <a:t> In his old age, he devoted himself to unceasing prayer, vowing to stand for the rest of his life.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Vigil:</a:t>
            </a:r>
            <a:r>
              <a:rPr lang="en" sz="1500">
                <a:solidFill>
                  <a:schemeClr val="dk1"/>
                </a:solidFill>
              </a:rPr>
              <a:t> He stood in prayer day and night, without sitting or lying down, for </a:t>
            </a:r>
            <a:r>
              <a:rPr b="1" lang="en" sz="1500">
                <a:solidFill>
                  <a:schemeClr val="dk1"/>
                </a:solidFill>
              </a:rPr>
              <a:t>seven years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Cost:</a:t>
            </a:r>
            <a:r>
              <a:rPr lang="en" sz="1500">
                <a:solidFill>
                  <a:schemeClr val="dk1"/>
                </a:solidFill>
              </a:rPr>
              <a:t> From this unceasing vigil, his leg </a:t>
            </a:r>
            <a:r>
              <a:rPr b="1" lang="en" sz="1500">
                <a:solidFill>
                  <a:schemeClr val="dk1"/>
                </a:solidFill>
              </a:rPr>
              <a:t>decayed from fatigue and broke off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Final Act:</a:t>
            </a:r>
            <a:r>
              <a:rPr lang="en" sz="1500">
                <a:solidFill>
                  <a:schemeClr val="dk1"/>
                </a:solidFill>
              </a:rPr>
              <a:t> He continued his prayer, standing on the </a:t>
            </a:r>
            <a:r>
              <a:rPr b="1" lang="en" sz="1500">
                <a:solidFill>
                  <a:schemeClr val="dk1"/>
                </a:solidFill>
              </a:rPr>
              <a:t>one remaining leg</a:t>
            </a:r>
            <a:r>
              <a:rPr lang="en" sz="1500">
                <a:solidFill>
                  <a:schemeClr val="dk1"/>
                </a:solidFill>
              </a:rPr>
              <a:t> for the rest of his life.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Theological Meaning:</a:t>
            </a:r>
            <a:r>
              <a:rPr lang="en" sz="1500">
                <a:solidFill>
                  <a:schemeClr val="dk1"/>
                </a:solidFill>
              </a:rPr>
              <a:t> The ultimate symbol of endurance, sacrificing his body as a "living sacrifice" (Romans 12:1).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000" y="1275350"/>
            <a:ext cx="223525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</a:t>
            </a:r>
            <a:r>
              <a:rPr lang="en"/>
              <a:t>The</a:t>
            </a:r>
            <a:r>
              <a:rPr lang="en"/>
              <a:t> Apostle, The Founder, The Pillar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068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Why is he important to the Orthodox Church?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 is a model of </a:t>
            </a:r>
            <a:r>
              <a:rPr i="1" lang="en">
                <a:solidFill>
                  <a:schemeClr val="dk1"/>
                </a:solidFill>
              </a:rPr>
              <a:t>both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apostolic mission</a:t>
            </a:r>
            <a:r>
              <a:rPr lang="en">
                <a:solidFill>
                  <a:schemeClr val="dk1"/>
                </a:solidFill>
              </a:rPr>
              <a:t> (the six wings) and </a:t>
            </a:r>
            <a:r>
              <a:rPr b="1" lang="en">
                <a:solidFill>
                  <a:schemeClr val="dk1"/>
                </a:solidFill>
              </a:rPr>
              <a:t>ascetic devotion</a:t>
            </a:r>
            <a:r>
              <a:rPr lang="en">
                <a:solidFill>
                  <a:schemeClr val="dk1"/>
                </a:solidFill>
              </a:rPr>
              <a:t> (the one leg).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 connects the scholarly life (Hayq) with the ascetic life (Damo) and the official Church (Alexandria).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Why is he a special saint for Ethiopia?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Apostle of the South:</a:t>
            </a:r>
            <a:r>
              <a:rPr lang="en">
                <a:solidFill>
                  <a:schemeClr val="dk1"/>
                </a:solidFill>
              </a:rPr>
              <a:t> He re-Christianized half the nation.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Great Unifier:</a:t>
            </a:r>
            <a:r>
              <a:rPr lang="en">
                <a:solidFill>
                  <a:schemeClr val="dk1"/>
                </a:solidFill>
              </a:rPr>
              <a:t> He founded Debre Libanos and the office of the </a:t>
            </a:r>
            <a:r>
              <a:rPr i="1" lang="en">
                <a:solidFill>
                  <a:schemeClr val="dk1"/>
                </a:solidFill>
              </a:rPr>
              <a:t>Ichege</a:t>
            </a:r>
            <a:r>
              <a:rPr lang="en">
                <a:solidFill>
                  <a:schemeClr val="dk1"/>
                </a:solidFill>
              </a:rPr>
              <a:t>, giving the Ethiopian Church its own national leadership.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National Icon:</a:t>
            </a:r>
            <a:r>
              <a:rPr lang="en">
                <a:solidFill>
                  <a:schemeClr val="dk1"/>
                </a:solidFill>
              </a:rPr>
              <a:t> He is the ultimate model of Ethiopian piety, endurance, and sacrificial faith.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Final Lesson:</a:t>
            </a:r>
            <a:r>
              <a:rPr lang="en" sz="1400">
                <a:solidFill>
                  <a:schemeClr val="dk1"/>
                </a:solidFill>
              </a:rPr>
              <a:t> He shows us that true faith is a "plant"—it must be </a:t>
            </a:r>
            <a:r>
              <a:rPr i="1" lang="en" sz="1400">
                <a:solidFill>
                  <a:schemeClr val="dk1"/>
                </a:solidFill>
              </a:rPr>
              <a:t>nurtured</a:t>
            </a:r>
            <a:r>
              <a:rPr lang="en" sz="1400">
                <a:solidFill>
                  <a:schemeClr val="dk1"/>
                </a:solidFill>
              </a:rPr>
              <a:t> (formation), </a:t>
            </a:r>
            <a:r>
              <a:rPr i="1" lang="en" sz="1400">
                <a:solidFill>
                  <a:schemeClr val="dk1"/>
                </a:solidFill>
              </a:rPr>
              <a:t>spread</a:t>
            </a:r>
            <a:r>
              <a:rPr lang="en" sz="1400">
                <a:solidFill>
                  <a:schemeClr val="dk1"/>
                </a:solidFill>
              </a:rPr>
              <a:t> (mission), and </a:t>
            </a:r>
            <a:r>
              <a:rPr i="1" lang="en" sz="1400">
                <a:solidFill>
                  <a:schemeClr val="dk1"/>
                </a:solidFill>
              </a:rPr>
              <a:t>rooted</a:t>
            </a:r>
            <a:r>
              <a:rPr lang="en" sz="1400">
                <a:solidFill>
                  <a:schemeClr val="dk1"/>
                </a:solidFill>
              </a:rPr>
              <a:t> in total sacrifice (endurance). Embodiment Of Theosis.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027100"/>
            <a:ext cx="8520600" cy="10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220"/>
              <a:t>QUESTIONS</a:t>
            </a:r>
            <a:endParaRPr sz="62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Cited Sources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ia803401.us.archive.org/25/items/bookofsaintsofet0001unse/bookofsaintsofet0001unse.pdf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https://archive.org/details/bookofsaintsofet0001unse/page/256/mode/2up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https://copticcrew.com/pages/st-takla-haymanot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www.teklehaimanot.org/saint-teklehaimanot/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https://en.wikipedia.org/wiki/Tekle_Haymanot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