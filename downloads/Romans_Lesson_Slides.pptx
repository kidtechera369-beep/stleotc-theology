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93431D-2EE3-4803-B78A-0FAA91275FF6}">
  <a:tblStyle styleId="{B593431D-2EE3-4803-B78A-0FAA91275F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5e88d47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5e88d47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5e88d474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5e88d474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5e88d474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5e88d474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5e88d474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5e88d474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5e88d474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5e88d474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5e88d474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5e88d474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5e88d474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5e88d474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5e88d474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5e88d474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5e88d474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5e88d474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5e88d4745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5e88d474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5e88d474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5e88d474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5e88d474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5e88d474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5e88d474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5e88d474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5e88d474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c5e88d474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5e88d474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5e88d474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5e88d4745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5e88d4745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5e88d474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5e88d474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5e88d474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5e88d474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5e88d47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5e88d474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Book Of Romans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By Dn Yonnas</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2200"/>
              <a:t>Context and Background</a:t>
            </a:r>
            <a:endParaRPr sz="2200"/>
          </a:p>
        </p:txBody>
      </p:sp>
      <p:sp>
        <p:nvSpPr>
          <p:cNvPr id="61" name="Google Shape;61;p14"/>
          <p:cNvSpPr txBox="1"/>
          <p:nvPr>
            <p:ph idx="1" type="body"/>
          </p:nvPr>
        </p:nvSpPr>
        <p:spPr>
          <a:xfrm>
            <a:off x="311700" y="1152475"/>
            <a:ext cx="5576100" cy="3416400"/>
          </a:xfrm>
          <a:prstGeom prst="rect">
            <a:avLst/>
          </a:prstGeom>
        </p:spPr>
        <p:txBody>
          <a:bodyPr anchorCtr="0" anchor="t" bIns="91425" lIns="91425" spcFirstLastPara="1" rIns="91425" wrap="square" tIns="91425">
            <a:noAutofit/>
          </a:bodyPr>
          <a:lstStyle/>
          <a:p>
            <a:pPr indent="-323533" lvl="0" marL="457200" rtl="0" algn="l">
              <a:lnSpc>
                <a:spcPct val="95000"/>
              </a:lnSpc>
              <a:spcBef>
                <a:spcPts val="1200"/>
              </a:spcBef>
              <a:spcAft>
                <a:spcPts val="0"/>
              </a:spcAft>
              <a:buClr>
                <a:schemeClr val="dk1"/>
              </a:buClr>
              <a:buSzPts val="1495"/>
              <a:buChar char="●"/>
            </a:pPr>
            <a:r>
              <a:rPr b="1" lang="en" sz="1495">
                <a:solidFill>
                  <a:schemeClr val="dk1"/>
                </a:solidFill>
              </a:rPr>
              <a:t>Author:</a:t>
            </a:r>
            <a:r>
              <a:rPr lang="en" sz="1495">
                <a:solidFill>
                  <a:schemeClr val="dk1"/>
                </a:solidFill>
              </a:rPr>
              <a:t> </a:t>
            </a:r>
            <a:r>
              <a:rPr b="1" lang="en" sz="1495">
                <a:solidFill>
                  <a:schemeClr val="dk1"/>
                </a:solidFill>
              </a:rPr>
              <a:t>St. Paul the Apostle.</a:t>
            </a:r>
            <a:r>
              <a:rPr lang="en" sz="1495">
                <a:solidFill>
                  <a:schemeClr val="dk1"/>
                </a:solidFill>
              </a:rPr>
              <a:t> Writing from Corinth around 57 AD, toward the end of his third missionary journey.</a:t>
            </a:r>
            <a:endParaRPr sz="1495">
              <a:solidFill>
                <a:schemeClr val="dk1"/>
              </a:solidFill>
            </a:endParaRPr>
          </a:p>
          <a:p>
            <a:pPr indent="0" lvl="0" marL="0" rtl="0" algn="l">
              <a:lnSpc>
                <a:spcPct val="95000"/>
              </a:lnSpc>
              <a:spcBef>
                <a:spcPts val="1200"/>
              </a:spcBef>
              <a:spcAft>
                <a:spcPts val="0"/>
              </a:spcAft>
              <a:buSzPts val="1018"/>
              <a:buNone/>
            </a:pPr>
            <a:r>
              <a:t/>
            </a:r>
            <a:endParaRPr sz="1495">
              <a:solidFill>
                <a:schemeClr val="dk1"/>
              </a:solidFill>
            </a:endParaRPr>
          </a:p>
          <a:p>
            <a:pPr indent="-323533" lvl="0" marL="457200" rtl="0" algn="l">
              <a:lnSpc>
                <a:spcPct val="95000"/>
              </a:lnSpc>
              <a:spcBef>
                <a:spcPts val="1200"/>
              </a:spcBef>
              <a:spcAft>
                <a:spcPts val="0"/>
              </a:spcAft>
              <a:buClr>
                <a:schemeClr val="dk1"/>
              </a:buClr>
              <a:buSzPts val="1495"/>
              <a:buChar char="●"/>
            </a:pPr>
            <a:r>
              <a:rPr b="1" lang="en" sz="1495">
                <a:solidFill>
                  <a:schemeClr val="dk1"/>
                </a:solidFill>
              </a:rPr>
              <a:t>Audience:</a:t>
            </a:r>
            <a:r>
              <a:rPr lang="en" sz="1495">
                <a:solidFill>
                  <a:schemeClr val="dk1"/>
                </a:solidFill>
              </a:rPr>
              <a:t> The Christians in Rome. Unlike other churches Paul wrote to, he did not found this church. It was a mix of Jewish converts and Gentile converts.</a:t>
            </a:r>
            <a:endParaRPr sz="1495">
              <a:solidFill>
                <a:schemeClr val="dk1"/>
              </a:solidFill>
            </a:endParaRPr>
          </a:p>
          <a:p>
            <a:pPr indent="0" lvl="0" marL="457200" rtl="0" algn="l">
              <a:lnSpc>
                <a:spcPct val="95000"/>
              </a:lnSpc>
              <a:spcBef>
                <a:spcPts val="1200"/>
              </a:spcBef>
              <a:spcAft>
                <a:spcPts val="0"/>
              </a:spcAft>
              <a:buSzPts val="1018"/>
              <a:buNone/>
            </a:pPr>
            <a:r>
              <a:t/>
            </a:r>
            <a:endParaRPr sz="1495">
              <a:solidFill>
                <a:schemeClr val="dk1"/>
              </a:solidFill>
            </a:endParaRPr>
          </a:p>
          <a:p>
            <a:pPr indent="-323533" lvl="0" marL="457200" rtl="0" algn="l">
              <a:lnSpc>
                <a:spcPct val="95000"/>
              </a:lnSpc>
              <a:spcBef>
                <a:spcPts val="1200"/>
              </a:spcBef>
              <a:spcAft>
                <a:spcPts val="0"/>
              </a:spcAft>
              <a:buClr>
                <a:schemeClr val="dk1"/>
              </a:buClr>
              <a:buSzPts val="1495"/>
              <a:buChar char="●"/>
            </a:pPr>
            <a:r>
              <a:rPr b="1" lang="en" sz="1495">
                <a:solidFill>
                  <a:schemeClr val="dk1"/>
                </a:solidFill>
              </a:rPr>
              <a:t>The Conflict:</a:t>
            </a:r>
            <a:r>
              <a:rPr lang="en" sz="1495">
                <a:solidFill>
                  <a:schemeClr val="dk1"/>
                </a:solidFill>
              </a:rPr>
              <a:t> There was tension between Jewish Christians (who felt the Mosaic Law was still necessary for salvation) and Gentile Christians (who felt the Law was obsolete). Paul writes to bring them into </a:t>
            </a:r>
            <a:r>
              <a:rPr b="1" lang="en" sz="1495">
                <a:solidFill>
                  <a:schemeClr val="dk1"/>
                </a:solidFill>
              </a:rPr>
              <a:t>Tewahedo</a:t>
            </a:r>
            <a:r>
              <a:rPr lang="en" sz="1495">
                <a:solidFill>
                  <a:schemeClr val="dk1"/>
                </a:solidFill>
              </a:rPr>
              <a:t> (unity/oneness) in Christ.</a:t>
            </a:r>
            <a:endParaRPr sz="1495">
              <a:solidFill>
                <a:schemeClr val="dk1"/>
              </a:solidFill>
            </a:endParaRPr>
          </a:p>
          <a:p>
            <a:pPr indent="0" lvl="0" marL="0" rtl="0" algn="l">
              <a:lnSpc>
                <a:spcPct val="95000"/>
              </a:lnSpc>
              <a:spcBef>
                <a:spcPts val="1200"/>
              </a:spcBef>
              <a:spcAft>
                <a:spcPts val="1200"/>
              </a:spcAft>
              <a:buSzPts val="1018"/>
              <a:buNone/>
            </a:pPr>
            <a:r>
              <a:t/>
            </a:r>
            <a:endParaRPr sz="1943"/>
          </a:p>
        </p:txBody>
      </p:sp>
      <p:pic>
        <p:nvPicPr>
          <p:cNvPr id="62" name="Google Shape;62;p14"/>
          <p:cNvPicPr preferRelativeResize="0"/>
          <p:nvPr/>
        </p:nvPicPr>
        <p:blipFill>
          <a:blip r:embed="rId3">
            <a:alphaModFix/>
          </a:blip>
          <a:stretch>
            <a:fillRect/>
          </a:stretch>
        </p:blipFill>
        <p:spPr>
          <a:xfrm>
            <a:off x="6577425" y="1366838"/>
            <a:ext cx="1895475" cy="2409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Spiritual Architect: St. Paul as "Church Planter"</a:t>
            </a:r>
            <a:endParaRPr/>
          </a:p>
        </p:txBody>
      </p:sp>
      <p:sp>
        <p:nvSpPr>
          <p:cNvPr id="68" name="Google Shape;68;p15"/>
          <p:cNvSpPr txBox="1"/>
          <p:nvPr>
            <p:ph idx="1" type="body"/>
          </p:nvPr>
        </p:nvSpPr>
        <p:spPr>
          <a:xfrm>
            <a:off x="311700" y="1152475"/>
            <a:ext cx="38547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853"/>
              <a:buFont typeface="Arial"/>
              <a:buNone/>
            </a:pPr>
            <a:r>
              <a:rPr b="1" lang="en" sz="1208">
                <a:solidFill>
                  <a:schemeClr val="dk1"/>
                </a:solidFill>
              </a:rPr>
              <a:t>Major Sees Established by St. Paul</a:t>
            </a:r>
            <a:endParaRPr b="1" sz="1208">
              <a:solidFill>
                <a:schemeClr val="dk1"/>
              </a:solidFill>
            </a:endParaRPr>
          </a:p>
          <a:p>
            <a:pPr indent="-301224" lvl="0" marL="457200" rtl="0" algn="l">
              <a:lnSpc>
                <a:spcPct val="95000"/>
              </a:lnSpc>
              <a:spcBef>
                <a:spcPts val="1200"/>
              </a:spcBef>
              <a:spcAft>
                <a:spcPts val="0"/>
              </a:spcAft>
              <a:buClr>
                <a:schemeClr val="dk1"/>
              </a:buClr>
              <a:buSzPts val="1144"/>
              <a:buChar char="●"/>
            </a:pPr>
            <a:r>
              <a:rPr b="1" lang="en" sz="1144">
                <a:solidFill>
                  <a:schemeClr val="dk1"/>
                </a:solidFill>
              </a:rPr>
              <a:t>Corinth (Greece):</a:t>
            </a:r>
            <a:r>
              <a:rPr lang="en" sz="1144">
                <a:solidFill>
                  <a:schemeClr val="dk1"/>
                </a:solidFill>
              </a:rPr>
              <a:t> A 18-month mission in a cosmopolitan hub; Paul served as their "Spiritual Father" (Acts 18).</a:t>
            </a:r>
            <a:endParaRPr sz="1144">
              <a:solidFill>
                <a:schemeClr val="dk1"/>
              </a:solidFill>
            </a:endParaRPr>
          </a:p>
          <a:p>
            <a:pPr indent="-301224" lvl="0" marL="457200" rtl="0" algn="l">
              <a:lnSpc>
                <a:spcPct val="95000"/>
              </a:lnSpc>
              <a:spcBef>
                <a:spcPts val="0"/>
              </a:spcBef>
              <a:spcAft>
                <a:spcPts val="0"/>
              </a:spcAft>
              <a:buClr>
                <a:schemeClr val="dk1"/>
              </a:buClr>
              <a:buSzPts val="1144"/>
              <a:buChar char="●"/>
            </a:pPr>
            <a:r>
              <a:rPr b="1" lang="en" sz="1144">
                <a:solidFill>
                  <a:schemeClr val="dk1"/>
                </a:solidFill>
              </a:rPr>
              <a:t>Ephesus (Asia Minor):</a:t>
            </a:r>
            <a:r>
              <a:rPr lang="en" sz="1144">
                <a:solidFill>
                  <a:schemeClr val="dk1"/>
                </a:solidFill>
              </a:rPr>
              <a:t> Paul’s base for 3 years; it later became the home of </a:t>
            </a:r>
            <a:r>
              <a:rPr b="1" lang="en" sz="1144">
                <a:solidFill>
                  <a:schemeClr val="dk1"/>
                </a:solidFill>
              </a:rPr>
              <a:t>St. John the Evangelist</a:t>
            </a:r>
            <a:r>
              <a:rPr lang="en" sz="1144">
                <a:solidFill>
                  <a:schemeClr val="dk1"/>
                </a:solidFill>
              </a:rPr>
              <a:t> and the </a:t>
            </a:r>
            <a:r>
              <a:rPr b="1" lang="en" sz="1144">
                <a:solidFill>
                  <a:schemeClr val="dk1"/>
                </a:solidFill>
              </a:rPr>
              <a:t>Virgin Mary</a:t>
            </a:r>
            <a:r>
              <a:rPr lang="en" sz="1144">
                <a:solidFill>
                  <a:schemeClr val="dk1"/>
                </a:solidFill>
              </a:rPr>
              <a:t> (Acts 19).</a:t>
            </a:r>
            <a:endParaRPr sz="1144">
              <a:solidFill>
                <a:schemeClr val="dk1"/>
              </a:solidFill>
            </a:endParaRPr>
          </a:p>
          <a:p>
            <a:pPr indent="-301224" lvl="0" marL="457200" rtl="0" algn="l">
              <a:lnSpc>
                <a:spcPct val="95000"/>
              </a:lnSpc>
              <a:spcBef>
                <a:spcPts val="0"/>
              </a:spcBef>
              <a:spcAft>
                <a:spcPts val="0"/>
              </a:spcAft>
              <a:buClr>
                <a:schemeClr val="dk1"/>
              </a:buClr>
              <a:buSzPts val="1144"/>
              <a:buChar char="●"/>
            </a:pPr>
            <a:r>
              <a:rPr b="1" lang="en" sz="1144">
                <a:solidFill>
                  <a:schemeClr val="dk1"/>
                </a:solidFill>
              </a:rPr>
              <a:t>Galatia (Turkey):</a:t>
            </a:r>
            <a:r>
              <a:rPr lang="en" sz="1144">
                <a:solidFill>
                  <a:schemeClr val="dk1"/>
                </a:solidFill>
              </a:rPr>
              <a:t> A regional mission (Iconium, Lystra, Derbe) focusing on the transition from Law to Grace.</a:t>
            </a:r>
            <a:endParaRPr sz="1144">
              <a:solidFill>
                <a:schemeClr val="dk1"/>
              </a:solidFill>
            </a:endParaRPr>
          </a:p>
          <a:p>
            <a:pPr indent="-301224" lvl="0" marL="457200" rtl="0" algn="l">
              <a:lnSpc>
                <a:spcPct val="95000"/>
              </a:lnSpc>
              <a:spcBef>
                <a:spcPts val="0"/>
              </a:spcBef>
              <a:spcAft>
                <a:spcPts val="0"/>
              </a:spcAft>
              <a:buClr>
                <a:schemeClr val="dk1"/>
              </a:buClr>
              <a:buSzPts val="1144"/>
              <a:buChar char="●"/>
            </a:pPr>
            <a:r>
              <a:rPr b="1" lang="en" sz="1144">
                <a:solidFill>
                  <a:schemeClr val="dk1"/>
                </a:solidFill>
              </a:rPr>
              <a:t>Philippi (Greece):</a:t>
            </a:r>
            <a:r>
              <a:rPr lang="en" sz="1144">
                <a:solidFill>
                  <a:schemeClr val="dk1"/>
                </a:solidFill>
              </a:rPr>
              <a:t> The first Church in Europe; founded through the conversion of Lydia and the jailer (Acts 16).</a:t>
            </a:r>
            <a:endParaRPr sz="1144">
              <a:solidFill>
                <a:schemeClr val="dk1"/>
              </a:solidFill>
            </a:endParaRPr>
          </a:p>
          <a:p>
            <a:pPr indent="-301224" lvl="0" marL="457200" rtl="0" algn="l">
              <a:lnSpc>
                <a:spcPct val="95000"/>
              </a:lnSpc>
              <a:spcBef>
                <a:spcPts val="0"/>
              </a:spcBef>
              <a:spcAft>
                <a:spcPts val="0"/>
              </a:spcAft>
              <a:buClr>
                <a:schemeClr val="dk1"/>
              </a:buClr>
              <a:buSzPts val="1144"/>
              <a:buChar char="●"/>
            </a:pPr>
            <a:r>
              <a:rPr b="1" lang="en" sz="1144">
                <a:solidFill>
                  <a:schemeClr val="dk1"/>
                </a:solidFill>
              </a:rPr>
              <a:t>Thessalonica (Greece):</a:t>
            </a:r>
            <a:r>
              <a:rPr lang="en" sz="1144">
                <a:solidFill>
                  <a:schemeClr val="dk1"/>
                </a:solidFill>
              </a:rPr>
              <a:t> A community that thrived and survived despite intense persecution (Acts 17).</a:t>
            </a:r>
            <a:endParaRPr sz="1144">
              <a:solidFill>
                <a:schemeClr val="dk1"/>
              </a:solidFill>
            </a:endParaRPr>
          </a:p>
          <a:p>
            <a:pPr indent="-301224" lvl="0" marL="457200" rtl="0" algn="l">
              <a:lnSpc>
                <a:spcPct val="95000"/>
              </a:lnSpc>
              <a:spcBef>
                <a:spcPts val="0"/>
              </a:spcBef>
              <a:spcAft>
                <a:spcPts val="0"/>
              </a:spcAft>
              <a:buClr>
                <a:schemeClr val="dk1"/>
              </a:buClr>
              <a:buSzPts val="1144"/>
              <a:buChar char="●"/>
            </a:pPr>
            <a:r>
              <a:rPr b="1" lang="en" sz="1144">
                <a:solidFill>
                  <a:schemeClr val="dk1"/>
                </a:solidFill>
              </a:rPr>
              <a:t>Crete:</a:t>
            </a:r>
            <a:r>
              <a:rPr lang="en" sz="1144">
                <a:solidFill>
                  <a:schemeClr val="dk1"/>
                </a:solidFill>
              </a:rPr>
              <a:t> Established by Paul and organized by his disciple </a:t>
            </a:r>
            <a:r>
              <a:rPr b="1" lang="en" sz="1144">
                <a:solidFill>
                  <a:schemeClr val="dk1"/>
                </a:solidFill>
              </a:rPr>
              <a:t>St. Titus</a:t>
            </a:r>
            <a:r>
              <a:rPr lang="en" sz="1144">
                <a:solidFill>
                  <a:schemeClr val="dk1"/>
                </a:solidFill>
              </a:rPr>
              <a:t> (Titus 1:5).</a:t>
            </a:r>
            <a:endParaRPr sz="1384"/>
          </a:p>
        </p:txBody>
      </p:sp>
      <p:sp>
        <p:nvSpPr>
          <p:cNvPr id="69" name="Google Shape;69;p15"/>
          <p:cNvSpPr txBox="1"/>
          <p:nvPr/>
        </p:nvSpPr>
        <p:spPr>
          <a:xfrm>
            <a:off x="4966700" y="1337250"/>
            <a:ext cx="3749700" cy="20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The "Roman Distinction"</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When teaching, contrast Paul’s relationship with these churches vs. Rome: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To Founded Churches:</a:t>
            </a:r>
            <a:r>
              <a:rPr lang="en" sz="1100">
                <a:solidFill>
                  <a:schemeClr val="dk1"/>
                </a:solidFill>
              </a:rPr>
              <a:t> He writes as a </a:t>
            </a:r>
            <a:r>
              <a:rPr b="1" lang="en" sz="1100">
                <a:solidFill>
                  <a:schemeClr val="dk1"/>
                </a:solidFill>
              </a:rPr>
              <a:t>Father</a:t>
            </a:r>
            <a:r>
              <a:rPr lang="en" sz="1100">
                <a:solidFill>
                  <a:schemeClr val="dk1"/>
                </a:solidFill>
              </a:rPr>
              <a:t> correcting his children (Authority).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To the Romans:</a:t>
            </a:r>
            <a:r>
              <a:rPr lang="en" sz="1100">
                <a:solidFill>
                  <a:schemeClr val="dk1"/>
                </a:solidFill>
              </a:rPr>
              <a:t> He writes as a </a:t>
            </a:r>
            <a:r>
              <a:rPr b="1" lang="en" sz="1100">
                <a:solidFill>
                  <a:schemeClr val="dk1"/>
                </a:solidFill>
              </a:rPr>
              <a:t>Brother</a:t>
            </a:r>
            <a:r>
              <a:rPr lang="en" sz="1100">
                <a:solidFill>
                  <a:schemeClr val="dk1"/>
                </a:solidFill>
              </a:rPr>
              <a:t> and a </a:t>
            </a:r>
            <a:r>
              <a:rPr b="1" lang="en" sz="1100">
                <a:solidFill>
                  <a:schemeClr val="dk1"/>
                </a:solidFill>
              </a:rPr>
              <a:t>Guest</a:t>
            </a:r>
            <a:r>
              <a:rPr lang="en" sz="1100">
                <a:solidFill>
                  <a:schemeClr val="dk1"/>
                </a:solidFill>
              </a:rPr>
              <a:t>, seeking "mutual encouragement" (Humility).</a:t>
            </a:r>
            <a:endParaRPr sz="1100">
              <a:solidFill>
                <a:schemeClr val="dk1"/>
              </a:solidFill>
            </a:endParaRPr>
          </a:p>
        </p:txBody>
      </p:sp>
      <p:sp>
        <p:nvSpPr>
          <p:cNvPr id="70" name="Google Shape;70;p15"/>
          <p:cNvSpPr txBox="1"/>
          <p:nvPr/>
        </p:nvSpPr>
        <p:spPr>
          <a:xfrm>
            <a:off x="5188050" y="3470050"/>
            <a:ext cx="30000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Romans 1:8 shows the church already existed: </a:t>
            </a:r>
            <a:r>
              <a:rPr i="1" lang="en" sz="1300">
                <a:solidFill>
                  <a:schemeClr val="dk1"/>
                </a:solidFill>
              </a:rPr>
              <a:t>"First, I thank my God through Jesus Christ for you all, that your faith is spoken of throughout the whole world."</a:t>
            </a:r>
            <a:r>
              <a:rPr lang="en" sz="1300">
                <a:solidFill>
                  <a:schemeClr val="dk1"/>
                </a:solidFill>
              </a:rPr>
              <a:t>.</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Path to Oneness: Resolving the Roman Conflict</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600">
                <a:solidFill>
                  <a:schemeClr val="dk1"/>
                </a:solidFill>
              </a:rPr>
              <a:t>In Oriental Orthodoxy, we view "Justification" not just as a legal status, but as </a:t>
            </a:r>
            <a:r>
              <a:rPr b="1" lang="en" sz="1600">
                <a:solidFill>
                  <a:schemeClr val="dk1"/>
                </a:solidFill>
              </a:rPr>
              <a:t>healing</a:t>
            </a:r>
            <a:r>
              <a:rPr lang="en" sz="1600">
                <a:solidFill>
                  <a:schemeClr val="dk1"/>
                </a:solidFill>
              </a:rPr>
              <a:t>. We were sick with sin, and through Christ, we are made whole.</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The Problem:</a:t>
            </a:r>
            <a:r>
              <a:rPr lang="en" sz="1600">
                <a:solidFill>
                  <a:schemeClr val="dk1"/>
                </a:solidFill>
              </a:rPr>
              <a:t> Both Jews and Gentiles have fallen short. The Law showed us our "sickness" but could not provide the "medicine."</a:t>
            </a:r>
            <a:br>
              <a:rPr lang="en"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The Solution:</a:t>
            </a:r>
            <a:r>
              <a:rPr lang="en" sz="1600">
                <a:solidFill>
                  <a:schemeClr val="dk1"/>
                </a:solidFill>
              </a:rPr>
              <a:t> Christ is the Great Physician. By faith—which in our tradition is not just mental belief, but </a:t>
            </a:r>
            <a:r>
              <a:rPr b="1" lang="en" sz="1600">
                <a:solidFill>
                  <a:schemeClr val="dk1"/>
                </a:solidFill>
              </a:rPr>
              <a:t>active, loving obedience</a:t>
            </a:r>
            <a:r>
              <a:rPr lang="en" sz="1600">
                <a:solidFill>
                  <a:schemeClr val="dk1"/>
                </a:solidFill>
              </a:rPr>
              <a:t>—we are united to Him.</a:t>
            </a:r>
            <a:endParaRPr sz="1600">
              <a:solidFill>
                <a:schemeClr val="dk1"/>
              </a:solidFill>
            </a:endParaRPr>
          </a:p>
          <a:p>
            <a:pPr indent="0" lvl="0" marL="0" rtl="0" algn="l">
              <a:spcBef>
                <a:spcPts val="1200"/>
              </a:spcBef>
              <a:spcAft>
                <a:spcPts val="1200"/>
              </a:spcAft>
              <a:buNone/>
            </a:pPr>
            <a:r>
              <a:t/>
            </a:r>
            <a:endParaRPr/>
          </a:p>
        </p:txBody>
      </p:sp>
      <p:sp>
        <p:nvSpPr>
          <p:cNvPr id="77" name="Google Shape;77;p16"/>
          <p:cNvSpPr txBox="1"/>
          <p:nvPr/>
        </p:nvSpPr>
        <p:spPr>
          <a:xfrm>
            <a:off x="2677125" y="3530975"/>
            <a:ext cx="3374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Romans 1:16-17: </a:t>
            </a:r>
            <a:r>
              <a:rPr i="1" lang="en" sz="1300">
                <a:solidFill>
                  <a:schemeClr val="dk1"/>
                </a:solidFill>
              </a:rPr>
              <a:t>"For I am not ashamed of the gospel of Christ... for in it the righteousness of God is revealed from faith to faith."</a:t>
            </a:r>
            <a:r>
              <a:rPr lang="en" sz="1300">
                <a:solidFill>
                  <a:schemeClr val="dk1"/>
                </a:solidFill>
              </a:rPr>
              <a:t>.</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The Gospel of Reconciliation:</a:t>
            </a:r>
            <a:r>
              <a:rPr lang="en" sz="2000"/>
              <a:t> Jews, Gentiles, and the New Covenant</a:t>
            </a:r>
            <a:endParaRPr sz="2000"/>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a:solidFill>
                  <a:schemeClr val="dk1"/>
                </a:solidFill>
              </a:rPr>
              <a:t>1. Leveling the Playing Field</a:t>
            </a:r>
            <a:endParaRPr b="1">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Paul starts by essentially telling both groups they are in the same boat.</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For the Gentiles:</a:t>
            </a:r>
            <a:r>
              <a:rPr lang="en" sz="1600">
                <a:solidFill>
                  <a:schemeClr val="dk1"/>
                </a:solidFill>
              </a:rPr>
              <a:t> He argues that even without the Law, they are guilty of turning away from God (Romans 1).</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For the Jews:</a:t>
            </a:r>
            <a:r>
              <a:rPr lang="en" sz="1600">
                <a:solidFill>
                  <a:schemeClr val="dk1"/>
                </a:solidFill>
              </a:rPr>
              <a:t> He argues that having the Law doesn't save you if you don't keep it perfectly (Romans 2).</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The Result:</a:t>
            </a:r>
            <a:r>
              <a:rPr lang="en" sz="1600">
                <a:solidFill>
                  <a:schemeClr val="dk1"/>
                </a:solidFill>
              </a:rPr>
              <a:t> "For all have sinned and fall short of the glory of God" (Romans 3:23). By making everyone equally "guilty," he removes the ground for any group to feel superior.</a:t>
            </a:r>
            <a:endParaRPr sz="1600">
              <a:solidFill>
                <a:schemeClr val="dk1"/>
              </a:solidFill>
            </a:endParaRPr>
          </a:p>
          <a:p>
            <a:pPr indent="0" lvl="0" marL="0" rtl="0" algn="l">
              <a:spcBef>
                <a:spcPts val="1200"/>
              </a:spcBef>
              <a:spcAft>
                <a:spcPts val="1200"/>
              </a:spcAft>
              <a:buNone/>
            </a:pPr>
            <a:r>
              <a:t/>
            </a:r>
            <a:endParaRPr/>
          </a:p>
        </p:txBody>
      </p:sp>
      <p:sp>
        <p:nvSpPr>
          <p:cNvPr id="84" name="Google Shape;84;p17"/>
          <p:cNvSpPr txBox="1"/>
          <p:nvPr/>
        </p:nvSpPr>
        <p:spPr>
          <a:xfrm>
            <a:off x="4869300" y="3967100"/>
            <a:ext cx="3636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Romans 2:25-29: Paul explains that true circumcision is of the heart, by the Spirit, not just the letter of the Law. </a:t>
            </a:r>
            <a:r>
              <a:rPr lang="en" sz="1300"/>
              <a:t>(R)</a:t>
            </a:r>
            <a:endParaRPr sz="1300"/>
          </a:p>
        </p:txBody>
      </p:sp>
      <p:sp>
        <p:nvSpPr>
          <p:cNvPr id="85" name="Google Shape;85;p17"/>
          <p:cNvSpPr txBox="1"/>
          <p:nvPr/>
        </p:nvSpPr>
        <p:spPr>
          <a:xfrm>
            <a:off x="1133575" y="390155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Romans 3:9 "What then? Are we better than they? Not at all. For we have previously charged both Jews and Greeks that they are all under sin."</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 sz="2000"/>
              <a:t>The Gospel of Reconciliation:</a:t>
            </a:r>
            <a:r>
              <a:rPr lang="en" sz="2000"/>
              <a:t> Jews, Gentiles, and the New Covenant</a:t>
            </a:r>
            <a:endParaRPr sz="2000"/>
          </a:p>
          <a:p>
            <a:pPr indent="0" lvl="0" marL="0" rtl="0" algn="l">
              <a:spcBef>
                <a:spcPts val="0"/>
              </a:spcBef>
              <a:spcAft>
                <a:spcPts val="0"/>
              </a:spcAft>
              <a:buNone/>
            </a:pPr>
            <a:r>
              <a:t/>
            </a:r>
            <a:endParaRPr/>
          </a:p>
        </p:txBody>
      </p:sp>
      <p:sp>
        <p:nvSpPr>
          <p:cNvPr id="91" name="Google Shape;91;p18"/>
          <p:cNvSpPr txBox="1"/>
          <p:nvPr>
            <p:ph idx="1" type="body"/>
          </p:nvPr>
        </p:nvSpPr>
        <p:spPr>
          <a:xfrm>
            <a:off x="311700" y="1152475"/>
            <a:ext cx="57954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700">
                <a:solidFill>
                  <a:schemeClr val="dk1"/>
                </a:solidFill>
              </a:rPr>
              <a:t>2. The Abraham Argument</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To appease the Jewish Christians who valued their heritage, Paul uses </a:t>
            </a:r>
            <a:r>
              <a:rPr b="1" lang="en" sz="1500">
                <a:solidFill>
                  <a:schemeClr val="dk1"/>
                </a:solidFill>
              </a:rPr>
              <a:t>Abraham</a:t>
            </a:r>
            <a:r>
              <a:rPr lang="en" sz="1500">
                <a:solidFill>
                  <a:schemeClr val="dk1"/>
                </a:solidFill>
              </a:rPr>
              <a:t> as his primary example. He points out that Abraham was "counted as righteous" because of his faith </a:t>
            </a:r>
            <a:r>
              <a:rPr i="1" lang="en" sz="1500">
                <a:solidFill>
                  <a:schemeClr val="dk1"/>
                </a:solidFill>
              </a:rPr>
              <a:t>before</a:t>
            </a:r>
            <a:r>
              <a:rPr lang="en" sz="1500">
                <a:solidFill>
                  <a:schemeClr val="dk1"/>
                </a:solidFill>
              </a:rPr>
              <a:t> he was circumcised. This proved that:</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God’s promises weren't just for those under the Mosaic Law.</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Gentiles could be "children of Abraham" through faith alone.</a:t>
            </a:r>
            <a:endParaRPr sz="1500">
              <a:solidFill>
                <a:schemeClr val="dk1"/>
              </a:solidFill>
            </a:endParaRPr>
          </a:p>
          <a:p>
            <a:pPr indent="0" lvl="0" marL="0" rtl="0" algn="l">
              <a:spcBef>
                <a:spcPts val="1200"/>
              </a:spcBef>
              <a:spcAft>
                <a:spcPts val="1200"/>
              </a:spcAft>
              <a:buNone/>
            </a:pPr>
            <a:r>
              <a:t/>
            </a:r>
            <a:endParaRPr sz="2400"/>
          </a:p>
        </p:txBody>
      </p:sp>
      <p:sp>
        <p:nvSpPr>
          <p:cNvPr id="92" name="Google Shape;92;p18"/>
          <p:cNvSpPr txBox="1"/>
          <p:nvPr/>
        </p:nvSpPr>
        <p:spPr>
          <a:xfrm>
            <a:off x="2068850" y="3784150"/>
            <a:ext cx="4758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Romans 4:3: </a:t>
            </a:r>
            <a:r>
              <a:rPr i="1" lang="en" sz="1300">
                <a:solidFill>
                  <a:schemeClr val="dk1"/>
                </a:solidFill>
              </a:rPr>
              <a:t>"For what does the Scripture say? 'Abraham believed God, and it was accounted to him for righteousness.'"</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 sz="2000"/>
              <a:t>The Gospel of Reconciliation:</a:t>
            </a:r>
            <a:r>
              <a:rPr lang="en" sz="2000"/>
              <a:t> Jews, Gentiles, and the New Covenant</a:t>
            </a:r>
            <a:endParaRPr sz="2000"/>
          </a:p>
          <a:p>
            <a:pPr indent="0" lvl="0" marL="0" rtl="0" algn="l">
              <a:spcBef>
                <a:spcPts val="0"/>
              </a:spcBef>
              <a:spcAft>
                <a:spcPts val="0"/>
              </a:spcAft>
              <a:buNone/>
            </a:pPr>
            <a:r>
              <a:t/>
            </a:r>
            <a:endParaRPr/>
          </a:p>
        </p:txBody>
      </p:sp>
      <p:sp>
        <p:nvSpPr>
          <p:cNvPr id="98" name="Google Shape;98;p19"/>
          <p:cNvSpPr txBox="1"/>
          <p:nvPr>
            <p:ph idx="1" type="body"/>
          </p:nvPr>
        </p:nvSpPr>
        <p:spPr>
          <a:xfrm>
            <a:off x="311700" y="1152475"/>
            <a:ext cx="5367600" cy="34164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 sz="1700">
                <a:solidFill>
                  <a:schemeClr val="dk1"/>
                </a:solidFill>
              </a:rPr>
              <a:t>3. Practical "Oneness" (The Weak and the Strong)</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In the later chapters (especially Romans 14), Paul gets into the "nitty-gritty" of their daily conflict: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The Issues:</a:t>
            </a:r>
            <a:r>
              <a:rPr lang="en" sz="1500">
                <a:solidFill>
                  <a:schemeClr val="dk1"/>
                </a:solidFill>
              </a:rPr>
              <a:t> Dietary laws and the observation of sacred days.</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The Solution:</a:t>
            </a:r>
            <a:r>
              <a:rPr lang="en" sz="1500">
                <a:solidFill>
                  <a:schemeClr val="dk1"/>
                </a:solidFill>
              </a:rPr>
              <a:t> Paul tells the "strong" (those who felt free from the Law) not to look down on the "weak" (those who felt bound by it), and vice versa. He emphasizes that the Kingdom of God isn't about food or drink, but "righteousness, peace, and joy in the Holy Spirit."</a:t>
            </a:r>
            <a:endParaRPr sz="1500">
              <a:solidFill>
                <a:schemeClr val="dk1"/>
              </a:solidFill>
            </a:endParaRPr>
          </a:p>
          <a:p>
            <a:pPr indent="0" lvl="0" marL="0" rtl="0" algn="l">
              <a:spcBef>
                <a:spcPts val="1200"/>
              </a:spcBef>
              <a:spcAft>
                <a:spcPts val="1200"/>
              </a:spcAft>
              <a:buNone/>
            </a:pPr>
            <a:r>
              <a:t/>
            </a:r>
            <a:endParaRPr sz="2200"/>
          </a:p>
        </p:txBody>
      </p:sp>
      <p:sp>
        <p:nvSpPr>
          <p:cNvPr id="99" name="Google Shape;99;p19"/>
          <p:cNvSpPr txBox="1"/>
          <p:nvPr/>
        </p:nvSpPr>
        <p:spPr>
          <a:xfrm>
            <a:off x="5975375" y="1717500"/>
            <a:ext cx="30000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1"/>
                </a:solidFill>
              </a:rPr>
              <a:t>Romans 14:1-3:</a:t>
            </a:r>
            <a:r>
              <a:rPr lang="en" sz="1300">
                <a:solidFill>
                  <a:schemeClr val="dk1"/>
                </a:solidFill>
              </a:rPr>
              <a:t> "Accept the one whose faith is weak, without quarreling over disputable matters... The one who eats everything must not treat with contempt the one who does not."</a:t>
            </a:r>
            <a:br>
              <a:rPr lang="en" sz="1300">
                <a:solidFill>
                  <a:schemeClr val="dk1"/>
                </a:solidFill>
              </a:rPr>
            </a:br>
            <a:endParaRPr sz="1300">
              <a:solidFill>
                <a:schemeClr val="dk1"/>
              </a:solidFill>
            </a:endParaRPr>
          </a:p>
          <a:p>
            <a:pPr indent="0" lvl="0" marL="0" rtl="0" algn="l">
              <a:spcBef>
                <a:spcPts val="0"/>
              </a:spcBef>
              <a:spcAft>
                <a:spcPts val="0"/>
              </a:spcAft>
              <a:buNone/>
            </a:pPr>
            <a:r>
              <a:rPr b="1" lang="en" sz="1300">
                <a:solidFill>
                  <a:schemeClr val="dk1"/>
                </a:solidFill>
              </a:rPr>
              <a:t>Romans 15:7:</a:t>
            </a:r>
            <a:r>
              <a:rPr lang="en" sz="1300">
                <a:solidFill>
                  <a:schemeClr val="dk1"/>
                </a:solidFill>
              </a:rPr>
              <a:t> "Accept one another, then, just as Christ accepted you, in order to bring praise to God."</a:t>
            </a:r>
            <a:endParaRPr sz="13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the Conflict vs. Paul's Solution</a:t>
            </a:r>
            <a:endParaRPr/>
          </a:p>
        </p:txBody>
      </p:sp>
      <p:graphicFrame>
        <p:nvGraphicFramePr>
          <p:cNvPr id="105" name="Google Shape;105;p20"/>
          <p:cNvGraphicFramePr/>
          <p:nvPr/>
        </p:nvGraphicFramePr>
        <p:xfrm>
          <a:off x="311700" y="1184850"/>
          <a:ext cx="3000000" cy="3000000"/>
        </p:xfrm>
        <a:graphic>
          <a:graphicData uri="http://schemas.openxmlformats.org/drawingml/2006/table">
            <a:tbl>
              <a:tblPr>
                <a:noFill/>
                <a:tableStyleId>{B593431D-2EE3-4803-B78A-0FAA91275FF6}</a:tableStyleId>
              </a:tblPr>
              <a:tblGrid>
                <a:gridCol w="4260300"/>
                <a:gridCol w="4260300"/>
              </a:tblGrid>
              <a:tr h="501600">
                <a:tc>
                  <a:txBody>
                    <a:bodyPr/>
                    <a:lstStyle/>
                    <a:p>
                      <a:pPr indent="0" lvl="0" marL="0" rtl="0" algn="ctr">
                        <a:lnSpc>
                          <a:spcPct val="115000"/>
                        </a:lnSpc>
                        <a:spcBef>
                          <a:spcPts val="0"/>
                        </a:spcBef>
                        <a:spcAft>
                          <a:spcPts val="0"/>
                        </a:spcAft>
                        <a:buNone/>
                      </a:pPr>
                      <a:r>
                        <a:rPr b="1" lang="en" sz="1900"/>
                        <a:t>The Tension</a:t>
                      </a:r>
                      <a:endParaRPr b="1" sz="1900"/>
                    </a:p>
                  </a:txBody>
                  <a:tcPr marT="19050" marB="19050" marR="28575" marL="28575" anchor="b">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900"/>
                        <a:t>Paul's "Tewahedo" Solution</a:t>
                      </a:r>
                      <a:endParaRPr b="1" sz="1900"/>
                    </a:p>
                  </a:txBody>
                  <a:tcPr marT="19050" marB="19050" marR="28575" marL="28575" anchor="b">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907275">
                <a:tc>
                  <a:txBody>
                    <a:bodyPr/>
                    <a:lstStyle/>
                    <a:p>
                      <a:pPr indent="0" lvl="0" marL="0" rtl="0" algn="l">
                        <a:lnSpc>
                          <a:spcPct val="115000"/>
                        </a:lnSpc>
                        <a:spcBef>
                          <a:spcPts val="0"/>
                        </a:spcBef>
                        <a:spcAft>
                          <a:spcPts val="0"/>
                        </a:spcAft>
                        <a:buNone/>
                      </a:pPr>
                      <a:r>
                        <a:rPr lang="en"/>
                        <a:t>Jewish Christians prioritized the Mosaic Covenant.</a:t>
                      </a:r>
                      <a:endParaRPr/>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Christ is the "end of the law" for righteousness (Rom 10:4).</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907275">
                <a:tc>
                  <a:txBody>
                    <a:bodyPr/>
                    <a:lstStyle/>
                    <a:p>
                      <a:pPr indent="0" lvl="0" marL="0" rtl="0" algn="l">
                        <a:lnSpc>
                          <a:spcPct val="115000"/>
                        </a:lnSpc>
                        <a:spcBef>
                          <a:spcPts val="0"/>
                        </a:spcBef>
                        <a:spcAft>
                          <a:spcPts val="0"/>
                        </a:spcAft>
                        <a:buNone/>
                      </a:pPr>
                      <a:r>
                        <a:rPr lang="en" sz="1300"/>
                        <a:t>Gentile Christians felt the Law was irrelevant.</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The Law is holy, but salvation comes through grace (Rom 7:12).</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907275">
                <a:tc>
                  <a:txBody>
                    <a:bodyPr/>
                    <a:lstStyle/>
                    <a:p>
                      <a:pPr indent="0" lvl="0" marL="0" rtl="0" algn="l">
                        <a:lnSpc>
                          <a:spcPct val="115000"/>
                        </a:lnSpc>
                        <a:spcBef>
                          <a:spcPts val="0"/>
                        </a:spcBef>
                        <a:spcAft>
                          <a:spcPts val="0"/>
                        </a:spcAft>
                        <a:buNone/>
                      </a:pPr>
                      <a:r>
                        <a:rPr lang="en" sz="1300"/>
                        <a:t>Division over customs and heritage.</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One body with many members, working in harmony (Rom 12).</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 Breakdown of Romans</a:t>
            </a:r>
            <a:endParaRPr/>
          </a:p>
        </p:txBody>
      </p:sp>
      <p:graphicFrame>
        <p:nvGraphicFramePr>
          <p:cNvPr id="111" name="Google Shape;111;p21"/>
          <p:cNvGraphicFramePr/>
          <p:nvPr/>
        </p:nvGraphicFramePr>
        <p:xfrm>
          <a:off x="311700" y="1191625"/>
          <a:ext cx="3000000" cy="3000000"/>
        </p:xfrm>
        <a:graphic>
          <a:graphicData uri="http://schemas.openxmlformats.org/drawingml/2006/table">
            <a:tbl>
              <a:tblPr>
                <a:noFill/>
                <a:tableStyleId>{B593431D-2EE3-4803-B78A-0FAA91275FF6}</a:tableStyleId>
              </a:tblPr>
              <a:tblGrid>
                <a:gridCol w="2776450"/>
                <a:gridCol w="2776450"/>
                <a:gridCol w="2776450"/>
              </a:tblGrid>
              <a:tr h="646000">
                <a:tc>
                  <a:txBody>
                    <a:bodyPr/>
                    <a:lstStyle/>
                    <a:p>
                      <a:pPr indent="0" lvl="0" marL="0" rtl="0" algn="ctr">
                        <a:lnSpc>
                          <a:spcPct val="115000"/>
                        </a:lnSpc>
                        <a:spcBef>
                          <a:spcPts val="0"/>
                        </a:spcBef>
                        <a:spcAft>
                          <a:spcPts val="0"/>
                        </a:spcAft>
                        <a:buNone/>
                      </a:pPr>
                      <a:r>
                        <a:rPr b="1" lang="en" sz="1900"/>
                        <a:t>Section</a:t>
                      </a:r>
                      <a:endParaRPr b="1" sz="1900"/>
                    </a:p>
                  </a:txBody>
                  <a:tcPr marT="19050" marB="19050" marR="28575" marL="28575" anchor="b">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900"/>
                        <a:t>Focus</a:t>
                      </a:r>
                      <a:endParaRPr b="1" sz="1900"/>
                    </a:p>
                  </a:txBody>
                  <a:tcPr marT="19050" marB="19050" marR="28575" marL="28575" anchor="b">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900"/>
                        <a:t>Themes</a:t>
                      </a:r>
                      <a:endParaRPr b="1" sz="1900"/>
                    </a:p>
                  </a:txBody>
                  <a:tcPr marT="19050" marB="19050" marR="28575" marL="28575" anchor="b">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917275">
                <a:tc>
                  <a:txBody>
                    <a:bodyPr/>
                    <a:lstStyle/>
                    <a:p>
                      <a:pPr indent="0" lvl="0" marL="0" rtl="0" algn="l">
                        <a:lnSpc>
                          <a:spcPct val="115000"/>
                        </a:lnSpc>
                        <a:spcBef>
                          <a:spcPts val="0"/>
                        </a:spcBef>
                        <a:spcAft>
                          <a:spcPts val="0"/>
                        </a:spcAft>
                        <a:buNone/>
                      </a:pPr>
                      <a:r>
                        <a:rPr lang="en" sz="1300"/>
                        <a:t>Ch. 1–4</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The Need</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All humanity is under sin. Abraham is the father of faith for both Jew and Gentile.</a:t>
                      </a:r>
                      <a:endParaRPr sz="1300"/>
                    </a:p>
                  </a:txBody>
                  <a:tcPr marT="19050" marB="19050"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46000">
                <a:tc>
                  <a:txBody>
                    <a:bodyPr/>
                    <a:lstStyle/>
                    <a:p>
                      <a:pPr indent="0" lvl="0" marL="0" rtl="0" algn="l">
                        <a:lnSpc>
                          <a:spcPct val="115000"/>
                        </a:lnSpc>
                        <a:spcBef>
                          <a:spcPts val="0"/>
                        </a:spcBef>
                        <a:spcAft>
                          <a:spcPts val="0"/>
                        </a:spcAft>
                        <a:buNone/>
                      </a:pPr>
                      <a:r>
                        <a:rPr lang="en" sz="1300"/>
                        <a:t>Ch. 5–8</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The New Life</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From Adam to Christ. Baptism as dying and rising. Life in the Holy Spirit.</a:t>
                      </a:r>
                      <a:endParaRPr sz="1300"/>
                    </a:p>
                  </a:txBody>
                  <a:tcPr marT="19050" marB="19050"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46000">
                <a:tc>
                  <a:txBody>
                    <a:bodyPr/>
                    <a:lstStyle/>
                    <a:p>
                      <a:pPr indent="0" lvl="0" marL="0" rtl="0" algn="l">
                        <a:lnSpc>
                          <a:spcPct val="115000"/>
                        </a:lnSpc>
                        <a:spcBef>
                          <a:spcPts val="0"/>
                        </a:spcBef>
                        <a:spcAft>
                          <a:spcPts val="0"/>
                        </a:spcAft>
                        <a:buNone/>
                      </a:pPr>
                      <a:r>
                        <a:rPr lang="en" sz="1300"/>
                        <a:t>Ch. 9–11</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The Mystery</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God’s plan for Israel and the "Grafting in" of the Gentiles.</a:t>
                      </a:r>
                      <a:endParaRPr sz="1300"/>
                    </a:p>
                  </a:txBody>
                  <a:tcPr marT="19050" marB="19050"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646000">
                <a:tc>
                  <a:txBody>
                    <a:bodyPr/>
                    <a:lstStyle/>
                    <a:p>
                      <a:pPr indent="0" lvl="0" marL="0" rtl="0" algn="l">
                        <a:lnSpc>
                          <a:spcPct val="115000"/>
                        </a:lnSpc>
                        <a:spcBef>
                          <a:spcPts val="0"/>
                        </a:spcBef>
                        <a:spcAft>
                          <a:spcPts val="0"/>
                        </a:spcAft>
                        <a:buNone/>
                      </a:pPr>
                      <a:r>
                        <a:rPr lang="en" sz="1300"/>
                        <a:t>Ch. 12–16</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The Living Sacrifice</a:t>
                      </a:r>
                      <a:endParaRPr sz="1300"/>
                    </a:p>
                  </a:txBody>
                  <a:tcPr marT="19050" marB="19050" marR="28575" marL="2857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How to live as a community. Love, humility, and submission to God.</a:t>
                      </a:r>
                      <a:endParaRPr sz="1300"/>
                    </a:p>
                  </a:txBody>
                  <a:tcPr marT="19050" marB="19050"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a:t>
            </a:r>
            <a:r>
              <a:rPr lang="en"/>
              <a:t> Breakdown Of Romans: Medical Framework</a:t>
            </a:r>
            <a:endParaRPr/>
          </a:p>
        </p:txBody>
      </p:sp>
      <p:sp>
        <p:nvSpPr>
          <p:cNvPr id="117" name="Google Shape;117;p22"/>
          <p:cNvSpPr txBox="1"/>
          <p:nvPr>
            <p:ph idx="1" type="body"/>
          </p:nvPr>
        </p:nvSpPr>
        <p:spPr>
          <a:xfrm>
            <a:off x="311700" y="1139150"/>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512">
                <a:solidFill>
                  <a:schemeClr val="dk1"/>
                </a:solidFill>
              </a:rPr>
              <a:t>In our church, Christ is not just a Judge who clears a legal debt; He is the </a:t>
            </a:r>
            <a:r>
              <a:rPr b="1" lang="en" sz="1512">
                <a:solidFill>
                  <a:schemeClr val="dk1"/>
                </a:solidFill>
              </a:rPr>
              <a:t>Medhanit</a:t>
            </a:r>
            <a:r>
              <a:rPr lang="en" sz="1512">
                <a:solidFill>
                  <a:schemeClr val="dk1"/>
                </a:solidFill>
              </a:rPr>
              <a:t> (Savior/Healer) who restores a broken nature.</a:t>
            </a:r>
            <a:endParaRPr sz="1512">
              <a:solidFill>
                <a:schemeClr val="dk1"/>
              </a:solidFill>
            </a:endParaRPr>
          </a:p>
          <a:p>
            <a:pPr indent="0" lvl="0" marL="0" rtl="0" algn="l">
              <a:lnSpc>
                <a:spcPct val="95000"/>
              </a:lnSpc>
              <a:spcBef>
                <a:spcPts val="1200"/>
              </a:spcBef>
              <a:spcAft>
                <a:spcPts val="0"/>
              </a:spcAft>
              <a:buSzPts val="935"/>
              <a:buNone/>
            </a:pPr>
            <a:r>
              <a:t/>
            </a:r>
            <a:endParaRPr sz="1128">
              <a:solidFill>
                <a:schemeClr val="dk1"/>
              </a:solidFill>
            </a:endParaRPr>
          </a:p>
          <a:p>
            <a:pPr indent="0" lvl="0" marL="0" rtl="0" algn="l">
              <a:lnSpc>
                <a:spcPct val="95000"/>
              </a:lnSpc>
              <a:spcBef>
                <a:spcPts val="1200"/>
              </a:spcBef>
              <a:spcAft>
                <a:spcPts val="0"/>
              </a:spcAft>
              <a:buSzPts val="935"/>
              <a:buNone/>
            </a:pPr>
            <a:r>
              <a:rPr b="1" lang="en" sz="1475">
                <a:solidFill>
                  <a:schemeClr val="dk1"/>
                </a:solidFill>
              </a:rPr>
              <a:t>The Diagnosis (Chapters 1–3):</a:t>
            </a:r>
            <a:r>
              <a:rPr lang="en" sz="1475">
                <a:solidFill>
                  <a:schemeClr val="dk1"/>
                </a:solidFill>
              </a:rPr>
              <a:t> St. Paul shows that the whole world is sick with the "fever" of sin.</a:t>
            </a:r>
            <a:endParaRPr sz="1475">
              <a:solidFill>
                <a:schemeClr val="dk1"/>
              </a:solidFill>
            </a:endParaRPr>
          </a:p>
          <a:p>
            <a:pPr indent="0" lvl="0" marL="0" rtl="0" algn="l">
              <a:lnSpc>
                <a:spcPct val="95000"/>
              </a:lnSpc>
              <a:spcBef>
                <a:spcPts val="1200"/>
              </a:spcBef>
              <a:spcAft>
                <a:spcPts val="0"/>
              </a:spcAft>
              <a:buClr>
                <a:schemeClr val="dk1"/>
              </a:buClr>
              <a:buSzPts val="935"/>
              <a:buFont typeface="Arial"/>
              <a:buNone/>
            </a:pPr>
            <a:r>
              <a:t/>
            </a:r>
            <a:endParaRPr sz="1475">
              <a:solidFill>
                <a:schemeClr val="dk1"/>
              </a:solidFill>
            </a:endParaRPr>
          </a:p>
          <a:p>
            <a:pPr indent="0" lvl="0" marL="0" rtl="0" algn="l">
              <a:lnSpc>
                <a:spcPct val="95000"/>
              </a:lnSpc>
              <a:spcBef>
                <a:spcPts val="1200"/>
              </a:spcBef>
              <a:spcAft>
                <a:spcPts val="0"/>
              </a:spcAft>
              <a:buSzPts val="935"/>
              <a:buNone/>
            </a:pPr>
            <a:r>
              <a:rPr b="1" lang="en" sz="1475">
                <a:solidFill>
                  <a:schemeClr val="dk1"/>
                </a:solidFill>
              </a:rPr>
              <a:t>The Medicine (Chapters 4–5):</a:t>
            </a:r>
            <a:r>
              <a:rPr lang="en" sz="1475">
                <a:solidFill>
                  <a:schemeClr val="dk1"/>
                </a:solidFill>
              </a:rPr>
              <a:t> The Blood of Christ and the Grace of God.</a:t>
            </a:r>
            <a:endParaRPr sz="1475">
              <a:solidFill>
                <a:schemeClr val="dk1"/>
              </a:solidFill>
            </a:endParaRPr>
          </a:p>
          <a:p>
            <a:pPr indent="0" lvl="0" marL="0" rtl="0" algn="l">
              <a:lnSpc>
                <a:spcPct val="95000"/>
              </a:lnSpc>
              <a:spcBef>
                <a:spcPts val="1200"/>
              </a:spcBef>
              <a:spcAft>
                <a:spcPts val="0"/>
              </a:spcAft>
              <a:buClr>
                <a:schemeClr val="dk1"/>
              </a:buClr>
              <a:buSzPts val="935"/>
              <a:buFont typeface="Arial"/>
              <a:buNone/>
            </a:pPr>
            <a:r>
              <a:t/>
            </a:r>
            <a:endParaRPr sz="1475">
              <a:solidFill>
                <a:schemeClr val="dk1"/>
              </a:solidFill>
            </a:endParaRPr>
          </a:p>
          <a:p>
            <a:pPr indent="0" lvl="0" marL="0" rtl="0" algn="l">
              <a:lnSpc>
                <a:spcPct val="95000"/>
              </a:lnSpc>
              <a:spcBef>
                <a:spcPts val="1200"/>
              </a:spcBef>
              <a:spcAft>
                <a:spcPts val="0"/>
              </a:spcAft>
              <a:buSzPts val="935"/>
              <a:buNone/>
            </a:pPr>
            <a:r>
              <a:rPr b="1" lang="en" sz="1475">
                <a:solidFill>
                  <a:schemeClr val="dk1"/>
                </a:solidFill>
              </a:rPr>
              <a:t>The Recovery (Chapters 6–8):</a:t>
            </a:r>
            <a:r>
              <a:rPr lang="en" sz="1475">
                <a:solidFill>
                  <a:schemeClr val="dk1"/>
                </a:solidFill>
              </a:rPr>
              <a:t> Baptism and the life of fasting, prayer, and the Holy Spirit.</a:t>
            </a:r>
            <a:endParaRPr sz="1475">
              <a:solidFill>
                <a:schemeClr val="dk1"/>
              </a:solidFill>
            </a:endParaRPr>
          </a:p>
          <a:p>
            <a:pPr indent="0" lvl="0" marL="0" rtl="0" algn="l">
              <a:lnSpc>
                <a:spcPct val="95000"/>
              </a:lnSpc>
              <a:spcBef>
                <a:spcPts val="1200"/>
              </a:spcBef>
              <a:spcAft>
                <a:spcPts val="0"/>
              </a:spcAft>
              <a:buClr>
                <a:schemeClr val="dk1"/>
              </a:buClr>
              <a:buSzPts val="935"/>
              <a:buFont typeface="Arial"/>
              <a:buNone/>
            </a:pPr>
            <a:r>
              <a:t/>
            </a:r>
            <a:endParaRPr sz="1475">
              <a:solidFill>
                <a:schemeClr val="dk1"/>
              </a:solidFill>
            </a:endParaRPr>
          </a:p>
          <a:p>
            <a:pPr indent="0" lvl="0" marL="0" rtl="0" algn="l">
              <a:lnSpc>
                <a:spcPct val="95000"/>
              </a:lnSpc>
              <a:spcBef>
                <a:spcPts val="1200"/>
              </a:spcBef>
              <a:spcAft>
                <a:spcPts val="0"/>
              </a:spcAft>
              <a:buClr>
                <a:schemeClr val="dk1"/>
              </a:buClr>
              <a:buSzPts val="935"/>
              <a:buFont typeface="Arial"/>
              <a:buNone/>
            </a:pPr>
            <a:r>
              <a:rPr b="1" lang="en" sz="1475">
                <a:solidFill>
                  <a:schemeClr val="dk1"/>
                </a:solidFill>
              </a:rPr>
              <a:t>The Community Health (Chapters 12–16):</a:t>
            </a:r>
            <a:r>
              <a:rPr lang="en" sz="1475">
                <a:solidFill>
                  <a:schemeClr val="dk1"/>
                </a:solidFill>
              </a:rPr>
              <a:t> How the healed patients live together in the Church.</a:t>
            </a:r>
            <a:endParaRPr sz="1475">
              <a:solidFill>
                <a:schemeClr val="dk1"/>
              </a:solidFill>
            </a:endParaRPr>
          </a:p>
          <a:p>
            <a:pPr indent="0" lvl="0" marL="0" rtl="0" algn="l">
              <a:lnSpc>
                <a:spcPct val="95000"/>
              </a:lnSpc>
              <a:spcBef>
                <a:spcPts val="1200"/>
              </a:spcBef>
              <a:spcAft>
                <a:spcPts val="1200"/>
              </a:spcAft>
              <a:buSzPts val="935"/>
              <a:buNone/>
            </a:pPr>
            <a:r>
              <a:t/>
            </a:r>
            <a:endParaRPr sz="1135">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1930"/>
              <a:t>The Diagnosis: </a:t>
            </a:r>
            <a:r>
              <a:rPr lang="en" sz="1930"/>
              <a:t>The Fever of Sin (Chapters 1–3)</a:t>
            </a:r>
            <a:endParaRPr sz="1930"/>
          </a:p>
          <a:p>
            <a:pPr indent="0" lvl="0" marL="0" rtl="0" algn="l">
              <a:spcBef>
                <a:spcPts val="400"/>
              </a:spcBef>
              <a:spcAft>
                <a:spcPts val="0"/>
              </a:spcAft>
              <a:buSzPts val="990"/>
              <a:buNone/>
            </a:pPr>
            <a:r>
              <a:t/>
            </a:r>
            <a:endParaRPr sz="2520"/>
          </a:p>
        </p:txBody>
      </p:sp>
      <p:sp>
        <p:nvSpPr>
          <p:cNvPr id="123" name="Google Shape;123;p23"/>
          <p:cNvSpPr txBox="1"/>
          <p:nvPr>
            <p:ph idx="1" type="body"/>
          </p:nvPr>
        </p:nvSpPr>
        <p:spPr>
          <a:xfrm>
            <a:off x="311700" y="863550"/>
            <a:ext cx="5367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chemeClr val="dk1"/>
                </a:solidFill>
              </a:rPr>
              <a:t>Before a doctor can prescribe medicine, they must show the patient they are sick. St. Paul performs a "spiritual check-up" on the entire human race.</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The Symptoms:</a:t>
            </a:r>
            <a:r>
              <a:rPr lang="en" sz="1500">
                <a:solidFill>
                  <a:schemeClr val="dk1"/>
                </a:solidFill>
              </a:rPr>
              <a:t> Paul lists the symptoms of humanity’s sickness—idolatry, pride, and moral decay.</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The Lab Results:</a:t>
            </a:r>
            <a:r>
              <a:rPr lang="en" sz="1500">
                <a:solidFill>
                  <a:schemeClr val="dk1"/>
                </a:solidFill>
              </a:rPr>
              <a:t> He concludes that "all have sinned" (Rom 3:23). In an Orthodox sense, this means our "image of God" has been clouded, and our "likeness" to Him has been lost.</a:t>
            </a:r>
            <a:endParaRPr sz="1500">
              <a:solidFill>
                <a:schemeClr val="dk1"/>
              </a:solidFill>
            </a:endParaRPr>
          </a:p>
          <a:p>
            <a:pPr indent="-330200" lvl="0" marL="457200" rtl="0" algn="l">
              <a:spcBef>
                <a:spcPts val="0"/>
              </a:spcBef>
              <a:spcAft>
                <a:spcPts val="0"/>
              </a:spcAft>
              <a:buClr>
                <a:schemeClr val="dk1"/>
              </a:buClr>
              <a:buSzPts val="1600"/>
              <a:buChar char="●"/>
            </a:pPr>
            <a:r>
              <a:rPr b="1" lang="en" sz="1500">
                <a:solidFill>
                  <a:schemeClr val="dk1"/>
                </a:solidFill>
              </a:rPr>
              <a:t>The Ineffective Cure:</a:t>
            </a:r>
            <a:r>
              <a:rPr lang="en" sz="1500">
                <a:solidFill>
                  <a:schemeClr val="dk1"/>
                </a:solidFill>
              </a:rPr>
              <a:t> He explains that the Mosaic Law (the Old Covenant) acted like a thermometer: it could tell you that you had a fever (sin), but it didn't have the power to break the fever</a:t>
            </a:r>
            <a:r>
              <a:rPr lang="en" sz="1600">
                <a:solidFill>
                  <a:schemeClr val="dk1"/>
                </a:solidFill>
              </a:rPr>
              <a:t>.</a:t>
            </a:r>
            <a:endParaRPr sz="1600">
              <a:solidFill>
                <a:schemeClr val="dk1"/>
              </a:solidFill>
            </a:endParaRPr>
          </a:p>
          <a:p>
            <a:pPr indent="0" lvl="0" marL="0" rtl="0" algn="l">
              <a:spcBef>
                <a:spcPts val="1200"/>
              </a:spcBef>
              <a:spcAft>
                <a:spcPts val="1200"/>
              </a:spcAft>
              <a:buNone/>
            </a:pPr>
            <a:r>
              <a:t/>
            </a:r>
            <a:endParaRPr sz="2300"/>
          </a:p>
        </p:txBody>
      </p:sp>
      <p:sp>
        <p:nvSpPr>
          <p:cNvPr id="124" name="Google Shape;124;p23"/>
          <p:cNvSpPr txBox="1"/>
          <p:nvPr/>
        </p:nvSpPr>
        <p:spPr>
          <a:xfrm>
            <a:off x="5832300" y="232437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1"/>
                </a:solidFill>
              </a:rPr>
              <a:t>"Therefore by the deeds of the law no flesh will be justified in His sight, for by the law is the knowledge of sin."</a:t>
            </a:r>
            <a:r>
              <a:rPr lang="en">
                <a:solidFill>
                  <a:schemeClr val="dk1"/>
                </a:solidFill>
              </a:rPr>
              <a:t> (Romans 3:20).</a:t>
            </a:r>
            <a:endParaRPr/>
          </a:p>
        </p:txBody>
      </p:sp>
      <p:sp>
        <p:nvSpPr>
          <p:cNvPr id="125" name="Google Shape;125;p23"/>
          <p:cNvSpPr txBox="1"/>
          <p:nvPr/>
        </p:nvSpPr>
        <p:spPr>
          <a:xfrm>
            <a:off x="5876725" y="16007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1"/>
                </a:solidFill>
              </a:rPr>
              <a:t>"For all have sinned and fall short of the glory of God."</a:t>
            </a:r>
            <a:r>
              <a:rPr lang="en">
                <a:solidFill>
                  <a:schemeClr val="dk1"/>
                </a:solidFill>
              </a:rPr>
              <a:t> (Romans 3:23)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Medicine: The Blood &amp; Grace (Chapters 4–5)</a:t>
            </a:r>
            <a:endParaRPr/>
          </a:p>
        </p:txBody>
      </p:sp>
      <p:sp>
        <p:nvSpPr>
          <p:cNvPr id="131" name="Google Shape;131;p24"/>
          <p:cNvSpPr txBox="1"/>
          <p:nvPr>
            <p:ph idx="1" type="body"/>
          </p:nvPr>
        </p:nvSpPr>
        <p:spPr>
          <a:xfrm>
            <a:off x="311700" y="1152475"/>
            <a:ext cx="55212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1400">
                <a:solidFill>
                  <a:schemeClr val="dk1"/>
                </a:solidFill>
              </a:rPr>
              <a:t>Once the diagnosis is accepted, the Great Physician provides the remedy.</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The Active Ingredient:</a:t>
            </a:r>
            <a:r>
              <a:rPr lang="en" sz="1400">
                <a:solidFill>
                  <a:schemeClr val="dk1"/>
                </a:solidFill>
              </a:rPr>
              <a:t> </a:t>
            </a:r>
            <a:r>
              <a:rPr b="1" lang="en" sz="1400">
                <a:solidFill>
                  <a:schemeClr val="dk1"/>
                </a:solidFill>
              </a:rPr>
              <a:t>Grace (</a:t>
            </a:r>
            <a:r>
              <a:rPr b="1" i="1" lang="en" sz="1400">
                <a:solidFill>
                  <a:schemeClr val="dk1"/>
                </a:solidFill>
              </a:rPr>
              <a:t>Tsega</a:t>
            </a:r>
            <a:r>
              <a:rPr b="1" lang="en" sz="1400">
                <a:solidFill>
                  <a:schemeClr val="dk1"/>
                </a:solidFill>
              </a:rPr>
              <a:t>)</a:t>
            </a:r>
            <a:r>
              <a:rPr lang="en" sz="1400">
                <a:solidFill>
                  <a:schemeClr val="dk1"/>
                </a:solidFill>
              </a:rPr>
              <a:t>. This isn't just a concept; it is the life-giving energy of God.</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The Delivery Method:</a:t>
            </a:r>
            <a:r>
              <a:rPr lang="en" sz="1400">
                <a:solidFill>
                  <a:schemeClr val="dk1"/>
                </a:solidFill>
              </a:rPr>
              <a:t> </a:t>
            </a:r>
            <a:r>
              <a:rPr b="1" lang="en" sz="1400">
                <a:solidFill>
                  <a:schemeClr val="dk1"/>
                </a:solidFill>
              </a:rPr>
              <a:t>Faith</a:t>
            </a:r>
            <a:r>
              <a:rPr lang="en" sz="1400">
                <a:solidFill>
                  <a:schemeClr val="dk1"/>
                </a:solidFill>
              </a:rPr>
              <a:t>. Like a patient trusting a surgeon, we trust in Christ’s sacrifice.</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The Outcome:</a:t>
            </a:r>
            <a:r>
              <a:rPr lang="en" sz="1400">
                <a:solidFill>
                  <a:schemeClr val="dk1"/>
                </a:solidFill>
              </a:rPr>
              <a:t> Paul contrasts Adam and Christ. Adam "infected" the human race with mortality and corruption; Christ "injects" the human race with life and righteousness. We are "justified," which in our theology means being </a:t>
            </a:r>
            <a:r>
              <a:rPr b="1" lang="en" sz="1400">
                <a:solidFill>
                  <a:schemeClr val="dk1"/>
                </a:solidFill>
              </a:rPr>
              <a:t>made right</a:t>
            </a:r>
            <a:r>
              <a:rPr lang="en" sz="1400">
                <a:solidFill>
                  <a:schemeClr val="dk1"/>
                </a:solidFill>
              </a:rPr>
              <a:t> (healed), not just called right.</a:t>
            </a:r>
            <a:endParaRPr sz="1400">
              <a:solidFill>
                <a:schemeClr val="dk1"/>
              </a:solidFill>
            </a:endParaRPr>
          </a:p>
          <a:p>
            <a:pPr indent="0" lvl="0" marL="0" rtl="0" algn="l">
              <a:spcBef>
                <a:spcPts val="1200"/>
              </a:spcBef>
              <a:spcAft>
                <a:spcPts val="1200"/>
              </a:spcAft>
              <a:buNone/>
            </a:pPr>
            <a:r>
              <a:t/>
            </a:r>
            <a:endParaRPr/>
          </a:p>
        </p:txBody>
      </p:sp>
      <p:sp>
        <p:nvSpPr>
          <p:cNvPr id="132" name="Google Shape;132;p24"/>
          <p:cNvSpPr txBox="1"/>
          <p:nvPr/>
        </p:nvSpPr>
        <p:spPr>
          <a:xfrm>
            <a:off x="6144000" y="2762875"/>
            <a:ext cx="3000000" cy="18771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lang="en" sz="1200">
                <a:solidFill>
                  <a:schemeClr val="dk1"/>
                </a:solidFill>
              </a:rPr>
              <a:t>"For if when we were enemies we were reconciled to God through the death of His Son, much more, having been reconciled, we shall be saved by His life." (Romans 5:10)</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spcBef>
                <a:spcPts val="400"/>
              </a:spcBef>
              <a:spcAft>
                <a:spcPts val="0"/>
              </a:spcAft>
              <a:buNone/>
            </a:pPr>
            <a:r>
              <a:t/>
            </a:r>
            <a:endParaRPr i="1" sz="1100">
              <a:solidFill>
                <a:schemeClr val="dk1"/>
              </a:solidFill>
            </a:endParaRPr>
          </a:p>
        </p:txBody>
      </p:sp>
      <p:sp>
        <p:nvSpPr>
          <p:cNvPr id="133" name="Google Shape;133;p24"/>
          <p:cNvSpPr txBox="1"/>
          <p:nvPr/>
        </p:nvSpPr>
        <p:spPr>
          <a:xfrm>
            <a:off x="6144000" y="1307525"/>
            <a:ext cx="30000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200">
                <a:solidFill>
                  <a:schemeClr val="dk1"/>
                </a:solidFill>
              </a:rPr>
              <a:t>“</a:t>
            </a:r>
            <a:r>
              <a:rPr lang="en" sz="1200">
                <a:solidFill>
                  <a:schemeClr val="dk1"/>
                </a:solidFill>
              </a:rPr>
              <a:t>But the free gift is not like the offense. For if by the one man’s offense many died, much more the grace of God and the gift by the grace of the one Man, Jesus Christ, abounded to many." </a:t>
            </a:r>
            <a:br>
              <a:rPr lang="en" sz="1200">
                <a:solidFill>
                  <a:schemeClr val="dk1"/>
                </a:solidFill>
              </a:rPr>
            </a:br>
            <a:r>
              <a:rPr lang="en" sz="1200">
                <a:solidFill>
                  <a:schemeClr val="dk1"/>
                </a:solidFill>
              </a:rPr>
              <a:t>(Romans 5:15) </a:t>
            </a:r>
            <a:endParaRPr sz="1200">
              <a:solidFill>
                <a:schemeClr val="dk1"/>
              </a:solidFill>
            </a:endParaRPr>
          </a:p>
        </p:txBody>
      </p:sp>
      <p:sp>
        <p:nvSpPr>
          <p:cNvPr id="134" name="Google Shape;134;p24"/>
          <p:cNvSpPr txBox="1"/>
          <p:nvPr/>
        </p:nvSpPr>
        <p:spPr>
          <a:xfrm>
            <a:off x="1563550" y="3893625"/>
            <a:ext cx="6161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The Point:</a:t>
            </a:r>
            <a:r>
              <a:rPr lang="en" sz="1200">
                <a:solidFill>
                  <a:schemeClr val="dk1"/>
                </a:solidFill>
              </a:rPr>
              <a:t> If you are a prisoner in a hospital, you need two things: 1) To be pardoned for your crimes (Reconciliation) and 2) To be cured of your disease (Saved by His Life).</a:t>
            </a:r>
            <a:endParaRPr sz="1200">
              <a:solidFill>
                <a:schemeClr val="dk1"/>
              </a:solidFill>
            </a:endParaRPr>
          </a:p>
          <a:p>
            <a:pPr indent="0" lvl="0" marL="0" rtl="0" algn="l">
              <a:spcBef>
                <a:spcPts val="0"/>
              </a:spcBef>
              <a:spcAft>
                <a:spcPts val="0"/>
              </a:spcAft>
              <a:buNone/>
            </a:pPr>
            <a:r>
              <a:rPr b="1" lang="en" sz="1200">
                <a:solidFill>
                  <a:schemeClr val="dk1"/>
                </a:solidFill>
              </a:rPr>
              <a:t>Question:</a:t>
            </a:r>
            <a:r>
              <a:rPr lang="en" sz="1200">
                <a:solidFill>
                  <a:schemeClr val="dk1"/>
                </a:solidFill>
              </a:rPr>
              <a:t> Why is a "pardon" useless if you are still dying of a terminal illness?</a:t>
            </a:r>
            <a:endParaRPr sz="1200">
              <a:solidFill>
                <a:schemeClr val="dk1"/>
              </a:solidFill>
            </a:endParaRPr>
          </a:p>
          <a:p>
            <a:pPr indent="0" lvl="0" marL="0" rtl="0" algn="l">
              <a:spcBef>
                <a:spcPts val="0"/>
              </a:spcBef>
              <a:spcAft>
                <a:spcPts val="0"/>
              </a:spcAft>
              <a:buNone/>
            </a:pPr>
            <a:r>
              <a:rPr b="1" lang="en" sz="1200">
                <a:solidFill>
                  <a:schemeClr val="dk1"/>
                </a:solidFill>
              </a:rPr>
              <a:t>Takeaway:</a:t>
            </a:r>
            <a:r>
              <a:rPr lang="en" sz="1200">
                <a:solidFill>
                  <a:schemeClr val="dk1"/>
                </a:solidFill>
              </a:rPr>
              <a:t> This is why we need the </a:t>
            </a:r>
            <a:r>
              <a:rPr b="1" lang="en" sz="1200">
                <a:solidFill>
                  <a:schemeClr val="dk1"/>
                </a:solidFill>
              </a:rPr>
              <a:t>Life</a:t>
            </a:r>
            <a:r>
              <a:rPr lang="en" sz="1200">
                <a:solidFill>
                  <a:schemeClr val="dk1"/>
                </a:solidFill>
              </a:rPr>
              <a:t> of Christ, not just the memory of His death.</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Recovery: Baptism &amp; The Spirit (Chapters 6–8)</a:t>
            </a:r>
            <a:endParaRPr/>
          </a:p>
        </p:txBody>
      </p:sp>
      <p:sp>
        <p:nvSpPr>
          <p:cNvPr id="140" name="Google Shape;140;p25"/>
          <p:cNvSpPr txBox="1"/>
          <p:nvPr>
            <p:ph idx="1" type="body"/>
          </p:nvPr>
        </p:nvSpPr>
        <p:spPr>
          <a:xfrm>
            <a:off x="311700" y="1152475"/>
            <a:ext cx="5521200" cy="4143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500">
                <a:solidFill>
                  <a:schemeClr val="dk1"/>
                </a:solidFill>
              </a:rPr>
              <a:t>After a major surgery, a patient needs rehabilitation to regain their strength. This is the stage of </a:t>
            </a:r>
            <a:r>
              <a:rPr b="1" lang="en" sz="1500">
                <a:solidFill>
                  <a:schemeClr val="dk1"/>
                </a:solidFill>
              </a:rPr>
              <a:t>Sanctification</a:t>
            </a:r>
            <a:r>
              <a:rPr lang="en" sz="1500">
                <a:solidFill>
                  <a:schemeClr val="dk1"/>
                </a:solidFill>
              </a:rPr>
              <a: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The Initial Treatment (Baptism):</a:t>
            </a:r>
            <a:r>
              <a:rPr lang="en" sz="1500">
                <a:solidFill>
                  <a:schemeClr val="dk1"/>
                </a:solidFill>
              </a:rPr>
              <a:t> In Chapter 6, Paul says we are buried with Christ. In the EOTC, we know that when we emerge from the baptismal waters, the "old, sick man" has died, and a "new, healthy man" is born.</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Physical Therapy (The Spirit):</a:t>
            </a:r>
            <a:r>
              <a:rPr lang="en" sz="1500">
                <a:solidFill>
                  <a:schemeClr val="dk1"/>
                </a:solidFill>
              </a:rPr>
              <a:t> Chapters 7 and 8 describe the struggle between the "flesh" (the lingering habit of sickness) and the "Spirit" (the new health).</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The Strength:</a:t>
            </a:r>
            <a:r>
              <a:rPr lang="en" sz="1500">
                <a:solidFill>
                  <a:schemeClr val="dk1"/>
                </a:solidFill>
              </a:rPr>
              <a:t> Walking in the Spirit—through prayer, fasting, and the Sacraments—is how we stay in "remission" from sin and grow toward </a:t>
            </a:r>
            <a:r>
              <a:rPr b="1" lang="en" sz="1500">
                <a:solidFill>
                  <a:schemeClr val="dk1"/>
                </a:solidFill>
              </a:rPr>
              <a:t>Theosis</a:t>
            </a:r>
            <a:r>
              <a:rPr lang="en" sz="1500">
                <a:solidFill>
                  <a:schemeClr val="dk1"/>
                </a:solidFill>
              </a:rPr>
              <a:t> (becoming like God).</a:t>
            </a:r>
            <a:endParaRPr sz="1500">
              <a:solidFill>
                <a:schemeClr val="dk1"/>
              </a:solidFill>
            </a:endParaRPr>
          </a:p>
          <a:p>
            <a:pPr indent="0" lvl="0" marL="0" rtl="0" algn="l">
              <a:spcBef>
                <a:spcPts val="1800"/>
              </a:spcBef>
              <a:spcAft>
                <a:spcPts val="0"/>
              </a:spcAft>
              <a:buClr>
                <a:schemeClr val="dk1"/>
              </a:buClr>
              <a:buSzPts val="1100"/>
              <a:buFont typeface="Arial"/>
              <a:buNone/>
            </a:pPr>
            <a:r>
              <a:t/>
            </a:r>
            <a:endParaRPr b="1" sz="2100">
              <a:solidFill>
                <a:schemeClr val="dk1"/>
              </a:solidFill>
            </a:endParaRPr>
          </a:p>
          <a:p>
            <a:pPr indent="0" lvl="0" marL="0" rtl="0" algn="l">
              <a:spcBef>
                <a:spcPts val="400"/>
              </a:spcBef>
              <a:spcAft>
                <a:spcPts val="1200"/>
              </a:spcAft>
              <a:buNone/>
            </a:pPr>
            <a:r>
              <a:t/>
            </a:r>
            <a:endParaRPr sz="2200"/>
          </a:p>
        </p:txBody>
      </p:sp>
      <p:sp>
        <p:nvSpPr>
          <p:cNvPr id="141" name="Google Shape;141;p25"/>
          <p:cNvSpPr txBox="1"/>
          <p:nvPr/>
        </p:nvSpPr>
        <p:spPr>
          <a:xfrm>
            <a:off x="6036375" y="1509475"/>
            <a:ext cx="30000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dk1"/>
                </a:solidFill>
              </a:rPr>
              <a:t>“</a:t>
            </a:r>
            <a:r>
              <a:rPr i="1" lang="en" sz="1300">
                <a:solidFill>
                  <a:schemeClr val="dk1"/>
                </a:solidFill>
              </a:rPr>
              <a:t>Therefore we were buried with Him through baptism into death, that just as Christ was raised from the dead... even so we also should walk in newness of life."</a:t>
            </a:r>
            <a:r>
              <a:rPr lang="en" sz="1300">
                <a:solidFill>
                  <a:schemeClr val="dk1"/>
                </a:solidFill>
              </a:rPr>
              <a:t> (Romans 6:4)</a:t>
            </a:r>
            <a:endParaRPr sz="1600"/>
          </a:p>
        </p:txBody>
      </p:sp>
      <p:sp>
        <p:nvSpPr>
          <p:cNvPr id="142" name="Google Shape;142;p25"/>
          <p:cNvSpPr txBox="1"/>
          <p:nvPr/>
        </p:nvSpPr>
        <p:spPr>
          <a:xfrm>
            <a:off x="5956325" y="3047625"/>
            <a:ext cx="3000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dk1"/>
                </a:solidFill>
              </a:rPr>
              <a:t>"For if you live according to the flesh you will die; but if by the Spirit you put to death the deeds of the body, you will live."</a:t>
            </a:r>
            <a:r>
              <a:rPr lang="en" sz="1300">
                <a:solidFill>
                  <a:schemeClr val="dk1"/>
                </a:solidFill>
              </a:rPr>
              <a:t> (Romans 8:13).</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Community Health: The Living Church (Chapters 12–16)</a:t>
            </a:r>
            <a:endParaRPr/>
          </a:p>
        </p:txBody>
      </p:sp>
      <p:sp>
        <p:nvSpPr>
          <p:cNvPr id="148" name="Google Shape;148;p26"/>
          <p:cNvSpPr txBox="1"/>
          <p:nvPr>
            <p:ph idx="1" type="body"/>
          </p:nvPr>
        </p:nvSpPr>
        <p:spPr>
          <a:xfrm>
            <a:off x="311700" y="1152475"/>
            <a:ext cx="55101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n" sz="1600">
                <a:solidFill>
                  <a:schemeClr val="dk1"/>
                </a:solidFill>
              </a:rPr>
              <a:t>Finally, a healthy person doesn't live in isolation. They return to the community to serve.</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The Body of Christ:</a:t>
            </a:r>
            <a:r>
              <a:rPr lang="en" sz="1600">
                <a:solidFill>
                  <a:schemeClr val="dk1"/>
                </a:solidFill>
              </a:rPr>
              <a:t> Paul uses the image of a body (Rom 12). If one limb is healthy, it helps the limb that is weak.</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Social Hygiene:</a:t>
            </a:r>
            <a:r>
              <a:rPr lang="en" sz="1600">
                <a:solidFill>
                  <a:schemeClr val="dk1"/>
                </a:solidFill>
              </a:rPr>
              <a:t> This section covers how we treat enemies, how we submit to authorities, and how we handle disagreements (like fasting or holidays).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The Goal:</a:t>
            </a:r>
            <a:r>
              <a:rPr lang="en" sz="1600">
                <a:solidFill>
                  <a:schemeClr val="dk1"/>
                </a:solidFill>
              </a:rPr>
              <a:t> The "Community Health" is </a:t>
            </a:r>
            <a:r>
              <a:rPr b="1" lang="en" sz="1600">
                <a:solidFill>
                  <a:schemeClr val="dk1"/>
                </a:solidFill>
              </a:rPr>
              <a:t>Love</a:t>
            </a:r>
            <a:r>
              <a:rPr lang="en" sz="1600">
                <a:solidFill>
                  <a:schemeClr val="dk1"/>
                </a:solidFill>
              </a:rPr>
              <a:t>. St. Paul concludes that a truly healed person is one who can love others as Christ loved us.</a:t>
            </a:r>
            <a:endParaRPr sz="1600">
              <a:solidFill>
                <a:schemeClr val="dk1"/>
              </a:solidFill>
            </a:endParaRPr>
          </a:p>
          <a:p>
            <a:pPr indent="0" lvl="0" marL="0" rtl="0" algn="l">
              <a:spcBef>
                <a:spcPts val="1200"/>
              </a:spcBef>
              <a:spcAft>
                <a:spcPts val="1200"/>
              </a:spcAft>
              <a:buNone/>
            </a:pPr>
            <a:r>
              <a:t/>
            </a:r>
            <a:endParaRPr sz="2300"/>
          </a:p>
        </p:txBody>
      </p:sp>
      <p:sp>
        <p:nvSpPr>
          <p:cNvPr id="149" name="Google Shape;149;p26"/>
          <p:cNvSpPr txBox="1"/>
          <p:nvPr/>
        </p:nvSpPr>
        <p:spPr>
          <a:xfrm>
            <a:off x="5887700" y="1814850"/>
            <a:ext cx="30000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dk1"/>
                </a:solidFill>
              </a:rPr>
              <a:t>"I beseech you therefore, brethren, by the mercies of God, that you present your bodies a living sacrifice, holy, acceptable to God, which is your reasonable service."</a:t>
            </a:r>
            <a:r>
              <a:rPr lang="en" sz="1300">
                <a:solidFill>
                  <a:schemeClr val="dk1"/>
                </a:solidFill>
              </a:rPr>
              <a:t> (Romans 12:1)</a:t>
            </a:r>
            <a:endParaRPr sz="1600"/>
          </a:p>
        </p:txBody>
      </p:sp>
      <p:sp>
        <p:nvSpPr>
          <p:cNvPr id="150" name="Google Shape;150;p26"/>
          <p:cNvSpPr txBox="1"/>
          <p:nvPr/>
        </p:nvSpPr>
        <p:spPr>
          <a:xfrm>
            <a:off x="5887700" y="30346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1"/>
                </a:solidFill>
              </a:rPr>
              <a:t>"Be kindly affectionate to one another with brotherly love, in honor giving preference to one another."</a:t>
            </a:r>
            <a:r>
              <a:rPr lang="en">
                <a:solidFill>
                  <a:schemeClr val="dk1"/>
                </a:solidFill>
              </a:rPr>
              <a:t> (Romans 12:10).</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Hospital Analogy Breakdown </a:t>
            </a:r>
            <a:endParaRPr/>
          </a:p>
        </p:txBody>
      </p:sp>
      <p:sp>
        <p:nvSpPr>
          <p:cNvPr id="156" name="Google Shape;156;p27"/>
          <p:cNvSpPr txBox="1"/>
          <p:nvPr>
            <p:ph idx="1" type="body"/>
          </p:nvPr>
        </p:nvSpPr>
        <p:spPr>
          <a:xfrm>
            <a:off x="311700" y="1152475"/>
            <a:ext cx="8520600" cy="379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 </a:t>
            </a:r>
            <a:r>
              <a:rPr lang="en" sz="1100">
                <a:solidFill>
                  <a:schemeClr val="dk1"/>
                </a:solidFill>
              </a:rPr>
              <a:t>In the Western (Protestant/Catholic) view, Romans is often seen as a </a:t>
            </a:r>
            <a:r>
              <a:rPr b="1" lang="en" sz="1100">
                <a:solidFill>
                  <a:schemeClr val="dk1"/>
                </a:solidFill>
              </a:rPr>
              <a:t>Courtroom</a:t>
            </a:r>
            <a:r>
              <a:rPr lang="en" sz="1100">
                <a:solidFill>
                  <a:schemeClr val="dk1"/>
                </a:solidFill>
              </a:rPr>
              <a:t> (Judge, Guilt, Verdict). In the Oriental Orthodox view, Romans is a </a:t>
            </a:r>
            <a:r>
              <a:rPr b="1" lang="en" sz="1100">
                <a:solidFill>
                  <a:schemeClr val="dk1"/>
                </a:solidFill>
              </a:rPr>
              <a:t>Hospital</a:t>
            </a:r>
            <a:r>
              <a:rPr lang="en" sz="1100">
                <a:solidFill>
                  <a:schemeClr val="dk1"/>
                </a:solidFill>
              </a:rPr>
              <a:t> (Physician, Sickness, Healing).</a:t>
            </a:r>
            <a:endParaRPr sz="11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Synergy:</a:t>
            </a:r>
            <a:r>
              <a:rPr lang="en" sz="1100">
                <a:solidFill>
                  <a:schemeClr val="dk1"/>
                </a:solidFill>
              </a:rPr>
              <a:t> Note that the "Recovery" (Slide 3) requires our participation. We don't just sit there; we "walk" in the Spirit. This matches our teaching on Faith + Works.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Theosis:</a:t>
            </a:r>
            <a:r>
              <a:rPr lang="en" sz="1100">
                <a:solidFill>
                  <a:schemeClr val="dk1"/>
                </a:solidFill>
              </a:rPr>
              <a:t> The end goal of Romans 8 is becoming "heirs of God and joint-heirs with Christ." This is the definition of </a:t>
            </a:r>
            <a:r>
              <a:rPr b="1" lang="en" sz="1100">
                <a:solidFill>
                  <a:schemeClr val="dk1"/>
                </a:solidFill>
              </a:rPr>
              <a:t>Theosis</a:t>
            </a:r>
            <a:r>
              <a:rPr lang="en" sz="1100">
                <a:solidFill>
                  <a:schemeClr val="dk1"/>
                </a:solidFill>
              </a:rPr>
              <a:t>.</a:t>
            </a:r>
            <a:endParaRPr sz="1100">
              <a:solidFill>
                <a:schemeClr val="dk1"/>
              </a:solidFill>
            </a:endParaRPr>
          </a:p>
          <a:p>
            <a:pPr indent="0" lvl="0" marL="0" rtl="0" algn="l">
              <a:spcBef>
                <a:spcPts val="1200"/>
              </a:spcBef>
              <a:spcAft>
                <a:spcPts val="1200"/>
              </a:spcAft>
              <a:buNone/>
            </a:pPr>
            <a:r>
              <a:t/>
            </a:r>
            <a:endParaRPr sz="1900"/>
          </a:p>
        </p:txBody>
      </p:sp>
      <p:graphicFrame>
        <p:nvGraphicFramePr>
          <p:cNvPr id="157" name="Google Shape;157;p27"/>
          <p:cNvGraphicFramePr/>
          <p:nvPr/>
        </p:nvGraphicFramePr>
        <p:xfrm>
          <a:off x="952500" y="2715650"/>
          <a:ext cx="3000000" cy="3000000"/>
        </p:xfrm>
        <a:graphic>
          <a:graphicData uri="http://schemas.openxmlformats.org/drawingml/2006/table">
            <a:tbl>
              <a:tblPr>
                <a:noFill/>
                <a:tableStyleId>{B593431D-2EE3-4803-B78A-0FAA91275FF6}</a:tableStyleId>
              </a:tblPr>
              <a:tblGrid>
                <a:gridCol w="2413000"/>
                <a:gridCol w="2413000"/>
                <a:gridCol w="2413000"/>
              </a:tblGrid>
              <a:tr h="381000">
                <a:tc>
                  <a:txBody>
                    <a:bodyPr/>
                    <a:lstStyle/>
                    <a:p>
                      <a:pPr indent="0" lvl="0" marL="0" rtl="0" algn="ctr">
                        <a:lnSpc>
                          <a:spcPct val="115000"/>
                        </a:lnSpc>
                        <a:spcBef>
                          <a:spcPts val="0"/>
                        </a:spcBef>
                        <a:spcAft>
                          <a:spcPts val="0"/>
                        </a:spcAft>
                        <a:buNone/>
                      </a:pPr>
                      <a:r>
                        <a:rPr b="1" lang="en" sz="1200"/>
                        <a:t>Stage</a:t>
                      </a:r>
                      <a:endParaRPr b="1" sz="1200"/>
                    </a:p>
                  </a:txBody>
                  <a:tcPr marT="19050" marB="19050" marR="28575" marL="28575" anchor="b"/>
                </a:tc>
                <a:tc>
                  <a:txBody>
                    <a:bodyPr/>
                    <a:lstStyle/>
                    <a:p>
                      <a:pPr indent="0" lvl="0" marL="0" rtl="0" algn="ctr">
                        <a:lnSpc>
                          <a:spcPct val="115000"/>
                        </a:lnSpc>
                        <a:spcBef>
                          <a:spcPts val="0"/>
                        </a:spcBef>
                        <a:spcAft>
                          <a:spcPts val="0"/>
                        </a:spcAft>
                        <a:buNone/>
                      </a:pPr>
                      <a:r>
                        <a:rPr b="1" lang="en" sz="1200"/>
                        <a:t>Scripture Reference</a:t>
                      </a:r>
                      <a:endParaRPr b="1" sz="1200"/>
                    </a:p>
                  </a:txBody>
                  <a:tcPr marT="19050" marB="19050" marR="28575" marL="28575" anchor="b"/>
                </a:tc>
                <a:tc>
                  <a:txBody>
                    <a:bodyPr/>
                    <a:lstStyle/>
                    <a:p>
                      <a:pPr indent="0" lvl="0" marL="0" rtl="0" algn="ctr">
                        <a:lnSpc>
                          <a:spcPct val="115000"/>
                        </a:lnSpc>
                        <a:spcBef>
                          <a:spcPts val="0"/>
                        </a:spcBef>
                        <a:spcAft>
                          <a:spcPts val="0"/>
                        </a:spcAft>
                        <a:buNone/>
                      </a:pPr>
                      <a:r>
                        <a:rPr b="1" lang="en" sz="1200"/>
                        <a:t>The "Doctor's Note"</a:t>
                      </a:r>
                      <a:endParaRPr b="1" sz="1200"/>
                    </a:p>
                  </a:txBody>
                  <a:tcPr marT="19050" marB="19050" marR="91425" marL="91425" anchor="b">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t>Diagnosis</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Romans 1:21</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The heart was darkened; the mind became futile.</a:t>
                      </a:r>
                      <a:endParaRPr sz="1200"/>
                    </a:p>
                  </a:txBody>
                  <a:tcPr marT="19050" marB="19050" marR="91425" marL="91425" anchor="ctr">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t>Medicine</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Romans 5:1</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We have peace with God through our Lord Jesus Christ.</a:t>
                      </a:r>
                      <a:endParaRPr sz="1200"/>
                    </a:p>
                  </a:txBody>
                  <a:tcPr marT="19050" marB="19050" marR="91425" marL="91425" anchor="ctr">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t>Recovery</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Romans 8:14</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Being led by the Spirit proves we are God's children.</a:t>
                      </a:r>
                      <a:endParaRPr sz="1200"/>
                    </a:p>
                  </a:txBody>
                  <a:tcPr marT="19050" marB="19050" marR="91425" marL="91425" anchor="ctr">
                    <a:lnR cap="flat" cmpd="sng" w="9525">
                      <a:solidFill>
                        <a:srgbClr val="000000"/>
                      </a:solidFill>
                      <a:prstDash val="solid"/>
                      <a:round/>
                      <a:headEnd len="sm" w="sm" type="none"/>
                      <a:tailEnd len="sm" w="sm" type="none"/>
                    </a:lnR>
                  </a:tcPr>
                </a:tc>
              </a:tr>
              <a:tr h="381000">
                <a:tc>
                  <a:txBody>
                    <a:bodyPr/>
                    <a:lstStyle/>
                    <a:p>
                      <a:pPr indent="0" lvl="0" marL="0" rtl="0" algn="l">
                        <a:lnSpc>
                          <a:spcPct val="115000"/>
                        </a:lnSpc>
                        <a:spcBef>
                          <a:spcPts val="0"/>
                        </a:spcBef>
                        <a:spcAft>
                          <a:spcPts val="0"/>
                        </a:spcAft>
                        <a:buNone/>
                      </a:pPr>
                      <a:r>
                        <a:rPr lang="en" sz="1200"/>
                        <a:t>Health</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Romans 13:10</a:t>
                      </a:r>
                      <a:endParaRPr sz="1200"/>
                    </a:p>
                  </a:txBody>
                  <a:tcPr marT="19050" marB="19050" marR="28575" marL="28575" anchor="ctr"/>
                </a:tc>
                <a:tc>
                  <a:txBody>
                    <a:bodyPr/>
                    <a:lstStyle/>
                    <a:p>
                      <a:pPr indent="0" lvl="0" marL="0" rtl="0" algn="l">
                        <a:lnSpc>
                          <a:spcPct val="115000"/>
                        </a:lnSpc>
                        <a:spcBef>
                          <a:spcPts val="0"/>
                        </a:spcBef>
                        <a:spcAft>
                          <a:spcPts val="0"/>
                        </a:spcAft>
                        <a:buNone/>
                      </a:pPr>
                      <a:r>
                        <a:rPr lang="en" sz="1200"/>
                        <a:t>Love is the fulfillment of the Law.</a:t>
                      </a:r>
                      <a:endParaRPr sz="1200"/>
                    </a:p>
                  </a:txBody>
                  <a:tcPr marT="19050" marB="19050" marR="91425" marL="91425" anchor="ctr">
                    <a:lnR cap="flat" cmpd="sng" w="9525">
                      <a:solidFill>
                        <a:srgbClr val="000000"/>
                      </a:solidFill>
                      <a:prstDash val="solid"/>
                      <a:round/>
                      <a:headEnd len="sm" w="sm" type="none"/>
                      <a:tailEnd len="sm" w="sm" type="none"/>
                    </a:lnR>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Oriental Orthodox Perspectives: The Book Of Romans</a:t>
            </a:r>
            <a:endParaRPr/>
          </a:p>
        </p:txBody>
      </p:sp>
      <p:sp>
        <p:nvSpPr>
          <p:cNvPr id="163" name="Google Shape;163;p28"/>
          <p:cNvSpPr txBox="1"/>
          <p:nvPr>
            <p:ph idx="1" type="body"/>
          </p:nvPr>
        </p:nvSpPr>
        <p:spPr>
          <a:xfrm>
            <a:off x="311700" y="1152475"/>
            <a:ext cx="8520600" cy="43953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 sz="1300">
                <a:solidFill>
                  <a:schemeClr val="dk1"/>
                </a:solidFill>
              </a:rPr>
              <a:t>1. Faith and Works: Two Sides of One Coin</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Defining "Works":</a:t>
            </a:r>
            <a:r>
              <a:rPr lang="en" sz="1100">
                <a:solidFill>
                  <a:schemeClr val="dk1"/>
                </a:solidFill>
              </a:rPr>
              <a:t> Paul’s critique of "works" refers to the </a:t>
            </a:r>
            <a:r>
              <a:rPr i="1" lang="en" sz="1100">
                <a:solidFill>
                  <a:schemeClr val="dk1"/>
                </a:solidFill>
              </a:rPr>
              <a:t>Works of the Law</a:t>
            </a:r>
            <a:r>
              <a:rPr lang="en" sz="1100">
                <a:solidFill>
                  <a:schemeClr val="dk1"/>
                </a:solidFill>
              </a:rPr>
              <a:t> (Mosaic rituals like circumcision) rather than moral acts of love.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Synergy:</a:t>
            </a:r>
            <a:r>
              <a:rPr lang="en" sz="1100">
                <a:solidFill>
                  <a:schemeClr val="dk1"/>
                </a:solidFill>
              </a:rPr>
              <a:t> Faith is not a static belief; it is "faith working through love" (Galatians 5:6). Just as the soul and body are one, </a:t>
            </a:r>
            <a:r>
              <a:rPr b="1" lang="en" sz="1100">
                <a:solidFill>
                  <a:schemeClr val="dk1"/>
                </a:solidFill>
              </a:rPr>
              <a:t>Faith and Works are inseparable.</a:t>
            </a:r>
            <a:endParaRPr b="1" sz="11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2. Grace as Transformation (Theosis)</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Beyond "Legal" Status:</a:t>
            </a:r>
            <a:r>
              <a:rPr lang="en" sz="1100">
                <a:solidFill>
                  <a:schemeClr val="dk1"/>
                </a:solidFill>
              </a:rPr>
              <a:t> Grace is not merely a legal "pardon" or unmerited favor.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Divine Energy:</a:t>
            </a:r>
            <a:r>
              <a:rPr lang="en" sz="1100">
                <a:solidFill>
                  <a:schemeClr val="dk1"/>
                </a:solidFill>
              </a:rPr>
              <a:t> It is the </a:t>
            </a:r>
            <a:r>
              <a:rPr b="1" lang="en" sz="1100">
                <a:solidFill>
                  <a:schemeClr val="dk1"/>
                </a:solidFill>
              </a:rPr>
              <a:t>uncreated energy of God</a:t>
            </a:r>
            <a:r>
              <a:rPr lang="en" sz="1100">
                <a:solidFill>
                  <a:schemeClr val="dk1"/>
                </a:solidFill>
              </a:rPr>
              <a:t> that dwells within us.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Goal:</a:t>
            </a:r>
            <a:r>
              <a:rPr lang="en" sz="1100">
                <a:solidFill>
                  <a:schemeClr val="dk1"/>
                </a:solidFill>
              </a:rPr>
              <a:t> We are not just </a:t>
            </a:r>
            <a:r>
              <a:rPr i="1" lang="en" sz="1100">
                <a:solidFill>
                  <a:schemeClr val="dk1"/>
                </a:solidFill>
              </a:rPr>
              <a:t>declared</a:t>
            </a:r>
            <a:r>
              <a:rPr lang="en" sz="1100">
                <a:solidFill>
                  <a:schemeClr val="dk1"/>
                </a:solidFill>
              </a:rPr>
              <a:t> righteous; we are being actively healed and transformed into the likeness of God (</a:t>
            </a:r>
            <a:r>
              <a:rPr b="1" lang="en" sz="1100">
                <a:solidFill>
                  <a:schemeClr val="dk1"/>
                </a:solidFill>
              </a:rPr>
              <a:t>Theosis</a:t>
            </a:r>
            <a:r>
              <a:rPr lang="en" sz="1100">
                <a:solidFill>
                  <a:schemeClr val="dk1"/>
                </a:solidFill>
              </a:rPr>
              <a:t>).</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3. Unity at the Table </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Bearing One Another:</a:t>
            </a:r>
            <a:r>
              <a:rPr lang="en" sz="1100">
                <a:solidFill>
                  <a:schemeClr val="dk1"/>
                </a:solidFill>
              </a:rPr>
              <a:t> Following Romans 14–15, the "strong" must support the "weak" in love.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Communion:</a:t>
            </a:r>
            <a:r>
              <a:rPr lang="en" sz="1100">
                <a:solidFill>
                  <a:schemeClr val="dk1"/>
                </a:solidFill>
              </a:rPr>
              <a:t> Our unity is found at the communal table. We do not let differences in fasting or customs break our </a:t>
            </a:r>
            <a:r>
              <a:rPr b="1" lang="en" sz="1100">
                <a:solidFill>
                  <a:schemeClr val="dk1"/>
                </a:solidFill>
              </a:rPr>
              <a:t>oneness (Tewahedo)</a:t>
            </a:r>
            <a:r>
              <a:rPr lang="en" sz="1100">
                <a:solidFill>
                  <a:schemeClr val="dk1"/>
                </a:solidFill>
              </a:rPr>
              <a:t> in Christ.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Command:</a:t>
            </a:r>
            <a:r>
              <a:rPr lang="en" sz="1100">
                <a:solidFill>
                  <a:schemeClr val="dk1"/>
                </a:solidFill>
              </a:rPr>
              <a:t> "Accept one another, then, just as Christ accepted you" (Romans 15:7).</a:t>
            </a:r>
            <a:endParaRPr sz="1100">
              <a:solidFill>
                <a:schemeClr val="dk1"/>
              </a:solidFill>
            </a:endParaRPr>
          </a:p>
          <a:p>
            <a:pPr indent="0" lvl="0" marL="0" rtl="0" algn="l">
              <a:spcBef>
                <a:spcPts val="1200"/>
              </a:spcBef>
              <a:spcAft>
                <a:spcPts val="0"/>
              </a:spcAft>
              <a:buNone/>
            </a:pPr>
            <a:r>
              <a:rPr b="1" lang="en" sz="1100">
                <a:solidFill>
                  <a:schemeClr val="dk1"/>
                </a:solidFill>
              </a:rPr>
              <a:t>Biblical Proof:</a:t>
            </a:r>
            <a:r>
              <a:rPr lang="en" sz="1100">
                <a:solidFill>
                  <a:schemeClr val="dk1"/>
                </a:solidFill>
              </a:rPr>
              <a:t> Romans 2:6: </a:t>
            </a:r>
            <a:r>
              <a:rPr i="1" lang="en" sz="1100">
                <a:solidFill>
                  <a:schemeClr val="dk1"/>
                </a:solidFill>
              </a:rPr>
              <a:t>"[God] will render to each one according to his deeds."</a:t>
            </a:r>
            <a:r>
              <a:rPr lang="en" sz="1100">
                <a:solidFill>
                  <a:schemeClr val="dk1"/>
                </a:solidFill>
              </a:rPr>
              <a:t>. This proves faith and works are inseparable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Dogma vs Cannon </a:t>
            </a:r>
            <a:endParaRPr/>
          </a:p>
        </p:txBody>
      </p:sp>
      <p:sp>
        <p:nvSpPr>
          <p:cNvPr id="169" name="Google Shape;169;p29"/>
          <p:cNvSpPr txBox="1"/>
          <p:nvPr>
            <p:ph idx="1" type="body"/>
          </p:nvPr>
        </p:nvSpPr>
        <p:spPr>
          <a:xfrm>
            <a:off x="62100" y="1355625"/>
            <a:ext cx="9019800" cy="35511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600">
                <a:solidFill>
                  <a:schemeClr val="dk1"/>
                </a:solidFill>
              </a:rPr>
              <a:t>Dogma: The Unchanging Truth (The Heart)</a:t>
            </a:r>
            <a:endParaRPr b="1" sz="1600">
              <a:solidFill>
                <a:schemeClr val="dk1"/>
              </a:solidFill>
            </a:endParaRPr>
          </a:p>
          <a:p>
            <a:pPr indent="0" lvl="0" marL="0" rtl="0" algn="l">
              <a:spcBef>
                <a:spcPts val="1200"/>
              </a:spcBef>
              <a:spcAft>
                <a:spcPts val="0"/>
              </a:spcAft>
              <a:buNone/>
            </a:pPr>
            <a:r>
              <a:rPr b="1" lang="en" sz="1400">
                <a:solidFill>
                  <a:schemeClr val="dk1"/>
                </a:solidFill>
              </a:rPr>
              <a:t>Dogma</a:t>
            </a:r>
            <a:r>
              <a:rPr lang="en" sz="1400">
                <a:solidFill>
                  <a:schemeClr val="dk1"/>
                </a:solidFill>
              </a:rPr>
              <a:t> refers to the core, essential beliefs of the Church that are considered divinely revealed and non-negotiable. If you change a dogma, you are no longer part of that faith.</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400"/>
              </a:spcBef>
              <a:spcAft>
                <a:spcPts val="0"/>
              </a:spcAft>
              <a:buNone/>
            </a:pPr>
            <a:r>
              <a:rPr b="1" lang="en" sz="1600">
                <a:solidFill>
                  <a:schemeClr val="dk1"/>
                </a:solidFill>
              </a:rPr>
              <a:t>Canon: The Rule of Life (The Fence)</a:t>
            </a:r>
            <a:endParaRPr b="1" sz="1600">
              <a:solidFill>
                <a:schemeClr val="dk1"/>
              </a:solidFill>
            </a:endParaRPr>
          </a:p>
          <a:p>
            <a:pPr indent="0" lvl="0" marL="0" rtl="0" algn="l">
              <a:spcBef>
                <a:spcPts val="1200"/>
              </a:spcBef>
              <a:spcAft>
                <a:spcPts val="0"/>
              </a:spcAft>
              <a:buNone/>
            </a:pPr>
            <a:r>
              <a:rPr b="1" lang="en" sz="1400">
                <a:solidFill>
                  <a:schemeClr val="dk1"/>
                </a:solidFill>
              </a:rPr>
              <a:t>Canon</a:t>
            </a:r>
            <a:r>
              <a:rPr lang="en" sz="1400">
                <a:solidFill>
                  <a:schemeClr val="dk1"/>
                </a:solidFill>
              </a:rPr>
              <a:t> (from the Greek word for "measuring stick") refers to the laws, rules, and traditions that govern how the Church is organized and how the faithful live out their lives.</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b="1" sz="1400">
              <a:solidFill>
                <a:schemeClr val="dk1"/>
              </a:solidFill>
            </a:endParaRPr>
          </a:p>
          <a:p>
            <a:pPr indent="0" lvl="0" marL="0" rtl="0" algn="l">
              <a:spcBef>
                <a:spcPts val="1200"/>
              </a:spcBef>
              <a:spcAft>
                <a:spcPts val="1200"/>
              </a:spcAft>
              <a:buNone/>
            </a:pPr>
            <a:r>
              <a:t/>
            </a:r>
            <a:endParaRPr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Mystery of our Rebirth: From Adam to Christ</a:t>
            </a:r>
            <a:endParaRPr/>
          </a:p>
        </p:txBody>
      </p:sp>
      <p:sp>
        <p:nvSpPr>
          <p:cNvPr id="175" name="Google Shape;175;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1400"/>
              </a:spcBef>
              <a:spcAft>
                <a:spcPts val="0"/>
              </a:spcAft>
              <a:buClr>
                <a:schemeClr val="dk1"/>
              </a:buClr>
              <a:buSzPts val="523"/>
              <a:buFont typeface="Arial"/>
              <a:buNone/>
            </a:pPr>
            <a:r>
              <a:rPr b="1" lang="en" sz="1341">
                <a:solidFill>
                  <a:schemeClr val="dk1"/>
                </a:solidFill>
              </a:rPr>
              <a:t>The Two Adams (Chapter 5)</a:t>
            </a:r>
            <a:endParaRPr b="1" sz="1341">
              <a:solidFill>
                <a:schemeClr val="dk1"/>
              </a:solidFill>
            </a:endParaRPr>
          </a:p>
          <a:p>
            <a:pPr indent="0" lvl="0" marL="0" rtl="0" algn="l">
              <a:lnSpc>
                <a:spcPct val="105000"/>
              </a:lnSpc>
              <a:spcBef>
                <a:spcPts val="1200"/>
              </a:spcBef>
              <a:spcAft>
                <a:spcPts val="0"/>
              </a:spcAft>
              <a:buClr>
                <a:schemeClr val="dk1"/>
              </a:buClr>
              <a:buSzPts val="523"/>
              <a:buFont typeface="Arial"/>
              <a:buNone/>
            </a:pPr>
            <a:r>
              <a:rPr lang="en" sz="1246">
                <a:solidFill>
                  <a:schemeClr val="dk1"/>
                </a:solidFill>
              </a:rPr>
              <a:t>This is central to our Christology. The first Adam brought death; the "Second Adam" (Christ) brings life. We inherit the </a:t>
            </a:r>
            <a:r>
              <a:rPr i="1" lang="en" sz="1246">
                <a:solidFill>
                  <a:schemeClr val="dk1"/>
                </a:solidFill>
              </a:rPr>
              <a:t>consequences</a:t>
            </a:r>
            <a:r>
              <a:rPr lang="en" sz="1246">
                <a:solidFill>
                  <a:schemeClr val="dk1"/>
                </a:solidFill>
              </a:rPr>
              <a:t> of Adam's sin (mortality and corruption), and in Romans 5, Paul explains how Christ reverses this.</a:t>
            </a:r>
            <a:endParaRPr sz="1246">
              <a:solidFill>
                <a:schemeClr val="dk1"/>
              </a:solidFill>
            </a:endParaRPr>
          </a:p>
          <a:p>
            <a:pPr indent="0" lvl="0" marL="0" rtl="0" algn="l">
              <a:lnSpc>
                <a:spcPct val="105000"/>
              </a:lnSpc>
              <a:spcBef>
                <a:spcPts val="1400"/>
              </a:spcBef>
              <a:spcAft>
                <a:spcPts val="0"/>
              </a:spcAft>
              <a:buClr>
                <a:schemeClr val="dk1"/>
              </a:buClr>
              <a:buSzPts val="523"/>
              <a:buFont typeface="Arial"/>
              <a:buNone/>
            </a:pPr>
            <a:r>
              <a:rPr b="1" lang="en" sz="1341">
                <a:solidFill>
                  <a:schemeClr val="dk1"/>
                </a:solidFill>
              </a:rPr>
              <a:t>Baptism as Participation (Chapter 6)</a:t>
            </a:r>
            <a:endParaRPr b="1" sz="1341">
              <a:solidFill>
                <a:schemeClr val="dk1"/>
              </a:solidFill>
            </a:endParaRPr>
          </a:p>
          <a:p>
            <a:pPr indent="0" lvl="0" marL="0" rtl="0" algn="l">
              <a:lnSpc>
                <a:spcPct val="105000"/>
              </a:lnSpc>
              <a:spcBef>
                <a:spcPts val="1200"/>
              </a:spcBef>
              <a:spcAft>
                <a:spcPts val="0"/>
              </a:spcAft>
              <a:buClr>
                <a:schemeClr val="dk1"/>
              </a:buClr>
              <a:buSzPts val="523"/>
              <a:buFont typeface="Arial"/>
              <a:buNone/>
            </a:pPr>
            <a:r>
              <a:rPr lang="en" sz="1246">
                <a:solidFill>
                  <a:schemeClr val="dk1"/>
                </a:solidFill>
              </a:rPr>
              <a:t>In the EOTC, we emphasize that Baptism is a real death and rebirth.</a:t>
            </a:r>
            <a:endParaRPr sz="1246">
              <a:solidFill>
                <a:schemeClr val="dk1"/>
              </a:solidFill>
            </a:endParaRPr>
          </a:p>
          <a:p>
            <a:pPr indent="0" lvl="0" marL="381000" marR="381000" rtl="0" algn="l">
              <a:lnSpc>
                <a:spcPct val="105000"/>
              </a:lnSpc>
              <a:spcBef>
                <a:spcPts val="1200"/>
              </a:spcBef>
              <a:spcAft>
                <a:spcPts val="0"/>
              </a:spcAft>
              <a:buClr>
                <a:schemeClr val="dk1"/>
              </a:buClr>
              <a:buSzPts val="523"/>
              <a:buFont typeface="Arial"/>
              <a:buNone/>
            </a:pPr>
            <a:r>
              <a:rPr i="1" lang="en" sz="1246">
                <a:solidFill>
                  <a:schemeClr val="dk1"/>
                </a:solidFill>
              </a:rPr>
              <a:t>"Therefore we were buried with Him through baptism into death, that just as Christ was raised from the dead by the glory of the Father, even so we also should walk in newness of life."</a:t>
            </a:r>
            <a:r>
              <a:rPr lang="en" sz="1246">
                <a:solidFill>
                  <a:schemeClr val="dk1"/>
                </a:solidFill>
              </a:rPr>
              <a:t> (Rom 6:4)</a:t>
            </a:r>
            <a:endParaRPr sz="1246">
              <a:solidFill>
                <a:schemeClr val="dk1"/>
              </a:solidFill>
            </a:endParaRPr>
          </a:p>
          <a:p>
            <a:pPr indent="0" lvl="0" marL="0" rtl="0" algn="l">
              <a:lnSpc>
                <a:spcPct val="105000"/>
              </a:lnSpc>
              <a:spcBef>
                <a:spcPts val="1400"/>
              </a:spcBef>
              <a:spcAft>
                <a:spcPts val="0"/>
              </a:spcAft>
              <a:buClr>
                <a:schemeClr val="dk1"/>
              </a:buClr>
              <a:buSzPts val="523"/>
              <a:buFont typeface="Arial"/>
              <a:buNone/>
            </a:pPr>
            <a:r>
              <a:rPr b="1" lang="en" sz="1341">
                <a:solidFill>
                  <a:schemeClr val="dk1"/>
                </a:solidFill>
              </a:rPr>
              <a:t>The Spirit-Led Life (Chapter 8)</a:t>
            </a:r>
            <a:endParaRPr b="1" sz="1341">
              <a:solidFill>
                <a:schemeClr val="dk1"/>
              </a:solidFill>
            </a:endParaRPr>
          </a:p>
          <a:p>
            <a:pPr indent="0" lvl="0" marL="0" rtl="0" algn="l">
              <a:lnSpc>
                <a:spcPct val="105000"/>
              </a:lnSpc>
              <a:spcBef>
                <a:spcPts val="1200"/>
              </a:spcBef>
              <a:spcAft>
                <a:spcPts val="0"/>
              </a:spcAft>
              <a:buClr>
                <a:schemeClr val="dk1"/>
              </a:buClr>
              <a:buSzPts val="523"/>
              <a:buFont typeface="Arial"/>
              <a:buNone/>
            </a:pPr>
            <a:r>
              <a:rPr lang="en" sz="1246">
                <a:solidFill>
                  <a:schemeClr val="dk1"/>
                </a:solidFill>
              </a:rPr>
              <a:t>This is often called the "Inner Life" of the believer. It emphasizes that there is no condemnation for those in Christ. It also highlights that </a:t>
            </a:r>
            <a:r>
              <a:rPr b="1" lang="en" sz="1246">
                <a:solidFill>
                  <a:schemeClr val="dk1"/>
                </a:solidFill>
              </a:rPr>
              <a:t>all creation</a:t>
            </a:r>
            <a:r>
              <a:rPr lang="en" sz="1246">
                <a:solidFill>
                  <a:schemeClr val="dk1"/>
                </a:solidFill>
              </a:rPr>
              <a:t> groans for redemption—a very Orthodox view of the sanctity of the physical world.</a:t>
            </a:r>
            <a:endParaRPr sz="1246">
              <a:solidFill>
                <a:schemeClr val="dk1"/>
              </a:solidFill>
            </a:endParaRPr>
          </a:p>
          <a:p>
            <a:pPr indent="0" lvl="0" marL="0" rtl="0" algn="l">
              <a:lnSpc>
                <a:spcPct val="105000"/>
              </a:lnSpc>
              <a:spcBef>
                <a:spcPts val="1200"/>
              </a:spcBef>
              <a:spcAft>
                <a:spcPts val="1200"/>
              </a:spcAft>
              <a:buSzPts val="523"/>
              <a:buNone/>
            </a:pPr>
            <a:r>
              <a:t/>
            </a:r>
            <a:endParaRPr sz="955"/>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Early Church Fathers: St. John Chrysostom </a:t>
            </a:r>
            <a:endParaRPr/>
          </a:p>
        </p:txBody>
      </p:sp>
      <p:sp>
        <p:nvSpPr>
          <p:cNvPr id="181" name="Google Shape;18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300">
                <a:solidFill>
                  <a:schemeClr val="dk1"/>
                </a:solidFill>
              </a:rPr>
              <a:t>St. John Chrysostom </a:t>
            </a:r>
            <a:r>
              <a:rPr lang="en" sz="1300">
                <a:solidFill>
                  <a:schemeClr val="dk1"/>
                </a:solidFill>
              </a:rPr>
              <a:t>had such a deep love for Romans that he had the book read to him twice a week. He famously wrote an entire series of homilies (lessons) on it.</a:t>
            </a:r>
            <a:endParaRPr sz="1300">
              <a:solidFill>
                <a:schemeClr val="dk1"/>
              </a:solidFill>
            </a:endParaRPr>
          </a:p>
          <a:p>
            <a:pPr indent="0" lvl="0" marL="381000" marR="381000" rtl="0" algn="l">
              <a:spcBef>
                <a:spcPts val="1200"/>
              </a:spcBef>
              <a:spcAft>
                <a:spcPts val="0"/>
              </a:spcAft>
              <a:buNone/>
            </a:pPr>
            <a:r>
              <a:rPr b="1" lang="en" sz="1300">
                <a:solidFill>
                  <a:schemeClr val="dk1"/>
                </a:solidFill>
              </a:rPr>
              <a:t>The Quote:</a:t>
            </a:r>
            <a:r>
              <a:rPr lang="en" sz="1300">
                <a:solidFill>
                  <a:schemeClr val="dk1"/>
                </a:solidFill>
              </a:rPr>
              <a:t> </a:t>
            </a:r>
            <a:r>
              <a:rPr i="1" lang="en" sz="1300">
                <a:solidFill>
                  <a:schemeClr val="dk1"/>
                </a:solidFill>
              </a:rPr>
              <a:t>"As I keep hearing the Epistles of the blessed Paul read... I rejoice in the spiritual trumpet and am roused and warmed with desire... For it is from this Epistle [Romans] that we shall best come to know him [Paul] in his entirety."</a:t>
            </a:r>
            <a:r>
              <a:rPr lang="en" sz="1300">
                <a:solidFill>
                  <a:schemeClr val="dk1"/>
                </a:solidFill>
              </a:rPr>
              <a:t> — </a:t>
            </a:r>
            <a:r>
              <a:rPr i="1" lang="en" sz="1300">
                <a:solidFill>
                  <a:schemeClr val="dk1"/>
                </a:solidFill>
              </a:rPr>
              <a:t>Homilies on Romans, Preface.</a:t>
            </a:r>
            <a:endParaRPr i="1" sz="1300">
              <a:solidFill>
                <a:schemeClr val="dk1"/>
              </a:solidFill>
            </a:endParaRPr>
          </a:p>
          <a:p>
            <a:pPr indent="0" lvl="0" marL="381000" marR="381000" rtl="0" algn="l">
              <a:spcBef>
                <a:spcPts val="1200"/>
              </a:spcBef>
              <a:spcAft>
                <a:spcPts val="0"/>
              </a:spcAft>
              <a:buClr>
                <a:schemeClr val="dk1"/>
              </a:buClr>
              <a:buSzPts val="1100"/>
              <a:buFont typeface="Arial"/>
              <a:buNone/>
            </a:pPr>
            <a:r>
              <a:t/>
            </a:r>
            <a:endParaRPr i="1" sz="1300">
              <a:solidFill>
                <a:schemeClr val="dk1"/>
              </a:solidFill>
            </a:endParaRPr>
          </a:p>
          <a:p>
            <a:pPr indent="-311150" lvl="0" marL="457200" rtl="0" algn="l">
              <a:spcBef>
                <a:spcPts val="1200"/>
              </a:spcBef>
              <a:spcAft>
                <a:spcPts val="0"/>
              </a:spcAft>
              <a:buClr>
                <a:schemeClr val="dk1"/>
              </a:buClr>
              <a:buSzPts val="1300"/>
              <a:buChar char="●"/>
            </a:pPr>
            <a:r>
              <a:rPr b="1" lang="en" sz="1300">
                <a:solidFill>
                  <a:schemeClr val="dk1"/>
                </a:solidFill>
              </a:rPr>
              <a:t>The Impact:</a:t>
            </a:r>
            <a:r>
              <a:rPr lang="en" sz="1300">
                <a:solidFill>
                  <a:schemeClr val="dk1"/>
                </a:solidFill>
              </a:rPr>
              <a:t> He described the experience as hearing a </a:t>
            </a:r>
            <a:r>
              <a:rPr b="1" lang="en" sz="1300">
                <a:solidFill>
                  <a:schemeClr val="dk1"/>
                </a:solidFill>
              </a:rPr>
              <a:t>"spiritual trumpet"</a:t>
            </a:r>
            <a:r>
              <a:rPr lang="en" sz="1300">
                <a:solidFill>
                  <a:schemeClr val="dk1"/>
                </a:solidFill>
              </a:rPr>
              <a:t> that roused his soul.</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Legacy:</a:t>
            </a:r>
            <a:r>
              <a:rPr lang="en" sz="1300">
                <a:solidFill>
                  <a:schemeClr val="dk1"/>
                </a:solidFill>
              </a:rPr>
              <a:t> Because of this "continual cleaving" to the text, he produced 32 homilies on Romans, which remain the most famous commentary on the book in Church history.</a:t>
            </a:r>
            <a:endParaRPr sz="1300">
              <a:solidFill>
                <a:schemeClr val="dk1"/>
              </a:solidFill>
            </a:endParaRPr>
          </a:p>
          <a:p>
            <a:pPr indent="0" lvl="0" marL="0" rtl="0" algn="l">
              <a:spcBef>
                <a:spcPts val="1200"/>
              </a:spcBef>
              <a:spcAft>
                <a:spcPts val="1200"/>
              </a:spcAft>
              <a:buNone/>
            </a:pPr>
            <a:r>
              <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4706"/>
              <a:buFont typeface="Arial"/>
              <a:buNone/>
            </a:pPr>
            <a:r>
              <a:rPr lang="en"/>
              <a:t>The Early Church Fathers: St.Cyril </a:t>
            </a:r>
            <a:endParaRPr b="1" sz="1700"/>
          </a:p>
          <a:p>
            <a:pPr indent="0" lvl="0" marL="0" rtl="0" algn="l">
              <a:lnSpc>
                <a:spcPct val="115000"/>
              </a:lnSpc>
              <a:spcBef>
                <a:spcPts val="1400"/>
              </a:spcBef>
              <a:spcAft>
                <a:spcPts val="0"/>
              </a:spcAft>
              <a:buClr>
                <a:schemeClr val="dk1"/>
              </a:buClr>
              <a:buSzPct val="84615"/>
              <a:buFont typeface="Arial"/>
              <a:buNone/>
            </a:pPr>
            <a:r>
              <a:t/>
            </a:r>
            <a:endParaRPr b="1" sz="1300"/>
          </a:p>
          <a:p>
            <a:pPr indent="0" lvl="0" marL="0" rtl="0" algn="l">
              <a:spcBef>
                <a:spcPts val="400"/>
              </a:spcBef>
              <a:spcAft>
                <a:spcPts val="0"/>
              </a:spcAft>
              <a:buNone/>
            </a:pPr>
            <a:r>
              <a:t/>
            </a:r>
            <a:endParaRPr/>
          </a:p>
        </p:txBody>
      </p:sp>
      <p:sp>
        <p:nvSpPr>
          <p:cNvPr id="187" name="Google Shape;187;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935"/>
              <a:buFont typeface="Arial"/>
              <a:buNone/>
            </a:pPr>
            <a:r>
              <a:rPr b="1" lang="en" sz="1305">
                <a:solidFill>
                  <a:schemeClr val="dk1"/>
                </a:solidFill>
              </a:rPr>
              <a:t>The Architect of Tewahedo Christology</a:t>
            </a:r>
            <a:endParaRPr b="1" sz="1305">
              <a:solidFill>
                <a:schemeClr val="dk1"/>
              </a:solidFill>
            </a:endParaRPr>
          </a:p>
          <a:p>
            <a:pPr indent="0" lvl="0" marL="0" rtl="0" algn="l">
              <a:lnSpc>
                <a:spcPct val="95000"/>
              </a:lnSpc>
              <a:spcBef>
                <a:spcPts val="1200"/>
              </a:spcBef>
              <a:spcAft>
                <a:spcPts val="0"/>
              </a:spcAft>
              <a:buClr>
                <a:schemeClr val="dk1"/>
              </a:buClr>
              <a:buSzPts val="935"/>
              <a:buFont typeface="Arial"/>
              <a:buNone/>
            </a:pPr>
            <a:r>
              <a:rPr lang="en" sz="1135">
                <a:solidFill>
                  <a:schemeClr val="dk1"/>
                </a:solidFill>
              </a:rPr>
              <a:t>In the Ethiopian Orthodox tradition, St. Cyril is the primary authority on how the Divine and Human are united in Christ. His commentary on Romans focuses on our </a:t>
            </a:r>
            <a:r>
              <a:rPr b="1" lang="en" sz="1135">
                <a:solidFill>
                  <a:schemeClr val="dk1"/>
                </a:solidFill>
              </a:rPr>
              <a:t>organic union</a:t>
            </a:r>
            <a:r>
              <a:rPr lang="en" sz="1135">
                <a:solidFill>
                  <a:schemeClr val="dk1"/>
                </a:solidFill>
              </a:rPr>
              <a:t> with the Savior.</a:t>
            </a:r>
            <a:endParaRPr sz="1135">
              <a:solidFill>
                <a:schemeClr val="dk1"/>
              </a:solidFill>
            </a:endParaRPr>
          </a:p>
          <a:p>
            <a:pPr indent="0" lvl="0" marL="0" rtl="0" algn="l">
              <a:lnSpc>
                <a:spcPct val="95000"/>
              </a:lnSpc>
              <a:spcBef>
                <a:spcPts val="1400"/>
              </a:spcBef>
              <a:spcAft>
                <a:spcPts val="0"/>
              </a:spcAft>
              <a:buClr>
                <a:schemeClr val="dk1"/>
              </a:buClr>
              <a:buSzPts val="935"/>
              <a:buFont typeface="Arial"/>
              <a:buNone/>
            </a:pPr>
            <a:r>
              <a:rPr b="1" lang="en" sz="1305">
                <a:solidFill>
                  <a:schemeClr val="dk1"/>
                </a:solidFill>
              </a:rPr>
              <a:t>The Holy Root and the Branches</a:t>
            </a:r>
            <a:endParaRPr b="1" sz="1305">
              <a:solidFill>
                <a:schemeClr val="dk1"/>
              </a:solidFill>
            </a:endParaRPr>
          </a:p>
          <a:p>
            <a:pPr indent="0" lvl="0" marL="381000" marR="381000" rtl="0" algn="l">
              <a:lnSpc>
                <a:spcPct val="95000"/>
              </a:lnSpc>
              <a:spcBef>
                <a:spcPts val="1200"/>
              </a:spcBef>
              <a:spcAft>
                <a:spcPts val="0"/>
              </a:spcAft>
              <a:buClr>
                <a:schemeClr val="dk1"/>
              </a:buClr>
              <a:buSzPts val="935"/>
              <a:buFont typeface="Arial"/>
              <a:buNone/>
            </a:pPr>
            <a:r>
              <a:rPr i="1" lang="en" sz="1135">
                <a:solidFill>
                  <a:schemeClr val="dk1"/>
                </a:solidFill>
              </a:rPr>
              <a:t>"For as we were sentenced to death in Adam, so now we have been justified in Christ... For He [Christ] became our root and first-fruit, and as the root is holy, so also are the branches."</a:t>
            </a:r>
            <a:r>
              <a:rPr lang="en" sz="1135">
                <a:solidFill>
                  <a:schemeClr val="dk1"/>
                </a:solidFill>
              </a:rPr>
              <a:t> — </a:t>
            </a:r>
            <a:r>
              <a:rPr b="1" lang="en" sz="1135">
                <a:solidFill>
                  <a:schemeClr val="dk1"/>
                </a:solidFill>
              </a:rPr>
              <a:t>Explanation of the Letter to the Romans</a:t>
            </a:r>
            <a:endParaRPr b="1" sz="1135">
              <a:solidFill>
                <a:schemeClr val="dk1"/>
              </a:solidFill>
            </a:endParaRPr>
          </a:p>
          <a:p>
            <a:pPr indent="0" lvl="0" marL="0" rtl="0" algn="l">
              <a:lnSpc>
                <a:spcPct val="95000"/>
              </a:lnSpc>
              <a:spcBef>
                <a:spcPts val="1400"/>
              </a:spcBef>
              <a:spcAft>
                <a:spcPts val="0"/>
              </a:spcAft>
              <a:buClr>
                <a:schemeClr val="dk1"/>
              </a:buClr>
              <a:buSzPts val="935"/>
              <a:buFont typeface="Arial"/>
              <a:buNone/>
            </a:pPr>
            <a:r>
              <a:rPr b="1" lang="en" sz="1305">
                <a:solidFill>
                  <a:schemeClr val="dk1"/>
                </a:solidFill>
              </a:rPr>
              <a:t>The Lesson: Organic Oneness</a:t>
            </a:r>
            <a:endParaRPr b="1" sz="1305">
              <a:solidFill>
                <a:schemeClr val="dk1"/>
              </a:solidFill>
            </a:endParaRPr>
          </a:p>
          <a:p>
            <a:pPr indent="0" lvl="0" marL="0" rtl="0" algn="l">
              <a:lnSpc>
                <a:spcPct val="95000"/>
              </a:lnSpc>
              <a:spcBef>
                <a:spcPts val="1200"/>
              </a:spcBef>
              <a:spcAft>
                <a:spcPts val="0"/>
              </a:spcAft>
              <a:buClr>
                <a:schemeClr val="dk1"/>
              </a:buClr>
              <a:buSzPts val="935"/>
              <a:buFont typeface="Arial"/>
              <a:buNone/>
            </a:pPr>
            <a:r>
              <a:rPr lang="en" sz="1135">
                <a:solidFill>
                  <a:schemeClr val="dk1"/>
                </a:solidFill>
              </a:rPr>
              <a:t>St. Cyril teaches that salvation is more than just a "legal pardon." It is a biological and spiritual transformation:</a:t>
            </a:r>
            <a:endParaRPr sz="1135">
              <a:solidFill>
                <a:schemeClr val="dk1"/>
              </a:solidFill>
            </a:endParaRPr>
          </a:p>
          <a:p>
            <a:pPr indent="-300673" lvl="0" marL="457200" rtl="0" algn="l">
              <a:lnSpc>
                <a:spcPct val="95000"/>
              </a:lnSpc>
              <a:spcBef>
                <a:spcPts val="1200"/>
              </a:spcBef>
              <a:spcAft>
                <a:spcPts val="0"/>
              </a:spcAft>
              <a:buClr>
                <a:schemeClr val="dk1"/>
              </a:buClr>
              <a:buSzPts val="1135"/>
              <a:buChar char="●"/>
            </a:pPr>
            <a:r>
              <a:rPr b="1" lang="en" sz="1135">
                <a:solidFill>
                  <a:schemeClr val="dk1"/>
                </a:solidFill>
              </a:rPr>
              <a:t>Beyond the Courtroom:</a:t>
            </a:r>
            <a:r>
              <a:rPr lang="en" sz="1135">
                <a:solidFill>
                  <a:schemeClr val="dk1"/>
                </a:solidFill>
              </a:rPr>
              <a:t> We are not just "declared" forgiven while standing far away from God.</a:t>
            </a:r>
            <a:endParaRPr sz="1135">
              <a:solidFill>
                <a:schemeClr val="dk1"/>
              </a:solidFill>
            </a:endParaRPr>
          </a:p>
          <a:p>
            <a:pPr indent="-300673" lvl="0" marL="457200" rtl="0" algn="l">
              <a:lnSpc>
                <a:spcPct val="95000"/>
              </a:lnSpc>
              <a:spcBef>
                <a:spcPts val="0"/>
              </a:spcBef>
              <a:spcAft>
                <a:spcPts val="0"/>
              </a:spcAft>
              <a:buClr>
                <a:schemeClr val="dk1"/>
              </a:buClr>
              <a:buSzPts val="1135"/>
              <a:buChar char="●"/>
            </a:pPr>
            <a:r>
              <a:rPr b="1" lang="en" sz="1135">
                <a:solidFill>
                  <a:schemeClr val="dk1"/>
                </a:solidFill>
              </a:rPr>
              <a:t>The Grafted Life:</a:t>
            </a:r>
            <a:r>
              <a:rPr lang="en" sz="1135">
                <a:solidFill>
                  <a:schemeClr val="dk1"/>
                </a:solidFill>
              </a:rPr>
              <a:t> We are organically joined to Christ. Just as a branch survives only because it is part of the tree, we have life only because we are "grafted" into the Body of Christ.</a:t>
            </a:r>
            <a:endParaRPr sz="1135">
              <a:solidFill>
                <a:schemeClr val="dk1"/>
              </a:solidFill>
            </a:endParaRPr>
          </a:p>
          <a:p>
            <a:pPr indent="-300673" lvl="0" marL="457200" rtl="0" algn="l">
              <a:lnSpc>
                <a:spcPct val="95000"/>
              </a:lnSpc>
              <a:spcBef>
                <a:spcPts val="0"/>
              </a:spcBef>
              <a:spcAft>
                <a:spcPts val="0"/>
              </a:spcAft>
              <a:buClr>
                <a:schemeClr val="dk1"/>
              </a:buClr>
              <a:buSzPts val="1135"/>
              <a:buChar char="●"/>
            </a:pPr>
            <a:r>
              <a:rPr b="1" lang="en" sz="1135">
                <a:solidFill>
                  <a:schemeClr val="dk1"/>
                </a:solidFill>
              </a:rPr>
              <a:t>The Power of the Root:</a:t>
            </a:r>
            <a:r>
              <a:rPr lang="en" sz="1135">
                <a:solidFill>
                  <a:schemeClr val="dk1"/>
                </a:solidFill>
              </a:rPr>
              <a:t> If the Root (Christ) is immortal and holy, then the branches (the Faithful) receive that same holiness and immortality through their union (</a:t>
            </a:r>
            <a:r>
              <a:rPr b="1" lang="en" sz="1135">
                <a:solidFill>
                  <a:schemeClr val="dk1"/>
                </a:solidFill>
              </a:rPr>
              <a:t>Tewahedo</a:t>
            </a:r>
            <a:r>
              <a:rPr lang="en" sz="1135">
                <a:solidFill>
                  <a:schemeClr val="dk1"/>
                </a:solidFill>
              </a:rPr>
              <a:t>) with Him.</a:t>
            </a:r>
            <a:endParaRPr sz="1135">
              <a:solidFill>
                <a:schemeClr val="dk1"/>
              </a:solidFill>
            </a:endParaRPr>
          </a:p>
          <a:p>
            <a:pPr indent="0" lvl="0" marL="0" rtl="0" algn="l">
              <a:lnSpc>
                <a:spcPct val="95000"/>
              </a:lnSpc>
              <a:spcBef>
                <a:spcPts val="1200"/>
              </a:spcBef>
              <a:spcAft>
                <a:spcPts val="1200"/>
              </a:spcAft>
              <a:buSzPts val="935"/>
              <a:buNone/>
            </a:pPr>
            <a:r>
              <a:t/>
            </a:r>
            <a:endParaRPr sz="173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