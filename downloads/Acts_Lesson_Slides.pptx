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329F9D-408E-4028-8DC0-4C70A65B62D5}">
  <a:tblStyle styleId="{E1329F9D-408E-4028-8DC0-4C70A65B62D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6ab7344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6ab7344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6ab73445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6ab73445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6ab734456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6ab734456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86ab73445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86ab73445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6ab73445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6ab73445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86ab73445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86ab73445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6ab73445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6ab73445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6ab73445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6ab73445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6ab734456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6ab734456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6ab734456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6ab734456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6ab734456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6ab734456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6ab734456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86ab734456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6ab73445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6ab73445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6ab734456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6ab734456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86ab73445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86ab73445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6ab734456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6ab734456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6ab734456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6ab734456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86ab734456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86ab734456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Book Of Acts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Dn Yonnas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66672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Context And Background</a:t>
            </a:r>
            <a:endParaRPr/>
          </a:p>
        </p:txBody>
      </p:sp>
      <p:sp>
        <p:nvSpPr>
          <p:cNvPr id="61" name="Google Shape;61;p14"/>
          <p:cNvSpPr txBox="1"/>
          <p:nvPr>
            <p:ph idx="1" type="body"/>
          </p:nvPr>
        </p:nvSpPr>
        <p:spPr>
          <a:xfrm>
            <a:off x="311700" y="1152475"/>
            <a:ext cx="62778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400">
                <a:solidFill>
                  <a:schemeClr val="dk1"/>
                </a:solidFill>
              </a:rPr>
              <a:t>Author:</a:t>
            </a:r>
            <a:r>
              <a:rPr lang="en" sz="1400">
                <a:solidFill>
                  <a:schemeClr val="dk1"/>
                </a:solidFill>
              </a:rPr>
              <a:t> St. Luke (companion of Paul; author of the Gospel of Luke + Acts)</a:t>
            </a:r>
            <a:endParaRPr sz="1400">
              <a:solidFill>
                <a:schemeClr val="dk1"/>
              </a:solidFill>
            </a:endParaRPr>
          </a:p>
          <a:p>
            <a:pPr indent="0" lvl="0" marL="0" rtl="0" algn="l">
              <a:spcBef>
                <a:spcPts val="1200"/>
              </a:spcBef>
              <a:spcAft>
                <a:spcPts val="0"/>
              </a:spcAft>
              <a:buNone/>
            </a:pPr>
            <a:r>
              <a:rPr b="1" lang="en" sz="1400">
                <a:solidFill>
                  <a:schemeClr val="dk1"/>
                </a:solidFill>
              </a:rPr>
              <a:t>When/Where:</a:t>
            </a:r>
            <a:r>
              <a:rPr lang="en" sz="1400">
                <a:solidFill>
                  <a:schemeClr val="dk1"/>
                </a:solidFill>
              </a:rPr>
              <a:t> Likely written after the events of Acts 28 (often placed around the 60s AD; exact year debated)</a:t>
            </a:r>
            <a:endParaRPr sz="1400">
              <a:solidFill>
                <a:schemeClr val="dk1"/>
              </a:solidFill>
            </a:endParaRPr>
          </a:p>
          <a:p>
            <a:pPr indent="0" lvl="0" marL="0" rtl="0" algn="l">
              <a:spcBef>
                <a:spcPts val="1200"/>
              </a:spcBef>
              <a:spcAft>
                <a:spcPts val="0"/>
              </a:spcAft>
              <a:buNone/>
            </a:pPr>
            <a:r>
              <a:rPr b="1" lang="en" sz="1400">
                <a:solidFill>
                  <a:schemeClr val="dk1"/>
                </a:solidFill>
              </a:rPr>
              <a:t>Audience:</a:t>
            </a:r>
            <a:r>
              <a:rPr lang="en" sz="1400">
                <a:solidFill>
                  <a:schemeClr val="dk1"/>
                </a:solidFill>
              </a:rPr>
              <a:t> The same recipient as Luke’s Gospel: Theophilus (and by extension, all catechumens and believers)</a:t>
            </a:r>
            <a:endParaRPr sz="1400">
              <a:solidFill>
                <a:schemeClr val="dk1"/>
              </a:solidFill>
            </a:endParaRPr>
          </a:p>
          <a:p>
            <a:pPr indent="0" lvl="0" marL="0" rtl="0" algn="l">
              <a:spcBef>
                <a:spcPts val="1200"/>
              </a:spcBef>
              <a:spcAft>
                <a:spcPts val="0"/>
              </a:spcAft>
              <a:buNone/>
            </a:pPr>
            <a:r>
              <a:rPr b="1" lang="en" sz="1400">
                <a:solidFill>
                  <a:schemeClr val="dk1"/>
                </a:solidFill>
              </a:rPr>
              <a:t>Purpose:</a:t>
            </a:r>
            <a:r>
              <a:rPr lang="en" sz="1400">
                <a:solidFill>
                  <a:schemeClr val="dk1"/>
                </a:solidFill>
              </a:rPr>
              <a:t> To show:</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How Christ continues His work </a:t>
            </a:r>
            <a:r>
              <a:rPr b="1" lang="en" sz="1400">
                <a:solidFill>
                  <a:schemeClr val="dk1"/>
                </a:solidFill>
              </a:rPr>
              <a:t>through the Holy Spirit</a:t>
            </a:r>
            <a:br>
              <a:rPr b="1" lang="en" sz="1400">
                <a:solidFill>
                  <a:schemeClr val="dk1"/>
                </a:solidFill>
              </a:rPr>
            </a:br>
            <a:endParaRPr b="1"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How the Church is </a:t>
            </a:r>
            <a:r>
              <a:rPr b="1" lang="en" sz="1400">
                <a:solidFill>
                  <a:schemeClr val="dk1"/>
                </a:solidFill>
              </a:rPr>
              <a:t>one</a:t>
            </a:r>
            <a:r>
              <a:rPr lang="en" sz="1400">
                <a:solidFill>
                  <a:schemeClr val="dk1"/>
                </a:solidFill>
              </a:rPr>
              <a:t> despite languages, cultures, and persecution</a:t>
            </a:r>
            <a:br>
              <a:rPr lang="en"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How the Gospel goes from </a:t>
            </a:r>
            <a:r>
              <a:rPr b="1" lang="en" sz="1400">
                <a:solidFill>
                  <a:schemeClr val="dk1"/>
                </a:solidFill>
              </a:rPr>
              <a:t>Jerusalem → Judea/Samaria → the nations</a:t>
            </a:r>
            <a:br>
              <a:rPr b="1" lang="en" sz="1400">
                <a:solidFill>
                  <a:schemeClr val="dk1"/>
                </a:solidFill>
              </a:rPr>
            </a:br>
            <a:endParaRPr b="1" sz="1400">
              <a:solidFill>
                <a:schemeClr val="dk1"/>
              </a:solidFill>
            </a:endParaRPr>
          </a:p>
          <a:p>
            <a:pPr indent="0" lvl="0" marL="0" rtl="0" algn="l">
              <a:spcBef>
                <a:spcPts val="1200"/>
              </a:spcBef>
              <a:spcAft>
                <a:spcPts val="1200"/>
              </a:spcAft>
              <a:buNone/>
            </a:pPr>
            <a:r>
              <a:t/>
            </a:r>
            <a:endParaRPr b="1" sz="1600">
              <a:solidFill>
                <a:schemeClr val="dk1"/>
              </a:solidFill>
            </a:endParaRPr>
          </a:p>
        </p:txBody>
      </p:sp>
      <p:sp>
        <p:nvSpPr>
          <p:cNvPr id="62" name="Google Shape;62;p14"/>
          <p:cNvSpPr txBox="1"/>
          <p:nvPr/>
        </p:nvSpPr>
        <p:spPr>
          <a:xfrm>
            <a:off x="6502975" y="1152475"/>
            <a:ext cx="2415900" cy="32340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None/>
            </a:pPr>
            <a:r>
              <a:rPr lang="en" sz="1100">
                <a:solidFill>
                  <a:schemeClr val="dk1"/>
                </a:solidFill>
              </a:rPr>
              <a:t>"It seemed good to me also, having had perfect understanding of all things from the very first, to write to you an orderly account, most excellent Theophilus..." — </a:t>
            </a:r>
            <a:r>
              <a:rPr b="1" lang="en" sz="1100">
                <a:solidFill>
                  <a:schemeClr val="dk1"/>
                </a:solidFill>
              </a:rPr>
              <a:t>Luke 1:3</a:t>
            </a:r>
            <a:endParaRPr b="1"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How it connects:</a:t>
            </a:r>
            <a:r>
              <a:rPr lang="en" sz="1100">
                <a:solidFill>
                  <a:schemeClr val="dk1"/>
                </a:solidFill>
              </a:rPr>
              <a:t> Luke is a physician. He isn't just writing a story; he is documenting the "Case Files" of how the Holy Spirit began healing the world through the Church.</a:t>
            </a:r>
            <a:endParaRPr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623400" y="453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“Hidden Main </a:t>
            </a:r>
            <a:r>
              <a:rPr lang="en"/>
              <a:t>Character</a:t>
            </a:r>
            <a:r>
              <a:rPr lang="en"/>
              <a:t>” </a:t>
            </a:r>
            <a:endParaRPr/>
          </a:p>
        </p:txBody>
      </p:sp>
      <p:sp>
        <p:nvSpPr>
          <p:cNvPr id="68" name="Google Shape;68;p15"/>
          <p:cNvSpPr txBox="1"/>
          <p:nvPr>
            <p:ph idx="1" type="body"/>
          </p:nvPr>
        </p:nvSpPr>
        <p:spPr>
          <a:xfrm>
            <a:off x="311700" y="1152475"/>
            <a:ext cx="5360100" cy="27267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chemeClr val="dk1"/>
              </a:buClr>
              <a:buSzPct val="100000"/>
              <a:buChar char="-"/>
            </a:pPr>
            <a:r>
              <a:rPr b="1" lang="en">
                <a:solidFill>
                  <a:schemeClr val="dk1"/>
                </a:solidFill>
              </a:rPr>
              <a:t>Not a Biography of Men:</a:t>
            </a:r>
            <a:r>
              <a:rPr lang="en">
                <a:solidFill>
                  <a:schemeClr val="dk1"/>
                </a:solidFill>
              </a:rPr>
              <a:t> Acts is the biography of the </a:t>
            </a:r>
            <a:r>
              <a:rPr b="1" lang="en">
                <a:solidFill>
                  <a:schemeClr val="dk1"/>
                </a:solidFill>
              </a:rPr>
              <a:t>Holy Spirit</a:t>
            </a:r>
            <a:r>
              <a:rPr lang="en">
                <a:solidFill>
                  <a:schemeClr val="dk1"/>
                </a:solidFill>
              </a:rPr>
              <a:t> acting through the Apostles.</a:t>
            </a:r>
            <a:br>
              <a:rPr lang="en">
                <a:solidFill>
                  <a:schemeClr val="dk1"/>
                </a:solidFill>
              </a:rPr>
            </a:br>
            <a:endParaRPr>
              <a:solidFill>
                <a:schemeClr val="dk1"/>
              </a:solidFill>
            </a:endParaRPr>
          </a:p>
          <a:p>
            <a:pPr indent="-325755" lvl="0" marL="457200" rtl="0" algn="l">
              <a:spcBef>
                <a:spcPts val="0"/>
              </a:spcBef>
              <a:spcAft>
                <a:spcPts val="0"/>
              </a:spcAft>
              <a:buClr>
                <a:schemeClr val="dk1"/>
              </a:buClr>
              <a:buSzPct val="100000"/>
              <a:buChar char="-"/>
            </a:pPr>
            <a:r>
              <a:rPr b="1" lang="en">
                <a:solidFill>
                  <a:schemeClr val="dk1"/>
                </a:solidFill>
              </a:rPr>
              <a:t>Oriental Orthodox View:</a:t>
            </a:r>
            <a:r>
              <a:rPr lang="en">
                <a:solidFill>
                  <a:schemeClr val="dk1"/>
                </a:solidFill>
              </a:rPr>
              <a:t> The Spirit is not an abstract concept but the "Divine Energy" of God.</a:t>
            </a:r>
            <a:br>
              <a:rPr lang="en">
                <a:solidFill>
                  <a:schemeClr val="dk1"/>
                </a:solidFill>
              </a:rPr>
            </a:br>
            <a:endParaRPr>
              <a:solidFill>
                <a:schemeClr val="dk1"/>
              </a:solidFill>
            </a:endParaRPr>
          </a:p>
          <a:p>
            <a:pPr indent="-325755" lvl="0" marL="457200" rtl="0" algn="l">
              <a:spcBef>
                <a:spcPts val="0"/>
              </a:spcBef>
              <a:spcAft>
                <a:spcPts val="0"/>
              </a:spcAft>
              <a:buClr>
                <a:schemeClr val="dk1"/>
              </a:buClr>
              <a:buSzPct val="100000"/>
              <a:buChar char="-"/>
            </a:pPr>
            <a:r>
              <a:rPr b="1" lang="en">
                <a:solidFill>
                  <a:schemeClr val="dk1"/>
                </a:solidFill>
              </a:rPr>
              <a:t>Empowerment:</a:t>
            </a:r>
            <a:r>
              <a:rPr lang="en">
                <a:solidFill>
                  <a:schemeClr val="dk1"/>
                </a:solidFill>
              </a:rPr>
              <a:t> The Spirit provides the </a:t>
            </a:r>
            <a:r>
              <a:rPr i="1" lang="en">
                <a:solidFill>
                  <a:schemeClr val="dk1"/>
                </a:solidFill>
              </a:rPr>
              <a:t>Grace and power</a:t>
            </a:r>
            <a:r>
              <a:rPr lang="en">
                <a:solidFill>
                  <a:schemeClr val="dk1"/>
                </a:solidFill>
              </a:rPr>
              <a:t> for miracles and establishing the Church.</a:t>
            </a:r>
            <a:endParaRPr>
              <a:solidFill>
                <a:schemeClr val="dk1"/>
              </a:solidFill>
            </a:endParaRPr>
          </a:p>
          <a:p>
            <a:pPr indent="0" lvl="0" marL="457200" rtl="0" algn="l">
              <a:spcBef>
                <a:spcPts val="1200"/>
              </a:spcBef>
              <a:spcAft>
                <a:spcPts val="1200"/>
              </a:spcAft>
              <a:buNone/>
            </a:pPr>
            <a:br>
              <a:rPr lang="en">
                <a:solidFill>
                  <a:schemeClr val="dk1"/>
                </a:solidFill>
              </a:rPr>
            </a:br>
            <a:endParaRPr/>
          </a:p>
        </p:txBody>
      </p:sp>
      <p:sp>
        <p:nvSpPr>
          <p:cNvPr id="69" name="Google Shape;69;p15"/>
          <p:cNvSpPr txBox="1"/>
          <p:nvPr/>
        </p:nvSpPr>
        <p:spPr>
          <a:xfrm>
            <a:off x="5832300" y="937850"/>
            <a:ext cx="3000000" cy="396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52">
                <a:solidFill>
                  <a:schemeClr val="dk1"/>
                </a:solidFill>
              </a:rPr>
              <a:t>Oriental Orthodox lens:</a:t>
            </a:r>
            <a:endParaRPr b="1" sz="1352">
              <a:solidFill>
                <a:schemeClr val="dk1"/>
              </a:solidFill>
            </a:endParaRPr>
          </a:p>
          <a:p>
            <a:pPr indent="0" lvl="0" marL="0" rtl="0" algn="l">
              <a:lnSpc>
                <a:spcPct val="115000"/>
              </a:lnSpc>
              <a:spcBef>
                <a:spcPts val="1200"/>
              </a:spcBef>
              <a:spcAft>
                <a:spcPts val="0"/>
              </a:spcAft>
              <a:buNone/>
            </a:pPr>
            <a:r>
              <a:rPr lang="en" sz="1352">
                <a:solidFill>
                  <a:schemeClr val="dk1"/>
                </a:solidFill>
              </a:rPr>
              <a:t>The Holy Spirit is not an “idea.” He is God, active in:</a:t>
            </a:r>
            <a:endParaRPr sz="1352">
              <a:solidFill>
                <a:schemeClr val="dk1"/>
              </a:solidFill>
            </a:endParaRPr>
          </a:p>
          <a:p>
            <a:pPr indent="-314474" lvl="0" marL="457200" rtl="0" algn="l">
              <a:lnSpc>
                <a:spcPct val="115000"/>
              </a:lnSpc>
              <a:spcBef>
                <a:spcPts val="1200"/>
              </a:spcBef>
              <a:spcAft>
                <a:spcPts val="0"/>
              </a:spcAft>
              <a:buClr>
                <a:schemeClr val="dk1"/>
              </a:buClr>
              <a:buSzPts val="1352"/>
              <a:buChar char="●"/>
            </a:pPr>
            <a:r>
              <a:rPr lang="en" sz="1352">
                <a:solidFill>
                  <a:schemeClr val="dk1"/>
                </a:solidFill>
              </a:rPr>
              <a:t>Baptism + chrismation</a:t>
            </a:r>
            <a:br>
              <a:rPr lang="en" sz="1352">
                <a:solidFill>
                  <a:schemeClr val="dk1"/>
                </a:solidFill>
              </a:rPr>
            </a:br>
            <a:endParaRPr sz="1352">
              <a:solidFill>
                <a:schemeClr val="dk1"/>
              </a:solidFill>
            </a:endParaRPr>
          </a:p>
          <a:p>
            <a:pPr indent="-314474" lvl="0" marL="457200" rtl="0" algn="l">
              <a:lnSpc>
                <a:spcPct val="115000"/>
              </a:lnSpc>
              <a:spcBef>
                <a:spcPts val="0"/>
              </a:spcBef>
              <a:spcAft>
                <a:spcPts val="0"/>
              </a:spcAft>
              <a:buClr>
                <a:schemeClr val="dk1"/>
              </a:buClr>
              <a:buSzPts val="1352"/>
              <a:buChar char="●"/>
            </a:pPr>
            <a:r>
              <a:rPr lang="en" sz="1352">
                <a:solidFill>
                  <a:schemeClr val="dk1"/>
                </a:solidFill>
              </a:rPr>
              <a:t>Repentance</a:t>
            </a:r>
            <a:br>
              <a:rPr lang="en" sz="1352">
                <a:solidFill>
                  <a:schemeClr val="dk1"/>
                </a:solidFill>
              </a:rPr>
            </a:br>
            <a:endParaRPr sz="1352">
              <a:solidFill>
                <a:schemeClr val="dk1"/>
              </a:solidFill>
            </a:endParaRPr>
          </a:p>
          <a:p>
            <a:pPr indent="-314474" lvl="0" marL="457200" rtl="0" algn="l">
              <a:lnSpc>
                <a:spcPct val="115000"/>
              </a:lnSpc>
              <a:spcBef>
                <a:spcPts val="0"/>
              </a:spcBef>
              <a:spcAft>
                <a:spcPts val="0"/>
              </a:spcAft>
              <a:buClr>
                <a:schemeClr val="dk1"/>
              </a:buClr>
              <a:buSzPts val="1352"/>
              <a:buChar char="●"/>
            </a:pPr>
            <a:r>
              <a:rPr lang="en" sz="1352">
                <a:solidFill>
                  <a:schemeClr val="dk1"/>
                </a:solidFill>
              </a:rPr>
              <a:t>The Eucharist</a:t>
            </a:r>
            <a:br>
              <a:rPr lang="en" sz="1352">
                <a:solidFill>
                  <a:schemeClr val="dk1"/>
                </a:solidFill>
              </a:rPr>
            </a:br>
            <a:endParaRPr sz="1352">
              <a:solidFill>
                <a:schemeClr val="dk1"/>
              </a:solidFill>
            </a:endParaRPr>
          </a:p>
          <a:p>
            <a:pPr indent="-314474" lvl="0" marL="457200" rtl="0" algn="l">
              <a:lnSpc>
                <a:spcPct val="115000"/>
              </a:lnSpc>
              <a:spcBef>
                <a:spcPts val="0"/>
              </a:spcBef>
              <a:spcAft>
                <a:spcPts val="0"/>
              </a:spcAft>
              <a:buClr>
                <a:schemeClr val="dk1"/>
              </a:buClr>
              <a:buSzPts val="1352"/>
              <a:buChar char="●"/>
            </a:pPr>
            <a:r>
              <a:rPr lang="en" sz="1352">
                <a:solidFill>
                  <a:schemeClr val="dk1"/>
                </a:solidFill>
              </a:rPr>
              <a:t>Mission Of The Church</a:t>
            </a:r>
            <a:br>
              <a:rPr lang="en" sz="1352">
                <a:solidFill>
                  <a:schemeClr val="dk1"/>
                </a:solidFill>
              </a:rPr>
            </a:br>
            <a:endParaRPr sz="1352">
              <a:solidFill>
                <a:schemeClr val="dk1"/>
              </a:solidFill>
            </a:endParaRPr>
          </a:p>
          <a:p>
            <a:pPr indent="-314474" lvl="0" marL="457200" rtl="0" algn="l">
              <a:lnSpc>
                <a:spcPct val="115000"/>
              </a:lnSpc>
              <a:spcBef>
                <a:spcPts val="0"/>
              </a:spcBef>
              <a:spcAft>
                <a:spcPts val="0"/>
              </a:spcAft>
              <a:buClr>
                <a:schemeClr val="dk1"/>
              </a:buClr>
              <a:buSzPts val="1352"/>
              <a:buChar char="●"/>
            </a:pPr>
            <a:r>
              <a:rPr lang="en" sz="1352">
                <a:solidFill>
                  <a:schemeClr val="dk1"/>
                </a:solidFill>
              </a:rPr>
              <a:t>Holiness (Theosis) </a:t>
            </a:r>
            <a:br>
              <a:rPr lang="en" sz="1352">
                <a:solidFill>
                  <a:schemeClr val="dk1"/>
                </a:solidFill>
              </a:rPr>
            </a:br>
            <a:endParaRPr sz="1352">
              <a:solidFill>
                <a:schemeClr val="dk1"/>
              </a:solidFill>
            </a:endParaRPr>
          </a:p>
          <a:p>
            <a:pPr indent="-298450" lvl="0" marL="457200" rtl="0" algn="l">
              <a:lnSpc>
                <a:spcPct val="115000"/>
              </a:lnSpc>
              <a:spcBef>
                <a:spcPts val="0"/>
              </a:spcBef>
              <a:spcAft>
                <a:spcPts val="0"/>
              </a:spcAft>
              <a:buClr>
                <a:schemeClr val="dk1"/>
              </a:buClr>
              <a:buSzPts val="1100"/>
              <a:buChar char="●"/>
            </a:pPr>
            <a:r>
              <a:rPr lang="en" sz="1352">
                <a:solidFill>
                  <a:schemeClr val="dk1"/>
                </a:solidFill>
              </a:rPr>
              <a:t>Unity (Tewahedo / oneness)</a:t>
            </a:r>
            <a:br>
              <a:rPr lang="en" sz="800">
                <a:solidFill>
                  <a:schemeClr val="dk1"/>
                </a:solidFill>
              </a:rPr>
            </a:br>
            <a:endParaRPr sz="800">
              <a:solidFill>
                <a:schemeClr val="dk1"/>
              </a:solidFill>
            </a:endParaRPr>
          </a:p>
        </p:txBody>
      </p:sp>
      <p:sp>
        <p:nvSpPr>
          <p:cNvPr id="70" name="Google Shape;70;p15"/>
          <p:cNvSpPr txBox="1"/>
          <p:nvPr/>
        </p:nvSpPr>
        <p:spPr>
          <a:xfrm>
            <a:off x="480600" y="3136075"/>
            <a:ext cx="5022300" cy="144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Bible Verse:</a:t>
            </a:r>
            <a:endParaRPr b="1" sz="1100">
              <a:solidFill>
                <a:schemeClr val="dk1"/>
              </a:solidFill>
            </a:endParaRPr>
          </a:p>
          <a:p>
            <a:pPr indent="0" lvl="0" marL="381000" marR="381000" rtl="0" algn="l">
              <a:lnSpc>
                <a:spcPct val="115000"/>
              </a:lnSpc>
              <a:spcBef>
                <a:spcPts val="1200"/>
              </a:spcBef>
              <a:spcAft>
                <a:spcPts val="0"/>
              </a:spcAft>
              <a:buNone/>
            </a:pPr>
            <a:r>
              <a:rPr lang="en" sz="1100">
                <a:solidFill>
                  <a:schemeClr val="dk1"/>
                </a:solidFill>
              </a:rPr>
              <a:t>"But you shall receive power when the Holy Spirit has come upon you; and you shall be My witnesses..." — </a:t>
            </a:r>
            <a:r>
              <a:rPr b="1" lang="en" sz="1100">
                <a:solidFill>
                  <a:schemeClr val="dk1"/>
                </a:solidFill>
              </a:rPr>
              <a:t>Acts 1:8</a:t>
            </a:r>
            <a:endParaRPr b="1"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Breakdown:</a:t>
            </a:r>
            <a:r>
              <a:rPr lang="en" sz="1100">
                <a:solidFill>
                  <a:schemeClr val="dk1"/>
                </a:solidFill>
              </a:rPr>
              <a:t> Without the Holy Spirit, the Apostles are just scared men. With the Spirit, they have the power to heal and transform the world.</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5628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 Peter: Opening the Door</a:t>
            </a:r>
            <a:endParaRPr/>
          </a:p>
        </p:txBody>
      </p:sp>
      <p:sp>
        <p:nvSpPr>
          <p:cNvPr id="76" name="Google Shape;76;p16"/>
          <p:cNvSpPr txBox="1"/>
          <p:nvPr>
            <p:ph idx="1" type="body"/>
          </p:nvPr>
        </p:nvSpPr>
        <p:spPr>
          <a:xfrm>
            <a:off x="311700" y="1152475"/>
            <a:ext cx="5152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chemeClr val="dk1"/>
                </a:solidFill>
              </a:rPr>
              <a:t>The Keys:</a:t>
            </a:r>
            <a:r>
              <a:rPr lang="en" sz="1500">
                <a:solidFill>
                  <a:schemeClr val="dk1"/>
                </a:solidFill>
              </a:rPr>
              <a:t> St. Peter leads the first public preaching at Pentecost and shepherds the early unity of the believers.</a:t>
            </a:r>
            <a:endParaRPr sz="1500">
              <a:solidFill>
                <a:schemeClr val="dk1"/>
              </a:solidFill>
            </a:endParaRPr>
          </a:p>
          <a:p>
            <a:pPr indent="0" lvl="0" marL="0" rtl="0" algn="l">
              <a:spcBef>
                <a:spcPts val="1200"/>
              </a:spcBef>
              <a:spcAft>
                <a:spcPts val="0"/>
              </a:spcAft>
              <a:buNone/>
            </a:pPr>
            <a:r>
              <a:rPr b="1" lang="en" sz="1500">
                <a:solidFill>
                  <a:schemeClr val="dk1"/>
                </a:solidFill>
              </a:rPr>
              <a:t>Gentile Inclusion:</a:t>
            </a:r>
            <a:r>
              <a:rPr lang="en" sz="1500">
                <a:solidFill>
                  <a:schemeClr val="dk1"/>
                </a:solidFill>
              </a:rPr>
              <a:t> Through the vision in Acts 10, God reveals that the "medicine &amp; Grace" of salvation is for everyone—no longer restricted by old dietary laws or ethnic heritage.</a:t>
            </a:r>
            <a:endParaRPr sz="1500">
              <a:solidFill>
                <a:schemeClr val="dk1"/>
              </a:solidFill>
            </a:endParaRPr>
          </a:p>
          <a:p>
            <a:pPr indent="0" lvl="0" marL="0" rtl="0" algn="l">
              <a:spcBef>
                <a:spcPts val="1200"/>
              </a:spcBef>
              <a:spcAft>
                <a:spcPts val="1200"/>
              </a:spcAft>
              <a:buNone/>
            </a:pPr>
            <a:r>
              <a:rPr b="1" lang="en" sz="1500">
                <a:solidFill>
                  <a:schemeClr val="dk1"/>
                </a:solidFill>
              </a:rPr>
              <a:t>The Spirit’s Lead:</a:t>
            </a:r>
            <a:r>
              <a:rPr lang="en" sz="1500">
                <a:solidFill>
                  <a:schemeClr val="dk1"/>
                </a:solidFill>
              </a:rPr>
              <a:t> This was not a human innovation or a political move; it was the Holy Spirit actively guiding the "Hospital" to reach more patient</a:t>
            </a:r>
            <a:endParaRPr/>
          </a:p>
        </p:txBody>
      </p:sp>
      <p:sp>
        <p:nvSpPr>
          <p:cNvPr id="77" name="Google Shape;77;p16"/>
          <p:cNvSpPr txBox="1"/>
          <p:nvPr/>
        </p:nvSpPr>
        <p:spPr>
          <a:xfrm>
            <a:off x="5515850" y="1194800"/>
            <a:ext cx="3000000" cy="319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The Authority of the Keys (Acts 2:14, 38):</a:t>
            </a:r>
            <a:endParaRPr b="1" sz="1100">
              <a:solidFill>
                <a:schemeClr val="dk1"/>
              </a:solidFill>
            </a:endParaRPr>
          </a:p>
          <a:p>
            <a:pPr indent="0" lvl="0" marL="381000" marR="381000" rtl="0" algn="l">
              <a:lnSpc>
                <a:spcPct val="115000"/>
              </a:lnSpc>
              <a:spcBef>
                <a:spcPts val="1200"/>
              </a:spcBef>
              <a:spcAft>
                <a:spcPts val="0"/>
              </a:spcAft>
              <a:buNone/>
            </a:pPr>
            <a:r>
              <a:rPr i="1" lang="en" sz="1100">
                <a:solidFill>
                  <a:schemeClr val="dk1"/>
                </a:solidFill>
              </a:rPr>
              <a:t>"But Peter, standing up with the eleven, raised his voice and said... 'Repent, and let every one of you be baptized in the name of Jesus Christ...'"</a:t>
            </a:r>
            <a:endParaRPr i="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How it connects:</a:t>
            </a:r>
            <a:r>
              <a:rPr lang="en" sz="1100">
                <a:solidFill>
                  <a:schemeClr val="dk1"/>
                </a:solidFill>
              </a:rPr>
              <a:t> As noted, Peter leads the </a:t>
            </a:r>
            <a:r>
              <a:rPr b="1" lang="en" sz="1100">
                <a:solidFill>
                  <a:schemeClr val="dk1"/>
                </a:solidFill>
              </a:rPr>
              <a:t>first preaching</a:t>
            </a:r>
            <a:r>
              <a:rPr lang="en" sz="1100">
                <a:solidFill>
                  <a:schemeClr val="dk1"/>
                </a:solidFill>
              </a:rPr>
              <a:t>. He uses the "Keys of the Kingdom" not to lock people out, but to open the doors of the Church. He provides the first "Diagnostic and Cure" (Repentance and Baptism) for the thousands gathered at Pentecost.</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56282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Spiritual Architect: The Holy Spirit</a:t>
            </a:r>
            <a:endParaRPr/>
          </a:p>
        </p:txBody>
      </p:sp>
      <p:sp>
        <p:nvSpPr>
          <p:cNvPr id="83" name="Google Shape;83;p17"/>
          <p:cNvSpPr txBox="1"/>
          <p:nvPr>
            <p:ph idx="1" type="body"/>
          </p:nvPr>
        </p:nvSpPr>
        <p:spPr>
          <a:xfrm>
            <a:off x="95250" y="1152475"/>
            <a:ext cx="55593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200">
                <a:solidFill>
                  <a:schemeClr val="dk1"/>
                </a:solidFill>
              </a:rPr>
              <a:t>In the Oriental Orthodox tradition, Acts is often called the "Gospel of the Holy Spirit."</a:t>
            </a:r>
            <a:endParaRPr sz="1200">
              <a:solidFill>
                <a:schemeClr val="dk1"/>
              </a:solidFill>
            </a:endParaRPr>
          </a:p>
          <a:p>
            <a:pPr indent="-304800" lvl="0" marL="457200" rtl="0" algn="l">
              <a:spcBef>
                <a:spcPts val="1200"/>
              </a:spcBef>
              <a:spcAft>
                <a:spcPts val="0"/>
              </a:spcAft>
              <a:buClr>
                <a:schemeClr val="dk1"/>
              </a:buClr>
              <a:buSzPts val="1200"/>
              <a:buChar char="●"/>
            </a:pPr>
            <a:r>
              <a:rPr b="1" lang="en" sz="1200">
                <a:solidFill>
                  <a:schemeClr val="dk1"/>
                </a:solidFill>
              </a:rPr>
              <a:t>The Descent (Pentecost):</a:t>
            </a:r>
            <a:r>
              <a:rPr lang="en" sz="1200">
                <a:solidFill>
                  <a:schemeClr val="dk1"/>
                </a:solidFill>
              </a:rPr>
              <a:t> The Holy Spirit descends on the Apostles, transforming them from fearful men into bold witnesses (Acts 2).</a:t>
            </a:r>
            <a:endParaRPr sz="1200">
              <a:solidFill>
                <a:schemeClr val="dk1"/>
              </a:solidFill>
            </a:endParaRPr>
          </a:p>
          <a:p>
            <a:pPr indent="0" lvl="0" marL="457200" rtl="0" algn="l">
              <a:spcBef>
                <a:spcPts val="1200"/>
              </a:spcBef>
              <a:spcAft>
                <a:spcPts val="0"/>
              </a:spcAft>
              <a:buNone/>
            </a:pPr>
            <a:r>
              <a:t/>
            </a:r>
            <a:endParaRPr sz="1200">
              <a:solidFill>
                <a:schemeClr val="dk1"/>
              </a:solidFill>
            </a:endParaRPr>
          </a:p>
          <a:p>
            <a:pPr indent="-304800" lvl="0" marL="457200" rtl="0" algn="l">
              <a:spcBef>
                <a:spcPts val="1200"/>
              </a:spcBef>
              <a:spcAft>
                <a:spcPts val="0"/>
              </a:spcAft>
              <a:buClr>
                <a:schemeClr val="dk1"/>
              </a:buClr>
              <a:buSzPts val="1200"/>
              <a:buChar char="●"/>
            </a:pPr>
            <a:r>
              <a:rPr b="1" lang="en" sz="1200">
                <a:solidFill>
                  <a:schemeClr val="dk1"/>
                </a:solidFill>
              </a:rPr>
              <a:t>Tewahedo (Unity):</a:t>
            </a:r>
            <a:r>
              <a:rPr lang="en" sz="1200">
                <a:solidFill>
                  <a:schemeClr val="dk1"/>
                </a:solidFill>
              </a:rPr>
              <a:t> The Spirit brings diverse nations (Parthians, Medes, Elamites, etc.) into one body, reversing the confusion of Babel.</a:t>
            </a:r>
            <a:endParaRPr sz="1200">
              <a:solidFill>
                <a:schemeClr val="dk1"/>
              </a:solidFill>
            </a:endParaRPr>
          </a:p>
          <a:p>
            <a:pPr indent="0" lvl="0" marL="457200" rtl="0" algn="l">
              <a:spcBef>
                <a:spcPts val="1200"/>
              </a:spcBef>
              <a:spcAft>
                <a:spcPts val="0"/>
              </a:spcAft>
              <a:buNone/>
            </a:pPr>
            <a:r>
              <a:t/>
            </a:r>
            <a:endParaRPr sz="1200">
              <a:solidFill>
                <a:schemeClr val="dk1"/>
              </a:solidFill>
            </a:endParaRPr>
          </a:p>
          <a:p>
            <a:pPr indent="-304800" lvl="0" marL="457200" rtl="0" algn="l">
              <a:spcBef>
                <a:spcPts val="1200"/>
              </a:spcBef>
              <a:spcAft>
                <a:spcPts val="0"/>
              </a:spcAft>
              <a:buClr>
                <a:schemeClr val="dk1"/>
              </a:buClr>
              <a:buSzPts val="1200"/>
              <a:buChar char="●"/>
            </a:pPr>
            <a:r>
              <a:rPr b="1" lang="en" sz="1200">
                <a:solidFill>
                  <a:schemeClr val="dk1"/>
                </a:solidFill>
              </a:rPr>
              <a:t>Empowerment:</a:t>
            </a:r>
            <a:r>
              <a:rPr lang="en" sz="1200">
                <a:solidFill>
                  <a:schemeClr val="dk1"/>
                </a:solidFill>
              </a:rPr>
              <a:t> The Spirit provides the "power" for the Apostles to perform miracles and establish the Church.</a:t>
            </a:r>
            <a:endParaRPr sz="1200">
              <a:solidFill>
                <a:schemeClr val="dk1"/>
              </a:solidFill>
            </a:endParaRPr>
          </a:p>
        </p:txBody>
      </p:sp>
      <p:sp>
        <p:nvSpPr>
          <p:cNvPr id="84" name="Google Shape;84;p17"/>
          <p:cNvSpPr txBox="1"/>
          <p:nvPr/>
        </p:nvSpPr>
        <p:spPr>
          <a:xfrm>
            <a:off x="5654400" y="1017725"/>
            <a:ext cx="3489600" cy="113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dk1"/>
                </a:solidFill>
              </a:rPr>
              <a:t>Acts 2:3–4 </a:t>
            </a:r>
            <a:r>
              <a:rPr lang="en" sz="1100">
                <a:solidFill>
                  <a:schemeClr val="dk1"/>
                </a:solidFill>
              </a:rPr>
              <a:t>"They saw what seemed to be tongues of fire that separated and came to rest on each of them. All of them were filled with the Holy Spirit and began to speak in other tongues as the Spirit enabled them."</a:t>
            </a:r>
            <a:endParaRPr sz="1100">
              <a:solidFill>
                <a:schemeClr val="dk1"/>
              </a:solidFill>
            </a:endParaRPr>
          </a:p>
        </p:txBody>
      </p:sp>
      <p:sp>
        <p:nvSpPr>
          <p:cNvPr id="85" name="Google Shape;85;p17"/>
          <p:cNvSpPr txBox="1"/>
          <p:nvPr/>
        </p:nvSpPr>
        <p:spPr>
          <a:xfrm>
            <a:off x="5654400" y="2396538"/>
            <a:ext cx="3602400" cy="113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dk1"/>
                </a:solidFill>
              </a:rPr>
              <a:t>Acts 2:11 </a:t>
            </a:r>
            <a:r>
              <a:rPr lang="en" sz="1100">
                <a:solidFill>
                  <a:schemeClr val="dk1"/>
                </a:solidFill>
              </a:rPr>
              <a:t>"...Phrygia and Pamphylia, Egypt and the parts of Libya near Cyrene; visitors from Rome (both Jews and converts to Judaism); Cretans and Arabs—we hear them declaring the wonders of God in our own tongues!"</a:t>
            </a:r>
            <a:endParaRPr sz="1100">
              <a:solidFill>
                <a:schemeClr val="dk1"/>
              </a:solidFill>
            </a:endParaRPr>
          </a:p>
        </p:txBody>
      </p:sp>
      <p:sp>
        <p:nvSpPr>
          <p:cNvPr id="86" name="Google Shape;86;p17"/>
          <p:cNvSpPr txBox="1"/>
          <p:nvPr/>
        </p:nvSpPr>
        <p:spPr>
          <a:xfrm>
            <a:off x="5734800" y="3775350"/>
            <a:ext cx="34416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dk1"/>
                </a:solidFill>
              </a:rPr>
              <a:t>Acts 1:8 </a:t>
            </a:r>
            <a:r>
              <a:rPr lang="en" sz="1100">
                <a:solidFill>
                  <a:schemeClr val="dk1"/>
                </a:solidFill>
              </a:rPr>
              <a:t>"But you will receive power when the Holy Spirit comes on you; and you will be my witnesses in Jerusalem, and in all Judea and Samaria, and to the ends of the earth."</a:t>
            </a:r>
            <a:endParaRPr sz="1100">
              <a:solidFill>
                <a:schemeClr val="dk1"/>
              </a:solidFill>
            </a:endParaRPr>
          </a:p>
        </p:txBody>
      </p:sp>
      <p:sp>
        <p:nvSpPr>
          <p:cNvPr id="87" name="Google Shape;87;p17"/>
          <p:cNvSpPr txBox="1"/>
          <p:nvPr/>
        </p:nvSpPr>
        <p:spPr>
          <a:xfrm>
            <a:off x="723150" y="4165000"/>
            <a:ext cx="4303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"...praising God and having favor with all the people. And the Lord added to the church daily those who were being saved." — </a:t>
            </a:r>
            <a:r>
              <a:rPr b="1" lang="en" sz="1100">
                <a:solidFill>
                  <a:schemeClr val="dk1"/>
                </a:solidFill>
              </a:rPr>
              <a:t>Acts 2:47</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6234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Core Message</a:t>
            </a:r>
            <a:endParaRPr/>
          </a:p>
        </p:txBody>
      </p:sp>
      <p:sp>
        <p:nvSpPr>
          <p:cNvPr id="93" name="Google Shape;93;p18"/>
          <p:cNvSpPr txBox="1"/>
          <p:nvPr>
            <p:ph idx="1" type="body"/>
          </p:nvPr>
        </p:nvSpPr>
        <p:spPr>
          <a:xfrm>
            <a:off x="311700" y="1152475"/>
            <a:ext cx="48492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300">
                <a:solidFill>
                  <a:schemeClr val="dk1"/>
                </a:solidFill>
              </a:rPr>
              <a:t>Christ ascends — but He does not abandon the world.</a:t>
            </a:r>
            <a:endParaRPr b="1"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He reigns, and His life continues in the Church.</a:t>
            </a: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Acts teaches:</a:t>
            </a:r>
            <a:endParaRPr sz="1300">
              <a:solidFill>
                <a:schemeClr val="dk1"/>
              </a:solidFill>
            </a:endParaRPr>
          </a:p>
          <a:p>
            <a:pPr indent="-311150" lvl="0" marL="457200" rtl="0" algn="l">
              <a:lnSpc>
                <a:spcPct val="100000"/>
              </a:lnSpc>
              <a:spcBef>
                <a:spcPts val="1200"/>
              </a:spcBef>
              <a:spcAft>
                <a:spcPts val="0"/>
              </a:spcAft>
              <a:buClr>
                <a:schemeClr val="dk1"/>
              </a:buClr>
              <a:buSzPts val="1300"/>
              <a:buAutoNum type="arabicPeriod"/>
            </a:pPr>
            <a:r>
              <a:rPr lang="en" sz="1300">
                <a:solidFill>
                  <a:schemeClr val="dk1"/>
                </a:solidFill>
              </a:rPr>
              <a:t>The Church is born not in a boardroom, but in prayer, worship, and the "Breaking of Bread".</a:t>
            </a:r>
            <a:br>
              <a:rPr lang="en" sz="1300">
                <a:solidFill>
                  <a:schemeClr val="dk1"/>
                </a:solidFill>
              </a:rPr>
            </a:br>
            <a:endParaRPr b="1" sz="1300">
              <a:solidFill>
                <a:schemeClr val="dk1"/>
              </a:solidFill>
            </a:endParaRPr>
          </a:p>
          <a:p>
            <a:pPr indent="-311150" lvl="0" marL="457200" rtl="0" algn="l">
              <a:spcBef>
                <a:spcPts val="0"/>
              </a:spcBef>
              <a:spcAft>
                <a:spcPts val="0"/>
              </a:spcAft>
              <a:buClr>
                <a:schemeClr val="dk1"/>
              </a:buClr>
              <a:buSzPts val="1300"/>
              <a:buAutoNum type="arabicPeriod"/>
            </a:pPr>
            <a:r>
              <a:rPr lang="en" sz="1300">
                <a:solidFill>
                  <a:schemeClr val="dk1"/>
                </a:solidFill>
              </a:rPr>
              <a:t>The Church grows through </a:t>
            </a:r>
            <a:r>
              <a:rPr b="1" lang="en" sz="1300">
                <a:solidFill>
                  <a:schemeClr val="dk1"/>
                </a:solidFill>
              </a:rPr>
              <a:t>repentance</a:t>
            </a:r>
            <a:r>
              <a:rPr lang="en" sz="1300">
                <a:solidFill>
                  <a:schemeClr val="dk1"/>
                </a:solidFill>
              </a:rPr>
              <a:t>, </a:t>
            </a:r>
            <a:r>
              <a:rPr b="1" lang="en" sz="1300">
                <a:solidFill>
                  <a:schemeClr val="dk1"/>
                </a:solidFill>
              </a:rPr>
              <a:t>baptism</a:t>
            </a:r>
            <a:r>
              <a:rPr lang="en" sz="1300">
                <a:solidFill>
                  <a:schemeClr val="dk1"/>
                </a:solidFill>
              </a:rPr>
              <a:t>, </a:t>
            </a:r>
            <a:r>
              <a:rPr b="1" lang="en" sz="1300">
                <a:solidFill>
                  <a:schemeClr val="dk1"/>
                </a:solidFill>
              </a:rPr>
              <a:t>teaching</a:t>
            </a:r>
            <a:r>
              <a:rPr lang="en" sz="1300">
                <a:solidFill>
                  <a:schemeClr val="dk1"/>
                </a:solidFill>
              </a:rPr>
              <a:t>, and </a:t>
            </a:r>
            <a:r>
              <a:rPr b="1" lang="en" sz="1300">
                <a:solidFill>
                  <a:schemeClr val="dk1"/>
                </a:solidFill>
              </a:rPr>
              <a:t>the Eucharistic life</a:t>
            </a:r>
            <a:br>
              <a:rPr b="1" lang="en" sz="1300">
                <a:solidFill>
                  <a:schemeClr val="dk1"/>
                </a:solidFill>
              </a:rPr>
            </a:br>
            <a:endParaRPr b="1" sz="1300">
              <a:solidFill>
                <a:schemeClr val="dk1"/>
              </a:solidFill>
            </a:endParaRPr>
          </a:p>
          <a:p>
            <a:pPr indent="-311150" lvl="0" marL="457200" rtl="0" algn="l">
              <a:spcBef>
                <a:spcPts val="0"/>
              </a:spcBef>
              <a:spcAft>
                <a:spcPts val="0"/>
              </a:spcAft>
              <a:buClr>
                <a:schemeClr val="dk1"/>
              </a:buClr>
              <a:buSzPts val="1300"/>
              <a:buAutoNum type="arabicPeriod"/>
            </a:pPr>
            <a:r>
              <a:rPr lang="en" sz="1300">
                <a:solidFill>
                  <a:schemeClr val="dk1"/>
                </a:solidFill>
              </a:rPr>
              <a:t>The Church survives by </a:t>
            </a:r>
            <a:r>
              <a:rPr b="1" lang="en" sz="1300">
                <a:solidFill>
                  <a:schemeClr val="dk1"/>
                </a:solidFill>
              </a:rPr>
              <a:t>martyrdom</a:t>
            </a:r>
            <a:r>
              <a:rPr lang="en" sz="1300">
                <a:solidFill>
                  <a:schemeClr val="dk1"/>
                </a:solidFill>
              </a:rPr>
              <a:t>, </a:t>
            </a:r>
            <a:r>
              <a:rPr b="1" lang="en" sz="1300">
                <a:solidFill>
                  <a:schemeClr val="dk1"/>
                </a:solidFill>
              </a:rPr>
              <a:t>endurance</a:t>
            </a:r>
            <a:r>
              <a:rPr lang="en" sz="1300">
                <a:solidFill>
                  <a:schemeClr val="dk1"/>
                </a:solidFill>
              </a:rPr>
              <a:t>, and </a:t>
            </a:r>
            <a:r>
              <a:rPr b="1" lang="en" sz="1300">
                <a:solidFill>
                  <a:schemeClr val="dk1"/>
                </a:solidFill>
              </a:rPr>
              <a:t>unity</a:t>
            </a:r>
            <a:endParaRPr/>
          </a:p>
        </p:txBody>
      </p:sp>
      <p:sp>
        <p:nvSpPr>
          <p:cNvPr id="94" name="Google Shape;94;p18"/>
          <p:cNvSpPr txBox="1"/>
          <p:nvPr/>
        </p:nvSpPr>
        <p:spPr>
          <a:xfrm>
            <a:off x="5567800" y="770650"/>
            <a:ext cx="3000000" cy="128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The Blueprint of the Life (Acts 2:42):</a:t>
            </a:r>
            <a:endParaRPr b="1" sz="1100">
              <a:solidFill>
                <a:schemeClr val="dk1"/>
              </a:solidFill>
            </a:endParaRPr>
          </a:p>
          <a:p>
            <a:pPr indent="0" lvl="0" marL="381000" marR="381000" rtl="0" algn="l">
              <a:lnSpc>
                <a:spcPct val="115000"/>
              </a:lnSpc>
              <a:spcBef>
                <a:spcPts val="1200"/>
              </a:spcBef>
              <a:spcAft>
                <a:spcPts val="1200"/>
              </a:spcAft>
              <a:buNone/>
            </a:pPr>
            <a:r>
              <a:rPr i="1" lang="en" sz="1100">
                <a:solidFill>
                  <a:schemeClr val="dk1"/>
                </a:solidFill>
              </a:rPr>
              <a:t>"And they continued steadfastly in the apostles’ doctrine and fellowship, in the breaking of bread, and in prayers."</a:t>
            </a:r>
            <a:endParaRPr i="1" sz="1100">
              <a:solidFill>
                <a:schemeClr val="dk1"/>
              </a:solidFill>
            </a:endParaRPr>
          </a:p>
        </p:txBody>
      </p:sp>
      <p:sp>
        <p:nvSpPr>
          <p:cNvPr id="95" name="Google Shape;95;p18"/>
          <p:cNvSpPr txBox="1"/>
          <p:nvPr/>
        </p:nvSpPr>
        <p:spPr>
          <a:xfrm>
            <a:off x="5567800" y="2156125"/>
            <a:ext cx="3000000" cy="14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The Source of Growth (Acts 2:38):</a:t>
            </a:r>
            <a:endParaRPr b="1" sz="1100">
              <a:solidFill>
                <a:schemeClr val="dk1"/>
              </a:solidFill>
            </a:endParaRPr>
          </a:p>
          <a:p>
            <a:pPr indent="0" lvl="0" marL="381000" marR="381000" rtl="0" algn="l">
              <a:lnSpc>
                <a:spcPct val="115000"/>
              </a:lnSpc>
              <a:spcBef>
                <a:spcPts val="1200"/>
              </a:spcBef>
              <a:spcAft>
                <a:spcPts val="1200"/>
              </a:spcAft>
              <a:buNone/>
            </a:pPr>
            <a:r>
              <a:rPr i="1" lang="en" sz="1100">
                <a:solidFill>
                  <a:schemeClr val="dk1"/>
                </a:solidFill>
              </a:rPr>
              <a:t>"Then Peter said to them, 'Repent, and let every one of you be baptized in the name of Jesus Christ... and you shall receive the gift of the Holy Spirit.'"</a:t>
            </a:r>
            <a:endParaRPr i="1" sz="1100">
              <a:solidFill>
                <a:schemeClr val="dk1"/>
              </a:solidFill>
            </a:endParaRPr>
          </a:p>
        </p:txBody>
      </p:sp>
      <p:sp>
        <p:nvSpPr>
          <p:cNvPr id="96" name="Google Shape;96;p18"/>
          <p:cNvSpPr txBox="1"/>
          <p:nvPr/>
        </p:nvSpPr>
        <p:spPr>
          <a:xfrm>
            <a:off x="5567800" y="3736300"/>
            <a:ext cx="3000000" cy="128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The Power of Endurance (Acts 5:41):</a:t>
            </a:r>
            <a:endParaRPr b="1" sz="1100">
              <a:solidFill>
                <a:schemeClr val="dk1"/>
              </a:solidFill>
            </a:endParaRPr>
          </a:p>
          <a:p>
            <a:pPr indent="0" lvl="0" marL="381000" marR="381000" rtl="0" algn="l">
              <a:lnSpc>
                <a:spcPct val="115000"/>
              </a:lnSpc>
              <a:spcBef>
                <a:spcPts val="1200"/>
              </a:spcBef>
              <a:spcAft>
                <a:spcPts val="1200"/>
              </a:spcAft>
              <a:buNone/>
            </a:pPr>
            <a:r>
              <a:rPr i="1" lang="en" sz="1100">
                <a:solidFill>
                  <a:schemeClr val="dk1"/>
                </a:solidFill>
              </a:rPr>
              <a:t>"So they departed from the presence of the council, rejoicing that they were counted worthy to suffer shame for His name."</a:t>
            </a:r>
            <a:endParaRPr i="1"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623400" y="453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Structural Breakdown: The Expansion of Health</a:t>
            </a:r>
            <a:endParaRPr/>
          </a:p>
        </p:txBody>
      </p:sp>
      <p:graphicFrame>
        <p:nvGraphicFramePr>
          <p:cNvPr id="102" name="Google Shape;102;p19"/>
          <p:cNvGraphicFramePr/>
          <p:nvPr/>
        </p:nvGraphicFramePr>
        <p:xfrm>
          <a:off x="346350" y="1350825"/>
          <a:ext cx="3000000" cy="3000000"/>
        </p:xfrm>
        <a:graphic>
          <a:graphicData uri="http://schemas.openxmlformats.org/drawingml/2006/table">
            <a:tbl>
              <a:tblPr>
                <a:noFill/>
                <a:tableStyleId>{E1329F9D-408E-4028-8DC0-4C70A65B62D5}</a:tableStyleId>
              </a:tblPr>
              <a:tblGrid>
                <a:gridCol w="2840200"/>
                <a:gridCol w="2840200"/>
                <a:gridCol w="2840200"/>
              </a:tblGrid>
              <a:tr h="671950">
                <a:tc>
                  <a:txBody>
                    <a:bodyPr/>
                    <a:lstStyle/>
                    <a:p>
                      <a:pPr indent="0" lvl="0" marL="0" rtl="0" algn="ctr">
                        <a:lnSpc>
                          <a:spcPct val="115000"/>
                        </a:lnSpc>
                        <a:spcBef>
                          <a:spcPts val="0"/>
                        </a:spcBef>
                        <a:spcAft>
                          <a:spcPts val="0"/>
                        </a:spcAft>
                        <a:buNone/>
                      </a:pPr>
                      <a:r>
                        <a:rPr b="1" lang="en" sz="1600"/>
                        <a:t>Section</a:t>
                      </a:r>
                      <a:endParaRPr b="1" sz="16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600"/>
                        <a:t>Focus</a:t>
                      </a:r>
                      <a:endParaRPr b="1" sz="16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600"/>
                        <a:t>Themes</a:t>
                      </a:r>
                      <a:endParaRPr b="1" sz="16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71950">
                <a:tc>
                  <a:txBody>
                    <a:bodyPr/>
                    <a:lstStyle/>
                    <a:p>
                      <a:pPr indent="0" lvl="0" marL="0" rtl="0" algn="ctr">
                        <a:lnSpc>
                          <a:spcPct val="115000"/>
                        </a:lnSpc>
                        <a:spcBef>
                          <a:spcPts val="0"/>
                        </a:spcBef>
                        <a:spcAft>
                          <a:spcPts val="0"/>
                        </a:spcAft>
                        <a:buNone/>
                      </a:pPr>
                      <a:r>
                        <a:rPr lang="en" sz="1300"/>
                        <a:t>Acts 1–7</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The Source</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The Church in Jerusalem; the Martyrdom of St. Stephen.</a:t>
                      </a:r>
                      <a:endParaRPr sz="1300"/>
                    </a:p>
                  </a:txBody>
                  <a:tcPr marT="19050" marB="19050" marR="91425" marL="914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71950">
                <a:tc>
                  <a:txBody>
                    <a:bodyPr/>
                    <a:lstStyle/>
                    <a:p>
                      <a:pPr indent="0" lvl="0" marL="0" rtl="0" algn="ctr">
                        <a:lnSpc>
                          <a:spcPct val="115000"/>
                        </a:lnSpc>
                        <a:spcBef>
                          <a:spcPts val="0"/>
                        </a:spcBef>
                        <a:spcAft>
                          <a:spcPts val="0"/>
                        </a:spcAft>
                        <a:buNone/>
                      </a:pPr>
                      <a:r>
                        <a:rPr lang="en" sz="1300"/>
                        <a:t>Acts 8–12</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The Spread</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The Gospel moves to Samaria and Ethiopia (The Eunuch).</a:t>
                      </a:r>
                      <a:endParaRPr sz="1300"/>
                    </a:p>
                  </a:txBody>
                  <a:tcPr marT="19050" marB="19050" marR="91425" marL="914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71950">
                <a:tc>
                  <a:txBody>
                    <a:bodyPr/>
                    <a:lstStyle/>
                    <a:p>
                      <a:pPr indent="0" lvl="0" marL="0" rtl="0" algn="ctr">
                        <a:lnSpc>
                          <a:spcPct val="115000"/>
                        </a:lnSpc>
                        <a:spcBef>
                          <a:spcPts val="0"/>
                        </a:spcBef>
                        <a:spcAft>
                          <a:spcPts val="0"/>
                        </a:spcAft>
                        <a:buNone/>
                      </a:pPr>
                      <a:r>
                        <a:rPr lang="en" sz="1300"/>
                        <a:t>Acts 13–20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The Mission</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St. Paul’s three journeys; planting churches in "Major Sees."</a:t>
                      </a:r>
                      <a:endParaRPr sz="1300"/>
                    </a:p>
                  </a:txBody>
                  <a:tcPr marT="19050" marB="19050" marR="91425" marL="914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71950">
                <a:tc>
                  <a:txBody>
                    <a:bodyPr/>
                    <a:lstStyle/>
                    <a:p>
                      <a:pPr indent="0" lvl="0" marL="0" rtl="0" algn="ctr">
                        <a:lnSpc>
                          <a:spcPct val="115000"/>
                        </a:lnSpc>
                        <a:spcBef>
                          <a:spcPts val="0"/>
                        </a:spcBef>
                        <a:spcAft>
                          <a:spcPts val="0"/>
                        </a:spcAft>
                        <a:buNone/>
                      </a:pPr>
                      <a:r>
                        <a:rPr lang="en" sz="1300"/>
                        <a:t>Acts 21–28</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The Witness</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Paul’s trials and his final journey to Rome.</a:t>
                      </a:r>
                      <a:endParaRPr sz="1300"/>
                    </a:p>
                  </a:txBody>
                  <a:tcPr marT="19050" marB="19050" marR="91425" marL="914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458900" y="436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Ethiopian Orthodox Connection (Acts 8)</a:t>
            </a:r>
            <a:endParaRPr/>
          </a:p>
        </p:txBody>
      </p:sp>
      <p:sp>
        <p:nvSpPr>
          <p:cNvPr id="108" name="Google Shape;108;p20"/>
          <p:cNvSpPr txBox="1"/>
          <p:nvPr>
            <p:ph idx="1" type="body"/>
          </p:nvPr>
        </p:nvSpPr>
        <p:spPr>
          <a:xfrm>
            <a:off x="311700" y="1152475"/>
            <a:ext cx="84687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400">
                <a:solidFill>
                  <a:schemeClr val="dk1"/>
                </a:solidFill>
              </a:rPr>
              <a:t>A point of great significance in our tradition:</a:t>
            </a:r>
            <a:endParaRPr sz="1400">
              <a:solidFill>
                <a:schemeClr val="dk1"/>
              </a:solidFill>
            </a:endParaRPr>
          </a:p>
          <a:p>
            <a:pPr indent="-317500" lvl="0" marL="457200" rtl="0" algn="l">
              <a:spcBef>
                <a:spcPts val="1200"/>
              </a:spcBef>
              <a:spcAft>
                <a:spcPts val="0"/>
              </a:spcAft>
              <a:buClr>
                <a:schemeClr val="dk1"/>
              </a:buClr>
              <a:buSzPts val="1400"/>
              <a:buChar char="●"/>
            </a:pPr>
            <a:r>
              <a:rPr b="1" lang="en" sz="1400">
                <a:solidFill>
                  <a:schemeClr val="dk1"/>
                </a:solidFill>
              </a:rPr>
              <a:t>The Conversion:</a:t>
            </a:r>
            <a:r>
              <a:rPr lang="en" sz="1400">
                <a:solidFill>
                  <a:schemeClr val="dk1"/>
                </a:solidFill>
              </a:rPr>
              <a:t> The Holy Spirit leads Philip to the Ethiopian Eunuch, a high official of Queen Candace.</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The Fulfillment:</a:t>
            </a:r>
            <a:r>
              <a:rPr lang="en" sz="1400">
                <a:solidFill>
                  <a:schemeClr val="dk1"/>
                </a:solidFill>
              </a:rPr>
              <a:t> This fulfills the prophecy that "Ethiopia shall stretch out her hands to God" (Psalm 68:31).</a:t>
            </a:r>
            <a:endParaRPr sz="1400">
              <a:solidFill>
                <a:schemeClr val="dk1"/>
              </a:solidFill>
            </a:endParaRPr>
          </a:p>
          <a:p>
            <a:pPr indent="-298450" lvl="0" marL="457200" rtl="0" algn="l">
              <a:spcBef>
                <a:spcPts val="0"/>
              </a:spcBef>
              <a:spcAft>
                <a:spcPts val="0"/>
              </a:spcAft>
              <a:buClr>
                <a:schemeClr val="dk1"/>
              </a:buClr>
              <a:buSzPts val="1100"/>
              <a:buChar char="●"/>
            </a:pPr>
            <a:r>
              <a:rPr b="1" lang="en" sz="1400">
                <a:solidFill>
                  <a:schemeClr val="dk1"/>
                </a:solidFill>
              </a:rPr>
              <a:t>The Seed:</a:t>
            </a:r>
            <a:r>
              <a:rPr lang="en" sz="1400">
                <a:solidFill>
                  <a:schemeClr val="dk1"/>
                </a:solidFill>
              </a:rPr>
              <a:t> The Eunuch carries the "Medicine" of the Gospel back to Africa before St. Paul even begins his major missions.</a:t>
            </a:r>
            <a:br>
              <a:rPr lang="en" sz="1100">
                <a:solidFill>
                  <a:schemeClr val="dk1"/>
                </a:solidFill>
              </a:rPr>
            </a:br>
            <a:r>
              <a:rPr lang="en" sz="1100">
                <a:solidFill>
                  <a:schemeClr val="dk1"/>
                </a:solidFill>
              </a:rPr>
              <a:t> </a:t>
            </a:r>
            <a:endParaRPr sz="1100">
              <a:solidFill>
                <a:schemeClr val="dk1"/>
              </a:solidFill>
            </a:endParaRPr>
          </a:p>
          <a:p>
            <a:pPr indent="0" lvl="0" marL="0" rtl="0" algn="l">
              <a:spcBef>
                <a:spcPts val="1200"/>
              </a:spcBef>
              <a:spcAft>
                <a:spcPts val="1200"/>
              </a:spcAft>
              <a:buNone/>
            </a:pPr>
            <a:r>
              <a:t/>
            </a:r>
            <a:endParaRPr/>
          </a:p>
        </p:txBody>
      </p:sp>
      <p:sp>
        <p:nvSpPr>
          <p:cNvPr id="109" name="Google Shape;109;p20"/>
          <p:cNvSpPr txBox="1"/>
          <p:nvPr/>
        </p:nvSpPr>
        <p:spPr>
          <a:xfrm>
            <a:off x="519550" y="3476875"/>
            <a:ext cx="80097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rPr>
              <a:t>The Prophetic Promise (Psalm 68:31):</a:t>
            </a:r>
            <a:endParaRPr b="1">
              <a:solidFill>
                <a:schemeClr val="dk1"/>
              </a:solidFill>
            </a:endParaRPr>
          </a:p>
          <a:p>
            <a:pPr indent="0" lvl="0" marL="381000" marR="381000" rtl="0" algn="l">
              <a:lnSpc>
                <a:spcPct val="115000"/>
              </a:lnSpc>
              <a:spcBef>
                <a:spcPts val="1200"/>
              </a:spcBef>
              <a:spcAft>
                <a:spcPts val="1200"/>
              </a:spcAft>
              <a:buNone/>
            </a:pPr>
            <a:r>
              <a:rPr i="1" lang="en">
                <a:solidFill>
                  <a:schemeClr val="dk1"/>
                </a:solidFill>
              </a:rPr>
              <a:t>"Envoys will come from Egypt; Ethiopia will quickly stretch out her hands to God."</a:t>
            </a:r>
            <a:endParaRPr i="1">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571500" y="462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Conflicts and Tension</a:t>
            </a:r>
            <a:endParaRPr/>
          </a:p>
        </p:txBody>
      </p:sp>
      <p:sp>
        <p:nvSpPr>
          <p:cNvPr id="115" name="Google Shape;115;p21"/>
          <p:cNvSpPr txBox="1"/>
          <p:nvPr>
            <p:ph idx="1" type="body"/>
          </p:nvPr>
        </p:nvSpPr>
        <p:spPr>
          <a:xfrm>
            <a:off x="311700" y="1152475"/>
            <a:ext cx="8780400" cy="360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00">
                <a:solidFill>
                  <a:schemeClr val="dk1"/>
                </a:solidFill>
              </a:rPr>
              <a:t>External Conflict:</a:t>
            </a:r>
            <a:r>
              <a:rPr lang="en" sz="1400">
                <a:solidFill>
                  <a:schemeClr val="dk1"/>
                </a:solidFill>
              </a:rPr>
              <a:t> Persecution, prisons, and political pressure from Rome.</a:t>
            </a:r>
            <a:endParaRPr sz="1400">
              <a:solidFill>
                <a:schemeClr val="dk1"/>
              </a:solidFill>
            </a:endParaRPr>
          </a:p>
          <a:p>
            <a:pPr indent="-317500" lvl="0" marL="457200" rtl="0" algn="l">
              <a:spcBef>
                <a:spcPts val="1200"/>
              </a:spcBef>
              <a:spcAft>
                <a:spcPts val="0"/>
              </a:spcAft>
              <a:buClr>
                <a:schemeClr val="dk1"/>
              </a:buClr>
              <a:buSzPts val="1400"/>
              <a:buChar char="●"/>
            </a:pPr>
            <a:r>
              <a:rPr i="1" lang="en" sz="1400">
                <a:solidFill>
                  <a:schemeClr val="dk1"/>
                </a:solidFill>
              </a:rPr>
              <a:t>Example:</a:t>
            </a:r>
            <a:r>
              <a:rPr lang="en" sz="1400">
                <a:solidFill>
                  <a:schemeClr val="dk1"/>
                </a:solidFill>
              </a:rPr>
              <a:t> St. Stephen, the first martyr, witnessing to the Truth even in death.</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Internal Conflict:</a:t>
            </a:r>
            <a:r>
              <a:rPr lang="en" sz="1400">
                <a:solidFill>
                  <a:schemeClr val="dk1"/>
                </a:solidFill>
              </a:rPr>
              <a:t> Hypocrisy, ethnic tensions, and leadership disputes.</a:t>
            </a:r>
            <a:endParaRPr sz="1400">
              <a:solidFill>
                <a:schemeClr val="dk1"/>
              </a:solidFill>
            </a:endParaRPr>
          </a:p>
          <a:p>
            <a:pPr indent="-317500" lvl="0" marL="457200" rtl="0" algn="l">
              <a:spcBef>
                <a:spcPts val="1200"/>
              </a:spcBef>
              <a:spcAft>
                <a:spcPts val="0"/>
              </a:spcAft>
              <a:buClr>
                <a:schemeClr val="dk1"/>
              </a:buClr>
              <a:buSzPts val="1400"/>
              <a:buChar char="●"/>
            </a:pPr>
            <a:r>
              <a:rPr i="1" lang="en" sz="1400">
                <a:solidFill>
                  <a:schemeClr val="dk1"/>
                </a:solidFill>
              </a:rPr>
              <a:t>Examples:</a:t>
            </a:r>
            <a:r>
              <a:rPr lang="en" sz="1400">
                <a:solidFill>
                  <a:schemeClr val="dk1"/>
                </a:solidFill>
              </a:rPr>
              <a:t> Ananias &amp; Sapphira (Integrity) and the Hellenists vs. Hebrews (Justice).</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The Jerusalem Council:</a:t>
            </a:r>
            <a:r>
              <a:rPr lang="en" sz="1400">
                <a:solidFill>
                  <a:schemeClr val="dk1"/>
                </a:solidFill>
              </a:rPr>
              <a:t> Solving theological disputes through the Holy Spirit to maintain unity without compromising Truth.</a:t>
            </a:r>
            <a:br>
              <a:rPr lang="en" sz="1400">
                <a:solidFill>
                  <a:schemeClr val="dk1"/>
                </a:solidFill>
              </a:rPr>
            </a:br>
            <a:endParaRPr sz="1400">
              <a:solidFill>
                <a:schemeClr val="dk1"/>
              </a:solidFill>
            </a:endParaRPr>
          </a:p>
          <a:p>
            <a:pPr indent="0" lvl="0" marL="0" rtl="0" algn="l">
              <a:spcBef>
                <a:spcPts val="0"/>
              </a:spcBef>
              <a:spcAft>
                <a:spcPts val="0"/>
              </a:spcAft>
              <a:buClr>
                <a:schemeClr val="dk1"/>
              </a:buClr>
              <a:buSzPts val="1100"/>
              <a:buFont typeface="Arial"/>
              <a:buNone/>
            </a:pPr>
            <a:r>
              <a:rPr b="1" lang="en" sz="1400">
                <a:solidFill>
                  <a:schemeClr val="dk1"/>
                </a:solidFill>
              </a:rPr>
              <a:t>The Key Idea:</a:t>
            </a:r>
            <a:r>
              <a:rPr lang="en" sz="1400">
                <a:solidFill>
                  <a:schemeClr val="dk1"/>
                </a:solidFill>
              </a:rPr>
              <a:t> Unity is not a loose agreement; it is a </a:t>
            </a:r>
            <a:r>
              <a:rPr b="1" lang="en" sz="1400">
                <a:solidFill>
                  <a:schemeClr val="dk1"/>
                </a:solidFill>
              </a:rPr>
              <a:t>shared life in Christ</a:t>
            </a:r>
            <a:r>
              <a:rPr lang="en" sz="1400">
                <a:solidFill>
                  <a:schemeClr val="dk1"/>
                </a:solidFill>
              </a:rPr>
              <a:t>.</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The Goal:</a:t>
            </a:r>
            <a:r>
              <a:rPr lang="en" sz="1400">
                <a:solidFill>
                  <a:schemeClr val="dk1"/>
                </a:solidFill>
              </a:rPr>
              <a:t> To bring all people into </a:t>
            </a:r>
            <a:r>
              <a:rPr b="1" lang="en" sz="1400">
                <a:solidFill>
                  <a:schemeClr val="dk1"/>
                </a:solidFill>
              </a:rPr>
              <a:t>Tewahedo</a:t>
            </a:r>
            <a:r>
              <a:rPr lang="en" sz="1400">
                <a:solidFill>
                  <a:schemeClr val="dk1"/>
                </a:solidFill>
              </a:rPr>
              <a:t> (Oneness), just as St. Paul taught the Romans.</a:t>
            </a:r>
            <a:endParaRPr sz="1400">
              <a:solidFill>
                <a:schemeClr val="dk1"/>
              </a:solidFill>
            </a:endParaRPr>
          </a:p>
          <a:p>
            <a:pPr indent="0" lvl="0" marL="0" rtl="0" algn="l">
              <a:spcBef>
                <a:spcPts val="1200"/>
              </a:spcBef>
              <a:spcAft>
                <a:spcPts val="1200"/>
              </a:spcAft>
              <a:buNone/>
            </a:pPr>
            <a:r>
              <a:t/>
            </a:r>
            <a:endParaRPr b="1"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510850" y="453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External Conflict: The Cost of Witness</a:t>
            </a:r>
            <a:endParaRPr/>
          </a:p>
        </p:txBody>
      </p:sp>
      <p:sp>
        <p:nvSpPr>
          <p:cNvPr id="121" name="Google Shape;121;p22"/>
          <p:cNvSpPr txBox="1"/>
          <p:nvPr>
            <p:ph idx="1" type="body"/>
          </p:nvPr>
        </p:nvSpPr>
        <p:spPr>
          <a:xfrm>
            <a:off x="311700" y="1152475"/>
            <a:ext cx="4987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100">
                <a:solidFill>
                  <a:schemeClr val="dk1"/>
                </a:solidFill>
              </a:rPr>
              <a:t>External conflict served as a "refiner’s fire." Rather than destroying the Church, persecution often clarified its mission and spread the message further.</a:t>
            </a:r>
            <a:endParaRPr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The Example of Stephen (Acts 6–7):</a:t>
            </a:r>
            <a:r>
              <a:rPr lang="en" sz="1100">
                <a:solidFill>
                  <a:schemeClr val="dk1"/>
                </a:solidFill>
              </a:rPr>
              <a:t> Stephen represents the ultimate "Bold Witness." His martyrdom proved that the </a:t>
            </a:r>
            <a:r>
              <a:rPr i="1" lang="en" sz="1100">
                <a:solidFill>
                  <a:schemeClr val="dk1"/>
                </a:solidFill>
              </a:rPr>
              <a:t>Grace </a:t>
            </a:r>
            <a:r>
              <a:rPr lang="en" sz="1100">
                <a:solidFill>
                  <a:schemeClr val="dk1"/>
                </a:solidFill>
              </a:rPr>
              <a:t>given at Pentecost wasn't just for miracles, but for the courage to die for the Truth.</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Political Pressure:</a:t>
            </a:r>
            <a:r>
              <a:rPr lang="en" sz="1100">
                <a:solidFill>
                  <a:schemeClr val="dk1"/>
                </a:solidFill>
              </a:rPr>
              <a:t> The Sanhedrin and Roman authorities tried to contain the "movement." However, as seen in </a:t>
            </a:r>
            <a:r>
              <a:rPr b="1" lang="en" sz="1100">
                <a:solidFill>
                  <a:schemeClr val="dk1"/>
                </a:solidFill>
              </a:rPr>
              <a:t>Acts 8:1</a:t>
            </a:r>
            <a:r>
              <a:rPr lang="en" sz="1100">
                <a:solidFill>
                  <a:schemeClr val="dk1"/>
                </a:solidFill>
              </a:rPr>
              <a:t>, persecution in Jerusalem actually forced the believers to scatter, inadvertently fulfilling the command to take the Gospel "to the ends of the earth."</a:t>
            </a:r>
            <a:endParaRPr sz="1100">
              <a:solidFill>
                <a:schemeClr val="dk1"/>
              </a:solidFill>
            </a:endParaRPr>
          </a:p>
          <a:p>
            <a:pPr indent="0" lvl="0" marL="0" rtl="0" algn="l">
              <a:spcBef>
                <a:spcPts val="1200"/>
              </a:spcBef>
              <a:spcAft>
                <a:spcPts val="1200"/>
              </a:spcAft>
              <a:buNone/>
            </a:pPr>
            <a:r>
              <a:t/>
            </a:r>
            <a:endParaRPr/>
          </a:p>
        </p:txBody>
      </p:sp>
      <p:sp>
        <p:nvSpPr>
          <p:cNvPr id="122" name="Google Shape;122;p22"/>
          <p:cNvSpPr txBox="1"/>
          <p:nvPr/>
        </p:nvSpPr>
        <p:spPr>
          <a:xfrm>
            <a:off x="5728375" y="1209600"/>
            <a:ext cx="30000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The Symbolism of Fire:</a:t>
            </a:r>
            <a:r>
              <a:rPr lang="en" sz="1100">
                <a:solidFill>
                  <a:schemeClr val="dk1"/>
                </a:solidFill>
              </a:rPr>
              <a:t> In Exodus, God appeared in a burning bush. At Pentecost, that same Divine Fire no longer stays in a bush or a temple; it rests on </a:t>
            </a:r>
            <a:r>
              <a:rPr i="1" lang="en" sz="1100">
                <a:solidFill>
                  <a:schemeClr val="dk1"/>
                </a:solidFill>
              </a:rPr>
              <a:t>individuals</a:t>
            </a:r>
            <a:r>
              <a:rPr lang="en" sz="1100">
                <a:solidFill>
                  <a:schemeClr val="dk1"/>
                </a:solidFill>
              </a:rPr>
              <a:t>.</a:t>
            </a:r>
            <a:br>
              <a:rPr lang="en" sz="1100">
                <a:solidFill>
                  <a:schemeClr val="dk1"/>
                </a:solidFill>
              </a:rPr>
            </a:br>
            <a:endParaRPr sz="1100">
              <a:solidFill>
                <a:schemeClr val="dk1"/>
              </a:solidFill>
            </a:endParaRPr>
          </a:p>
          <a:p>
            <a:pPr indent="0" lvl="0" marL="0" rtl="0" algn="l">
              <a:spcBef>
                <a:spcPts val="0"/>
              </a:spcBef>
              <a:spcAft>
                <a:spcPts val="0"/>
              </a:spcAft>
              <a:buNone/>
            </a:pPr>
            <a:r>
              <a:rPr b="1" lang="en" sz="1100">
                <a:solidFill>
                  <a:schemeClr val="dk1"/>
                </a:solidFill>
              </a:rPr>
              <a:t>The Transformation:</a:t>
            </a:r>
            <a:r>
              <a:rPr lang="en" sz="1100">
                <a:solidFill>
                  <a:schemeClr val="dk1"/>
                </a:solidFill>
              </a:rPr>
              <a:t> Peter, who denied Christ to a servant girl, stands up and indicts the very leaders who executed Jesus. This isn't just "bravery"; it is a fundamental change in his nature (Ontological Change) caused by the indwelling of the Spirit.</a:t>
            </a:r>
            <a:br>
              <a:rPr lang="en" sz="1100">
                <a:solidFill>
                  <a:schemeClr val="dk1"/>
                </a:solidFill>
              </a:rPr>
            </a:br>
            <a:endParaRPr sz="1100">
              <a:solidFill>
                <a:schemeClr val="dk1"/>
              </a:solidFill>
            </a:endParaRPr>
          </a:p>
          <a:p>
            <a:pPr indent="0" lvl="0" marL="0" rtl="0" algn="l">
              <a:spcBef>
                <a:spcPts val="0"/>
              </a:spcBef>
              <a:spcAft>
                <a:spcPts val="0"/>
              </a:spcAft>
              <a:buNone/>
            </a:pPr>
            <a:r>
              <a:rPr lang="en" sz="1100">
                <a:solidFill>
                  <a:schemeClr val="dk1"/>
                </a:solidFill>
              </a:rPr>
              <a:t>This slide emphasizes that the Church is not a social club, but a "Charismatic" body—meaning it is fueled by the ongoing, active energy of God.</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909150" y="193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External Conflict: The Cost of Witness (Part-2)</a:t>
            </a:r>
            <a:endParaRPr/>
          </a:p>
          <a:p>
            <a:pPr indent="0" lvl="0" marL="0" rtl="0" algn="l">
              <a:spcBef>
                <a:spcPts val="0"/>
              </a:spcBef>
              <a:spcAft>
                <a:spcPts val="0"/>
              </a:spcAft>
              <a:buNone/>
            </a:pPr>
            <a:r>
              <a:t/>
            </a:r>
            <a:endParaRPr/>
          </a:p>
        </p:txBody>
      </p:sp>
      <p:sp>
        <p:nvSpPr>
          <p:cNvPr id="128" name="Google Shape;128;p23"/>
          <p:cNvSpPr txBox="1"/>
          <p:nvPr/>
        </p:nvSpPr>
        <p:spPr>
          <a:xfrm>
            <a:off x="355025" y="802100"/>
            <a:ext cx="2848800" cy="4083600"/>
          </a:xfrm>
          <a:prstGeom prst="rect">
            <a:avLst/>
          </a:prstGeom>
          <a:solidFill>
            <a:srgbClr val="EEBB6B"/>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The Martyrdom of Stephen: The Blueprint for Courage</a:t>
            </a:r>
            <a:br>
              <a:rPr b="1" lang="en" sz="1300">
                <a:solidFill>
                  <a:schemeClr val="dk1"/>
                </a:solidFill>
              </a:rPr>
            </a:br>
            <a:r>
              <a:rPr lang="en" sz="1100">
                <a:solidFill>
                  <a:schemeClr val="dk1"/>
                </a:solidFill>
              </a:rPr>
              <a:t>Stephen wasn’t one of the original twelve, but he was filled with </a:t>
            </a:r>
            <a:r>
              <a:rPr i="1" lang="en" sz="1100">
                <a:solidFill>
                  <a:schemeClr val="dk1"/>
                </a:solidFill>
              </a:rPr>
              <a:t>Tsega</a:t>
            </a:r>
            <a:r>
              <a:rPr lang="en" sz="1100">
                <a:solidFill>
                  <a:schemeClr val="dk1"/>
                </a:solidFill>
              </a:rPr>
              <a:t> (Grace).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The Theological Stand:</a:t>
            </a:r>
            <a:r>
              <a:rPr lang="en" sz="1100">
                <a:solidFill>
                  <a:schemeClr val="dk1"/>
                </a:solidFill>
              </a:rPr>
              <a:t> Stephen’s speech in Acts 7 was a direct challenge to the idea that God only lived in a building (the Temple). He argued that God moves with His people.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The Transformation of Death:</a:t>
            </a:r>
            <a:r>
              <a:rPr lang="en" sz="1100">
                <a:solidFill>
                  <a:schemeClr val="dk1"/>
                </a:solidFill>
              </a:rPr>
              <a:t> His death proved that the Holy Spirit's empowerment wasn't just for "success" or "healing," but for the </a:t>
            </a:r>
            <a:r>
              <a:rPr b="1" lang="en" sz="1100">
                <a:solidFill>
                  <a:schemeClr val="dk1"/>
                </a:solidFill>
              </a:rPr>
              <a:t>sanctification of suffering</a:t>
            </a:r>
            <a:r>
              <a:rPr lang="en" sz="1100">
                <a:solidFill>
                  <a:schemeClr val="dk1"/>
                </a:solidFill>
              </a:rPr>
              <a:t>. When he looked up and saw Christ standing (a sign of respect for a martyr), it changed the definition of victory for the Church.</a:t>
            </a:r>
            <a:endParaRPr sz="1100">
              <a:solidFill>
                <a:schemeClr val="dk1"/>
              </a:solidFill>
            </a:endParaRPr>
          </a:p>
        </p:txBody>
      </p:sp>
      <p:sp>
        <p:nvSpPr>
          <p:cNvPr id="129" name="Google Shape;129;p23"/>
          <p:cNvSpPr txBox="1"/>
          <p:nvPr/>
        </p:nvSpPr>
        <p:spPr>
          <a:xfrm>
            <a:off x="3286125" y="802100"/>
            <a:ext cx="2848800" cy="4083600"/>
          </a:xfrm>
          <a:prstGeom prst="rect">
            <a:avLst/>
          </a:prstGeom>
          <a:solidFill>
            <a:srgbClr val="EEBB6B"/>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Political Pressure: The "Scattering" (Acts 8:1)</a:t>
            </a:r>
            <a:br>
              <a:rPr b="1" lang="en" sz="1300">
                <a:solidFill>
                  <a:schemeClr val="dk1"/>
                </a:solidFill>
              </a:rPr>
            </a:br>
            <a:r>
              <a:rPr lang="en" sz="1100">
                <a:solidFill>
                  <a:schemeClr val="dk1"/>
                </a:solidFill>
              </a:rPr>
              <a:t>The Sanhedrin thought that by killing Stephen and arresting leaders, they would snuff out the flame.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The Irony of Persecution:</a:t>
            </a:r>
            <a:r>
              <a:rPr lang="en" sz="1100">
                <a:solidFill>
                  <a:schemeClr val="dk1"/>
                </a:solidFill>
              </a:rPr>
              <a:t> Instead of extinguishing the fire, they stepped on it and spread the sparks. Acts 8:1 notes that everyone except the Apostles fled Jerusalem.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Missionary Expansion:</a:t>
            </a:r>
            <a:r>
              <a:rPr lang="en" sz="1100">
                <a:solidFill>
                  <a:schemeClr val="dk1"/>
                </a:solidFill>
              </a:rPr>
              <a:t> These "ordinary" believers went to Samaria and Antioch. Political pressure forced the Church to fulfill the Great Commission. Without the "refiner’s fire" of Saul’s early persecution, the Church might have remained a local Jewish sect.</a:t>
            </a:r>
            <a:endParaRPr sz="1100">
              <a:solidFill>
                <a:schemeClr val="dk1"/>
              </a:solidFill>
            </a:endParaRPr>
          </a:p>
        </p:txBody>
      </p:sp>
      <p:sp>
        <p:nvSpPr>
          <p:cNvPr id="130" name="Google Shape;130;p23"/>
          <p:cNvSpPr txBox="1"/>
          <p:nvPr/>
        </p:nvSpPr>
        <p:spPr>
          <a:xfrm>
            <a:off x="6182575" y="1593325"/>
            <a:ext cx="2615100" cy="2885400"/>
          </a:xfrm>
          <a:prstGeom prst="rect">
            <a:avLst/>
          </a:prstGeom>
          <a:solidFill>
            <a:srgbClr val="EEBB6B"/>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chemeClr val="dk1"/>
                </a:solidFill>
              </a:rPr>
              <a:t>External Witness (Acts 7:59-60): </a:t>
            </a:r>
            <a:r>
              <a:rPr i="1" lang="en" sz="1100">
                <a:solidFill>
                  <a:schemeClr val="dk1"/>
                </a:solidFill>
              </a:rPr>
              <a:t>"And they stoned Stephen as he was calling on God and saying, 'Lord Jesus, receive my spirit.' ... 'Lord, do not charge them with this sin.'"</a:t>
            </a:r>
            <a:endParaRPr i="1" sz="1100">
              <a:solidFill>
                <a:schemeClr val="dk1"/>
              </a:solidFill>
            </a:endParaRPr>
          </a:p>
          <a:p>
            <a:pPr indent="-298450" lvl="0" marL="457200" rtl="0" algn="l">
              <a:lnSpc>
                <a:spcPct val="115000"/>
              </a:lnSpc>
              <a:spcBef>
                <a:spcPts val="0"/>
              </a:spcBef>
              <a:spcAft>
                <a:spcPts val="0"/>
              </a:spcAft>
              <a:buClr>
                <a:schemeClr val="dk1"/>
              </a:buClr>
              <a:buSzPts val="1100"/>
              <a:buChar char="-"/>
            </a:pPr>
            <a:r>
              <a:rPr i="1" lang="en" sz="1100">
                <a:solidFill>
                  <a:schemeClr val="dk1"/>
                </a:solidFill>
              </a:rPr>
              <a:t>St. Stephen is the "First Martyr." His death shows that external persecution cannot kill the Church; it only spreads the "fire" of the Spirit. Like Christ, he prays for his enemies, showing the ultimate "health" of a sou</a:t>
            </a:r>
            <a:r>
              <a:rPr i="1" lang="en" sz="1100">
                <a:solidFill>
                  <a:schemeClr val="dk1"/>
                </a:solidFill>
              </a:rPr>
              <a:t>l</a:t>
            </a:r>
            <a:endParaRPr i="1" sz="1100">
              <a:solidFill>
                <a:schemeClr val="dk1"/>
              </a:solidFill>
            </a:endParaRPr>
          </a:p>
          <a:p>
            <a:pPr indent="0" lvl="0" marL="0" rtl="0" algn="l">
              <a:lnSpc>
                <a:spcPct val="115000"/>
              </a:lnSpc>
              <a:spcBef>
                <a:spcPts val="0"/>
              </a:spcBef>
              <a:spcAft>
                <a:spcPts val="0"/>
              </a:spcAft>
              <a:buNone/>
            </a:pPr>
            <a:r>
              <a:t/>
            </a:r>
            <a:endParaRPr i="1"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Integrity vs. Hypocrisy (Ananias &amp; Sapphira)</a:t>
            </a:r>
            <a:endParaRPr/>
          </a:p>
        </p:txBody>
      </p:sp>
      <p:sp>
        <p:nvSpPr>
          <p:cNvPr id="136" name="Google Shape;136;p24"/>
          <p:cNvSpPr txBox="1"/>
          <p:nvPr>
            <p:ph idx="1" type="body"/>
          </p:nvPr>
        </p:nvSpPr>
        <p:spPr>
          <a:xfrm>
            <a:off x="311700" y="1152475"/>
            <a:ext cx="62604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400">
                <a:solidFill>
                  <a:schemeClr val="dk1"/>
                </a:solidFill>
              </a:rPr>
              <a:t>In </a:t>
            </a:r>
            <a:r>
              <a:rPr b="1" lang="en" sz="1400">
                <a:solidFill>
                  <a:schemeClr val="dk1"/>
                </a:solidFill>
              </a:rPr>
              <a:t>Acts 5</a:t>
            </a:r>
            <a:r>
              <a:rPr lang="en" sz="1400">
                <a:solidFill>
                  <a:schemeClr val="dk1"/>
                </a:solidFill>
              </a:rPr>
              <a:t>, this couple lied about their donation to the Church.</a:t>
            </a:r>
            <a:endParaRPr b="1" sz="1600">
              <a:solidFill>
                <a:schemeClr val="dk1"/>
              </a:solidFill>
            </a:endParaRPr>
          </a:p>
          <a:p>
            <a:pPr indent="0" lvl="0" marL="0" rtl="0" algn="l">
              <a:spcBef>
                <a:spcPts val="1200"/>
              </a:spcBef>
              <a:spcAft>
                <a:spcPts val="0"/>
              </a:spcAft>
              <a:buNone/>
            </a:pPr>
            <a:r>
              <a:rPr lang="en" sz="1400">
                <a:solidFill>
                  <a:schemeClr val="dk1"/>
                </a:solidFill>
              </a:rPr>
              <a:t>This story is often misunderstood as being about money. It was actually about </a:t>
            </a:r>
            <a:r>
              <a:rPr b="1" lang="en" sz="1400">
                <a:solidFill>
                  <a:schemeClr val="dk1"/>
                </a:solidFill>
              </a:rPr>
              <a:t>spiritual counterfeit</a:t>
            </a:r>
            <a:r>
              <a:rPr lang="en" sz="1400">
                <a:solidFill>
                  <a:schemeClr val="dk1"/>
                </a:solidFill>
              </a:rPr>
              <a:t>.</a:t>
            </a:r>
            <a:endParaRPr sz="1400">
              <a:solidFill>
                <a:schemeClr val="dk1"/>
              </a:solidFill>
            </a:endParaRPr>
          </a:p>
          <a:p>
            <a:pPr indent="-317500" lvl="0" marL="457200" rtl="0" algn="l">
              <a:spcBef>
                <a:spcPts val="1200"/>
              </a:spcBef>
              <a:spcAft>
                <a:spcPts val="0"/>
              </a:spcAft>
              <a:buClr>
                <a:schemeClr val="dk1"/>
              </a:buClr>
              <a:buSzPts val="1400"/>
              <a:buChar char="●"/>
            </a:pPr>
            <a:r>
              <a:rPr b="1" lang="en" sz="1400">
                <a:solidFill>
                  <a:schemeClr val="dk1"/>
                </a:solidFill>
              </a:rPr>
              <a:t>The "Infection":</a:t>
            </a:r>
            <a:r>
              <a:rPr lang="en" sz="1400">
                <a:solidFill>
                  <a:schemeClr val="dk1"/>
                </a:solidFill>
              </a:rPr>
              <a:t> They wanted the </a:t>
            </a:r>
            <a:r>
              <a:rPr i="1" lang="en" sz="1400">
                <a:solidFill>
                  <a:schemeClr val="dk1"/>
                </a:solidFill>
              </a:rPr>
              <a:t>reputation</a:t>
            </a:r>
            <a:r>
              <a:rPr lang="en" sz="1400">
                <a:solidFill>
                  <a:schemeClr val="dk1"/>
                </a:solidFill>
              </a:rPr>
              <a:t> of being generous without the </a:t>
            </a:r>
            <a:r>
              <a:rPr i="1" lang="en" sz="1400">
                <a:solidFill>
                  <a:schemeClr val="dk1"/>
                </a:solidFill>
              </a:rPr>
              <a:t>sacrifice</a:t>
            </a:r>
            <a:r>
              <a:rPr lang="en" sz="1400">
                <a:solidFill>
                  <a:schemeClr val="dk1"/>
                </a:solidFill>
              </a:rPr>
              <a:t> of actually being so. They were performing "holiness" for an audience.</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The Consequence:</a:t>
            </a:r>
            <a:r>
              <a:rPr lang="en" sz="1400">
                <a:solidFill>
                  <a:schemeClr val="dk1"/>
                </a:solidFill>
              </a:rPr>
              <a:t> The immediate judgment served as a "quarantine." It protected the young Church from becoming a place where people could manipulate the Holy Spirit for social status. It established that </a:t>
            </a:r>
            <a:r>
              <a:rPr b="1" lang="en" sz="1400">
                <a:solidFill>
                  <a:schemeClr val="dk1"/>
                </a:solidFill>
              </a:rPr>
              <a:t>Truth is the bedrock of Unity.</a:t>
            </a:r>
            <a:endParaRPr b="1" sz="1400">
              <a:solidFill>
                <a:schemeClr val="dk1"/>
              </a:solidFill>
            </a:endParaRPr>
          </a:p>
          <a:p>
            <a:pPr indent="0" lvl="0" marL="0" rtl="0" algn="l">
              <a:spcBef>
                <a:spcPts val="1200"/>
              </a:spcBef>
              <a:spcAft>
                <a:spcPts val="1200"/>
              </a:spcAft>
              <a:buNone/>
            </a:pPr>
            <a:r>
              <a:t/>
            </a:r>
            <a:endParaRPr/>
          </a:p>
        </p:txBody>
      </p:sp>
      <p:sp>
        <p:nvSpPr>
          <p:cNvPr id="137" name="Google Shape;137;p24"/>
          <p:cNvSpPr txBox="1"/>
          <p:nvPr/>
        </p:nvSpPr>
        <p:spPr>
          <a:xfrm>
            <a:off x="6494350" y="1381125"/>
            <a:ext cx="2251500" cy="23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chemeClr val="dk1"/>
                </a:solidFill>
              </a:rPr>
              <a:t>Internal Integrity (Acts 5:3-4): </a:t>
            </a:r>
            <a:r>
              <a:rPr i="1" lang="en" sz="1100">
                <a:solidFill>
                  <a:schemeClr val="dk1"/>
                </a:solidFill>
              </a:rPr>
              <a:t>"But Peter said, 'Ananias, why has Satan filled your heart to lie to the Holy Spirit... You have not lied to men but to God.'"</a:t>
            </a:r>
            <a:endParaRPr i="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Ananias and Sapphira represent hypocrisy. It shows that the Church’s strength depends on </a:t>
            </a:r>
            <a:r>
              <a:rPr b="1" lang="en" sz="1100">
                <a:solidFill>
                  <a:schemeClr val="dk1"/>
                </a:solidFill>
              </a:rPr>
              <a:t>Truth</a:t>
            </a: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Ethnic Tension &amp; Justice (Hellenists vs. Hebrews)</a:t>
            </a:r>
            <a:endParaRPr/>
          </a:p>
        </p:txBody>
      </p:sp>
      <p:sp>
        <p:nvSpPr>
          <p:cNvPr id="143" name="Google Shape;143;p25"/>
          <p:cNvSpPr txBox="1"/>
          <p:nvPr>
            <p:ph idx="1" type="body"/>
          </p:nvPr>
        </p:nvSpPr>
        <p:spPr>
          <a:xfrm>
            <a:off x="311700" y="1152475"/>
            <a:ext cx="5377200" cy="37920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Clr>
                <a:schemeClr val="dk1"/>
              </a:buClr>
              <a:buSzPct val="69955"/>
              <a:buFont typeface="Arial"/>
              <a:buNone/>
            </a:pPr>
            <a:r>
              <a:rPr lang="en" sz="1572">
                <a:solidFill>
                  <a:schemeClr val="dk1"/>
                </a:solidFill>
              </a:rPr>
              <a:t>In </a:t>
            </a:r>
            <a:r>
              <a:rPr b="1" lang="en" sz="1572">
                <a:solidFill>
                  <a:schemeClr val="dk1"/>
                </a:solidFill>
              </a:rPr>
              <a:t>Acts 6</a:t>
            </a:r>
            <a:r>
              <a:rPr lang="en" sz="1572">
                <a:solidFill>
                  <a:schemeClr val="dk1"/>
                </a:solidFill>
              </a:rPr>
              <a:t>, Greek-speaking Jewish widows were being overlooked in favor of Hebrew-speaking ones.</a:t>
            </a:r>
            <a:endParaRPr sz="1572">
              <a:solidFill>
                <a:schemeClr val="dk1"/>
              </a:solidFill>
            </a:endParaRPr>
          </a:p>
          <a:p>
            <a:pPr indent="0" lvl="0" marL="0" rtl="0" algn="l">
              <a:spcBef>
                <a:spcPts val="1200"/>
              </a:spcBef>
              <a:spcAft>
                <a:spcPts val="0"/>
              </a:spcAft>
              <a:buNone/>
            </a:pPr>
            <a:r>
              <a:rPr lang="en" sz="1572">
                <a:solidFill>
                  <a:schemeClr val="dk1"/>
                </a:solidFill>
              </a:rPr>
              <a:t>The Church faced a "systemic" issue: tribalism. Hebrew-speaking Jews (locals) were inadvertently (or intentionally) favoring their own widows over the Greek-speaking (Hellenist) ones.</a:t>
            </a:r>
            <a:endParaRPr sz="1572">
              <a:solidFill>
                <a:schemeClr val="dk1"/>
              </a:solidFill>
            </a:endParaRPr>
          </a:p>
          <a:p>
            <a:pPr indent="-313472" lvl="0" marL="457200" rtl="0" algn="l">
              <a:spcBef>
                <a:spcPts val="1200"/>
              </a:spcBef>
              <a:spcAft>
                <a:spcPts val="0"/>
              </a:spcAft>
              <a:buClr>
                <a:schemeClr val="dk1"/>
              </a:buClr>
              <a:buSzPct val="100000"/>
              <a:buChar char="●"/>
            </a:pPr>
            <a:r>
              <a:rPr b="1" lang="en" sz="1572">
                <a:solidFill>
                  <a:schemeClr val="dk1"/>
                </a:solidFill>
              </a:rPr>
              <a:t>The Solution of Structure:</a:t>
            </a:r>
            <a:r>
              <a:rPr lang="en" sz="1572">
                <a:solidFill>
                  <a:schemeClr val="dk1"/>
                </a:solidFill>
              </a:rPr>
              <a:t> The Apostles realized that "prayer only" wouldn't fix a logistics problem. They appointed seven deacons—notably, all seven had </a:t>
            </a:r>
            <a:r>
              <a:rPr b="1" lang="en" sz="1572">
                <a:solidFill>
                  <a:schemeClr val="dk1"/>
                </a:solidFill>
              </a:rPr>
              <a:t>Greek names</a:t>
            </a:r>
            <a:r>
              <a:rPr lang="en" sz="1572">
                <a:solidFill>
                  <a:schemeClr val="dk1"/>
                </a:solidFill>
              </a:rPr>
              <a:t>.</a:t>
            </a:r>
            <a:br>
              <a:rPr lang="en" sz="1572">
                <a:solidFill>
                  <a:schemeClr val="dk1"/>
                </a:solidFill>
              </a:rPr>
            </a:br>
            <a:endParaRPr sz="1572">
              <a:solidFill>
                <a:schemeClr val="dk1"/>
              </a:solidFill>
            </a:endParaRPr>
          </a:p>
          <a:p>
            <a:pPr indent="-313472" lvl="0" marL="457200" rtl="0" algn="l">
              <a:spcBef>
                <a:spcPts val="0"/>
              </a:spcBef>
              <a:spcAft>
                <a:spcPts val="0"/>
              </a:spcAft>
              <a:buClr>
                <a:schemeClr val="dk1"/>
              </a:buClr>
              <a:buSzPct val="100000"/>
              <a:buChar char="●"/>
            </a:pPr>
            <a:r>
              <a:rPr b="1" lang="en" sz="1572">
                <a:solidFill>
                  <a:schemeClr val="dk1"/>
                </a:solidFill>
              </a:rPr>
              <a:t>The Logic of Grace:</a:t>
            </a:r>
            <a:r>
              <a:rPr lang="en" sz="1572">
                <a:solidFill>
                  <a:schemeClr val="dk1"/>
                </a:solidFill>
              </a:rPr>
              <a:t> They gave the minority group the authority to handle the resources. This showed that </a:t>
            </a:r>
            <a:r>
              <a:rPr b="1" lang="en" sz="1572">
                <a:solidFill>
                  <a:schemeClr val="dk1"/>
                </a:solidFill>
              </a:rPr>
              <a:t>Unity requires Justice.</a:t>
            </a:r>
            <a:r>
              <a:rPr lang="en" sz="1572">
                <a:solidFill>
                  <a:schemeClr val="dk1"/>
                </a:solidFill>
              </a:rPr>
              <a:t> You cannot have spiritual peace if there is physical inequality.</a:t>
            </a:r>
            <a:endParaRPr sz="1572">
              <a:solidFill>
                <a:schemeClr val="dk1"/>
              </a:solidFill>
            </a:endParaRPr>
          </a:p>
          <a:p>
            <a:pPr indent="0" lvl="0" marL="457200" rtl="0" algn="l">
              <a:spcBef>
                <a:spcPts val="1200"/>
              </a:spcBef>
              <a:spcAft>
                <a:spcPts val="0"/>
              </a:spcAft>
              <a:buNone/>
            </a:pPr>
            <a:r>
              <a:t/>
            </a:r>
            <a:endParaRPr b="1" sz="1100">
              <a:solidFill>
                <a:schemeClr val="dk1"/>
              </a:solidFill>
            </a:endParaRPr>
          </a:p>
          <a:p>
            <a:pPr indent="0" lvl="0" marL="0" rtl="0" algn="l">
              <a:spcBef>
                <a:spcPts val="1200"/>
              </a:spcBef>
              <a:spcAft>
                <a:spcPts val="1200"/>
              </a:spcAft>
              <a:buNone/>
            </a:pPr>
            <a:r>
              <a:t/>
            </a:r>
            <a:endParaRPr/>
          </a:p>
        </p:txBody>
      </p:sp>
      <p:sp>
        <p:nvSpPr>
          <p:cNvPr id="144" name="Google Shape;144;p25"/>
          <p:cNvSpPr txBox="1"/>
          <p:nvPr/>
        </p:nvSpPr>
        <p:spPr>
          <a:xfrm>
            <a:off x="5775600" y="1298925"/>
            <a:ext cx="2944200" cy="284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chemeClr val="dk1"/>
                </a:solidFill>
              </a:rPr>
              <a:t>Structure for Justice (Acts 6:1, 3): </a:t>
            </a:r>
            <a:r>
              <a:rPr i="1" lang="en" sz="1100">
                <a:solidFill>
                  <a:schemeClr val="dk1"/>
                </a:solidFill>
              </a:rPr>
              <a:t>"...there arose a complaint against the Hebrews by the Hellenists... 'Therefore, brethren, seek out from among you seven men of good reputation, full of the Holy Spirit and wisdom...'"</a:t>
            </a:r>
            <a:endParaRPr i="1" sz="1100">
              <a:solidFill>
                <a:schemeClr val="dk1"/>
              </a:solidFill>
            </a:endParaRPr>
          </a:p>
          <a:p>
            <a:pPr indent="-298450" lvl="0" marL="457200" rtl="0" algn="l">
              <a:lnSpc>
                <a:spcPct val="115000"/>
              </a:lnSpc>
              <a:spcBef>
                <a:spcPts val="0"/>
              </a:spcBef>
              <a:spcAft>
                <a:spcPts val="0"/>
              </a:spcAft>
              <a:buClr>
                <a:schemeClr val="dk1"/>
              </a:buClr>
              <a:buSzPts val="1100"/>
              <a:buChar char="-"/>
            </a:pPr>
            <a:r>
              <a:rPr i="1" lang="en" sz="1100">
                <a:solidFill>
                  <a:schemeClr val="dk1"/>
                </a:solidFill>
              </a:rPr>
              <a:t>This shows "Ethnic Tension." The Church didn't ignore the problem; they created a structure (the Diaconate) to ensure justice. Unity requires active work and organization.</a:t>
            </a:r>
            <a:endParaRPr i="1" sz="1100">
              <a:solidFill>
                <a:schemeClr val="dk1"/>
              </a:solidFill>
            </a:endParaRPr>
          </a:p>
          <a:p>
            <a:pPr indent="0" lvl="0" marL="457200" rtl="0" algn="l">
              <a:lnSpc>
                <a:spcPct val="115000"/>
              </a:lnSpc>
              <a:spcBef>
                <a:spcPts val="1200"/>
              </a:spcBef>
              <a:spcAft>
                <a:spcPts val="1200"/>
              </a:spcAft>
              <a:buNone/>
            </a:pPr>
            <a:r>
              <a:t/>
            </a:r>
            <a:endParaRPr i="1"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Doctrine of Unity (The Jerusalem Council)</a:t>
            </a:r>
            <a:endParaRPr/>
          </a:p>
        </p:txBody>
      </p:sp>
      <p:sp>
        <p:nvSpPr>
          <p:cNvPr id="150" name="Google Shape;150;p26"/>
          <p:cNvSpPr txBox="1"/>
          <p:nvPr>
            <p:ph idx="1" type="body"/>
          </p:nvPr>
        </p:nvSpPr>
        <p:spPr>
          <a:xfrm>
            <a:off x="311700" y="1152475"/>
            <a:ext cx="45633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Clr>
                <a:schemeClr val="dk1"/>
              </a:buClr>
              <a:buSzPct val="56272"/>
              <a:buFont typeface="Arial"/>
              <a:buNone/>
            </a:pPr>
            <a:r>
              <a:rPr b="1" lang="en" sz="1955">
                <a:solidFill>
                  <a:schemeClr val="dk1"/>
                </a:solidFill>
              </a:rPr>
              <a:t>Acts 15</a:t>
            </a:r>
            <a:r>
              <a:rPr lang="en" sz="1955">
                <a:solidFill>
                  <a:schemeClr val="dk1"/>
                </a:solidFill>
              </a:rPr>
              <a:t> is the most significant leadership dispute in the New Testament: Do Gentiles have to become Jews (follow the Law of Moses) to be saved?</a:t>
            </a:r>
            <a:endParaRPr sz="1955">
              <a:solidFill>
                <a:schemeClr val="dk1"/>
              </a:solidFill>
            </a:endParaRPr>
          </a:p>
          <a:p>
            <a:pPr indent="-324800" lvl="0" marL="457200" rtl="0" algn="l">
              <a:spcBef>
                <a:spcPts val="1200"/>
              </a:spcBef>
              <a:spcAft>
                <a:spcPts val="0"/>
              </a:spcAft>
              <a:buClr>
                <a:schemeClr val="dk1"/>
              </a:buClr>
              <a:buSzPct val="100000"/>
              <a:buChar char="●"/>
            </a:pPr>
            <a:r>
              <a:rPr b="1" lang="en" sz="1955">
                <a:solidFill>
                  <a:schemeClr val="dk1"/>
                </a:solidFill>
              </a:rPr>
              <a:t>The Issue:</a:t>
            </a:r>
            <a:r>
              <a:rPr lang="en" sz="1955">
                <a:solidFill>
                  <a:schemeClr val="dk1"/>
                </a:solidFill>
              </a:rPr>
              <a:t> Legalism vs. Grace.</a:t>
            </a:r>
            <a:endParaRPr sz="1955">
              <a:solidFill>
                <a:schemeClr val="dk1"/>
              </a:solidFill>
            </a:endParaRPr>
          </a:p>
          <a:p>
            <a:pPr indent="-324800" lvl="0" marL="457200" rtl="0" algn="l">
              <a:spcBef>
                <a:spcPts val="0"/>
              </a:spcBef>
              <a:spcAft>
                <a:spcPts val="0"/>
              </a:spcAft>
              <a:buClr>
                <a:schemeClr val="dk1"/>
              </a:buClr>
              <a:buSzPct val="100000"/>
              <a:buChar char="●"/>
            </a:pPr>
            <a:r>
              <a:rPr b="1" lang="en" sz="1955">
                <a:solidFill>
                  <a:schemeClr val="dk1"/>
                </a:solidFill>
              </a:rPr>
              <a:t>The Solution:</a:t>
            </a:r>
            <a:r>
              <a:rPr lang="en" sz="1955">
                <a:solidFill>
                  <a:schemeClr val="dk1"/>
                </a:solidFill>
              </a:rPr>
              <a:t> The Council met, debated, and listened to the Holy Spirit. They landed on a "middle way"—Gentiles were free from the Law, but asked to respect certain traditions to maintain fellowship with Jewish believers.</a:t>
            </a:r>
            <a:endParaRPr sz="1955">
              <a:solidFill>
                <a:schemeClr val="dk1"/>
              </a:solidFill>
            </a:endParaRPr>
          </a:p>
          <a:p>
            <a:pPr indent="-324800" lvl="0" marL="457200" rtl="0" algn="l">
              <a:spcBef>
                <a:spcPts val="0"/>
              </a:spcBef>
              <a:spcAft>
                <a:spcPts val="0"/>
              </a:spcAft>
              <a:buClr>
                <a:schemeClr val="dk1"/>
              </a:buClr>
              <a:buSzPct val="100000"/>
              <a:buChar char="●"/>
            </a:pPr>
            <a:r>
              <a:rPr b="1" lang="en" sz="1955">
                <a:solidFill>
                  <a:schemeClr val="dk1"/>
                </a:solidFill>
              </a:rPr>
              <a:t>The Lesson:</a:t>
            </a:r>
            <a:r>
              <a:rPr lang="en" sz="1955">
                <a:solidFill>
                  <a:schemeClr val="dk1"/>
                </a:solidFill>
              </a:rPr>
              <a:t> Unity is not </a:t>
            </a:r>
            <a:r>
              <a:rPr b="1" lang="en" sz="1955">
                <a:solidFill>
                  <a:schemeClr val="dk1"/>
                </a:solidFill>
              </a:rPr>
              <a:t>Uniformity</a:t>
            </a:r>
            <a:r>
              <a:rPr lang="en" sz="1955">
                <a:solidFill>
                  <a:schemeClr val="dk1"/>
                </a:solidFill>
              </a:rPr>
              <a:t>. It is "Unity without compromising Truth."</a:t>
            </a:r>
            <a:endParaRPr sz="1955">
              <a:solidFill>
                <a:schemeClr val="dk1"/>
              </a:solidFill>
            </a:endParaRPr>
          </a:p>
          <a:p>
            <a:pPr indent="0" lvl="0" marL="0" rtl="0" algn="l">
              <a:spcBef>
                <a:spcPts val="1200"/>
              </a:spcBef>
              <a:spcAft>
                <a:spcPts val="1200"/>
              </a:spcAft>
              <a:buNone/>
            </a:pPr>
            <a:r>
              <a:t/>
            </a:r>
            <a:endParaRPr/>
          </a:p>
        </p:txBody>
      </p:sp>
      <p:sp>
        <p:nvSpPr>
          <p:cNvPr id="151" name="Google Shape;151;p26"/>
          <p:cNvSpPr txBox="1"/>
          <p:nvPr/>
        </p:nvSpPr>
        <p:spPr>
          <a:xfrm>
            <a:off x="5567800" y="1017725"/>
            <a:ext cx="3498300" cy="381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This was the Church's first "Constitutional Crisis." The question: Do you have to </a:t>
            </a:r>
            <a:r>
              <a:rPr i="1" lang="en" sz="1100">
                <a:solidFill>
                  <a:schemeClr val="dk1"/>
                </a:solidFill>
              </a:rPr>
              <a:t>act</a:t>
            </a:r>
            <a:r>
              <a:rPr lang="en" sz="1100">
                <a:solidFill>
                  <a:schemeClr val="dk1"/>
                </a:solidFill>
              </a:rPr>
              <a:t> like a Jew to </a:t>
            </a:r>
            <a:r>
              <a:rPr i="1" lang="en" sz="1100">
                <a:solidFill>
                  <a:schemeClr val="dk1"/>
                </a:solidFill>
              </a:rPr>
              <a:t>be</a:t>
            </a:r>
            <a:r>
              <a:rPr lang="en" sz="1100">
                <a:solidFill>
                  <a:schemeClr val="dk1"/>
                </a:solidFill>
              </a:rPr>
              <a:t> a Christian?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The Conflict:</a:t>
            </a:r>
            <a:r>
              <a:rPr lang="en" sz="1100">
                <a:solidFill>
                  <a:schemeClr val="dk1"/>
                </a:solidFill>
              </a:rPr>
              <a:t> Legalists (The Circumcision Party) argued that tradition and law were the only way to God. Paul and Barnabas argued that the </a:t>
            </a:r>
            <a:r>
              <a:rPr i="1" lang="en" sz="1100">
                <a:solidFill>
                  <a:schemeClr val="dk1"/>
                </a:solidFill>
              </a:rPr>
              <a:t>grace</a:t>
            </a:r>
            <a:r>
              <a:rPr lang="en" sz="1100">
                <a:solidFill>
                  <a:schemeClr val="dk1"/>
                </a:solidFill>
              </a:rPr>
              <a:t> of the Holy Spirit was sufficient.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The Compromise:</a:t>
            </a:r>
            <a:r>
              <a:rPr lang="en" sz="1100">
                <a:solidFill>
                  <a:schemeClr val="dk1"/>
                </a:solidFill>
              </a:rPr>
              <a:t> Acts 15:28 contains the famous line: </a:t>
            </a:r>
            <a:r>
              <a:rPr i="1" lang="en" sz="1100">
                <a:solidFill>
                  <a:schemeClr val="dk1"/>
                </a:solidFill>
              </a:rPr>
              <a:t>"It seemed good to the Holy Spirit and to us..."</a:t>
            </a:r>
            <a:r>
              <a:rPr lang="en" sz="1100">
                <a:solidFill>
                  <a:schemeClr val="dk1"/>
                </a:solidFill>
              </a:rPr>
              <a:t> They decided that the core Truth (Salvation by Grace) could not be compromised, but for the sake of </a:t>
            </a:r>
            <a:r>
              <a:rPr b="1" lang="en" sz="1100">
                <a:solidFill>
                  <a:schemeClr val="dk1"/>
                </a:solidFill>
              </a:rPr>
              <a:t>Fellowship</a:t>
            </a:r>
            <a:r>
              <a:rPr lang="en" sz="1100">
                <a:solidFill>
                  <a:schemeClr val="dk1"/>
                </a:solidFill>
              </a:rPr>
              <a:t>, Gentiles should respect certain Jewish dietary/moral laws.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The Takeaway:</a:t>
            </a:r>
            <a:r>
              <a:rPr lang="en" sz="1100">
                <a:solidFill>
                  <a:schemeClr val="dk1"/>
                </a:solidFill>
              </a:rPr>
              <a:t> Unity is not </a:t>
            </a:r>
            <a:r>
              <a:rPr b="1" lang="en" sz="1100">
                <a:solidFill>
                  <a:schemeClr val="dk1"/>
                </a:solidFill>
              </a:rPr>
              <a:t>Uniformity</a:t>
            </a:r>
            <a:r>
              <a:rPr lang="en" sz="1100">
                <a:solidFill>
                  <a:schemeClr val="dk1"/>
                </a:solidFill>
              </a:rPr>
              <a:t>. You don't have to lose your culture, but you must share a common life and common boundaries.</a:t>
            </a:r>
            <a:endParaRPr sz="11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51085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Apostolic Pattern: How We Grow</a:t>
            </a:r>
            <a:endParaRPr/>
          </a:p>
        </p:txBody>
      </p:sp>
      <p:sp>
        <p:nvSpPr>
          <p:cNvPr id="157" name="Google Shape;157;p27"/>
          <p:cNvSpPr txBox="1"/>
          <p:nvPr>
            <p:ph idx="1" type="body"/>
          </p:nvPr>
        </p:nvSpPr>
        <p:spPr>
          <a:xfrm>
            <a:off x="311700" y="1152475"/>
            <a:ext cx="5766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The Cycle of Healing:</a:t>
            </a:r>
            <a:r>
              <a:rPr lang="en" sz="1500">
                <a:solidFill>
                  <a:schemeClr val="dk1"/>
                </a:solidFill>
              </a:rPr>
              <a:t> 1. Preaching → 2. Repentance → 3. Baptism → 4. Joining the Life → 5. Trial → 6. Multiplication.</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Orthodox Synergy:</a:t>
            </a:r>
            <a:r>
              <a:rPr lang="en" sz="1500">
                <a:solidFill>
                  <a:schemeClr val="dk1"/>
                </a:solidFill>
              </a:rPr>
              <a:t> We do not just "believe" with our heads; we "walk" in the Spirit with our whole bodies through fasting, prayer, and the sacraments.</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A Way of Life:</a:t>
            </a:r>
            <a:r>
              <a:rPr lang="en" sz="1500">
                <a:solidFill>
                  <a:schemeClr val="dk1"/>
                </a:solidFill>
              </a:rPr>
              <a:t> Christianity is "physical therapy" for the soul. It requires our active participation to see results.</a:t>
            </a:r>
            <a:endParaRPr sz="1500">
              <a:solidFill>
                <a:schemeClr val="dk1"/>
              </a:solidFill>
            </a:endParaRPr>
          </a:p>
          <a:p>
            <a:pPr indent="0" lvl="0" marL="0" rtl="0" algn="l">
              <a:spcBef>
                <a:spcPts val="1200"/>
              </a:spcBef>
              <a:spcAft>
                <a:spcPts val="1200"/>
              </a:spcAft>
              <a:buNone/>
            </a:pPr>
            <a:r>
              <a:rPr b="1" lang="en" sz="1500">
                <a:solidFill>
                  <a:schemeClr val="dk1"/>
                </a:solidFill>
              </a:rPr>
              <a:t>The Goal:</a:t>
            </a:r>
            <a:r>
              <a:rPr lang="en" sz="1500">
                <a:solidFill>
                  <a:schemeClr val="dk1"/>
                </a:solidFill>
              </a:rPr>
              <a:t> We don't just want to be "forgiven" patients; we want to be "transformed" witnesses who help heal others.</a:t>
            </a:r>
            <a:endParaRPr b="1" sz="1100">
              <a:solidFill>
                <a:schemeClr val="dk1"/>
              </a:solidFill>
            </a:endParaRPr>
          </a:p>
        </p:txBody>
      </p:sp>
      <p:sp>
        <p:nvSpPr>
          <p:cNvPr id="158" name="Google Shape;158;p27"/>
          <p:cNvSpPr txBox="1"/>
          <p:nvPr/>
        </p:nvSpPr>
        <p:spPr>
          <a:xfrm>
            <a:off x="5979500" y="1152475"/>
            <a:ext cx="3000000" cy="299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The Prescription (Acts 2:38):</a:t>
            </a:r>
            <a:endParaRPr b="1" sz="1100">
              <a:solidFill>
                <a:schemeClr val="dk1"/>
              </a:solidFill>
            </a:endParaRPr>
          </a:p>
          <a:p>
            <a:pPr indent="0" lvl="0" marL="381000" marR="381000" rtl="0" algn="l">
              <a:lnSpc>
                <a:spcPct val="115000"/>
              </a:lnSpc>
              <a:spcBef>
                <a:spcPts val="1200"/>
              </a:spcBef>
              <a:spcAft>
                <a:spcPts val="0"/>
              </a:spcAft>
              <a:buNone/>
            </a:pPr>
            <a:r>
              <a:rPr i="1" lang="en" sz="1100">
                <a:solidFill>
                  <a:schemeClr val="dk1"/>
                </a:solidFill>
              </a:rPr>
              <a:t>"Then Peter said to them, 'Repent, and let every one of you be baptized in the name of Jesus Christ for the remission of sins; and you shall receive the gift of the Holy Spirit.'"</a:t>
            </a:r>
            <a:endParaRPr i="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How it connects:</a:t>
            </a:r>
            <a:r>
              <a:rPr lang="en" sz="1100">
                <a:solidFill>
                  <a:schemeClr val="dk1"/>
                </a:solidFill>
              </a:rPr>
              <a:t> This is the start of the </a:t>
            </a:r>
            <a:r>
              <a:rPr b="1" lang="en" sz="1100">
                <a:solidFill>
                  <a:schemeClr val="dk1"/>
                </a:solidFill>
              </a:rPr>
              <a:t>Cycle of Healing</a:t>
            </a:r>
            <a:r>
              <a:rPr lang="en" sz="1100">
                <a:solidFill>
                  <a:schemeClr val="dk1"/>
                </a:solidFill>
              </a:rPr>
              <a:t>. It begins with a change of mind (Repentance) and a physical washing (Baptism). You don't just "feel" better; you enter the treatment room.</a:t>
            </a:r>
            <a:endParaRPr sz="1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536850" y="462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 Paul: The Persecutor Transformed</a:t>
            </a:r>
            <a:endParaRPr/>
          </a:p>
        </p:txBody>
      </p:sp>
      <p:sp>
        <p:nvSpPr>
          <p:cNvPr id="164" name="Google Shape;164;p28"/>
          <p:cNvSpPr txBox="1"/>
          <p:nvPr>
            <p:ph idx="1" type="body"/>
          </p:nvPr>
        </p:nvSpPr>
        <p:spPr>
          <a:xfrm>
            <a:off x="311700" y="1152475"/>
            <a:ext cx="5385900" cy="3416400"/>
          </a:xfrm>
          <a:prstGeom prst="rect">
            <a:avLst/>
          </a:prstGeom>
        </p:spPr>
        <p:txBody>
          <a:bodyPr anchorCtr="0" anchor="t" bIns="91425" lIns="91425" spcFirstLastPara="1" rIns="91425" wrap="square" tIns="91425">
            <a:normAutofit lnSpcReduction="20000"/>
          </a:bodyPr>
          <a:lstStyle/>
          <a:p>
            <a:pPr indent="0" lvl="0" marL="457200" rtl="0" algn="l">
              <a:spcBef>
                <a:spcPts val="1200"/>
              </a:spcBef>
              <a:spcAft>
                <a:spcPts val="0"/>
              </a:spcAft>
              <a:buNone/>
            </a:pPr>
            <a:r>
              <a:rPr lang="en" sz="1508">
                <a:solidFill>
                  <a:schemeClr val="dk1"/>
                </a:solidFill>
              </a:rPr>
              <a:t>Paul’s conversion proves that the Holy Spirit can heal even the deepest "infection" of the soul.</a:t>
            </a:r>
            <a:endParaRPr sz="1508">
              <a:solidFill>
                <a:schemeClr val="dk1"/>
              </a:solidFill>
            </a:endParaRPr>
          </a:p>
          <a:p>
            <a:pPr indent="-324365" lvl="0" marL="457200" rtl="0" algn="l">
              <a:spcBef>
                <a:spcPts val="1200"/>
              </a:spcBef>
              <a:spcAft>
                <a:spcPts val="0"/>
              </a:spcAft>
              <a:buClr>
                <a:schemeClr val="dk1"/>
              </a:buClr>
              <a:buSzPts val="1508"/>
              <a:buChar char="●"/>
            </a:pPr>
            <a:r>
              <a:rPr b="1" lang="en" sz="1508">
                <a:solidFill>
                  <a:schemeClr val="dk1"/>
                </a:solidFill>
              </a:rPr>
              <a:t>The Instrument:</a:t>
            </a:r>
            <a:r>
              <a:rPr lang="en" sz="1508">
                <a:solidFill>
                  <a:schemeClr val="dk1"/>
                </a:solidFill>
              </a:rPr>
              <a:t> Saul the Persecutor becomes Paul the Apostle—transformed from an enemy of the Church to its greatest "Planter" and "Architect."</a:t>
            </a:r>
            <a:br>
              <a:rPr lang="en" sz="1508">
                <a:solidFill>
                  <a:schemeClr val="dk1"/>
                </a:solidFill>
              </a:rPr>
            </a:br>
            <a:endParaRPr sz="1508">
              <a:solidFill>
                <a:schemeClr val="dk1"/>
              </a:solidFill>
            </a:endParaRPr>
          </a:p>
          <a:p>
            <a:pPr indent="-324365" lvl="0" marL="457200" rtl="0" algn="l">
              <a:spcBef>
                <a:spcPts val="0"/>
              </a:spcBef>
              <a:spcAft>
                <a:spcPts val="0"/>
              </a:spcAft>
              <a:buClr>
                <a:schemeClr val="dk1"/>
              </a:buClr>
              <a:buSzPts val="1508"/>
              <a:buChar char="●"/>
            </a:pPr>
            <a:r>
              <a:rPr b="1" lang="en" sz="1508">
                <a:solidFill>
                  <a:schemeClr val="dk1"/>
                </a:solidFill>
              </a:rPr>
              <a:t>The Lesson:</a:t>
            </a:r>
            <a:r>
              <a:rPr lang="en" sz="1508">
                <a:solidFill>
                  <a:schemeClr val="dk1"/>
                </a:solidFill>
              </a:rPr>
              <a:t> No one is beyond the reach of God’s Grace. If the most "unhealable" patient can become a doctor, there is hope for everyone.</a:t>
            </a:r>
            <a:br>
              <a:rPr lang="en" sz="1508">
                <a:solidFill>
                  <a:schemeClr val="dk1"/>
                </a:solidFill>
              </a:rPr>
            </a:br>
            <a:endParaRPr sz="1508">
              <a:solidFill>
                <a:schemeClr val="dk1"/>
              </a:solidFill>
            </a:endParaRPr>
          </a:p>
          <a:p>
            <a:pPr indent="-324365" lvl="0" marL="457200" rtl="0" algn="l">
              <a:spcBef>
                <a:spcPts val="0"/>
              </a:spcBef>
              <a:spcAft>
                <a:spcPts val="0"/>
              </a:spcAft>
              <a:buClr>
                <a:schemeClr val="dk1"/>
              </a:buClr>
              <a:buSzPts val="1508"/>
              <a:buChar char="●"/>
            </a:pPr>
            <a:r>
              <a:rPr b="1" lang="en" sz="1508">
                <a:solidFill>
                  <a:schemeClr val="dk1"/>
                </a:solidFill>
              </a:rPr>
              <a:t>Transformation:</a:t>
            </a:r>
            <a:r>
              <a:rPr lang="en" sz="1508">
                <a:solidFill>
                  <a:schemeClr val="dk1"/>
                </a:solidFill>
              </a:rPr>
              <a:t> Conversion is not just a change of mind; it is a total "re-wiring" of the person by the Holy Spirit.</a:t>
            </a:r>
            <a:endParaRPr/>
          </a:p>
        </p:txBody>
      </p:sp>
      <p:sp>
        <p:nvSpPr>
          <p:cNvPr id="165" name="Google Shape;165;p28"/>
          <p:cNvSpPr txBox="1"/>
          <p:nvPr/>
        </p:nvSpPr>
        <p:spPr>
          <a:xfrm>
            <a:off x="5936175" y="1333500"/>
            <a:ext cx="3000000" cy="280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The Chosen Instrument (Acts 9:15):</a:t>
            </a:r>
            <a:endParaRPr b="1" sz="1100">
              <a:solidFill>
                <a:schemeClr val="dk1"/>
              </a:solidFill>
            </a:endParaRPr>
          </a:p>
          <a:p>
            <a:pPr indent="0" lvl="0" marL="381000" marR="381000" rtl="0" algn="l">
              <a:lnSpc>
                <a:spcPct val="115000"/>
              </a:lnSpc>
              <a:spcBef>
                <a:spcPts val="1200"/>
              </a:spcBef>
              <a:spcAft>
                <a:spcPts val="0"/>
              </a:spcAft>
              <a:buNone/>
            </a:pPr>
            <a:r>
              <a:rPr i="1" lang="en" sz="1100">
                <a:solidFill>
                  <a:schemeClr val="dk1"/>
                </a:solidFill>
              </a:rPr>
              <a:t>"But the Lord said to him, 'Go, for he is a chosen vessel of Mine to bear My name before Gentiles, kings, and the children of Israel.'"</a:t>
            </a:r>
            <a:endParaRPr i="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How it connects:</a:t>
            </a:r>
            <a:r>
              <a:rPr lang="en" sz="1100">
                <a:solidFill>
                  <a:schemeClr val="dk1"/>
                </a:solidFill>
              </a:rPr>
              <a:t> This is </a:t>
            </a:r>
            <a:r>
              <a:rPr b="1" lang="en" sz="1100">
                <a:solidFill>
                  <a:schemeClr val="dk1"/>
                </a:solidFill>
              </a:rPr>
              <a:t>The Instrument</a:t>
            </a:r>
            <a:r>
              <a:rPr lang="en" sz="1100">
                <a:solidFill>
                  <a:schemeClr val="dk1"/>
                </a:solidFill>
              </a:rPr>
              <a:t>. God doesn't just forgive Saul; He "weaponizes" his zeal for the Gospel. He becomes the "Architect" who will build the very "Hospitals" (churches) he once tried to tear down.</a:t>
            </a:r>
            <a:endParaRPr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6234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Acts 15: The Jerusalem Council</a:t>
            </a:r>
            <a:endParaRPr/>
          </a:p>
        </p:txBody>
      </p:sp>
      <p:sp>
        <p:nvSpPr>
          <p:cNvPr id="171" name="Google Shape;171;p29"/>
          <p:cNvSpPr txBox="1"/>
          <p:nvPr>
            <p:ph idx="1" type="body"/>
          </p:nvPr>
        </p:nvSpPr>
        <p:spPr>
          <a:xfrm>
            <a:off x="311700" y="1152475"/>
            <a:ext cx="54465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n" sz="1400">
                <a:solidFill>
                  <a:schemeClr val="dk1"/>
                </a:solidFill>
              </a:rPr>
              <a:t>The Blueprint for Truth:</a:t>
            </a:r>
            <a:r>
              <a:rPr lang="en" sz="1400">
                <a:solidFill>
                  <a:schemeClr val="dk1"/>
                </a:solidFill>
              </a:rPr>
              <a:t> When conflict or confusion arises, the Church does not rely on "private interpretation" but meets in Council (Synod).</a:t>
            </a:r>
            <a:endParaRPr sz="1400">
              <a:solidFill>
                <a:schemeClr val="dk1"/>
              </a:solidFill>
            </a:endParaRPr>
          </a:p>
          <a:p>
            <a:pPr indent="0" lvl="0" marL="0" rtl="0" algn="l">
              <a:lnSpc>
                <a:spcPct val="95000"/>
              </a:lnSpc>
              <a:spcBef>
                <a:spcPts val="1200"/>
              </a:spcBef>
              <a:spcAft>
                <a:spcPts val="0"/>
              </a:spcAft>
              <a:buNone/>
            </a:pPr>
            <a:r>
              <a:rPr b="1" lang="en" sz="1400">
                <a:solidFill>
                  <a:schemeClr val="dk1"/>
                </a:solidFill>
              </a:rPr>
              <a:t>Apostolic Authority:</a:t>
            </a:r>
            <a:r>
              <a:rPr lang="en" sz="1400">
                <a:solidFill>
                  <a:schemeClr val="dk1"/>
                </a:solidFill>
              </a:rPr>
              <a:t> The Apostles and Elders do not vote based on politics; they discern the will of the Spirit together as one body.</a:t>
            </a:r>
            <a:endParaRPr sz="1400">
              <a:solidFill>
                <a:schemeClr val="dk1"/>
              </a:solidFill>
            </a:endParaRPr>
          </a:p>
          <a:p>
            <a:pPr indent="0" lvl="0" marL="0" rtl="0" algn="l">
              <a:lnSpc>
                <a:spcPct val="95000"/>
              </a:lnSpc>
              <a:spcBef>
                <a:spcPts val="1200"/>
              </a:spcBef>
              <a:spcAft>
                <a:spcPts val="0"/>
              </a:spcAft>
              <a:buNone/>
            </a:pPr>
            <a:r>
              <a:rPr b="1" lang="en" sz="1400">
                <a:solidFill>
                  <a:schemeClr val="dk1"/>
                </a:solidFill>
              </a:rPr>
              <a:t>The Canon:</a:t>
            </a:r>
            <a:r>
              <a:rPr lang="en" sz="1400">
                <a:solidFill>
                  <a:schemeClr val="dk1"/>
                </a:solidFill>
              </a:rPr>
              <a:t> The Council established the "Rule of Life" (Canon). These rules act like a protective fence around the "Heart" (Dogma) of our faith.</a:t>
            </a:r>
            <a:endParaRPr sz="1400">
              <a:solidFill>
                <a:schemeClr val="dk1"/>
              </a:solidFill>
            </a:endParaRPr>
          </a:p>
          <a:p>
            <a:pPr indent="0" lvl="0" marL="0" rtl="0" algn="l">
              <a:lnSpc>
                <a:spcPct val="95000"/>
              </a:lnSpc>
              <a:spcBef>
                <a:spcPts val="1200"/>
              </a:spcBef>
              <a:spcAft>
                <a:spcPts val="0"/>
              </a:spcAft>
              <a:buNone/>
            </a:pPr>
            <a:r>
              <a:rPr b="1" lang="en" sz="1400">
                <a:solidFill>
                  <a:schemeClr val="dk1"/>
                </a:solidFill>
              </a:rPr>
              <a:t>The Lesson:</a:t>
            </a:r>
            <a:r>
              <a:rPr lang="en" sz="1400">
                <a:solidFill>
                  <a:schemeClr val="dk1"/>
                </a:solidFill>
              </a:rPr>
              <a:t> Truth is found within the community of the Church, not in isolation. We stay healthy by staying obedient to the Apostolic decrees.</a:t>
            </a:r>
            <a:endParaRPr sz="1400">
              <a:solidFill>
                <a:schemeClr val="dk1"/>
              </a:solidFill>
            </a:endParaRPr>
          </a:p>
          <a:p>
            <a:pPr indent="0" lvl="0" marL="0" rtl="0" algn="l">
              <a:lnSpc>
                <a:spcPct val="95000"/>
              </a:lnSpc>
              <a:spcBef>
                <a:spcPts val="1200"/>
              </a:spcBef>
              <a:spcAft>
                <a:spcPts val="0"/>
              </a:spcAft>
              <a:buClr>
                <a:schemeClr val="dk1"/>
              </a:buClr>
              <a:buSzPts val="1100"/>
              <a:buFont typeface="Arial"/>
              <a:buNone/>
            </a:pPr>
            <a:br>
              <a:rPr lang="en" sz="1400">
                <a:solidFill>
                  <a:schemeClr val="dk1"/>
                </a:solidFill>
              </a:rPr>
            </a:br>
            <a:endParaRPr sz="1400">
              <a:solidFill>
                <a:schemeClr val="dk1"/>
              </a:solidFill>
            </a:endParaRPr>
          </a:p>
          <a:p>
            <a:pPr indent="0" lvl="0" marL="0" rtl="0" algn="l">
              <a:lnSpc>
                <a:spcPct val="95000"/>
              </a:lnSpc>
              <a:spcBef>
                <a:spcPts val="1200"/>
              </a:spcBef>
              <a:spcAft>
                <a:spcPts val="1200"/>
              </a:spcAft>
              <a:buNone/>
            </a:pPr>
            <a:r>
              <a:t/>
            </a:r>
            <a:endParaRPr/>
          </a:p>
        </p:txBody>
      </p:sp>
      <p:sp>
        <p:nvSpPr>
          <p:cNvPr id="172" name="Google Shape;172;p29"/>
          <p:cNvSpPr txBox="1"/>
          <p:nvPr/>
        </p:nvSpPr>
        <p:spPr>
          <a:xfrm>
            <a:off x="5966100" y="1169850"/>
            <a:ext cx="3000000" cy="280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The Guarding of the Heart (Acts 16:4):</a:t>
            </a:r>
            <a:endParaRPr b="1" sz="1100">
              <a:solidFill>
                <a:schemeClr val="dk1"/>
              </a:solidFill>
            </a:endParaRPr>
          </a:p>
          <a:p>
            <a:pPr indent="0" lvl="0" marL="381000" marR="381000" rtl="0" algn="l">
              <a:lnSpc>
                <a:spcPct val="115000"/>
              </a:lnSpc>
              <a:spcBef>
                <a:spcPts val="1200"/>
              </a:spcBef>
              <a:spcAft>
                <a:spcPts val="0"/>
              </a:spcAft>
              <a:buNone/>
            </a:pPr>
            <a:r>
              <a:rPr i="1" lang="en" sz="1100">
                <a:solidFill>
                  <a:schemeClr val="dk1"/>
                </a:solidFill>
              </a:rPr>
              <a:t>"And as they went through the cities, they delivered to them the decrees to keep, which were determined by the apostles and elders at Jerusalem."</a:t>
            </a:r>
            <a:endParaRPr i="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How it connects:</a:t>
            </a:r>
            <a:r>
              <a:rPr lang="en" sz="1100">
                <a:solidFill>
                  <a:schemeClr val="dk1"/>
                </a:solidFill>
              </a:rPr>
              <a:t> This represents </a:t>
            </a:r>
            <a:r>
              <a:rPr b="1" lang="en" sz="1100">
                <a:solidFill>
                  <a:schemeClr val="dk1"/>
                </a:solidFill>
              </a:rPr>
              <a:t>The Canon</a:t>
            </a:r>
            <a:r>
              <a:rPr lang="en" sz="1100">
                <a:solidFill>
                  <a:schemeClr val="dk1"/>
                </a:solidFill>
              </a:rPr>
              <a:t>. Once the Council spoke, it became the "Rule of Life" for all churches. It protected the "Heart" (the Dogma of salvation by Grace) from the "infection" of legalism.</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6234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Oriental Orthodox Perspectives: 3 Anchors</a:t>
            </a:r>
            <a:endParaRPr/>
          </a:p>
        </p:txBody>
      </p:sp>
      <p:sp>
        <p:nvSpPr>
          <p:cNvPr id="178" name="Google Shape;178;p30"/>
          <p:cNvSpPr txBox="1"/>
          <p:nvPr>
            <p:ph idx="1" type="body"/>
          </p:nvPr>
        </p:nvSpPr>
        <p:spPr>
          <a:xfrm>
            <a:off x="311700" y="1152475"/>
            <a:ext cx="4857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solidFill>
                  <a:schemeClr val="dk1"/>
                </a:solidFill>
              </a:rPr>
              <a:t>1. The Living Body:</a:t>
            </a:r>
            <a:r>
              <a:rPr lang="en" sz="1300">
                <a:solidFill>
                  <a:schemeClr val="dk1"/>
                </a:solidFill>
              </a:rPr>
              <a:t> The Church is an organic union, not a social club. Through </a:t>
            </a:r>
            <a:r>
              <a:rPr b="1" lang="en" sz="1300">
                <a:solidFill>
                  <a:schemeClr val="dk1"/>
                </a:solidFill>
              </a:rPr>
              <a:t>Apostolic Succession</a:t>
            </a:r>
            <a:r>
              <a:rPr lang="en" sz="1300">
                <a:solidFill>
                  <a:schemeClr val="dk1"/>
                </a:solidFill>
              </a:rPr>
              <a:t>, we are physically and spiritually connected back to the Upper Room.</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2. Grace as Power (Tsega):</a:t>
            </a:r>
            <a:r>
              <a:rPr lang="en" sz="1300">
                <a:solidFill>
                  <a:schemeClr val="dk1"/>
                </a:solidFill>
              </a:rPr>
              <a:t> Grace is the "Divine Energy" that allows for </a:t>
            </a:r>
            <a:r>
              <a:rPr b="1" lang="en" sz="1300">
                <a:solidFill>
                  <a:schemeClr val="dk1"/>
                </a:solidFill>
              </a:rPr>
              <a:t>Theosis</a:t>
            </a:r>
            <a:r>
              <a:rPr lang="en" sz="1300">
                <a:solidFill>
                  <a:schemeClr val="dk1"/>
                </a:solidFill>
              </a:rPr>
              <a:t>. It is the medicine that doesn't just mask the symptoms of sin but actually transforms the patient into the image of God.</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3. Spiritual Warfare:</a:t>
            </a:r>
            <a:r>
              <a:rPr lang="en" sz="1300">
                <a:solidFill>
                  <a:schemeClr val="dk1"/>
                </a:solidFill>
              </a:rPr>
              <a:t> Unity is not a natural human state; it is a gift. We must fight the "sickness" of division (pride, gossip, tribalism) to stay healthy in the Spirit.</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The Anchor:</a:t>
            </a:r>
            <a:r>
              <a:rPr lang="en" sz="1300">
                <a:solidFill>
                  <a:schemeClr val="dk1"/>
                </a:solidFill>
              </a:rPr>
              <a:t> These three truths keep the "Ship of the Church" steady even when the world is in a storm.</a:t>
            </a:r>
            <a:endParaRPr sz="1300">
              <a:solidFill>
                <a:schemeClr val="dk1"/>
              </a:solidFill>
            </a:endParaRPr>
          </a:p>
          <a:p>
            <a:pPr indent="0" lvl="0" marL="0" rtl="0" algn="l">
              <a:spcBef>
                <a:spcPts val="1200"/>
              </a:spcBef>
              <a:spcAft>
                <a:spcPts val="1200"/>
              </a:spcAft>
              <a:buNone/>
            </a:pPr>
            <a:r>
              <a:t/>
            </a:r>
            <a:endParaRPr sz="1300">
              <a:solidFill>
                <a:schemeClr val="dk1"/>
              </a:solidFill>
            </a:endParaRPr>
          </a:p>
        </p:txBody>
      </p:sp>
      <p:sp>
        <p:nvSpPr>
          <p:cNvPr id="179" name="Google Shape;179;p30"/>
          <p:cNvSpPr txBox="1"/>
          <p:nvPr/>
        </p:nvSpPr>
        <p:spPr>
          <a:xfrm>
            <a:off x="5537875" y="1264075"/>
            <a:ext cx="3000000" cy="319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The Living Body (1 Corinthians 12:27 / Acts 1:21–22):</a:t>
            </a:r>
            <a:endParaRPr b="1" sz="1100">
              <a:solidFill>
                <a:schemeClr val="dk1"/>
              </a:solidFill>
            </a:endParaRPr>
          </a:p>
          <a:p>
            <a:pPr indent="0" lvl="0" marL="381000" marR="381000" rtl="0" algn="l">
              <a:lnSpc>
                <a:spcPct val="115000"/>
              </a:lnSpc>
              <a:spcBef>
                <a:spcPts val="1200"/>
              </a:spcBef>
              <a:spcAft>
                <a:spcPts val="0"/>
              </a:spcAft>
              <a:buNone/>
            </a:pPr>
            <a:r>
              <a:rPr i="1" lang="en" sz="1100">
                <a:solidFill>
                  <a:schemeClr val="dk1"/>
                </a:solidFill>
              </a:rPr>
              <a:t>"Now you are the body of Christ, and members individually."</a:t>
            </a:r>
            <a:endParaRPr i="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How it connects:</a:t>
            </a:r>
            <a:r>
              <a:rPr lang="en" sz="1100">
                <a:solidFill>
                  <a:schemeClr val="dk1"/>
                </a:solidFill>
              </a:rPr>
              <a:t> In Acts, the Apostles chose a successor for Judas immediately. This shows that </a:t>
            </a:r>
            <a:r>
              <a:rPr b="1" lang="en" sz="1100">
                <a:solidFill>
                  <a:schemeClr val="dk1"/>
                </a:solidFill>
              </a:rPr>
              <a:t>Apostolic Succession</a:t>
            </a:r>
            <a:r>
              <a:rPr lang="en" sz="1100">
                <a:solidFill>
                  <a:schemeClr val="dk1"/>
                </a:solidFill>
              </a:rPr>
              <a:t> isn't about paperwork; it’s about keeping the "Life" of the Body continuous. The Church is a living organism where the Sacraments act as the "circulatory system," pumping the life of Christ to every member.</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55415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Closing: The Unfinished Book</a:t>
            </a:r>
            <a:endParaRPr/>
          </a:p>
        </p:txBody>
      </p:sp>
      <p:sp>
        <p:nvSpPr>
          <p:cNvPr id="185" name="Google Shape;185;p31"/>
          <p:cNvSpPr txBox="1"/>
          <p:nvPr>
            <p:ph idx="1" type="body"/>
          </p:nvPr>
        </p:nvSpPr>
        <p:spPr>
          <a:xfrm>
            <a:off x="311700" y="1152475"/>
            <a:ext cx="5065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The Open Ending:</a:t>
            </a:r>
            <a:r>
              <a:rPr lang="en" sz="1300">
                <a:solidFill>
                  <a:schemeClr val="dk1"/>
                </a:solidFill>
              </a:rPr>
              <a:t> Acts ends abruptly because the mission is not over. The "Acts of the Spirit" continue today through the Sacraments and service of the Orthodox Church.</a:t>
            </a:r>
            <a:endParaRPr sz="1300">
              <a:solidFill>
                <a:schemeClr val="dk1"/>
              </a:solidFill>
            </a:endParaRPr>
          </a:p>
          <a:p>
            <a:pPr indent="0" lvl="0" marL="0" rtl="0" algn="l">
              <a:spcBef>
                <a:spcPts val="1200"/>
              </a:spcBef>
              <a:spcAft>
                <a:spcPts val="0"/>
              </a:spcAft>
              <a:buNone/>
            </a:pPr>
            <a:r>
              <a:rPr b="1" lang="en" sz="1300">
                <a:solidFill>
                  <a:schemeClr val="dk1"/>
                </a:solidFill>
              </a:rPr>
              <a:t>The Challenge:</a:t>
            </a:r>
            <a:r>
              <a:rPr lang="en" sz="1300">
                <a:solidFill>
                  <a:schemeClr val="dk1"/>
                </a:solidFill>
              </a:rPr>
              <a:t> We are the current </a:t>
            </a:r>
            <a:r>
              <a:rPr b="1" lang="en" sz="1300">
                <a:solidFill>
                  <a:schemeClr val="dk1"/>
                </a:solidFill>
              </a:rPr>
              <a:t>branches</a:t>
            </a:r>
            <a:r>
              <a:rPr lang="en" sz="1300">
                <a:solidFill>
                  <a:schemeClr val="dk1"/>
                </a:solidFill>
              </a:rPr>
              <a:t> grafted into the </a:t>
            </a:r>
            <a:r>
              <a:rPr b="1" lang="en" sz="1300">
                <a:solidFill>
                  <a:schemeClr val="dk1"/>
                </a:solidFill>
              </a:rPr>
              <a:t>Holy Root</a:t>
            </a:r>
            <a:r>
              <a:rPr lang="en" sz="1300">
                <a:solidFill>
                  <a:schemeClr val="dk1"/>
                </a:solidFill>
              </a:rPr>
              <a:t>. We share the same "Life Force" as Peter, Paul, and the Ethiopian Eunuch.</a:t>
            </a:r>
            <a:endParaRPr sz="1300">
              <a:solidFill>
                <a:schemeClr val="dk1"/>
              </a:solidFill>
            </a:endParaRPr>
          </a:p>
          <a:p>
            <a:pPr indent="0" lvl="0" marL="0" rtl="0" algn="l">
              <a:spcBef>
                <a:spcPts val="1200"/>
              </a:spcBef>
              <a:spcAft>
                <a:spcPts val="0"/>
              </a:spcAft>
              <a:buNone/>
            </a:pPr>
            <a:r>
              <a:rPr b="1" lang="en" sz="1300">
                <a:solidFill>
                  <a:schemeClr val="dk1"/>
                </a:solidFill>
              </a:rPr>
              <a:t>Our Mission:</a:t>
            </a:r>
            <a:r>
              <a:rPr lang="en" sz="1300">
                <a:solidFill>
                  <a:schemeClr val="dk1"/>
                </a:solidFill>
              </a:rPr>
              <a:t> We are responsible for writing the "Acts of the 21st Century" through our faith and endurance.</a:t>
            </a:r>
            <a:endParaRPr sz="1300">
              <a:solidFill>
                <a:schemeClr val="dk1"/>
              </a:solidFill>
            </a:endParaRPr>
          </a:p>
          <a:p>
            <a:pPr indent="0" lvl="0" marL="0" rtl="0" algn="l">
              <a:spcBef>
                <a:spcPts val="1200"/>
              </a:spcBef>
              <a:spcAft>
                <a:spcPts val="0"/>
              </a:spcAft>
              <a:buNone/>
            </a:pPr>
            <a:r>
              <a:t/>
            </a:r>
            <a:endParaRPr sz="1300">
              <a:solidFill>
                <a:schemeClr val="dk1"/>
              </a:solidFill>
            </a:endParaRPr>
          </a:p>
          <a:p>
            <a:pPr indent="0" lvl="0" marL="0" rtl="0" algn="l">
              <a:spcBef>
                <a:spcPts val="1200"/>
              </a:spcBef>
              <a:spcAft>
                <a:spcPts val="0"/>
              </a:spcAft>
              <a:buNone/>
            </a:pPr>
            <a:r>
              <a:rPr b="1" lang="en" sz="1300">
                <a:solidFill>
                  <a:schemeClr val="dk1"/>
                </a:solidFill>
              </a:rPr>
              <a:t>Final Word:</a:t>
            </a:r>
            <a:r>
              <a:rPr lang="en" sz="1300">
                <a:solidFill>
                  <a:schemeClr val="dk1"/>
                </a:solidFill>
              </a:rPr>
              <a:t> "Accept one another, then, just as Christ accepted you, in order to bring praise to God" (</a:t>
            </a:r>
            <a:r>
              <a:rPr b="1" lang="en" sz="1300">
                <a:solidFill>
                  <a:schemeClr val="dk1"/>
                </a:solidFill>
              </a:rPr>
              <a:t>Romans 15:7</a:t>
            </a:r>
            <a:r>
              <a:rPr lang="en" sz="1300">
                <a:solidFill>
                  <a:schemeClr val="dk1"/>
                </a:solidFill>
              </a:rPr>
              <a:t>).</a:t>
            </a:r>
            <a:endParaRPr sz="1300">
              <a:solidFill>
                <a:schemeClr val="dk1"/>
              </a:solidFill>
            </a:endParaRPr>
          </a:p>
          <a:p>
            <a:pPr indent="0" lvl="0" marL="0" rtl="0" algn="l">
              <a:spcBef>
                <a:spcPts val="1200"/>
              </a:spcBef>
              <a:spcAft>
                <a:spcPts val="1200"/>
              </a:spcAft>
              <a:buNone/>
            </a:pPr>
            <a:r>
              <a:t/>
            </a:r>
            <a:endParaRPr b="1" sz="1300">
              <a:solidFill>
                <a:schemeClr val="dk1"/>
              </a:solidFill>
            </a:endParaRPr>
          </a:p>
        </p:txBody>
      </p:sp>
      <p:sp>
        <p:nvSpPr>
          <p:cNvPr id="186" name="Google Shape;186;p31"/>
          <p:cNvSpPr txBox="1"/>
          <p:nvPr/>
        </p:nvSpPr>
        <p:spPr>
          <a:xfrm>
            <a:off x="5602425" y="1627900"/>
            <a:ext cx="3000000" cy="237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chemeClr val="dk1"/>
                </a:solidFill>
              </a:rPr>
              <a:t>The Open Ending (Acts 28:30–31):</a:t>
            </a:r>
            <a:endParaRPr b="1" sz="1300">
              <a:solidFill>
                <a:schemeClr val="dk1"/>
              </a:solidFill>
            </a:endParaRPr>
          </a:p>
          <a:p>
            <a:pPr indent="0" lvl="0" marL="381000" marR="381000" rtl="0" algn="l">
              <a:lnSpc>
                <a:spcPct val="115000"/>
              </a:lnSpc>
              <a:spcBef>
                <a:spcPts val="1200"/>
              </a:spcBef>
              <a:spcAft>
                <a:spcPts val="1200"/>
              </a:spcAft>
              <a:buNone/>
            </a:pPr>
            <a:r>
              <a:rPr i="1" lang="en" sz="1300">
                <a:solidFill>
                  <a:schemeClr val="dk1"/>
                </a:solidFill>
              </a:rPr>
              <a:t>"Then Paul dwelt two whole years in his own rented house... preaching the kingdom of God and teaching the things which concern the Lord Jesus Christ with all confidence, no one forbidding him."</a:t>
            </a:r>
            <a:endParaRPr i="1" sz="13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