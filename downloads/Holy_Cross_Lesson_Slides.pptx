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jpe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Old Standard TT"/>
      <p:regular r:id="rId14"/>
      <p:bold r:id="rId15"/>
      <p: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font" Target="fonts/OldStandardTT-regular.fntdata"/><Relationship Id="rId15" Type="http://schemas.openxmlformats.org/officeDocument/2006/relationships/font" Target="fonts/OldStandardTT-bold.fntdata"/><Relationship Id="rId16" Type="http://schemas.openxmlformats.org/officeDocument/2006/relationships/font" Target="fonts/OldStandardT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2f9c53c6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2f9c53c6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2f9c53c61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2f9c53c61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2f9c53c61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2f9c53c61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2f9c53c61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2f9c53c61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2f9c53c61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2f9c53c61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2f9c53c61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2f9c53c61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f9c53c61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2f9c53c61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The Holy Cross: History, Significance, and Christian Doctrine</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Lesson on the Importance of the Cross in Christianity</a:t>
            </a:r>
            <a:endParaRPr/>
          </a:p>
        </p:txBody>
      </p:sp>
      <p:sp>
        <p:nvSpPr>
          <p:cNvPr id="61" name="TextBox 60"/>
          <p:cNvSpPr txBox="1"/>
          <p:nvPr/>
        </p:nvSpPr>
        <p:spPr>
          <a:xfrm>
            <a:off x="2286000" y="4371975"/>
            <a:ext cx="4572000" cy="514350"/>
          </a:xfrm>
          <a:prstGeom prst="rect">
            <a:avLst/>
          </a:prstGeom>
          <a:noFill/>
        </p:spPr>
        <p:txBody>
          <a:bodyPr wrap="none">
            <a:spAutoFit/>
          </a:bodyPr>
          <a:lstStyle/>
          <a:p>
            <a:pPr algn="ctr"/>
            <a:r>
              <a:rPr sz="1800" i="1">
                <a:solidFill>
                  <a:srgbClr val="FFFFFF"/>
                </a:solidFill>
              </a:rPr>
              <a:t>By Dn Yonnas</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Execution to Emblem</a:t>
            </a:r>
            <a:endParaRPr/>
          </a:p>
        </p:txBody>
      </p:sp>
      <p:sp>
        <p:nvSpPr>
          <p:cNvPr id="66" name="Google Shape;66;p14"/>
          <p:cNvSpPr txBox="1"/>
          <p:nvPr>
            <p:ph idx="1" type="body"/>
          </p:nvPr>
        </p:nvSpPr>
        <p:spPr>
          <a:xfrm>
            <a:off x="311700" y="1348425"/>
            <a:ext cx="8520600" cy="32205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b="1" lang="en" sz="1200">
                <a:solidFill>
                  <a:schemeClr val="dk1"/>
                </a:solidFill>
              </a:rPr>
              <a:t>Historical Context:</a:t>
            </a:r>
            <a:endParaRPr b="1"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The cross was originally a brutal instrument of Roman execution—designed for degrading, despising, and torturing criminals.</a:t>
            </a:r>
            <a:endParaRPr sz="12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Transformation:</a:t>
            </a:r>
            <a:endParaRPr b="1"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Despite its grim origins, the cross became a symbol of dignity, pride, and salvation.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It is now raised high over churches, featured on church towers, domes, and temple veils.</a:t>
            </a:r>
            <a:endParaRPr sz="12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Symbolic Meaning:</a:t>
            </a:r>
            <a:endParaRPr b="1"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Today, the cross stands as the emblem of Christianity and a declaration of faith.</a:t>
            </a:r>
            <a:endParaRPr sz="1200">
              <a:solidFill>
                <a:schemeClr val="dk1"/>
              </a:solidFill>
            </a:endParaRPr>
          </a:p>
          <a:p>
            <a:pPr indent="0" lvl="0" marL="457200" rtl="0" algn="l">
              <a:spcBef>
                <a:spcPts val="1200"/>
              </a:spcBef>
              <a:spcAft>
                <a:spcPts val="0"/>
              </a:spcAft>
              <a:buNone/>
            </a:pPr>
            <a:r>
              <a:t/>
            </a:r>
            <a:endParaRPr b="1" sz="1100">
              <a:solidFill>
                <a:schemeClr val="dk1"/>
              </a:solidFill>
            </a:endParaRPr>
          </a:p>
          <a:p>
            <a:pPr indent="0" lvl="0" marL="0" rtl="0" algn="l">
              <a:spcBef>
                <a:spcPts val="1200"/>
              </a:spcBef>
              <a:spcAft>
                <a:spcPts val="1200"/>
              </a:spcAft>
              <a:buNone/>
            </a:pPr>
            <a:r>
              <a:t/>
            </a:r>
            <a:endParaRPr sz="1350">
              <a:solidFill>
                <a:schemeClr val="dk1"/>
              </a:solidFill>
            </a:endParaRPr>
          </a:p>
        </p:txBody>
      </p:sp>
      <p:pic>
        <p:nvPicPr>
          <p:cNvPr id="67" name="Google Shape;67;p14"/>
          <p:cNvPicPr preferRelativeResize="0"/>
          <p:nvPr/>
        </p:nvPicPr>
        <p:blipFill>
          <a:blip r:embed="rId3">
            <a:alphaModFix/>
          </a:blip>
          <a:stretch>
            <a:fillRect/>
          </a:stretch>
        </p:blipFill>
        <p:spPr>
          <a:xfrm>
            <a:off x="6612675" y="2603675"/>
            <a:ext cx="2438400" cy="2438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11835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Holy Cross in History – Queen Helena’s Journey</a:t>
            </a:r>
            <a:endParaRPr/>
          </a:p>
        </p:txBody>
      </p:sp>
      <p:sp>
        <p:nvSpPr>
          <p:cNvPr id="73" name="Google Shape;73;p15"/>
          <p:cNvSpPr txBox="1"/>
          <p:nvPr>
            <p:ph idx="1" type="body"/>
          </p:nvPr>
        </p:nvSpPr>
        <p:spPr>
          <a:xfrm>
            <a:off x="311700" y="863625"/>
            <a:ext cx="8520600" cy="37911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Clr>
                <a:schemeClr val="dk1"/>
              </a:buClr>
              <a:buSzPts val="852"/>
              <a:buFont typeface="Arial"/>
              <a:buNone/>
            </a:pPr>
            <a:r>
              <a:rPr b="1" lang="en" sz="1152">
                <a:solidFill>
                  <a:schemeClr val="dk1"/>
                </a:solidFill>
              </a:rPr>
              <a:t>Queen Helena’s Journey:</a:t>
            </a:r>
            <a:endParaRPr b="1" sz="1152">
              <a:solidFill>
                <a:schemeClr val="dk1"/>
              </a:solidFill>
            </a:endParaRPr>
          </a:p>
          <a:p>
            <a:pPr indent="-301783" lvl="0" marL="457200" rtl="0" algn="l">
              <a:lnSpc>
                <a:spcPct val="105000"/>
              </a:lnSpc>
              <a:spcBef>
                <a:spcPts val="1200"/>
              </a:spcBef>
              <a:spcAft>
                <a:spcPts val="0"/>
              </a:spcAft>
              <a:buClr>
                <a:schemeClr val="dk1"/>
              </a:buClr>
              <a:buSzPts val="1153"/>
              <a:buChar char="●"/>
            </a:pPr>
            <a:r>
              <a:rPr lang="en" sz="1152">
                <a:solidFill>
                  <a:schemeClr val="dk1"/>
                </a:solidFill>
              </a:rPr>
              <a:t>An elderly woman (over 80 years old) set out for Jerusalem after her son’s death.</a:t>
            </a:r>
            <a:endParaRPr sz="1152">
              <a:solidFill>
                <a:schemeClr val="dk1"/>
              </a:solidFill>
            </a:endParaRPr>
          </a:p>
          <a:p>
            <a:pPr indent="-301783" lvl="0" marL="457200" rtl="0" algn="l">
              <a:lnSpc>
                <a:spcPct val="105000"/>
              </a:lnSpc>
              <a:spcBef>
                <a:spcPts val="0"/>
              </a:spcBef>
              <a:spcAft>
                <a:spcPts val="0"/>
              </a:spcAft>
              <a:buClr>
                <a:schemeClr val="dk1"/>
              </a:buClr>
              <a:buSzPts val="1153"/>
              <a:buChar char="●"/>
            </a:pPr>
            <a:r>
              <a:rPr lang="en" sz="1152">
                <a:solidFill>
                  <a:schemeClr val="dk1"/>
                </a:solidFill>
              </a:rPr>
              <a:t>Motivated by a divine vision (or dream), she traveled to the Holy Land to find solace.</a:t>
            </a:r>
            <a:endParaRPr sz="1152">
              <a:solidFill>
                <a:schemeClr val="dk1"/>
              </a:solidFill>
            </a:endParaRPr>
          </a:p>
          <a:p>
            <a:pPr indent="0" lvl="0" marL="0" rtl="0" algn="l">
              <a:lnSpc>
                <a:spcPct val="105000"/>
              </a:lnSpc>
              <a:spcBef>
                <a:spcPts val="1200"/>
              </a:spcBef>
              <a:spcAft>
                <a:spcPts val="0"/>
              </a:spcAft>
              <a:buClr>
                <a:schemeClr val="dk1"/>
              </a:buClr>
              <a:buSzPts val="852"/>
              <a:buFont typeface="Arial"/>
              <a:buNone/>
            </a:pPr>
            <a:r>
              <a:rPr b="1" lang="en" sz="1152">
                <a:solidFill>
                  <a:schemeClr val="dk1"/>
                </a:solidFill>
              </a:rPr>
              <a:t>Discovery at the Holy Tomb:</a:t>
            </a:r>
            <a:endParaRPr b="1" sz="1152">
              <a:solidFill>
                <a:schemeClr val="dk1"/>
              </a:solidFill>
            </a:endParaRPr>
          </a:p>
          <a:p>
            <a:pPr indent="-301783" lvl="0" marL="457200" rtl="0" algn="l">
              <a:lnSpc>
                <a:spcPct val="105000"/>
              </a:lnSpc>
              <a:spcBef>
                <a:spcPts val="1200"/>
              </a:spcBef>
              <a:spcAft>
                <a:spcPts val="0"/>
              </a:spcAft>
              <a:buClr>
                <a:schemeClr val="dk1"/>
              </a:buClr>
              <a:buSzPts val="1153"/>
              <a:buChar char="●"/>
            </a:pPr>
            <a:r>
              <a:rPr lang="en" sz="1152">
                <a:solidFill>
                  <a:schemeClr val="dk1"/>
                </a:solidFill>
              </a:rPr>
              <a:t>Upon arrival, she found the site in ruins—overrun by a pagan temple to Venus.</a:t>
            </a:r>
            <a:endParaRPr sz="1152">
              <a:solidFill>
                <a:schemeClr val="dk1"/>
              </a:solidFill>
            </a:endParaRPr>
          </a:p>
          <a:p>
            <a:pPr indent="-301783" lvl="0" marL="457200" rtl="0" algn="l">
              <a:lnSpc>
                <a:spcPct val="105000"/>
              </a:lnSpc>
              <a:spcBef>
                <a:spcPts val="0"/>
              </a:spcBef>
              <a:spcAft>
                <a:spcPts val="0"/>
              </a:spcAft>
              <a:buClr>
                <a:schemeClr val="dk1"/>
              </a:buClr>
              <a:buSzPts val="1153"/>
              <a:buChar char="●"/>
            </a:pPr>
            <a:r>
              <a:rPr lang="en" sz="1152">
                <a:solidFill>
                  <a:schemeClr val="dk1"/>
                </a:solidFill>
              </a:rPr>
              <a:t>Queen Helena ordered the demolition of the temple and removal of the debris.</a:t>
            </a:r>
            <a:endParaRPr sz="1152">
              <a:solidFill>
                <a:schemeClr val="dk1"/>
              </a:solidFill>
            </a:endParaRPr>
          </a:p>
          <a:p>
            <a:pPr indent="0" lvl="0" marL="0" rtl="0" algn="l">
              <a:lnSpc>
                <a:spcPct val="105000"/>
              </a:lnSpc>
              <a:spcBef>
                <a:spcPts val="1200"/>
              </a:spcBef>
              <a:spcAft>
                <a:spcPts val="0"/>
              </a:spcAft>
              <a:buClr>
                <a:schemeClr val="dk1"/>
              </a:buClr>
              <a:buSzPts val="852"/>
              <a:buFont typeface="Arial"/>
              <a:buNone/>
            </a:pPr>
            <a:r>
              <a:rPr b="1" lang="en" sz="1152">
                <a:solidFill>
                  <a:schemeClr val="dk1"/>
                </a:solidFill>
              </a:rPr>
              <a:t>The Revelation:</a:t>
            </a:r>
            <a:endParaRPr b="1" sz="1152">
              <a:solidFill>
                <a:schemeClr val="dk1"/>
              </a:solidFill>
            </a:endParaRPr>
          </a:p>
          <a:p>
            <a:pPr indent="-301783" lvl="0" marL="457200" rtl="0" algn="l">
              <a:lnSpc>
                <a:spcPct val="105000"/>
              </a:lnSpc>
              <a:spcBef>
                <a:spcPts val="1200"/>
              </a:spcBef>
              <a:spcAft>
                <a:spcPts val="0"/>
              </a:spcAft>
              <a:buClr>
                <a:schemeClr val="dk1"/>
              </a:buClr>
              <a:buSzPts val="1153"/>
              <a:buChar char="●"/>
            </a:pPr>
            <a:r>
              <a:rPr lang="en" sz="1152">
                <a:solidFill>
                  <a:schemeClr val="dk1"/>
                </a:solidFill>
              </a:rPr>
              <a:t>Among three discovered crosses, one bore Pontius Pilate’s inscription, identifying it as the Lord’s Cross.</a:t>
            </a:r>
            <a:endParaRPr sz="1152">
              <a:solidFill>
                <a:schemeClr val="dk1"/>
              </a:solidFill>
            </a:endParaRPr>
          </a:p>
          <a:p>
            <a:pPr indent="-301783" lvl="0" marL="457200" rtl="0" algn="l">
              <a:lnSpc>
                <a:spcPct val="105000"/>
              </a:lnSpc>
              <a:spcBef>
                <a:spcPts val="0"/>
              </a:spcBef>
              <a:spcAft>
                <a:spcPts val="0"/>
              </a:spcAft>
              <a:buClr>
                <a:schemeClr val="dk1"/>
              </a:buClr>
              <a:buSzPts val="1153"/>
              <a:buChar char="●"/>
            </a:pPr>
            <a:r>
              <a:rPr lang="en" sz="1152">
                <a:solidFill>
                  <a:schemeClr val="dk1"/>
                </a:solidFill>
              </a:rPr>
              <a:t>She also found the nails used to crucify Christ.</a:t>
            </a:r>
            <a:endParaRPr sz="1152">
              <a:solidFill>
                <a:schemeClr val="dk1"/>
              </a:solidFill>
            </a:endParaRPr>
          </a:p>
          <a:p>
            <a:pPr indent="-301783" lvl="0" marL="457200" rtl="0" algn="l">
              <a:lnSpc>
                <a:spcPct val="105000"/>
              </a:lnSpc>
              <a:spcBef>
                <a:spcPts val="0"/>
              </a:spcBef>
              <a:spcAft>
                <a:spcPts val="0"/>
              </a:spcAft>
              <a:buClr>
                <a:schemeClr val="dk1"/>
              </a:buClr>
              <a:buSzPts val="1153"/>
              <a:buChar char="●"/>
            </a:pPr>
            <a:r>
              <a:rPr lang="en" sz="1152">
                <a:solidFill>
                  <a:schemeClr val="dk1"/>
                </a:solidFill>
              </a:rPr>
              <a:t>One nail was sent to Emperor Constantine, who fixed it to his royal helmet—an act that later influenced the tradition of adorning kings’ crowns with a nail.</a:t>
            </a:r>
            <a:endParaRPr sz="1152">
              <a:solidFill>
                <a:schemeClr val="dk1"/>
              </a:solidFill>
            </a:endParaRPr>
          </a:p>
          <a:p>
            <a:pPr indent="0" lvl="0" marL="0" rtl="0" algn="l">
              <a:lnSpc>
                <a:spcPct val="105000"/>
              </a:lnSpc>
              <a:spcBef>
                <a:spcPts val="1200"/>
              </a:spcBef>
              <a:spcAft>
                <a:spcPts val="0"/>
              </a:spcAft>
              <a:buClr>
                <a:schemeClr val="dk1"/>
              </a:buClr>
              <a:buSzPts val="852"/>
              <a:buFont typeface="Arial"/>
              <a:buNone/>
            </a:pPr>
            <a:r>
              <a:rPr b="1" lang="en" sz="1152">
                <a:solidFill>
                  <a:schemeClr val="dk1"/>
                </a:solidFill>
              </a:rPr>
              <a:t>Church Foundations:</a:t>
            </a:r>
            <a:endParaRPr b="1" sz="1152">
              <a:solidFill>
                <a:schemeClr val="dk1"/>
              </a:solidFill>
            </a:endParaRPr>
          </a:p>
          <a:p>
            <a:pPr indent="-301783" lvl="0" marL="457200" rtl="0" algn="l">
              <a:lnSpc>
                <a:spcPct val="105000"/>
              </a:lnSpc>
              <a:spcBef>
                <a:spcPts val="1200"/>
              </a:spcBef>
              <a:spcAft>
                <a:spcPts val="0"/>
              </a:spcAft>
              <a:buClr>
                <a:schemeClr val="dk1"/>
              </a:buClr>
              <a:buSzPts val="1153"/>
              <a:buChar char="●"/>
            </a:pPr>
            <a:r>
              <a:rPr lang="en" sz="1152">
                <a:solidFill>
                  <a:schemeClr val="dk1"/>
                </a:solidFill>
              </a:rPr>
              <a:t>Queen Helena built a large church over the Holy Tomb, calling it the “New Jerusalem.”</a:t>
            </a:r>
            <a:endParaRPr sz="1152">
              <a:solidFill>
                <a:schemeClr val="dk1"/>
              </a:solidFill>
            </a:endParaRPr>
          </a:p>
          <a:p>
            <a:pPr indent="-301783" lvl="0" marL="457200" rtl="0" algn="l">
              <a:lnSpc>
                <a:spcPct val="105000"/>
              </a:lnSpc>
              <a:spcBef>
                <a:spcPts val="0"/>
              </a:spcBef>
              <a:spcAft>
                <a:spcPts val="0"/>
              </a:spcAft>
              <a:buClr>
                <a:schemeClr val="dk1"/>
              </a:buClr>
              <a:buSzPts val="1153"/>
              <a:buChar char="●"/>
            </a:pPr>
            <a:r>
              <a:rPr lang="en" sz="1152">
                <a:solidFill>
                  <a:schemeClr val="dk1"/>
                </a:solidFill>
              </a:rPr>
              <a:t>Another church was built at the Cave of Nativity in Bethlehem, marking the humble birthplace of Christ.</a:t>
            </a:r>
            <a:endParaRPr sz="1152">
              <a:solidFill>
                <a:schemeClr val="dk1"/>
              </a:solidFill>
            </a:endParaRPr>
          </a:p>
          <a:p>
            <a:pPr indent="0" lvl="0" marL="0" rtl="0" algn="l">
              <a:lnSpc>
                <a:spcPct val="105000"/>
              </a:lnSpc>
              <a:spcBef>
                <a:spcPts val="1200"/>
              </a:spcBef>
              <a:spcAft>
                <a:spcPts val="1200"/>
              </a:spcAft>
              <a:buSzPts val="852"/>
              <a:buNone/>
            </a:pPr>
            <a:r>
              <a:t/>
            </a:r>
            <a:endParaRPr b="1" sz="1152">
              <a:solidFill>
                <a:schemeClr val="dk1"/>
              </a:solidFill>
            </a:endParaRPr>
          </a:p>
        </p:txBody>
      </p:sp>
      <p:pic>
        <p:nvPicPr>
          <p:cNvPr id="74" name="Google Shape;74;p15"/>
          <p:cNvPicPr preferRelativeResize="0"/>
          <p:nvPr/>
        </p:nvPicPr>
        <p:blipFill>
          <a:blip r:embed="rId3">
            <a:alphaModFix/>
          </a:blip>
          <a:stretch>
            <a:fillRect/>
          </a:stretch>
        </p:blipFill>
        <p:spPr>
          <a:xfrm>
            <a:off x="6844950" y="910550"/>
            <a:ext cx="2077724" cy="20777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31295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Miraculous Appearances of the Cross</a:t>
            </a:r>
            <a:endParaRPr/>
          </a:p>
        </p:txBody>
      </p:sp>
      <p:sp>
        <p:nvSpPr>
          <p:cNvPr id="80" name="Google Shape;80;p16"/>
          <p:cNvSpPr txBox="1"/>
          <p:nvPr>
            <p:ph idx="1" type="body"/>
          </p:nvPr>
        </p:nvSpPr>
        <p:spPr>
          <a:xfrm>
            <a:off x="103200" y="1032575"/>
            <a:ext cx="6861300" cy="3397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chemeClr val="dk1"/>
                </a:solidFill>
              </a:rPr>
              <a:t>Constantine’s Vision:</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Emperor Constantine and his army witnessed a radiant cross in the sky late in the afternoon.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Inscribed upon the cross were the words: </a:t>
            </a:r>
            <a:r>
              <a:rPr i="1" lang="en" sz="1100">
                <a:solidFill>
                  <a:schemeClr val="dk1"/>
                </a:solidFill>
              </a:rPr>
              <a:t>“By this sign you will conquer.”</a:t>
            </a:r>
            <a:endParaRPr i="1"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This vision spurred Constantine’s conversion to Christianity and his victory over the tyrant Maxentius.</a:t>
            </a:r>
            <a:endParaRPr sz="1100">
              <a:solidFill>
                <a:schemeClr val="dk1"/>
              </a:solidFill>
            </a:endParaRPr>
          </a:p>
          <a:p>
            <a:pPr indent="0" lvl="0" marL="0" rtl="0" algn="l">
              <a:spcBef>
                <a:spcPts val="1200"/>
              </a:spcBef>
              <a:spcAft>
                <a:spcPts val="0"/>
              </a:spcAft>
              <a:buNone/>
            </a:pPr>
            <a:r>
              <a:rPr b="1" lang="en" sz="1100">
                <a:solidFill>
                  <a:schemeClr val="dk1"/>
                </a:solidFill>
              </a:rPr>
              <a:t>The 351 AD Miracle in Jerusalem:</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A pillar of light—more brilliant than the sun—appeared in the sky over Jerusalem.</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It remained visible for several hours, inspiring both awe and a mixture of fear and hope among the citizens.</a:t>
            </a:r>
            <a:endParaRPr sz="1100">
              <a:solidFill>
                <a:schemeClr val="dk1"/>
              </a:solidFill>
            </a:endParaRPr>
          </a:p>
          <a:p>
            <a:pPr indent="0" lvl="0" marL="0" rtl="0" algn="l">
              <a:spcBef>
                <a:spcPts val="1200"/>
              </a:spcBef>
              <a:spcAft>
                <a:spcPts val="0"/>
              </a:spcAft>
              <a:buNone/>
            </a:pPr>
            <a:br>
              <a:rPr b="1" lang="en" sz="1100"/>
            </a:br>
            <a:r>
              <a:rPr b="1" lang="en" sz="1100"/>
              <a:t>“</a:t>
            </a:r>
            <a:r>
              <a:rPr lang="en" sz="1100"/>
              <a:t>By the end of times when the sign of the cross covers the whole sky, east, west, north, and south. At that time, all the kingdoms of the earth will submit themselves to the Lord Christ” - </a:t>
            </a:r>
            <a:r>
              <a:rPr b="1" lang="en" sz="1100"/>
              <a:t>Kesis Solomon</a:t>
            </a:r>
            <a:br>
              <a:rPr b="1" lang="en" sz="1100"/>
            </a:br>
            <a:endParaRPr b="1" sz="1100">
              <a:latin typeface="Arial"/>
              <a:ea typeface="Arial"/>
              <a:cs typeface="Arial"/>
              <a:sym typeface="Arial"/>
            </a:endParaRPr>
          </a:p>
          <a:p>
            <a:pPr indent="0" lvl="0" marL="0" rtl="0" algn="l">
              <a:spcBef>
                <a:spcPts val="0"/>
              </a:spcBef>
              <a:spcAft>
                <a:spcPts val="0"/>
              </a:spcAft>
              <a:buNone/>
            </a:pPr>
            <a:r>
              <a:t/>
            </a:r>
            <a:endParaRPr b="1" sz="1100"/>
          </a:p>
        </p:txBody>
      </p:sp>
      <p:pic>
        <p:nvPicPr>
          <p:cNvPr id="81" name="Google Shape;81;p16"/>
          <p:cNvPicPr preferRelativeResize="0"/>
          <p:nvPr/>
        </p:nvPicPr>
        <p:blipFill>
          <a:blip r:embed="rId3">
            <a:alphaModFix/>
          </a:blip>
          <a:stretch>
            <a:fillRect/>
          </a:stretch>
        </p:blipFill>
        <p:spPr>
          <a:xfrm>
            <a:off x="6964500" y="1553463"/>
            <a:ext cx="2104601" cy="1814125"/>
          </a:xfrm>
          <a:prstGeom prst="rect">
            <a:avLst/>
          </a:prstGeom>
          <a:noFill/>
          <a:ln>
            <a:noFill/>
          </a:ln>
        </p:spPr>
      </p:pic>
      <p:sp>
        <p:nvSpPr>
          <p:cNvPr id="82" name="Google Shape;82;p16"/>
          <p:cNvSpPr txBox="1"/>
          <p:nvPr/>
        </p:nvSpPr>
        <p:spPr>
          <a:xfrm>
            <a:off x="6422400" y="3760300"/>
            <a:ext cx="2721600" cy="1165800"/>
          </a:xfrm>
          <a:prstGeom prst="rect">
            <a:avLst/>
          </a:prstGeom>
          <a:noFill/>
          <a:ln>
            <a:noFill/>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1200"/>
              </a:spcAft>
              <a:buNone/>
            </a:pPr>
            <a:r>
              <a:rPr lang="en" sz="900">
                <a:solidFill>
                  <a:schemeClr val="dk1"/>
                </a:solidFill>
                <a:latin typeface="Old Standard TT"/>
                <a:ea typeface="Old Standard TT"/>
                <a:cs typeface="Old Standard TT"/>
                <a:sym typeface="Old Standard TT"/>
              </a:rPr>
              <a:t>“That at the name of Jesus every knee should bow, of things in heaven, and things in earth, and things under the earth;</a:t>
            </a:r>
            <a:br>
              <a:rPr lang="en" sz="900">
                <a:solidFill>
                  <a:schemeClr val="dk1"/>
                </a:solidFill>
                <a:latin typeface="Old Standard TT"/>
                <a:ea typeface="Old Standard TT"/>
                <a:cs typeface="Old Standard TT"/>
                <a:sym typeface="Old Standard TT"/>
              </a:rPr>
            </a:br>
            <a:r>
              <a:rPr lang="en" sz="900">
                <a:solidFill>
                  <a:schemeClr val="dk1"/>
                </a:solidFill>
                <a:latin typeface="Old Standard TT"/>
                <a:ea typeface="Old Standard TT"/>
                <a:cs typeface="Old Standard TT"/>
                <a:sym typeface="Old Standard TT"/>
              </a:rPr>
              <a:t>And that every tongue should confess that Jesus Christ is Lord, to the glory of God the Father.” - </a:t>
            </a:r>
            <a:r>
              <a:rPr b="1" lang="en" sz="900">
                <a:solidFill>
                  <a:schemeClr val="dk1"/>
                </a:solidFill>
                <a:latin typeface="Old Standard TT"/>
                <a:ea typeface="Old Standard TT"/>
                <a:cs typeface="Old Standard TT"/>
                <a:sym typeface="Old Standard TT"/>
              </a:rPr>
              <a:t>Philippians 2:10-11</a:t>
            </a:r>
            <a:endParaRPr sz="900">
              <a:solidFill>
                <a:schemeClr val="dk1"/>
              </a:solidFill>
              <a:latin typeface="Old Standard TT"/>
              <a:ea typeface="Old Standard TT"/>
              <a:cs typeface="Old Standard TT"/>
              <a:sym typeface="Old Standard T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29905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Cross in Orthodox Dogma</a:t>
            </a:r>
            <a:endParaRPr/>
          </a:p>
        </p:txBody>
      </p:sp>
      <p:sp>
        <p:nvSpPr>
          <p:cNvPr id="88" name="Google Shape;88;p17"/>
          <p:cNvSpPr txBox="1"/>
          <p:nvPr>
            <p:ph idx="1" type="body"/>
          </p:nvPr>
        </p:nvSpPr>
        <p:spPr>
          <a:xfrm>
            <a:off x="89275" y="828825"/>
            <a:ext cx="6597300" cy="4002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275"/>
              <a:buFont typeface="Arial"/>
              <a:buNone/>
            </a:pPr>
            <a:r>
              <a:rPr b="1" lang="en" sz="900"/>
              <a:t>I</a:t>
            </a:r>
            <a:r>
              <a:rPr b="1" lang="en" sz="900">
                <a:solidFill>
                  <a:schemeClr val="dk1"/>
                </a:solidFill>
              </a:rPr>
              <a:t>ncarnation &amp; Redemption:</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i="1" lang="en" sz="900">
                <a:solidFill>
                  <a:schemeClr val="dk1"/>
                </a:solidFill>
              </a:rPr>
              <a:t>Incarnation:</a:t>
            </a:r>
            <a:endParaRPr i="1" sz="900">
              <a:solidFill>
                <a:schemeClr val="dk1"/>
              </a:solidFill>
            </a:endParaRPr>
          </a:p>
          <a:p>
            <a:pPr indent="-285750" lvl="1" marL="914400" rtl="0" algn="l">
              <a:lnSpc>
                <a:spcPct val="95000"/>
              </a:lnSpc>
              <a:spcBef>
                <a:spcPts val="0"/>
              </a:spcBef>
              <a:spcAft>
                <a:spcPts val="0"/>
              </a:spcAft>
              <a:buClr>
                <a:schemeClr val="dk1"/>
              </a:buClr>
              <a:buSzPts val="900"/>
              <a:buChar char="○"/>
            </a:pPr>
            <a:r>
              <a:rPr lang="en" sz="900">
                <a:solidFill>
                  <a:schemeClr val="dk1"/>
                </a:solidFill>
              </a:rPr>
              <a:t>The cross testifies that Christ “tasted death on it,” proving He </a:t>
            </a:r>
            <a:r>
              <a:rPr lang="en" sz="900"/>
              <a:t>became </a:t>
            </a:r>
            <a:r>
              <a:rPr lang="en" sz="900">
                <a:solidFill>
                  <a:schemeClr val="dk1"/>
                </a:solidFill>
              </a:rPr>
              <a:t>human and possessed real flesh like ours.</a:t>
            </a:r>
            <a:endParaRPr sz="900">
              <a:solidFill>
                <a:schemeClr val="dk1"/>
              </a:solidFill>
            </a:endParaRPr>
          </a:p>
          <a:p>
            <a:pPr indent="-285750" lvl="1" marL="914400" rtl="0" algn="l">
              <a:lnSpc>
                <a:spcPct val="95000"/>
              </a:lnSpc>
              <a:spcBef>
                <a:spcPts val="0"/>
              </a:spcBef>
              <a:spcAft>
                <a:spcPts val="0"/>
              </a:spcAft>
              <a:buClr>
                <a:schemeClr val="dk1"/>
              </a:buClr>
              <a:buSzPts val="900"/>
              <a:buChar char="○"/>
            </a:pPr>
            <a:r>
              <a:rPr lang="en" sz="900">
                <a:solidFill>
                  <a:schemeClr val="dk1"/>
                </a:solidFill>
              </a:rPr>
              <a:t>This confirms </a:t>
            </a:r>
            <a:r>
              <a:rPr lang="en" sz="900"/>
              <a:t>The</a:t>
            </a:r>
            <a:r>
              <a:rPr lang="en" sz="900">
                <a:solidFill>
                  <a:schemeClr val="dk1"/>
                </a:solidFill>
              </a:rPr>
              <a:t> Creed—the belief that God became man.</a:t>
            </a:r>
            <a:endParaRPr sz="900">
              <a:solidFill>
                <a:schemeClr val="dk1"/>
              </a:solidFill>
            </a:endParaRPr>
          </a:p>
          <a:p>
            <a:pPr indent="-285750" lvl="0" marL="457200" rtl="0" algn="l">
              <a:lnSpc>
                <a:spcPct val="95000"/>
              </a:lnSpc>
              <a:spcBef>
                <a:spcPts val="0"/>
              </a:spcBef>
              <a:spcAft>
                <a:spcPts val="0"/>
              </a:spcAft>
              <a:buClr>
                <a:schemeClr val="dk1"/>
              </a:buClr>
              <a:buSzPts val="900"/>
              <a:buChar char="●"/>
            </a:pPr>
            <a:r>
              <a:rPr i="1" lang="en" sz="900">
                <a:solidFill>
                  <a:schemeClr val="dk1"/>
                </a:solidFill>
              </a:rPr>
              <a:t>Redemption:</a:t>
            </a:r>
            <a:endParaRPr i="1" sz="900">
              <a:solidFill>
                <a:schemeClr val="dk1"/>
              </a:solidFill>
            </a:endParaRPr>
          </a:p>
          <a:p>
            <a:pPr indent="-285750" lvl="1" marL="914400" rtl="0" algn="l">
              <a:lnSpc>
                <a:spcPct val="95000"/>
              </a:lnSpc>
              <a:spcBef>
                <a:spcPts val="0"/>
              </a:spcBef>
              <a:spcAft>
                <a:spcPts val="0"/>
              </a:spcAft>
              <a:buClr>
                <a:schemeClr val="dk1"/>
              </a:buClr>
              <a:buSzPts val="900"/>
              <a:buChar char="○"/>
            </a:pPr>
            <a:r>
              <a:rPr lang="en" sz="900">
                <a:solidFill>
                  <a:schemeClr val="dk1"/>
                </a:solidFill>
              </a:rPr>
              <a:t>His death on the cross was propitiatory, meaning it served as an atoning sacrifice for our sins, fulfilling the </a:t>
            </a:r>
            <a:r>
              <a:rPr lang="en" sz="900"/>
              <a:t>The creed. </a:t>
            </a:r>
            <a:endParaRPr sz="900">
              <a:solidFill>
                <a:schemeClr val="dk1"/>
              </a:solidFill>
            </a:endParaRPr>
          </a:p>
          <a:p>
            <a:pPr indent="0" lvl="0" marL="0" rtl="0" algn="l">
              <a:lnSpc>
                <a:spcPct val="95000"/>
              </a:lnSpc>
              <a:spcBef>
                <a:spcPts val="1200"/>
              </a:spcBef>
              <a:spcAft>
                <a:spcPts val="0"/>
              </a:spcAft>
              <a:buClr>
                <a:schemeClr val="dk1"/>
              </a:buClr>
              <a:buSzPts val="275"/>
              <a:buFont typeface="Arial"/>
              <a:buNone/>
            </a:pPr>
            <a:r>
              <a:rPr b="1" lang="en" sz="900">
                <a:solidFill>
                  <a:schemeClr val="dk1"/>
                </a:solidFill>
              </a:rPr>
              <a:t>Trinitarian Faith:</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lang="en" sz="900">
                <a:solidFill>
                  <a:schemeClr val="dk1"/>
                </a:solidFill>
              </a:rPr>
              <a:t>Making the sign of the Cross is a public declaration of faith in the Triune God: the Father, the Son, and the Holy Spirit.</a:t>
            </a:r>
            <a:endParaRPr sz="900">
              <a:solidFill>
                <a:schemeClr val="dk1"/>
              </a:solidFill>
            </a:endParaRPr>
          </a:p>
          <a:p>
            <a:pPr indent="-285750" lvl="0" marL="457200" rtl="0" algn="l">
              <a:lnSpc>
                <a:spcPct val="95000"/>
              </a:lnSpc>
              <a:spcBef>
                <a:spcPts val="0"/>
              </a:spcBef>
              <a:spcAft>
                <a:spcPts val="0"/>
              </a:spcAft>
              <a:buClr>
                <a:schemeClr val="dk1"/>
              </a:buClr>
              <a:buSzPts val="900"/>
              <a:buChar char="●"/>
            </a:pPr>
            <a:r>
              <a:rPr lang="en" sz="900">
                <a:solidFill>
                  <a:schemeClr val="dk1"/>
                </a:solidFill>
              </a:rPr>
              <a:t>This affirms the foundational Christian belief in “One God in three hypostases (persons) but of one essence (substance).”</a:t>
            </a:r>
            <a:endParaRPr sz="900">
              <a:solidFill>
                <a:schemeClr val="dk1"/>
              </a:solidFill>
            </a:endParaRPr>
          </a:p>
          <a:p>
            <a:pPr indent="0" lvl="0" marL="0" rtl="0" algn="l">
              <a:lnSpc>
                <a:spcPct val="95000"/>
              </a:lnSpc>
              <a:spcBef>
                <a:spcPts val="1200"/>
              </a:spcBef>
              <a:spcAft>
                <a:spcPts val="0"/>
              </a:spcAft>
              <a:buClr>
                <a:schemeClr val="dk1"/>
              </a:buClr>
              <a:buSzPts val="275"/>
              <a:buFont typeface="Arial"/>
              <a:buNone/>
            </a:pPr>
            <a:r>
              <a:rPr b="1" lang="en" sz="900">
                <a:solidFill>
                  <a:schemeClr val="dk1"/>
                </a:solidFill>
              </a:rPr>
              <a:t>Reconciliation:</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lang="en" sz="900">
                <a:solidFill>
                  <a:schemeClr val="dk1"/>
                </a:solidFill>
              </a:rPr>
              <a:t>Christ’s sacrifice on the Cross reconciles humanity to God by canceling our debts (our sins) and defeating sin.</a:t>
            </a:r>
            <a:endParaRPr sz="900">
              <a:solidFill>
                <a:schemeClr val="dk1"/>
              </a:solidFill>
            </a:endParaRPr>
          </a:p>
          <a:p>
            <a:pPr indent="-285750" lvl="0" marL="457200" rtl="0" algn="l">
              <a:lnSpc>
                <a:spcPct val="95000"/>
              </a:lnSpc>
              <a:spcBef>
                <a:spcPts val="0"/>
              </a:spcBef>
              <a:spcAft>
                <a:spcPts val="0"/>
              </a:spcAft>
              <a:buClr>
                <a:schemeClr val="dk1"/>
              </a:buClr>
              <a:buSzPts val="900"/>
              <a:buChar char="●"/>
            </a:pPr>
            <a:r>
              <a:rPr lang="en" sz="900">
                <a:solidFill>
                  <a:schemeClr val="dk1"/>
                </a:solidFill>
              </a:rPr>
              <a:t>He was hung between the sky and the earth to be the bridge back to God, stretching out His hands to receive us.</a:t>
            </a:r>
            <a:endParaRPr sz="900">
              <a:solidFill>
                <a:schemeClr val="dk1"/>
              </a:solidFill>
            </a:endParaRPr>
          </a:p>
          <a:p>
            <a:pPr indent="-285750" lvl="0" marL="457200" rtl="0" algn="l">
              <a:lnSpc>
                <a:spcPct val="95000"/>
              </a:lnSpc>
              <a:spcBef>
                <a:spcPts val="0"/>
              </a:spcBef>
              <a:spcAft>
                <a:spcPts val="0"/>
              </a:spcAft>
              <a:buClr>
                <a:schemeClr val="dk1"/>
              </a:buClr>
              <a:buSzPts val="900"/>
              <a:buChar char="●"/>
            </a:pPr>
            <a:r>
              <a:rPr lang="en" sz="900">
                <a:solidFill>
                  <a:schemeClr val="dk1"/>
                </a:solidFill>
              </a:rPr>
              <a:t>He even descended into Hades (the realm of the dead) to bring back Adam and his children, restoring Paradise.</a:t>
            </a:r>
            <a:endParaRPr sz="900">
              <a:solidFill>
                <a:schemeClr val="dk1"/>
              </a:solidFill>
            </a:endParaRPr>
          </a:p>
          <a:p>
            <a:pPr indent="0" lvl="0" marL="0" rtl="0" algn="l">
              <a:lnSpc>
                <a:spcPct val="95000"/>
              </a:lnSpc>
              <a:spcBef>
                <a:spcPts val="1200"/>
              </a:spcBef>
              <a:spcAft>
                <a:spcPts val="0"/>
              </a:spcAft>
              <a:buClr>
                <a:schemeClr val="dk1"/>
              </a:buClr>
              <a:buSzPts val="275"/>
              <a:buFont typeface="Arial"/>
              <a:buNone/>
            </a:pPr>
            <a:r>
              <a:rPr b="1" lang="en" sz="900">
                <a:solidFill>
                  <a:schemeClr val="dk1"/>
                </a:solidFill>
              </a:rPr>
              <a:t>Debt Cancellation – Scriptural Support:</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b="1" lang="en" sz="900">
                <a:solidFill>
                  <a:schemeClr val="dk1"/>
                </a:solidFill>
              </a:rPr>
              <a:t>Colossians 2:13–14 (King James Version):</a:t>
            </a:r>
            <a:endParaRPr b="1" sz="900">
              <a:solidFill>
                <a:schemeClr val="dk1"/>
              </a:solidFill>
            </a:endParaRPr>
          </a:p>
          <a:p>
            <a:pPr indent="-285750" lvl="1" marL="914400" rtl="0" algn="l">
              <a:lnSpc>
                <a:spcPct val="95000"/>
              </a:lnSpc>
              <a:spcBef>
                <a:spcPts val="0"/>
              </a:spcBef>
              <a:spcAft>
                <a:spcPts val="0"/>
              </a:spcAft>
              <a:buClr>
                <a:schemeClr val="dk1"/>
              </a:buClr>
              <a:buSzPts val="900"/>
              <a:buChar char="○"/>
            </a:pPr>
            <a:r>
              <a:rPr i="1" lang="en" sz="900">
                <a:solidFill>
                  <a:schemeClr val="dk1"/>
                </a:solidFill>
              </a:rPr>
              <a:t>Colossians 2:13:</a:t>
            </a:r>
            <a:r>
              <a:rPr lang="en" sz="900">
                <a:solidFill>
                  <a:schemeClr val="dk1"/>
                </a:solidFill>
              </a:rPr>
              <a:t> “And you, being dead in your sins and the uncircumcision of your flesh, hath he quickened together with him, having forgiven you all trespasses;”</a:t>
            </a:r>
            <a:endParaRPr sz="900">
              <a:solidFill>
                <a:schemeClr val="dk1"/>
              </a:solidFill>
            </a:endParaRPr>
          </a:p>
          <a:p>
            <a:pPr indent="-285750" lvl="1" marL="914400" rtl="0" algn="l">
              <a:lnSpc>
                <a:spcPct val="95000"/>
              </a:lnSpc>
              <a:spcBef>
                <a:spcPts val="0"/>
              </a:spcBef>
              <a:spcAft>
                <a:spcPts val="0"/>
              </a:spcAft>
              <a:buClr>
                <a:schemeClr val="dk1"/>
              </a:buClr>
              <a:buSzPts val="900"/>
              <a:buChar char="○"/>
            </a:pPr>
            <a:r>
              <a:rPr i="1" lang="en" sz="900">
                <a:solidFill>
                  <a:schemeClr val="dk1"/>
                </a:solidFill>
              </a:rPr>
              <a:t>Colossians 2:14:</a:t>
            </a:r>
            <a:r>
              <a:rPr lang="en" sz="900">
                <a:solidFill>
                  <a:schemeClr val="dk1"/>
                </a:solidFill>
              </a:rPr>
              <a:t> “Blotting out the handwriting of ordinances that was against us, which was contrary to us, and taking it out of the way, nailing it to his Cross.”</a:t>
            </a:r>
            <a:endParaRPr sz="900">
              <a:solidFill>
                <a:schemeClr val="dk1"/>
              </a:solidFill>
            </a:endParaRPr>
          </a:p>
          <a:p>
            <a:pPr indent="0" lvl="0" marL="0" rtl="0" algn="l">
              <a:lnSpc>
                <a:spcPct val="95000"/>
              </a:lnSpc>
              <a:spcBef>
                <a:spcPts val="1200"/>
              </a:spcBef>
              <a:spcAft>
                <a:spcPts val="1200"/>
              </a:spcAft>
              <a:buSzPts val="275"/>
              <a:buNone/>
            </a:pPr>
            <a:r>
              <a:t/>
            </a:r>
            <a:endParaRPr b="1" sz="900">
              <a:solidFill>
                <a:schemeClr val="dk1"/>
              </a:solidFill>
            </a:endParaRPr>
          </a:p>
        </p:txBody>
      </p:sp>
      <p:pic>
        <p:nvPicPr>
          <p:cNvPr id="89" name="Google Shape;89;p17"/>
          <p:cNvPicPr preferRelativeResize="0"/>
          <p:nvPr/>
        </p:nvPicPr>
        <p:blipFill>
          <a:blip r:embed="rId3">
            <a:alphaModFix/>
          </a:blip>
          <a:stretch>
            <a:fillRect/>
          </a:stretch>
        </p:blipFill>
        <p:spPr>
          <a:xfrm>
            <a:off x="6686575" y="1905375"/>
            <a:ext cx="2358825" cy="1848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29210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Cross in Orthodox Sacraments</a:t>
            </a:r>
            <a:endParaRPr/>
          </a:p>
        </p:txBody>
      </p:sp>
      <p:sp>
        <p:nvSpPr>
          <p:cNvPr id="95" name="Google Shape;95;p18"/>
          <p:cNvSpPr txBox="1"/>
          <p:nvPr>
            <p:ph idx="1" type="body"/>
          </p:nvPr>
        </p:nvSpPr>
        <p:spPr>
          <a:xfrm>
            <a:off x="311700" y="863600"/>
            <a:ext cx="8520600" cy="3981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b="1" lang="en" sz="987">
                <a:solidFill>
                  <a:schemeClr val="dk1"/>
                </a:solidFill>
              </a:rPr>
              <a:t>Baptism:</a:t>
            </a:r>
            <a:br>
              <a:rPr b="1" lang="en" sz="987">
                <a:solidFill>
                  <a:schemeClr val="dk1"/>
                </a:solidFill>
              </a:rPr>
            </a:br>
            <a:r>
              <a:rPr lang="en" sz="987">
                <a:solidFill>
                  <a:schemeClr val="dk1"/>
                </a:solidFill>
              </a:rPr>
              <a:t>• Water sanctified with the Cross (“Baptism is the Cross” – St. John Chrysostom)</a:t>
            </a:r>
            <a:br>
              <a:rPr lang="en" sz="987">
                <a:solidFill>
                  <a:schemeClr val="dk1"/>
                </a:solidFill>
              </a:rPr>
            </a:br>
            <a:r>
              <a:rPr lang="en" sz="987">
                <a:solidFill>
                  <a:schemeClr val="dk1"/>
                </a:solidFill>
              </a:rPr>
              <a:t>• Symbolizes dying to sin &amp; rebirth in Christ</a:t>
            </a:r>
            <a:endParaRPr sz="987">
              <a:solidFill>
                <a:schemeClr val="dk1"/>
              </a:solidFill>
            </a:endParaRPr>
          </a:p>
          <a:p>
            <a:pPr indent="0" lvl="0" marL="0" rtl="0" algn="l">
              <a:lnSpc>
                <a:spcPct val="95000"/>
              </a:lnSpc>
              <a:spcBef>
                <a:spcPts val="1200"/>
              </a:spcBef>
              <a:spcAft>
                <a:spcPts val="0"/>
              </a:spcAft>
              <a:buSzPts val="688"/>
              <a:buNone/>
            </a:pPr>
            <a:r>
              <a:rPr b="1" lang="en" sz="987">
                <a:solidFill>
                  <a:schemeClr val="dk1"/>
                </a:solidFill>
              </a:rPr>
              <a:t>Chrismation:</a:t>
            </a:r>
            <a:br>
              <a:rPr b="1" lang="en" sz="987">
                <a:solidFill>
                  <a:schemeClr val="dk1"/>
                </a:solidFill>
              </a:rPr>
            </a:br>
            <a:r>
              <a:rPr lang="en" sz="987">
                <a:solidFill>
                  <a:schemeClr val="dk1"/>
                </a:solidFill>
              </a:rPr>
              <a:t>• Our bodies are </a:t>
            </a:r>
            <a:r>
              <a:rPr lang="en" sz="987"/>
              <a:t>anointed</a:t>
            </a:r>
            <a:r>
              <a:rPr lang="en" sz="987"/>
              <a:t> </a:t>
            </a:r>
            <a:r>
              <a:rPr lang="en" sz="987">
                <a:solidFill>
                  <a:schemeClr val="dk1"/>
                </a:solidFill>
              </a:rPr>
              <a:t>with 36 crosses </a:t>
            </a:r>
            <a:r>
              <a:rPr lang="en" sz="987"/>
              <a:t>by the priest, using holy oil.</a:t>
            </a:r>
            <a:endParaRPr sz="987">
              <a:solidFill>
                <a:schemeClr val="dk1"/>
              </a:solidFill>
            </a:endParaRPr>
          </a:p>
          <a:p>
            <a:pPr indent="0" lvl="0" marL="0" rtl="0" algn="l">
              <a:lnSpc>
                <a:spcPct val="95000"/>
              </a:lnSpc>
              <a:spcBef>
                <a:spcPts val="1200"/>
              </a:spcBef>
              <a:spcAft>
                <a:spcPts val="0"/>
              </a:spcAft>
              <a:buSzPts val="688"/>
              <a:buNone/>
            </a:pPr>
            <a:r>
              <a:rPr b="1" lang="en" sz="987">
                <a:solidFill>
                  <a:schemeClr val="dk1"/>
                </a:solidFill>
              </a:rPr>
              <a:t>Confession </a:t>
            </a:r>
            <a:endParaRPr b="1" sz="987"/>
          </a:p>
          <a:p>
            <a:pPr indent="0" lvl="0" marL="0" rtl="0" algn="l">
              <a:lnSpc>
                <a:spcPct val="95000"/>
              </a:lnSpc>
              <a:spcBef>
                <a:spcPts val="1200"/>
              </a:spcBef>
              <a:spcAft>
                <a:spcPts val="0"/>
              </a:spcAft>
              <a:buClr>
                <a:schemeClr val="dk1"/>
              </a:buClr>
              <a:buSzPts val="688"/>
              <a:buFont typeface="Arial"/>
              <a:buNone/>
            </a:pPr>
            <a:r>
              <a:rPr lang="en" sz="987"/>
              <a:t>• Cross on the head signals forgiveness</a:t>
            </a:r>
            <a:endParaRPr b="1" sz="987"/>
          </a:p>
          <a:p>
            <a:pPr indent="0" lvl="0" marL="0" rtl="0" algn="l">
              <a:lnSpc>
                <a:spcPct val="95000"/>
              </a:lnSpc>
              <a:spcBef>
                <a:spcPts val="1200"/>
              </a:spcBef>
              <a:spcAft>
                <a:spcPts val="0"/>
              </a:spcAft>
              <a:buSzPts val="688"/>
              <a:buNone/>
            </a:pPr>
            <a:r>
              <a:rPr b="1" lang="en" sz="987">
                <a:solidFill>
                  <a:schemeClr val="dk1"/>
                </a:solidFill>
              </a:rPr>
              <a:t>Holy Communion:</a:t>
            </a:r>
            <a:br>
              <a:rPr b="1" lang="en" sz="987">
                <a:solidFill>
                  <a:schemeClr val="dk1"/>
                </a:solidFill>
              </a:rPr>
            </a:br>
            <a:br>
              <a:rPr lang="en" sz="987">
                <a:solidFill>
                  <a:schemeClr val="dk1"/>
                </a:solidFill>
              </a:rPr>
            </a:br>
            <a:r>
              <a:rPr lang="en" sz="987">
                <a:solidFill>
                  <a:schemeClr val="dk1"/>
                </a:solidFill>
              </a:rPr>
              <a:t>• Communion presents the living body and blood of Christ</a:t>
            </a:r>
            <a:endParaRPr sz="987">
              <a:solidFill>
                <a:schemeClr val="dk1"/>
              </a:solidFill>
            </a:endParaRPr>
          </a:p>
          <a:p>
            <a:pPr indent="0" lvl="0" marL="0" rtl="0" algn="l">
              <a:lnSpc>
                <a:spcPct val="95000"/>
              </a:lnSpc>
              <a:spcBef>
                <a:spcPts val="1200"/>
              </a:spcBef>
              <a:spcAft>
                <a:spcPts val="0"/>
              </a:spcAft>
              <a:buSzPts val="688"/>
              <a:buNone/>
            </a:pPr>
            <a:r>
              <a:rPr b="1" lang="en" sz="987">
                <a:solidFill>
                  <a:schemeClr val="dk1"/>
                </a:solidFill>
              </a:rPr>
              <a:t>Unction of the Sick:</a:t>
            </a:r>
            <a:br>
              <a:rPr b="1" lang="en" sz="987">
                <a:solidFill>
                  <a:schemeClr val="dk1"/>
                </a:solidFill>
              </a:rPr>
            </a:br>
            <a:r>
              <a:rPr lang="en" sz="987">
                <a:solidFill>
                  <a:schemeClr val="dk1"/>
                </a:solidFill>
              </a:rPr>
              <a:t>• Oil is crossed 7 times (with 7 Gospel readings &amp; 7 lit wicks)</a:t>
            </a:r>
            <a:br>
              <a:rPr lang="en" sz="987">
                <a:solidFill>
                  <a:schemeClr val="dk1"/>
                </a:solidFill>
              </a:rPr>
            </a:br>
            <a:r>
              <a:rPr lang="en" sz="987">
                <a:solidFill>
                  <a:schemeClr val="dk1"/>
                </a:solidFill>
              </a:rPr>
              <a:t>• Emphasizes divine perfection</a:t>
            </a:r>
            <a:endParaRPr sz="987">
              <a:solidFill>
                <a:schemeClr val="dk1"/>
              </a:solidFill>
            </a:endParaRPr>
          </a:p>
          <a:p>
            <a:pPr indent="0" lvl="0" marL="0" rtl="0" algn="l">
              <a:lnSpc>
                <a:spcPct val="95000"/>
              </a:lnSpc>
              <a:spcBef>
                <a:spcPts val="1200"/>
              </a:spcBef>
              <a:spcAft>
                <a:spcPts val="0"/>
              </a:spcAft>
              <a:buSzPts val="688"/>
              <a:buNone/>
            </a:pPr>
            <a:r>
              <a:rPr b="1" lang="en" sz="987">
                <a:solidFill>
                  <a:schemeClr val="dk1"/>
                </a:solidFill>
              </a:rPr>
              <a:t>Holy Orders:</a:t>
            </a:r>
            <a:br>
              <a:rPr lang="en" sz="987">
                <a:solidFill>
                  <a:schemeClr val="dk1"/>
                </a:solidFill>
              </a:rPr>
            </a:br>
            <a:r>
              <a:rPr lang="en" sz="987">
                <a:solidFill>
                  <a:schemeClr val="dk1"/>
                </a:solidFill>
              </a:rPr>
              <a:t>• through the power</a:t>
            </a:r>
            <a:r>
              <a:rPr lang="en" sz="987"/>
              <a:t> of the cross a male is ordained into the Holy Order of the church.</a:t>
            </a:r>
            <a:br>
              <a:rPr lang="en" sz="987"/>
            </a:br>
            <a:br>
              <a:rPr lang="en" sz="987"/>
            </a:br>
            <a:r>
              <a:rPr b="1" lang="en" sz="987">
                <a:solidFill>
                  <a:schemeClr val="dk1"/>
                </a:solidFill>
              </a:rPr>
              <a:t>Marriage:</a:t>
            </a:r>
            <a:br>
              <a:rPr b="1" lang="en" sz="987">
                <a:solidFill>
                  <a:schemeClr val="dk1"/>
                </a:solidFill>
              </a:rPr>
            </a:br>
            <a:r>
              <a:rPr lang="en" sz="987">
                <a:solidFill>
                  <a:schemeClr val="dk1"/>
                </a:solidFill>
              </a:rPr>
              <a:t>• Cross placed on the bride and groom</a:t>
            </a:r>
            <a:br>
              <a:rPr lang="en" sz="987">
                <a:solidFill>
                  <a:schemeClr val="dk1"/>
                </a:solidFill>
              </a:rPr>
            </a:br>
            <a:r>
              <a:rPr lang="en" sz="987">
                <a:solidFill>
                  <a:schemeClr val="dk1"/>
                </a:solidFill>
              </a:rPr>
              <a:t>• Marks a life of sacrificial love leading to the “Crown of Victory”</a:t>
            </a:r>
            <a:endParaRPr sz="987">
              <a:solidFill>
                <a:schemeClr val="dk1"/>
              </a:solidFill>
            </a:endParaRPr>
          </a:p>
          <a:p>
            <a:pPr indent="0" lvl="0" marL="0" rtl="0" algn="l">
              <a:lnSpc>
                <a:spcPct val="95000"/>
              </a:lnSpc>
              <a:spcBef>
                <a:spcPts val="1200"/>
              </a:spcBef>
              <a:spcAft>
                <a:spcPts val="0"/>
              </a:spcAft>
              <a:buClr>
                <a:schemeClr val="dk1"/>
              </a:buClr>
              <a:buSzPts val="688"/>
              <a:buFont typeface="Arial"/>
              <a:buNone/>
            </a:pPr>
            <a:r>
              <a:t/>
            </a:r>
            <a:endParaRPr b="1" sz="687">
              <a:solidFill>
                <a:schemeClr val="dk1"/>
              </a:solidFill>
            </a:endParaRPr>
          </a:p>
          <a:p>
            <a:pPr indent="0" lvl="0" marL="0" rtl="0" algn="l">
              <a:lnSpc>
                <a:spcPct val="95000"/>
              </a:lnSpc>
              <a:spcBef>
                <a:spcPts val="1200"/>
              </a:spcBef>
              <a:spcAft>
                <a:spcPts val="1200"/>
              </a:spcAft>
              <a:buSzPts val="688"/>
              <a:buNone/>
            </a:pPr>
            <a:r>
              <a:t/>
            </a:r>
            <a:endParaRPr sz="925"/>
          </a:p>
        </p:txBody>
      </p:sp>
      <p:pic>
        <p:nvPicPr>
          <p:cNvPr id="96" name="Google Shape;96;p18"/>
          <p:cNvPicPr preferRelativeResize="0"/>
          <p:nvPr/>
        </p:nvPicPr>
        <p:blipFill>
          <a:blip r:embed="rId3">
            <a:alphaModFix/>
          </a:blip>
          <a:stretch>
            <a:fillRect/>
          </a:stretch>
        </p:blipFill>
        <p:spPr>
          <a:xfrm>
            <a:off x="5812237" y="2878675"/>
            <a:ext cx="2755925" cy="1838200"/>
          </a:xfrm>
          <a:prstGeom prst="rect">
            <a:avLst/>
          </a:prstGeom>
          <a:noFill/>
          <a:ln>
            <a:noFill/>
          </a:ln>
        </p:spPr>
      </p:pic>
      <p:pic>
        <p:nvPicPr>
          <p:cNvPr id="97" name="Google Shape;97;p18"/>
          <p:cNvPicPr preferRelativeResize="0"/>
          <p:nvPr/>
        </p:nvPicPr>
        <p:blipFill>
          <a:blip r:embed="rId4">
            <a:alphaModFix/>
          </a:blip>
          <a:stretch>
            <a:fillRect/>
          </a:stretch>
        </p:blipFill>
        <p:spPr>
          <a:xfrm>
            <a:off x="5822393" y="1077176"/>
            <a:ext cx="2735606" cy="16296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306000"/>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Cross in Daily Life</a:t>
            </a:r>
            <a:endParaRPr/>
          </a:p>
        </p:txBody>
      </p:sp>
      <p:sp>
        <p:nvSpPr>
          <p:cNvPr id="103" name="Google Shape;103;p19"/>
          <p:cNvSpPr txBox="1"/>
          <p:nvPr>
            <p:ph idx="1" type="body"/>
          </p:nvPr>
        </p:nvSpPr>
        <p:spPr>
          <a:xfrm>
            <a:off x="311700" y="919200"/>
            <a:ext cx="5394900" cy="3397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b="1" lang="en" sz="900">
                <a:solidFill>
                  <a:schemeClr val="dk1"/>
                </a:solidFill>
              </a:rPr>
              <a:t>Spiritual</a:t>
            </a:r>
            <a:r>
              <a:rPr b="1" lang="en" sz="900">
                <a:solidFill>
                  <a:schemeClr val="dk1"/>
                </a:solidFill>
              </a:rPr>
              <a:t> Protection:</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lang="en" sz="900">
                <a:solidFill>
                  <a:schemeClr val="dk1"/>
                </a:solidFill>
              </a:rPr>
              <a:t>Making the sign of the Cross is believed to drive away demons, reminding them of the Devil’s defeat at Golgotha.</a:t>
            </a:r>
            <a:endParaRPr sz="900">
              <a:solidFill>
                <a:schemeClr val="dk1"/>
              </a:solidFill>
            </a:endParaRPr>
          </a:p>
          <a:p>
            <a:pPr indent="0" lvl="0" marL="0" rtl="0" algn="l">
              <a:lnSpc>
                <a:spcPct val="95000"/>
              </a:lnSpc>
              <a:spcBef>
                <a:spcPts val="1200"/>
              </a:spcBef>
              <a:spcAft>
                <a:spcPts val="0"/>
              </a:spcAft>
              <a:buSzPts val="275"/>
              <a:buNone/>
            </a:pPr>
            <a:r>
              <a:rPr b="1" lang="en" sz="900">
                <a:solidFill>
                  <a:schemeClr val="dk1"/>
                </a:solidFill>
              </a:rPr>
              <a:t>Overcoming Sin:</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lang="en" sz="900">
                <a:solidFill>
                  <a:schemeClr val="dk1"/>
                </a:solidFill>
              </a:rPr>
              <a:t>It acts as a remedy for defiled lust and quenches the “flames” of sin, symbolically extinguishing its power.</a:t>
            </a:r>
            <a:endParaRPr sz="900">
              <a:solidFill>
                <a:schemeClr val="dk1"/>
              </a:solidFill>
            </a:endParaRPr>
          </a:p>
          <a:p>
            <a:pPr indent="0" lvl="0" marL="0" rtl="0" algn="l">
              <a:lnSpc>
                <a:spcPct val="95000"/>
              </a:lnSpc>
              <a:spcBef>
                <a:spcPts val="1200"/>
              </a:spcBef>
              <a:spcAft>
                <a:spcPts val="0"/>
              </a:spcAft>
              <a:buSzPts val="275"/>
              <a:buNone/>
            </a:pPr>
            <a:r>
              <a:rPr b="1" lang="en" sz="900">
                <a:solidFill>
                  <a:schemeClr val="dk1"/>
                </a:solidFill>
              </a:rPr>
              <a:t>Empowerment Through Prayer:</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lang="en" sz="900">
                <a:solidFill>
                  <a:schemeClr val="dk1"/>
                </a:solidFill>
              </a:rPr>
              <a:t>When we cross our foreheads, chests, or stretch our hands in the shape of the Cross, we symbolically free ourselves from the authority of death.</a:t>
            </a:r>
            <a:endParaRPr sz="900">
              <a:solidFill>
                <a:schemeClr val="dk1"/>
              </a:solidFill>
            </a:endParaRPr>
          </a:p>
          <a:p>
            <a:pPr indent="-285750" lvl="0" marL="457200" rtl="0" algn="l">
              <a:lnSpc>
                <a:spcPct val="95000"/>
              </a:lnSpc>
              <a:spcBef>
                <a:spcPts val="0"/>
              </a:spcBef>
              <a:spcAft>
                <a:spcPts val="0"/>
              </a:spcAft>
              <a:buClr>
                <a:schemeClr val="dk1"/>
              </a:buClr>
              <a:buSzPts val="900"/>
              <a:buChar char="●"/>
            </a:pPr>
            <a:r>
              <a:rPr lang="en" sz="900">
                <a:solidFill>
                  <a:schemeClr val="dk1"/>
                </a:solidFill>
              </a:rPr>
              <a:t>This gesture represents a journey deep into our soul through prayer, much like a bird spreading its wings to soar.</a:t>
            </a:r>
            <a:endParaRPr sz="900">
              <a:solidFill>
                <a:schemeClr val="dk1"/>
              </a:solidFill>
            </a:endParaRPr>
          </a:p>
          <a:p>
            <a:pPr indent="0" lvl="0" marL="0" rtl="0" algn="l">
              <a:lnSpc>
                <a:spcPct val="95000"/>
              </a:lnSpc>
              <a:spcBef>
                <a:spcPts val="1200"/>
              </a:spcBef>
              <a:spcAft>
                <a:spcPts val="0"/>
              </a:spcAft>
              <a:buSzPts val="275"/>
              <a:buNone/>
            </a:pPr>
            <a:r>
              <a:rPr b="1" lang="en" sz="900">
                <a:solidFill>
                  <a:schemeClr val="dk1"/>
                </a:solidFill>
              </a:rPr>
              <a:t>Triumph Over Temptation:</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lang="en" sz="900">
                <a:solidFill>
                  <a:schemeClr val="dk1"/>
                </a:solidFill>
              </a:rPr>
              <a:t>The Cross is also a sign of salvation and a tool for overcoming temptation.</a:t>
            </a:r>
            <a:endParaRPr sz="900">
              <a:solidFill>
                <a:schemeClr val="dk1"/>
              </a:solidFill>
            </a:endParaRPr>
          </a:p>
          <a:p>
            <a:pPr indent="-285750" lvl="0" marL="457200" rtl="0" algn="l">
              <a:lnSpc>
                <a:spcPct val="95000"/>
              </a:lnSpc>
              <a:spcBef>
                <a:spcPts val="0"/>
              </a:spcBef>
              <a:spcAft>
                <a:spcPts val="0"/>
              </a:spcAft>
              <a:buClr>
                <a:schemeClr val="dk1"/>
              </a:buClr>
              <a:buSzPts val="900"/>
              <a:buChar char="●"/>
            </a:pPr>
            <a:r>
              <a:rPr lang="en" sz="900">
                <a:solidFill>
                  <a:schemeClr val="dk1"/>
                </a:solidFill>
              </a:rPr>
              <a:t>Even the martyrs would “cross the cup” offered to them as a mark of their unyielding faith.</a:t>
            </a:r>
            <a:endParaRPr sz="900">
              <a:solidFill>
                <a:schemeClr val="dk1"/>
              </a:solidFill>
            </a:endParaRPr>
          </a:p>
          <a:p>
            <a:pPr indent="0" lvl="0" marL="0" rtl="0" algn="l">
              <a:lnSpc>
                <a:spcPct val="95000"/>
              </a:lnSpc>
              <a:spcBef>
                <a:spcPts val="1200"/>
              </a:spcBef>
              <a:spcAft>
                <a:spcPts val="0"/>
              </a:spcAft>
              <a:buSzPts val="275"/>
              <a:buNone/>
            </a:pPr>
            <a:r>
              <a:rPr b="1" lang="en" sz="900">
                <a:solidFill>
                  <a:schemeClr val="dk1"/>
                </a:solidFill>
              </a:rPr>
              <a:t>Symbol of Victory:</a:t>
            </a:r>
            <a:endParaRPr b="1" sz="900">
              <a:solidFill>
                <a:schemeClr val="dk1"/>
              </a:solidFill>
            </a:endParaRPr>
          </a:p>
          <a:p>
            <a:pPr indent="-285750" lvl="0" marL="457200" rtl="0" algn="l">
              <a:lnSpc>
                <a:spcPct val="95000"/>
              </a:lnSpc>
              <a:spcBef>
                <a:spcPts val="1200"/>
              </a:spcBef>
              <a:spcAft>
                <a:spcPts val="0"/>
              </a:spcAft>
              <a:buClr>
                <a:schemeClr val="dk1"/>
              </a:buClr>
              <a:buSzPts val="900"/>
              <a:buChar char="●"/>
            </a:pPr>
            <a:r>
              <a:rPr lang="en" sz="900">
                <a:solidFill>
                  <a:schemeClr val="dk1"/>
                </a:solidFill>
              </a:rPr>
              <a:t>The Cross remains our pride, beauty, crown, weapon, and declaration of faith—a tangible reminder of the irresistible power of God.</a:t>
            </a:r>
            <a:endParaRPr sz="900">
              <a:solidFill>
                <a:schemeClr val="dk1"/>
              </a:solidFill>
            </a:endParaRPr>
          </a:p>
          <a:p>
            <a:pPr indent="0" lvl="0" marL="0" rtl="0" algn="l">
              <a:lnSpc>
                <a:spcPct val="95000"/>
              </a:lnSpc>
              <a:spcBef>
                <a:spcPts val="1200"/>
              </a:spcBef>
              <a:spcAft>
                <a:spcPts val="0"/>
              </a:spcAft>
              <a:buClr>
                <a:schemeClr val="dk1"/>
              </a:buClr>
              <a:buSzPts val="275"/>
              <a:buFont typeface="Arial"/>
              <a:buNone/>
            </a:pPr>
            <a:r>
              <a:t/>
            </a:r>
            <a:endParaRPr sz="900">
              <a:solidFill>
                <a:schemeClr val="dk1"/>
              </a:solidFill>
            </a:endParaRPr>
          </a:p>
          <a:p>
            <a:pPr indent="0" lvl="0" marL="0" rtl="0" algn="l">
              <a:lnSpc>
                <a:spcPct val="95000"/>
              </a:lnSpc>
              <a:spcBef>
                <a:spcPts val="1200"/>
              </a:spcBef>
              <a:spcAft>
                <a:spcPts val="1200"/>
              </a:spcAft>
              <a:buSzPts val="275"/>
              <a:buNone/>
            </a:pPr>
            <a:r>
              <a:t/>
            </a:r>
            <a:endParaRPr sz="900"/>
          </a:p>
        </p:txBody>
      </p:sp>
      <p:pic>
        <p:nvPicPr>
          <p:cNvPr id="104" name="Google Shape;104;p19"/>
          <p:cNvPicPr preferRelativeResize="0"/>
          <p:nvPr/>
        </p:nvPicPr>
        <p:blipFill>
          <a:blip r:embed="rId3">
            <a:alphaModFix/>
          </a:blip>
          <a:stretch>
            <a:fillRect/>
          </a:stretch>
        </p:blipFill>
        <p:spPr>
          <a:xfrm>
            <a:off x="5876450" y="1668325"/>
            <a:ext cx="3132426" cy="2349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Concluding Reflections</a:t>
            </a:r>
            <a:endParaRPr/>
          </a:p>
        </p:txBody>
      </p:sp>
      <p:sp>
        <p:nvSpPr>
          <p:cNvPr id="110" name="Google Shape;110;p20"/>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solidFill>
                  <a:schemeClr val="dk1"/>
                </a:solidFill>
              </a:rPr>
              <a:t>Key Points &amp; Quotations:</a:t>
            </a:r>
            <a:endParaRPr b="1"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“Through the Cross man can drive away all the deceits of the demons.”</a:t>
            </a:r>
            <a:endParaRPr sz="1300">
              <a:solidFill>
                <a:schemeClr val="dk1"/>
              </a:solidFill>
            </a:endParaRPr>
          </a:p>
          <a:p>
            <a:pPr indent="-311150" lvl="1" marL="914400" rtl="0" algn="l">
              <a:spcBef>
                <a:spcPts val="0"/>
              </a:spcBef>
              <a:spcAft>
                <a:spcPts val="0"/>
              </a:spcAft>
              <a:buClr>
                <a:schemeClr val="dk1"/>
              </a:buClr>
              <a:buSzPts val="1300"/>
              <a:buChar char="○"/>
            </a:pPr>
            <a:r>
              <a:rPr i="1" lang="en" sz="1300">
                <a:solidFill>
                  <a:schemeClr val="dk1"/>
                </a:solidFill>
              </a:rPr>
              <a:t>Attributed to Athanasius the Apostolic.</a:t>
            </a:r>
            <a:endParaRPr i="1"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“The martyr did not drink the cup before furrowing it with the sign of the Cross which is the sign of salvation.”</a:t>
            </a:r>
            <a:endParaRPr sz="1300">
              <a:solidFill>
                <a:schemeClr val="dk1"/>
              </a:solidFill>
            </a:endParaRPr>
          </a:p>
          <a:p>
            <a:pPr indent="-311150" lvl="1" marL="914400" rtl="0" algn="l">
              <a:spcBef>
                <a:spcPts val="0"/>
              </a:spcBef>
              <a:spcAft>
                <a:spcPts val="0"/>
              </a:spcAft>
              <a:buClr>
                <a:schemeClr val="dk1"/>
              </a:buClr>
              <a:buSzPts val="1300"/>
              <a:buChar char="○"/>
            </a:pPr>
            <a:r>
              <a:rPr i="1" lang="en" sz="1300">
                <a:solidFill>
                  <a:schemeClr val="dk1"/>
                </a:solidFill>
              </a:rPr>
              <a:t>Attributed to Theodore (the Historian).</a:t>
            </a:r>
            <a:endParaRPr i="1"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“Our salvation is confirmed when we partake in the sacraments and their symbols. One of these symbols is the sign of the Cross.”</a:t>
            </a:r>
            <a:endParaRPr sz="1300">
              <a:solidFill>
                <a:schemeClr val="dk1"/>
              </a:solidFill>
            </a:endParaRPr>
          </a:p>
          <a:p>
            <a:pPr indent="-311150" lvl="1" marL="914400" rtl="0" algn="l">
              <a:spcBef>
                <a:spcPts val="0"/>
              </a:spcBef>
              <a:spcAft>
                <a:spcPts val="0"/>
              </a:spcAft>
              <a:buClr>
                <a:schemeClr val="dk1"/>
              </a:buClr>
              <a:buSzPts val="1300"/>
              <a:buChar char="○"/>
            </a:pPr>
            <a:r>
              <a:rPr i="1" lang="en" sz="1300">
                <a:solidFill>
                  <a:schemeClr val="dk1"/>
                </a:solidFill>
              </a:rPr>
              <a:t>Attributed to St. Gregory of Nyssa.</a:t>
            </a:r>
            <a:endParaRPr i="1"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Message:</a:t>
            </a:r>
            <a:endParaRPr b="1" sz="13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These reflections underscore that the Cross is not just an external symbol but the very means of our salvation.</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It is integral to our spiritual journey—driving away evil, affirming our faith, and assuring us of God’s everlasting grace.</a:t>
            </a:r>
            <a:endParaRPr sz="1300">
              <a:solidFill>
                <a:schemeClr val="dk1"/>
              </a:solidFill>
            </a:endParaRPr>
          </a:p>
          <a:p>
            <a:pPr indent="0" lvl="0" marL="0" rtl="0" algn="l">
              <a:spcBef>
                <a:spcPts val="1200"/>
              </a:spcBef>
              <a:spcAft>
                <a:spcPts val="1200"/>
              </a:spcAft>
              <a:buNone/>
            </a:pPr>
            <a:r>
              <a:t/>
            </a:r>
            <a:endParaRPr b="1" sz="13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