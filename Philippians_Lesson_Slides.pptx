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cb84240cf8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cb84240cf8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cb84240cf8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cb84240cf8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cb84240cf8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cb84240cf8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cb84240cf8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cb84240cf8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cb84240cf8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cb84240cf8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cb84240cf8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cb84240cf8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cb84240cf8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cb84240cf8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cb84240cf8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cb84240cf8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cb84240cf8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cb84240cf8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cb84240cf8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cb84240cf8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cb84240cf8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cb84240cf8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cb84240cf8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cb84240cf8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cb84240cf8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cb84240cf8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cb84240cf8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cb84240cf8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cb84240cf8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cb84240cf8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cb84240cf8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cb84240cf8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cb84240cf8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cb84240cf8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cb84240cf8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cb84240cf8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cb84240cf8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cb84240cf8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cb84240cf8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cb84240cf8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lnSpc>
                <a:spcPct val="115000"/>
              </a:lnSpc>
              <a:spcBef>
                <a:spcPts val="1400"/>
              </a:spcBef>
              <a:spcAft>
                <a:spcPts val="400"/>
              </a:spcAft>
              <a:buNone/>
            </a:pPr>
            <a:r>
              <a:rPr lang="en"/>
              <a:t>Philippians </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By Dn Yonnas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Context and Background 	</a:t>
            </a:r>
            <a:endParaRPr>
              <a:latin typeface="Times New Roman"/>
              <a:ea typeface="Times New Roman"/>
              <a:cs typeface="Times New Roman"/>
              <a:sym typeface="Times New Roman"/>
            </a:endParaRPr>
          </a:p>
        </p:txBody>
      </p:sp>
      <p:sp>
        <p:nvSpPr>
          <p:cNvPr id="61" name="Google Shape;61;p14"/>
          <p:cNvSpPr txBox="1"/>
          <p:nvPr>
            <p:ph idx="1" type="body"/>
          </p:nvPr>
        </p:nvSpPr>
        <p:spPr>
          <a:xfrm>
            <a:off x="311700" y="1152475"/>
            <a:ext cx="4443300" cy="3416400"/>
          </a:xfrm>
          <a:prstGeom prst="rect">
            <a:avLst/>
          </a:prstGeom>
        </p:spPr>
        <p:txBody>
          <a:bodyPr anchorCtr="0" anchor="t" bIns="91425" lIns="91425" spcFirstLastPara="1" rIns="91425" wrap="square" tIns="91425">
            <a:noAutofit/>
          </a:bodyPr>
          <a:lstStyle/>
          <a:p>
            <a:pPr indent="-355600" lvl="0" marL="457200" rtl="0" algn="l">
              <a:lnSpc>
                <a:spcPct val="105000"/>
              </a:lnSpc>
              <a:spcBef>
                <a:spcPts val="1200"/>
              </a:spcBef>
              <a:spcAft>
                <a:spcPts val="0"/>
              </a:spcAft>
              <a:buClr>
                <a:schemeClr val="dk1"/>
              </a:buClr>
              <a:buSzPts val="2000"/>
              <a:buFont typeface="Times New Roman"/>
              <a:buChar char="●"/>
            </a:pPr>
            <a:r>
              <a:rPr b="1" lang="en" sz="1300">
                <a:solidFill>
                  <a:schemeClr val="dk1"/>
                </a:solidFill>
              </a:rPr>
              <a:t>Author:</a:t>
            </a:r>
            <a:r>
              <a:rPr lang="en" sz="1300">
                <a:solidFill>
                  <a:schemeClr val="dk1"/>
                </a:solidFill>
              </a:rPr>
              <a:t> St. Paul the Apostle (with Timothy in the greeting) — </a:t>
            </a:r>
            <a:r>
              <a:rPr i="1" lang="en" sz="1300">
                <a:solidFill>
                  <a:schemeClr val="dk1"/>
                </a:solidFill>
              </a:rPr>
              <a:t>Phil 1:1</a:t>
            </a:r>
            <a:endParaRPr i="1" sz="1300">
              <a:solidFill>
                <a:schemeClr val="dk1"/>
              </a:solidFill>
            </a:endParaRPr>
          </a:p>
          <a:p>
            <a:pPr indent="-355600" lvl="0" marL="457200" rtl="0" algn="l">
              <a:lnSpc>
                <a:spcPct val="105000"/>
              </a:lnSpc>
              <a:spcBef>
                <a:spcPts val="0"/>
              </a:spcBef>
              <a:spcAft>
                <a:spcPts val="0"/>
              </a:spcAft>
              <a:buClr>
                <a:schemeClr val="dk1"/>
              </a:buClr>
              <a:buSzPts val="2000"/>
              <a:buFont typeface="Times New Roman"/>
              <a:buChar char="●"/>
            </a:pPr>
            <a:r>
              <a:rPr b="1" lang="en" sz="1300">
                <a:solidFill>
                  <a:schemeClr val="dk1"/>
                </a:solidFill>
              </a:rPr>
              <a:t>When:</a:t>
            </a:r>
            <a:r>
              <a:rPr lang="en" sz="1300">
                <a:solidFill>
                  <a:schemeClr val="dk1"/>
                </a:solidFill>
              </a:rPr>
              <a:t> During Paul’s imprisonment (commonly placed around </a:t>
            </a:r>
            <a:r>
              <a:rPr b="1" lang="en" sz="1300">
                <a:solidFill>
                  <a:schemeClr val="dk1"/>
                </a:solidFill>
              </a:rPr>
              <a:t>A.D. 60–62</a:t>
            </a:r>
            <a:r>
              <a:rPr lang="en" sz="1300">
                <a:solidFill>
                  <a:schemeClr val="dk1"/>
                </a:solidFill>
              </a:rPr>
              <a:t>)</a:t>
            </a:r>
            <a:endParaRPr sz="1300">
              <a:solidFill>
                <a:schemeClr val="dk1"/>
              </a:solidFill>
            </a:endParaRPr>
          </a:p>
          <a:p>
            <a:pPr indent="-355600" lvl="0" marL="457200" rtl="0" algn="l">
              <a:lnSpc>
                <a:spcPct val="105000"/>
              </a:lnSpc>
              <a:spcBef>
                <a:spcPts val="0"/>
              </a:spcBef>
              <a:spcAft>
                <a:spcPts val="0"/>
              </a:spcAft>
              <a:buClr>
                <a:schemeClr val="dk1"/>
              </a:buClr>
              <a:buSzPts val="2000"/>
              <a:buFont typeface="Times New Roman"/>
              <a:buChar char="●"/>
            </a:pPr>
            <a:r>
              <a:rPr b="1" lang="en" sz="1300">
                <a:solidFill>
                  <a:schemeClr val="dk1"/>
                </a:solidFill>
              </a:rPr>
              <a:t>Where:</a:t>
            </a:r>
            <a:r>
              <a:rPr lang="en" sz="1300">
                <a:solidFill>
                  <a:schemeClr val="dk1"/>
                </a:solidFill>
              </a:rPr>
              <a:t> Traditionally associated with </a:t>
            </a:r>
            <a:r>
              <a:rPr b="1" lang="en" sz="1300">
                <a:solidFill>
                  <a:schemeClr val="dk1"/>
                </a:solidFill>
              </a:rPr>
              <a:t>Rome</a:t>
            </a:r>
            <a:r>
              <a:rPr lang="en" sz="1300">
                <a:solidFill>
                  <a:schemeClr val="dk1"/>
                </a:solidFill>
              </a:rPr>
              <a:t> (though the key point is: </a:t>
            </a:r>
            <a:r>
              <a:rPr i="1" lang="en" sz="1300">
                <a:solidFill>
                  <a:schemeClr val="dk1"/>
                </a:solidFill>
              </a:rPr>
              <a:t>written in chains</a:t>
            </a:r>
            <a:r>
              <a:rPr lang="en" sz="1300">
                <a:solidFill>
                  <a:schemeClr val="dk1"/>
                </a:solidFill>
              </a:rPr>
              <a:t>) — </a:t>
            </a:r>
            <a:r>
              <a:rPr i="1" lang="en" sz="1300">
                <a:solidFill>
                  <a:schemeClr val="dk1"/>
                </a:solidFill>
              </a:rPr>
              <a:t>Phil 1:7; 1:12–14</a:t>
            </a:r>
            <a:endParaRPr i="1" sz="1300">
              <a:solidFill>
                <a:schemeClr val="dk1"/>
              </a:solidFill>
            </a:endParaRPr>
          </a:p>
          <a:p>
            <a:pPr indent="-355600" lvl="0" marL="457200" rtl="0" algn="l">
              <a:lnSpc>
                <a:spcPct val="105000"/>
              </a:lnSpc>
              <a:spcBef>
                <a:spcPts val="0"/>
              </a:spcBef>
              <a:spcAft>
                <a:spcPts val="0"/>
              </a:spcAft>
              <a:buClr>
                <a:schemeClr val="dk1"/>
              </a:buClr>
              <a:buSzPts val="2000"/>
              <a:buFont typeface="Times New Roman"/>
              <a:buChar char="●"/>
            </a:pPr>
            <a:r>
              <a:rPr b="1" lang="en" sz="1300">
                <a:solidFill>
                  <a:schemeClr val="dk1"/>
                </a:solidFill>
              </a:rPr>
              <a:t>Audience:</a:t>
            </a:r>
            <a:r>
              <a:rPr lang="en" sz="1300">
                <a:solidFill>
                  <a:schemeClr val="dk1"/>
                </a:solidFill>
              </a:rPr>
              <a:t> The Church in Philippi, faithful partners in the Gospel — </a:t>
            </a:r>
            <a:r>
              <a:rPr i="1" lang="en" sz="1300">
                <a:solidFill>
                  <a:schemeClr val="dk1"/>
                </a:solidFill>
              </a:rPr>
              <a:t>Phil 4:15–16</a:t>
            </a:r>
            <a:endParaRPr i="1" sz="1300">
              <a:solidFill>
                <a:schemeClr val="dk1"/>
              </a:solidFill>
            </a:endParaRPr>
          </a:p>
          <a:p>
            <a:pPr indent="-342900" lvl="0" marL="457200" rtl="0" algn="l">
              <a:lnSpc>
                <a:spcPct val="105000"/>
              </a:lnSpc>
              <a:spcBef>
                <a:spcPts val="0"/>
              </a:spcBef>
              <a:spcAft>
                <a:spcPts val="0"/>
              </a:spcAft>
              <a:buClr>
                <a:schemeClr val="dk1"/>
              </a:buClr>
              <a:buSzPts val="1800"/>
              <a:buFont typeface="Times New Roman"/>
              <a:buChar char="●"/>
            </a:pPr>
            <a:r>
              <a:rPr b="1" lang="en" sz="1300">
                <a:solidFill>
                  <a:schemeClr val="dk1"/>
                </a:solidFill>
              </a:rPr>
              <a:t>Tone:</a:t>
            </a:r>
            <a:r>
              <a:rPr lang="en" sz="1300">
                <a:solidFill>
                  <a:schemeClr val="dk1"/>
                </a:solidFill>
              </a:rPr>
              <a:t> joy and encouragement under pressure — </a:t>
            </a:r>
            <a:r>
              <a:rPr i="1" lang="en" sz="1300">
                <a:solidFill>
                  <a:schemeClr val="dk1"/>
                </a:solidFill>
              </a:rPr>
              <a:t>Phil 1:3–5; 4:4</a:t>
            </a:r>
            <a:br>
              <a:rPr lang="en" sz="2000">
                <a:solidFill>
                  <a:schemeClr val="dk1"/>
                </a:solidFill>
                <a:latin typeface="Times New Roman"/>
                <a:ea typeface="Times New Roman"/>
                <a:cs typeface="Times New Roman"/>
                <a:sym typeface="Times New Roman"/>
              </a:rPr>
            </a:br>
            <a:endParaRPr sz="2000">
              <a:solidFill>
                <a:schemeClr val="dk1"/>
              </a:solidFill>
              <a:latin typeface="Times New Roman"/>
              <a:ea typeface="Times New Roman"/>
              <a:cs typeface="Times New Roman"/>
              <a:sym typeface="Times New Roman"/>
            </a:endParaRPr>
          </a:p>
          <a:p>
            <a:pPr indent="0" lvl="0" marL="0" rtl="0" algn="l">
              <a:lnSpc>
                <a:spcPct val="105000"/>
              </a:lnSpc>
              <a:spcBef>
                <a:spcPts val="1200"/>
              </a:spcBef>
              <a:spcAft>
                <a:spcPts val="1200"/>
              </a:spcAft>
              <a:buNone/>
            </a:pPr>
            <a:r>
              <a:t/>
            </a:r>
            <a:endParaRPr>
              <a:latin typeface="Times New Roman"/>
              <a:ea typeface="Times New Roman"/>
              <a:cs typeface="Times New Roman"/>
              <a:sym typeface="Times New Roman"/>
            </a:endParaRPr>
          </a:p>
        </p:txBody>
      </p:sp>
      <p:sp>
        <p:nvSpPr>
          <p:cNvPr id="62" name="Google Shape;62;p14"/>
          <p:cNvSpPr txBox="1"/>
          <p:nvPr/>
        </p:nvSpPr>
        <p:spPr>
          <a:xfrm>
            <a:off x="5347425" y="1218325"/>
            <a:ext cx="3000000" cy="2073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300">
                <a:solidFill>
                  <a:schemeClr val="dk1"/>
                </a:solidFill>
                <a:latin typeface="Times New Roman"/>
                <a:ea typeface="Times New Roman"/>
                <a:cs typeface="Times New Roman"/>
                <a:sym typeface="Times New Roman"/>
              </a:rPr>
              <a:t>Paul is suffering, yet this is one of the most joyful letters in the Bible.</a:t>
            </a:r>
            <a:endParaRPr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 sz="1300">
                <a:solidFill>
                  <a:schemeClr val="dk1"/>
                </a:solidFill>
                <a:latin typeface="Times New Roman"/>
                <a:ea typeface="Times New Roman"/>
                <a:cs typeface="Times New Roman"/>
                <a:sym typeface="Times New Roman"/>
              </a:rPr>
              <a:t>Scripture :</a:t>
            </a:r>
            <a:endParaRPr b="1"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rPr b="1" lang="en" sz="1300">
                <a:solidFill>
                  <a:schemeClr val="dk1"/>
                </a:solidFill>
                <a:latin typeface="Times New Roman"/>
                <a:ea typeface="Times New Roman"/>
                <a:cs typeface="Times New Roman"/>
                <a:sym typeface="Times New Roman"/>
              </a:rPr>
              <a:t>Philippians 1:7 (NKJV)</a:t>
            </a:r>
            <a:r>
              <a:rPr lang="en" sz="1300">
                <a:solidFill>
                  <a:schemeClr val="dk1"/>
                </a:solidFill>
                <a:latin typeface="Times New Roman"/>
                <a:ea typeface="Times New Roman"/>
                <a:cs typeface="Times New Roman"/>
                <a:sym typeface="Times New Roman"/>
              </a:rPr>
              <a:t> — “…inasmuch as both in my chains and in the defense and confirmation of the gospel, you all are partakers with me of grace.”</a:t>
            </a:r>
            <a:endParaRPr sz="1300">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The Big Message of </a:t>
            </a:r>
            <a:r>
              <a:rPr lang="en">
                <a:latin typeface="Times New Roman"/>
                <a:ea typeface="Times New Roman"/>
                <a:cs typeface="Times New Roman"/>
                <a:sym typeface="Times New Roman"/>
              </a:rPr>
              <a:t>Philippians</a:t>
            </a:r>
            <a:r>
              <a:rPr lang="en">
                <a:latin typeface="Times New Roman"/>
                <a:ea typeface="Times New Roman"/>
                <a:cs typeface="Times New Roman"/>
                <a:sym typeface="Times New Roman"/>
              </a:rPr>
              <a:t> </a:t>
            </a:r>
            <a:endParaRPr>
              <a:latin typeface="Times New Roman"/>
              <a:ea typeface="Times New Roman"/>
              <a:cs typeface="Times New Roman"/>
              <a:sym typeface="Times New Roman"/>
            </a:endParaRPr>
          </a:p>
        </p:txBody>
      </p:sp>
      <p:sp>
        <p:nvSpPr>
          <p:cNvPr id="68" name="Google Shape;68;p15"/>
          <p:cNvSpPr txBox="1"/>
          <p:nvPr>
            <p:ph idx="1" type="body"/>
          </p:nvPr>
        </p:nvSpPr>
        <p:spPr>
          <a:xfrm>
            <a:off x="311700" y="1152475"/>
            <a:ext cx="4867500" cy="3990900"/>
          </a:xfrm>
          <a:prstGeom prst="rect">
            <a:avLst/>
          </a:prstGeom>
        </p:spPr>
        <p:txBody>
          <a:bodyPr anchorCtr="0" anchor="t" bIns="91425" lIns="91425" spcFirstLastPara="1" rIns="91425" wrap="square" tIns="91425">
            <a:normAutofit fontScale="70000" lnSpcReduction="20000"/>
          </a:bodyPr>
          <a:lstStyle/>
          <a:p>
            <a:pPr indent="-312631" lvl="0" marL="457200" rtl="0" algn="l">
              <a:spcBef>
                <a:spcPts val="1200"/>
              </a:spcBef>
              <a:spcAft>
                <a:spcPts val="0"/>
              </a:spcAft>
              <a:buClr>
                <a:schemeClr val="dk1"/>
              </a:buClr>
              <a:buSzPct val="72978"/>
              <a:buFont typeface="Times New Roman"/>
              <a:buChar char="●"/>
            </a:pPr>
            <a:r>
              <a:rPr lang="en" sz="2590">
                <a:solidFill>
                  <a:schemeClr val="dk1"/>
                </a:solidFill>
                <a:latin typeface="Times New Roman"/>
                <a:ea typeface="Times New Roman"/>
                <a:cs typeface="Times New Roman"/>
                <a:sym typeface="Times New Roman"/>
              </a:rPr>
              <a:t>Joy is not the absence of pain</a:t>
            </a:r>
            <a:br>
              <a:rPr lang="en" sz="2590">
                <a:solidFill>
                  <a:schemeClr val="dk1"/>
                </a:solidFill>
                <a:latin typeface="Times New Roman"/>
                <a:ea typeface="Times New Roman"/>
                <a:cs typeface="Times New Roman"/>
                <a:sym typeface="Times New Roman"/>
              </a:rPr>
            </a:br>
            <a:endParaRPr sz="2590">
              <a:solidFill>
                <a:schemeClr val="dk1"/>
              </a:solidFill>
              <a:latin typeface="Times New Roman"/>
              <a:ea typeface="Times New Roman"/>
              <a:cs typeface="Times New Roman"/>
              <a:sym typeface="Times New Roman"/>
            </a:endParaRPr>
          </a:p>
          <a:p>
            <a:pPr indent="-312631" lvl="0" marL="457200" rtl="0" algn="l">
              <a:spcBef>
                <a:spcPts val="0"/>
              </a:spcBef>
              <a:spcAft>
                <a:spcPts val="0"/>
              </a:spcAft>
              <a:buClr>
                <a:schemeClr val="dk1"/>
              </a:buClr>
              <a:buSzPct val="72978"/>
              <a:buFont typeface="Times New Roman"/>
              <a:buChar char="●"/>
            </a:pPr>
            <a:r>
              <a:rPr lang="en" sz="2590">
                <a:solidFill>
                  <a:schemeClr val="dk1"/>
                </a:solidFill>
                <a:latin typeface="Times New Roman"/>
                <a:ea typeface="Times New Roman"/>
                <a:cs typeface="Times New Roman"/>
                <a:sym typeface="Times New Roman"/>
              </a:rPr>
              <a:t>Joy is the </a:t>
            </a:r>
            <a:r>
              <a:rPr lang="en" sz="2590">
                <a:solidFill>
                  <a:schemeClr val="dk1"/>
                </a:solidFill>
                <a:latin typeface="Times New Roman"/>
                <a:ea typeface="Times New Roman"/>
                <a:cs typeface="Times New Roman"/>
                <a:sym typeface="Times New Roman"/>
              </a:rPr>
              <a:t>presence</a:t>
            </a:r>
            <a:r>
              <a:rPr lang="en" sz="2590">
                <a:solidFill>
                  <a:schemeClr val="dk1"/>
                </a:solidFill>
                <a:latin typeface="Times New Roman"/>
                <a:ea typeface="Times New Roman"/>
                <a:cs typeface="Times New Roman"/>
                <a:sym typeface="Times New Roman"/>
              </a:rPr>
              <a:t> of Christ</a:t>
            </a:r>
            <a:br>
              <a:rPr lang="en" sz="2590">
                <a:solidFill>
                  <a:schemeClr val="dk1"/>
                </a:solidFill>
                <a:latin typeface="Times New Roman"/>
                <a:ea typeface="Times New Roman"/>
                <a:cs typeface="Times New Roman"/>
                <a:sym typeface="Times New Roman"/>
              </a:rPr>
            </a:br>
            <a:endParaRPr sz="2590">
              <a:solidFill>
                <a:schemeClr val="dk1"/>
              </a:solidFill>
              <a:latin typeface="Times New Roman"/>
              <a:ea typeface="Times New Roman"/>
              <a:cs typeface="Times New Roman"/>
              <a:sym typeface="Times New Roman"/>
            </a:endParaRPr>
          </a:p>
          <a:p>
            <a:pPr indent="-312631" lvl="0" marL="457200" rtl="0" algn="l">
              <a:spcBef>
                <a:spcPts val="0"/>
              </a:spcBef>
              <a:spcAft>
                <a:spcPts val="0"/>
              </a:spcAft>
              <a:buClr>
                <a:schemeClr val="dk1"/>
              </a:buClr>
              <a:buSzPct val="72978"/>
              <a:buFont typeface="Times New Roman"/>
              <a:buChar char="●"/>
            </a:pPr>
            <a:r>
              <a:rPr lang="en" sz="2590">
                <a:solidFill>
                  <a:schemeClr val="dk1"/>
                </a:solidFill>
                <a:latin typeface="Times New Roman"/>
                <a:ea typeface="Times New Roman"/>
                <a:cs typeface="Times New Roman"/>
                <a:sym typeface="Times New Roman"/>
              </a:rPr>
              <a:t>Philippians teaches how to live with:</a:t>
            </a:r>
            <a:br>
              <a:rPr lang="en" sz="2590">
                <a:solidFill>
                  <a:schemeClr val="dk1"/>
                </a:solidFill>
                <a:latin typeface="Times New Roman"/>
                <a:ea typeface="Times New Roman"/>
                <a:cs typeface="Times New Roman"/>
                <a:sym typeface="Times New Roman"/>
              </a:rPr>
            </a:br>
            <a:endParaRPr sz="2590">
              <a:solidFill>
                <a:schemeClr val="dk1"/>
              </a:solidFill>
              <a:latin typeface="Times New Roman"/>
              <a:ea typeface="Times New Roman"/>
              <a:cs typeface="Times New Roman"/>
              <a:sym typeface="Times New Roman"/>
            </a:endParaRPr>
          </a:p>
          <a:p>
            <a:pPr indent="-312631" lvl="1" marL="914400" rtl="0" algn="l">
              <a:spcBef>
                <a:spcPts val="0"/>
              </a:spcBef>
              <a:spcAft>
                <a:spcPts val="0"/>
              </a:spcAft>
              <a:buClr>
                <a:schemeClr val="dk1"/>
              </a:buClr>
              <a:buSzPct val="86304"/>
              <a:buFont typeface="Times New Roman"/>
              <a:buChar char="○"/>
            </a:pPr>
            <a:r>
              <a:rPr lang="en" sz="2190">
                <a:solidFill>
                  <a:schemeClr val="dk1"/>
                </a:solidFill>
                <a:latin typeface="Times New Roman"/>
                <a:ea typeface="Times New Roman"/>
                <a:cs typeface="Times New Roman"/>
                <a:sym typeface="Times New Roman"/>
              </a:rPr>
              <a:t>pressure</a:t>
            </a:r>
            <a:br>
              <a:rPr lang="en" sz="2190">
                <a:solidFill>
                  <a:schemeClr val="dk1"/>
                </a:solidFill>
                <a:latin typeface="Times New Roman"/>
                <a:ea typeface="Times New Roman"/>
                <a:cs typeface="Times New Roman"/>
                <a:sym typeface="Times New Roman"/>
              </a:rPr>
            </a:br>
            <a:endParaRPr sz="2190">
              <a:solidFill>
                <a:schemeClr val="dk1"/>
              </a:solidFill>
              <a:latin typeface="Times New Roman"/>
              <a:ea typeface="Times New Roman"/>
              <a:cs typeface="Times New Roman"/>
              <a:sym typeface="Times New Roman"/>
            </a:endParaRPr>
          </a:p>
          <a:p>
            <a:pPr indent="-312631" lvl="1" marL="914400" rtl="0" algn="l">
              <a:spcBef>
                <a:spcPts val="0"/>
              </a:spcBef>
              <a:spcAft>
                <a:spcPts val="0"/>
              </a:spcAft>
              <a:buClr>
                <a:schemeClr val="dk1"/>
              </a:buClr>
              <a:buSzPct val="86304"/>
              <a:buFont typeface="Times New Roman"/>
              <a:buChar char="○"/>
            </a:pPr>
            <a:r>
              <a:rPr lang="en" sz="2190">
                <a:solidFill>
                  <a:schemeClr val="dk1"/>
                </a:solidFill>
                <a:latin typeface="Times New Roman"/>
                <a:ea typeface="Times New Roman"/>
                <a:cs typeface="Times New Roman"/>
                <a:sym typeface="Times New Roman"/>
              </a:rPr>
              <a:t>conflict</a:t>
            </a:r>
            <a:br>
              <a:rPr lang="en" sz="2190">
                <a:solidFill>
                  <a:schemeClr val="dk1"/>
                </a:solidFill>
                <a:latin typeface="Times New Roman"/>
                <a:ea typeface="Times New Roman"/>
                <a:cs typeface="Times New Roman"/>
                <a:sym typeface="Times New Roman"/>
              </a:rPr>
            </a:br>
            <a:endParaRPr sz="2190">
              <a:solidFill>
                <a:schemeClr val="dk1"/>
              </a:solidFill>
              <a:latin typeface="Times New Roman"/>
              <a:ea typeface="Times New Roman"/>
              <a:cs typeface="Times New Roman"/>
              <a:sym typeface="Times New Roman"/>
            </a:endParaRPr>
          </a:p>
          <a:p>
            <a:pPr indent="-312631" lvl="1" marL="914400" rtl="0" algn="l">
              <a:spcBef>
                <a:spcPts val="0"/>
              </a:spcBef>
              <a:spcAft>
                <a:spcPts val="0"/>
              </a:spcAft>
              <a:buClr>
                <a:schemeClr val="dk1"/>
              </a:buClr>
              <a:buSzPct val="86304"/>
              <a:buFont typeface="Times New Roman"/>
              <a:buChar char="○"/>
            </a:pPr>
            <a:r>
              <a:rPr lang="en" sz="2190">
                <a:solidFill>
                  <a:schemeClr val="dk1"/>
                </a:solidFill>
                <a:latin typeface="Times New Roman"/>
                <a:ea typeface="Times New Roman"/>
                <a:cs typeface="Times New Roman"/>
                <a:sym typeface="Times New Roman"/>
              </a:rPr>
              <a:t>anxiety</a:t>
            </a:r>
            <a:br>
              <a:rPr lang="en" sz="2190">
                <a:solidFill>
                  <a:schemeClr val="dk1"/>
                </a:solidFill>
                <a:latin typeface="Times New Roman"/>
                <a:ea typeface="Times New Roman"/>
                <a:cs typeface="Times New Roman"/>
                <a:sym typeface="Times New Roman"/>
              </a:rPr>
            </a:br>
            <a:endParaRPr sz="2190">
              <a:solidFill>
                <a:schemeClr val="dk1"/>
              </a:solidFill>
              <a:latin typeface="Times New Roman"/>
              <a:ea typeface="Times New Roman"/>
              <a:cs typeface="Times New Roman"/>
              <a:sym typeface="Times New Roman"/>
            </a:endParaRPr>
          </a:p>
          <a:p>
            <a:pPr indent="-300545" lvl="1" marL="914400" rtl="0" algn="l">
              <a:spcBef>
                <a:spcPts val="0"/>
              </a:spcBef>
              <a:spcAft>
                <a:spcPts val="0"/>
              </a:spcAft>
              <a:buClr>
                <a:schemeClr val="dk1"/>
              </a:buClr>
              <a:buSzPct val="73892"/>
              <a:buFont typeface="Times New Roman"/>
              <a:buChar char="○"/>
            </a:pPr>
            <a:r>
              <a:rPr lang="en" sz="2190">
                <a:solidFill>
                  <a:schemeClr val="dk1"/>
                </a:solidFill>
                <a:latin typeface="Times New Roman"/>
                <a:ea typeface="Times New Roman"/>
                <a:cs typeface="Times New Roman"/>
                <a:sym typeface="Times New Roman"/>
              </a:rPr>
              <a:t>spiritual struggle</a:t>
            </a:r>
            <a:br>
              <a:rPr lang="en" sz="1919">
                <a:solidFill>
                  <a:schemeClr val="dk1"/>
                </a:solidFill>
                <a:latin typeface="Times New Roman"/>
                <a:ea typeface="Times New Roman"/>
                <a:cs typeface="Times New Roman"/>
                <a:sym typeface="Times New Roman"/>
              </a:rPr>
            </a:br>
            <a:endParaRPr sz="1919">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a:solidFill>
                <a:schemeClr val="dk1"/>
              </a:solidFill>
              <a:latin typeface="Times New Roman"/>
              <a:ea typeface="Times New Roman"/>
              <a:cs typeface="Times New Roman"/>
              <a:sym typeface="Times New Roman"/>
            </a:endParaRPr>
          </a:p>
        </p:txBody>
      </p:sp>
      <p:sp>
        <p:nvSpPr>
          <p:cNvPr id="69" name="Google Shape;69;p15"/>
          <p:cNvSpPr txBox="1"/>
          <p:nvPr/>
        </p:nvSpPr>
        <p:spPr>
          <a:xfrm>
            <a:off x="5566825" y="1489625"/>
            <a:ext cx="3000000" cy="2338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2800">
                <a:solidFill>
                  <a:schemeClr val="dk1"/>
                </a:solidFill>
                <a:latin typeface="Times New Roman"/>
                <a:ea typeface="Times New Roman"/>
                <a:cs typeface="Times New Roman"/>
                <a:sym typeface="Times New Roman"/>
              </a:rPr>
              <a:t>Philippians</a:t>
            </a:r>
            <a:r>
              <a:rPr lang="en" sz="1300">
                <a:solidFill>
                  <a:schemeClr val="dk1"/>
                </a:solidFill>
              </a:rPr>
              <a:t> is about a stable heart in an unstable world.</a:t>
            </a:r>
            <a:endParaRPr sz="1300">
              <a:solidFill>
                <a:schemeClr val="dk1"/>
              </a:solidFill>
            </a:endParaRPr>
          </a:p>
          <a:p>
            <a:pPr indent="0" lvl="0" marL="0" rtl="0" algn="l">
              <a:lnSpc>
                <a:spcPct val="115000"/>
              </a:lnSpc>
              <a:spcBef>
                <a:spcPts val="1200"/>
              </a:spcBef>
              <a:spcAft>
                <a:spcPts val="0"/>
              </a:spcAft>
              <a:buNone/>
            </a:pPr>
            <a:r>
              <a:rPr b="1" lang="en" sz="1300">
                <a:solidFill>
                  <a:schemeClr val="dk1"/>
                </a:solidFill>
              </a:rPr>
              <a:t>Scripture:</a:t>
            </a:r>
            <a:endParaRPr b="1" sz="1300">
              <a:solidFill>
                <a:schemeClr val="dk1"/>
              </a:solidFill>
            </a:endParaRPr>
          </a:p>
          <a:p>
            <a:pPr indent="0" lvl="0" marL="0" rtl="0" algn="l">
              <a:lnSpc>
                <a:spcPct val="115000"/>
              </a:lnSpc>
              <a:spcBef>
                <a:spcPts val="1200"/>
              </a:spcBef>
              <a:spcAft>
                <a:spcPts val="1200"/>
              </a:spcAft>
              <a:buNone/>
            </a:pPr>
            <a:r>
              <a:rPr b="1" lang="en" sz="1300">
                <a:solidFill>
                  <a:schemeClr val="dk1"/>
                </a:solidFill>
              </a:rPr>
              <a:t>Philippians 4:7 (NKJV)</a:t>
            </a:r>
            <a:r>
              <a:rPr lang="en" sz="1300">
                <a:solidFill>
                  <a:schemeClr val="dk1"/>
                </a:solidFill>
              </a:rPr>
              <a:t> — “And the peace of God, which surpasses all understanding, will guard your hearts and minds through Christ Jesus.”</a:t>
            </a:r>
            <a:endParaRPr sz="13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Chapter 1: Joy in Chains </a:t>
            </a:r>
            <a:endParaRPr>
              <a:latin typeface="Times New Roman"/>
              <a:ea typeface="Times New Roman"/>
              <a:cs typeface="Times New Roman"/>
              <a:sym typeface="Times New Roman"/>
            </a:endParaRPr>
          </a:p>
        </p:txBody>
      </p:sp>
      <p:sp>
        <p:nvSpPr>
          <p:cNvPr id="75" name="Google Shape;75;p16"/>
          <p:cNvSpPr txBox="1"/>
          <p:nvPr>
            <p:ph idx="1" type="body"/>
          </p:nvPr>
        </p:nvSpPr>
        <p:spPr>
          <a:xfrm>
            <a:off x="311700" y="1152475"/>
            <a:ext cx="4706400" cy="34164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Clr>
                <a:schemeClr val="dk1"/>
              </a:buClr>
              <a:buSzPts val="1100"/>
              <a:buFont typeface="Arial"/>
              <a:buNone/>
            </a:pPr>
            <a:r>
              <a:rPr b="1" lang="en" sz="1900">
                <a:solidFill>
                  <a:schemeClr val="dk1"/>
                </a:solidFill>
                <a:latin typeface="Times New Roman"/>
                <a:ea typeface="Times New Roman"/>
                <a:cs typeface="Times New Roman"/>
                <a:sym typeface="Times New Roman"/>
              </a:rPr>
              <a:t>“What happened to Paul actually helped the Gospel”</a:t>
            </a:r>
            <a:endParaRPr b="1" sz="1900">
              <a:solidFill>
                <a:schemeClr val="dk1"/>
              </a:solidFill>
              <a:latin typeface="Times New Roman"/>
              <a:ea typeface="Times New Roman"/>
              <a:cs typeface="Times New Roman"/>
              <a:sym typeface="Times New Roman"/>
            </a:endParaRPr>
          </a:p>
          <a:p>
            <a:pPr indent="-336550" lvl="0" marL="457200" rtl="0" algn="l">
              <a:spcBef>
                <a:spcPts val="1200"/>
              </a:spcBef>
              <a:spcAft>
                <a:spcPts val="0"/>
              </a:spcAft>
              <a:buClr>
                <a:schemeClr val="dk1"/>
              </a:buClr>
              <a:buSzPts val="1700"/>
              <a:buFont typeface="Times New Roman"/>
              <a:buChar char="●"/>
            </a:pPr>
            <a:r>
              <a:rPr lang="en" sz="1700">
                <a:solidFill>
                  <a:schemeClr val="dk1"/>
                </a:solidFill>
                <a:latin typeface="Times New Roman"/>
                <a:ea typeface="Times New Roman"/>
                <a:cs typeface="Times New Roman"/>
                <a:sym typeface="Times New Roman"/>
              </a:rPr>
              <a:t>Paul’s imprisonment looked like a setback</a:t>
            </a:r>
            <a:br>
              <a:rPr lang="en" sz="1700">
                <a:solidFill>
                  <a:schemeClr val="dk1"/>
                </a:solidFill>
                <a:latin typeface="Times New Roman"/>
                <a:ea typeface="Times New Roman"/>
                <a:cs typeface="Times New Roman"/>
                <a:sym typeface="Times New Roman"/>
              </a:rPr>
            </a:br>
            <a:endParaRPr sz="1700">
              <a:solidFill>
                <a:schemeClr val="dk1"/>
              </a:solidFill>
              <a:latin typeface="Times New Roman"/>
              <a:ea typeface="Times New Roman"/>
              <a:cs typeface="Times New Roman"/>
              <a:sym typeface="Times New Roman"/>
            </a:endParaRPr>
          </a:p>
          <a:p>
            <a:pPr indent="-336550" lvl="0" marL="457200" rtl="0" algn="l">
              <a:spcBef>
                <a:spcPts val="0"/>
              </a:spcBef>
              <a:spcAft>
                <a:spcPts val="0"/>
              </a:spcAft>
              <a:buClr>
                <a:schemeClr val="dk1"/>
              </a:buClr>
              <a:buSzPts val="1700"/>
              <a:buFont typeface="Times New Roman"/>
              <a:buChar char="●"/>
            </a:pPr>
            <a:r>
              <a:rPr lang="en" sz="1700">
                <a:solidFill>
                  <a:schemeClr val="dk1"/>
                </a:solidFill>
                <a:latin typeface="Times New Roman"/>
                <a:ea typeface="Times New Roman"/>
                <a:cs typeface="Times New Roman"/>
                <a:sym typeface="Times New Roman"/>
              </a:rPr>
              <a:t>God used it to spread the Gospel</a:t>
            </a:r>
            <a:br>
              <a:rPr lang="en" sz="1700">
                <a:solidFill>
                  <a:schemeClr val="dk1"/>
                </a:solidFill>
                <a:latin typeface="Times New Roman"/>
                <a:ea typeface="Times New Roman"/>
                <a:cs typeface="Times New Roman"/>
                <a:sym typeface="Times New Roman"/>
              </a:rPr>
            </a:br>
            <a:endParaRPr sz="1700">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Even suffering became a witness</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a:solidFill>
                <a:schemeClr val="dk1"/>
              </a:solidFill>
              <a:latin typeface="Times New Roman"/>
              <a:ea typeface="Times New Roman"/>
              <a:cs typeface="Times New Roman"/>
              <a:sym typeface="Times New Roman"/>
            </a:endParaRPr>
          </a:p>
        </p:txBody>
      </p:sp>
      <p:sp>
        <p:nvSpPr>
          <p:cNvPr id="76" name="Google Shape;76;p16"/>
          <p:cNvSpPr txBox="1"/>
          <p:nvPr/>
        </p:nvSpPr>
        <p:spPr>
          <a:xfrm>
            <a:off x="5654650" y="1152475"/>
            <a:ext cx="3000000" cy="2303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300">
                <a:solidFill>
                  <a:schemeClr val="dk1"/>
                </a:solidFill>
                <a:latin typeface="Times New Roman"/>
                <a:ea typeface="Times New Roman"/>
                <a:cs typeface="Times New Roman"/>
                <a:sym typeface="Times New Roman"/>
              </a:rPr>
              <a:t>What feels like a prison in your life can become a platform for God.</a:t>
            </a:r>
            <a:endParaRPr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 sz="1300">
                <a:solidFill>
                  <a:schemeClr val="dk1"/>
                </a:solidFill>
                <a:latin typeface="Times New Roman"/>
                <a:ea typeface="Times New Roman"/>
                <a:cs typeface="Times New Roman"/>
                <a:sym typeface="Times New Roman"/>
              </a:rPr>
              <a:t>Scripture:</a:t>
            </a:r>
            <a:endParaRPr b="1"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rPr b="1" lang="en" sz="1300">
                <a:solidFill>
                  <a:schemeClr val="dk1"/>
                </a:solidFill>
                <a:latin typeface="Times New Roman"/>
                <a:ea typeface="Times New Roman"/>
                <a:cs typeface="Times New Roman"/>
                <a:sym typeface="Times New Roman"/>
              </a:rPr>
              <a:t>Philippians 1:12 (NKJV)</a:t>
            </a:r>
            <a:r>
              <a:rPr lang="en" sz="1300">
                <a:solidFill>
                  <a:schemeClr val="dk1"/>
                </a:solidFill>
                <a:latin typeface="Times New Roman"/>
                <a:ea typeface="Times New Roman"/>
                <a:cs typeface="Times New Roman"/>
                <a:sym typeface="Times New Roman"/>
              </a:rPr>
              <a:t> — “But I want you to know, brethren, that the things which happened to me have actually turned out for the furtherance of the gospel.”</a:t>
            </a:r>
            <a:endParaRPr sz="1300">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Chapter 1: “To Live In Christ” </a:t>
            </a:r>
            <a:endParaRPr b="1" sz="1700">
              <a:latin typeface="Times New Roman"/>
              <a:ea typeface="Times New Roman"/>
              <a:cs typeface="Times New Roman"/>
              <a:sym typeface="Times New Roman"/>
            </a:endParaRPr>
          </a:p>
          <a:p>
            <a:pPr indent="0" lvl="0" marL="0" rtl="0" algn="l">
              <a:spcBef>
                <a:spcPts val="0"/>
              </a:spcBef>
              <a:spcAft>
                <a:spcPts val="0"/>
              </a:spcAft>
              <a:buNone/>
            </a:pPr>
            <a:r>
              <a:t/>
            </a:r>
            <a:endParaRPr b="1" sz="1700">
              <a:latin typeface="Times New Roman"/>
              <a:ea typeface="Times New Roman"/>
              <a:cs typeface="Times New Roman"/>
              <a:sym typeface="Times New Roman"/>
            </a:endParaRPr>
          </a:p>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82" name="Google Shape;82;p17"/>
          <p:cNvSpPr txBox="1"/>
          <p:nvPr>
            <p:ph idx="1" type="body"/>
          </p:nvPr>
        </p:nvSpPr>
        <p:spPr>
          <a:xfrm>
            <a:off x="311700" y="1152475"/>
            <a:ext cx="4457700" cy="3873000"/>
          </a:xfrm>
          <a:prstGeom prst="rect">
            <a:avLst/>
          </a:prstGeom>
        </p:spPr>
        <p:txBody>
          <a:bodyPr anchorCtr="0" anchor="t" bIns="91425" lIns="91425" spcFirstLastPara="1" rIns="91425" wrap="square" tIns="91425">
            <a:normAutofit/>
          </a:bodyPr>
          <a:lstStyle/>
          <a:p>
            <a:pPr indent="-361950" lvl="0" marL="457200" rtl="0" algn="l">
              <a:spcBef>
                <a:spcPts val="1200"/>
              </a:spcBef>
              <a:spcAft>
                <a:spcPts val="0"/>
              </a:spcAft>
              <a:buClr>
                <a:schemeClr val="dk1"/>
              </a:buClr>
              <a:buSzPts val="2100"/>
              <a:buFont typeface="Times New Roman"/>
              <a:buChar char="●"/>
            </a:pPr>
            <a:r>
              <a:rPr lang="en" sz="2100">
                <a:solidFill>
                  <a:schemeClr val="dk1"/>
                </a:solidFill>
                <a:latin typeface="Times New Roman"/>
                <a:ea typeface="Times New Roman"/>
                <a:cs typeface="Times New Roman"/>
                <a:sym typeface="Times New Roman"/>
              </a:rPr>
              <a:t>Paul’s life is centered on Christ, not self</a:t>
            </a:r>
            <a:br>
              <a:rPr lang="en" sz="2100">
                <a:solidFill>
                  <a:schemeClr val="dk1"/>
                </a:solidFill>
                <a:latin typeface="Times New Roman"/>
                <a:ea typeface="Times New Roman"/>
                <a:cs typeface="Times New Roman"/>
                <a:sym typeface="Times New Roman"/>
              </a:rPr>
            </a:br>
            <a:endParaRPr sz="2100">
              <a:solidFill>
                <a:schemeClr val="dk1"/>
              </a:solidFill>
              <a:latin typeface="Times New Roman"/>
              <a:ea typeface="Times New Roman"/>
              <a:cs typeface="Times New Roman"/>
              <a:sym typeface="Times New Roman"/>
            </a:endParaRPr>
          </a:p>
          <a:p>
            <a:pPr indent="-361950" lvl="0" marL="457200" rtl="0" algn="l">
              <a:spcBef>
                <a:spcPts val="0"/>
              </a:spcBef>
              <a:spcAft>
                <a:spcPts val="0"/>
              </a:spcAft>
              <a:buClr>
                <a:schemeClr val="dk1"/>
              </a:buClr>
              <a:buSzPts val="2100"/>
              <a:buFont typeface="Times New Roman"/>
              <a:buChar char="●"/>
            </a:pPr>
            <a:r>
              <a:rPr lang="en" sz="2100">
                <a:solidFill>
                  <a:schemeClr val="dk1"/>
                </a:solidFill>
                <a:latin typeface="Times New Roman"/>
                <a:ea typeface="Times New Roman"/>
                <a:cs typeface="Times New Roman"/>
                <a:sym typeface="Times New Roman"/>
              </a:rPr>
              <a:t>Death is not ultimate loss for the believer</a:t>
            </a:r>
            <a:br>
              <a:rPr lang="en" sz="2100">
                <a:solidFill>
                  <a:schemeClr val="dk1"/>
                </a:solidFill>
                <a:latin typeface="Times New Roman"/>
                <a:ea typeface="Times New Roman"/>
                <a:cs typeface="Times New Roman"/>
                <a:sym typeface="Times New Roman"/>
              </a:rPr>
            </a:br>
            <a:endParaRPr sz="2100">
              <a:solidFill>
                <a:schemeClr val="dk1"/>
              </a:solidFill>
              <a:latin typeface="Times New Roman"/>
              <a:ea typeface="Times New Roman"/>
              <a:cs typeface="Times New Roman"/>
              <a:sym typeface="Times New Roman"/>
            </a:endParaRPr>
          </a:p>
          <a:p>
            <a:pPr indent="-361950" lvl="0" marL="457200" rtl="0" algn="l">
              <a:spcBef>
                <a:spcPts val="0"/>
              </a:spcBef>
              <a:spcAft>
                <a:spcPts val="0"/>
              </a:spcAft>
              <a:buClr>
                <a:schemeClr val="dk1"/>
              </a:buClr>
              <a:buSzPts val="2100"/>
              <a:buFont typeface="Times New Roman"/>
              <a:buChar char="●"/>
            </a:pPr>
            <a:r>
              <a:rPr lang="en" sz="2100">
                <a:solidFill>
                  <a:schemeClr val="dk1"/>
                </a:solidFill>
                <a:latin typeface="Times New Roman"/>
                <a:ea typeface="Times New Roman"/>
                <a:cs typeface="Times New Roman"/>
                <a:sym typeface="Times New Roman"/>
              </a:rPr>
              <a:t>This gives freedom from fear</a:t>
            </a:r>
            <a:br>
              <a:rPr lang="en" sz="2100">
                <a:solidFill>
                  <a:schemeClr val="dk1"/>
                </a:solidFill>
                <a:latin typeface="Times New Roman"/>
                <a:ea typeface="Times New Roman"/>
                <a:cs typeface="Times New Roman"/>
                <a:sym typeface="Times New Roman"/>
              </a:rPr>
            </a:br>
            <a:endParaRPr sz="21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sz="2100">
              <a:solidFill>
                <a:schemeClr val="dk1"/>
              </a:solidFill>
              <a:latin typeface="Times New Roman"/>
              <a:ea typeface="Times New Roman"/>
              <a:cs typeface="Times New Roman"/>
              <a:sym typeface="Times New Roman"/>
            </a:endParaRPr>
          </a:p>
        </p:txBody>
      </p:sp>
      <p:sp>
        <p:nvSpPr>
          <p:cNvPr id="83" name="Google Shape;83;p17"/>
          <p:cNvSpPr txBox="1"/>
          <p:nvPr/>
        </p:nvSpPr>
        <p:spPr>
          <a:xfrm>
            <a:off x="5296250" y="1573200"/>
            <a:ext cx="3000000" cy="161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300">
                <a:solidFill>
                  <a:schemeClr val="dk1"/>
                </a:solidFill>
                <a:latin typeface="Times New Roman"/>
                <a:ea typeface="Times New Roman"/>
                <a:cs typeface="Times New Roman"/>
                <a:sym typeface="Times New Roman"/>
              </a:rPr>
              <a:t>If Christ is your life, fear loses power over you.</a:t>
            </a:r>
            <a:endParaRPr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 sz="1300">
                <a:solidFill>
                  <a:schemeClr val="dk1"/>
                </a:solidFill>
                <a:latin typeface="Times New Roman"/>
                <a:ea typeface="Times New Roman"/>
                <a:cs typeface="Times New Roman"/>
                <a:sym typeface="Times New Roman"/>
              </a:rPr>
              <a:t>Scripture:</a:t>
            </a:r>
            <a:endParaRPr b="1"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rPr b="1" lang="en" sz="1300">
                <a:solidFill>
                  <a:schemeClr val="dk1"/>
                </a:solidFill>
                <a:latin typeface="Times New Roman"/>
                <a:ea typeface="Times New Roman"/>
                <a:cs typeface="Times New Roman"/>
                <a:sym typeface="Times New Roman"/>
              </a:rPr>
              <a:t>Philippians 1:21 (NKJV)</a:t>
            </a:r>
            <a:r>
              <a:rPr lang="en" sz="1300">
                <a:solidFill>
                  <a:schemeClr val="dk1"/>
                </a:solidFill>
                <a:latin typeface="Times New Roman"/>
                <a:ea typeface="Times New Roman"/>
                <a:cs typeface="Times New Roman"/>
                <a:sym typeface="Times New Roman"/>
              </a:rPr>
              <a:t> — “For to me, to live is Christ, and to die is gain.”</a:t>
            </a:r>
            <a:endParaRPr sz="1300">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Chapter 1: Stand Together </a:t>
            </a:r>
            <a:r>
              <a:rPr b="1" lang="en" sz="1700">
                <a:latin typeface="Times New Roman"/>
                <a:ea typeface="Times New Roman"/>
                <a:cs typeface="Times New Roman"/>
                <a:sym typeface="Times New Roman"/>
              </a:rPr>
              <a:t> </a:t>
            </a:r>
            <a:endParaRPr>
              <a:latin typeface="Times New Roman"/>
              <a:ea typeface="Times New Roman"/>
              <a:cs typeface="Times New Roman"/>
              <a:sym typeface="Times New Roman"/>
            </a:endParaRPr>
          </a:p>
        </p:txBody>
      </p:sp>
      <p:sp>
        <p:nvSpPr>
          <p:cNvPr id="89" name="Google Shape;89;p18"/>
          <p:cNvSpPr txBox="1"/>
          <p:nvPr>
            <p:ph idx="1" type="body"/>
          </p:nvPr>
        </p:nvSpPr>
        <p:spPr>
          <a:xfrm>
            <a:off x="311700" y="1152475"/>
            <a:ext cx="4260300" cy="3416400"/>
          </a:xfrm>
          <a:prstGeom prst="rect">
            <a:avLst/>
          </a:prstGeom>
        </p:spPr>
        <p:txBody>
          <a:bodyPr anchorCtr="0" anchor="t" bIns="91425" lIns="91425" spcFirstLastPara="1" rIns="91425" wrap="square" tIns="91425">
            <a:normAutofit/>
          </a:bodyPr>
          <a:lstStyle/>
          <a:p>
            <a:pPr indent="-298450" lvl="0" marL="457200" rtl="0" algn="l">
              <a:spcBef>
                <a:spcPts val="120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Paul calls the church to one spirit and one purpose</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Unity is part of Christian witness</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A divided church weakens its testimony</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a:solidFill>
                <a:schemeClr val="dk1"/>
              </a:solidFill>
              <a:latin typeface="Times New Roman"/>
              <a:ea typeface="Times New Roman"/>
              <a:cs typeface="Times New Roman"/>
              <a:sym typeface="Times New Roman"/>
            </a:endParaRPr>
          </a:p>
        </p:txBody>
      </p:sp>
      <p:sp>
        <p:nvSpPr>
          <p:cNvPr id="90" name="Google Shape;90;p18"/>
          <p:cNvSpPr txBox="1"/>
          <p:nvPr/>
        </p:nvSpPr>
        <p:spPr>
          <a:xfrm>
            <a:off x="5464425" y="1426050"/>
            <a:ext cx="3000000" cy="2073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300">
                <a:solidFill>
                  <a:schemeClr val="dk1"/>
                </a:solidFill>
              </a:rPr>
              <a:t>Joy and unity belong together.</a:t>
            </a:r>
            <a:endParaRPr sz="1300">
              <a:solidFill>
                <a:schemeClr val="dk1"/>
              </a:solidFill>
            </a:endParaRPr>
          </a:p>
          <a:p>
            <a:pPr indent="0" lvl="0" marL="0" rtl="0" algn="l">
              <a:lnSpc>
                <a:spcPct val="115000"/>
              </a:lnSpc>
              <a:spcBef>
                <a:spcPts val="1200"/>
              </a:spcBef>
              <a:spcAft>
                <a:spcPts val="0"/>
              </a:spcAft>
              <a:buNone/>
            </a:pPr>
            <a:r>
              <a:rPr b="1" lang="en" sz="1300">
                <a:solidFill>
                  <a:schemeClr val="dk1"/>
                </a:solidFill>
              </a:rPr>
              <a:t>Scripture:</a:t>
            </a:r>
            <a:endParaRPr b="1" sz="1300">
              <a:solidFill>
                <a:schemeClr val="dk1"/>
              </a:solidFill>
            </a:endParaRPr>
          </a:p>
          <a:p>
            <a:pPr indent="0" lvl="0" marL="0" rtl="0" algn="l">
              <a:lnSpc>
                <a:spcPct val="115000"/>
              </a:lnSpc>
              <a:spcBef>
                <a:spcPts val="1200"/>
              </a:spcBef>
              <a:spcAft>
                <a:spcPts val="1200"/>
              </a:spcAft>
              <a:buNone/>
            </a:pPr>
            <a:r>
              <a:rPr b="1" lang="en" sz="1300">
                <a:solidFill>
                  <a:schemeClr val="dk1"/>
                </a:solidFill>
              </a:rPr>
              <a:t>Philippians 1:27 (NKJV)</a:t>
            </a:r>
            <a:r>
              <a:rPr lang="en" sz="1300">
                <a:solidFill>
                  <a:schemeClr val="dk1"/>
                </a:solidFill>
              </a:rPr>
              <a:t> — “Only let your conduct be worthy of the gospel of Christ… standing fast in one spirit, with one mind striving together for the faith of the gospel.”</a:t>
            </a:r>
            <a:endParaRPr sz="13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Chapter 2: The Mind of Christ</a:t>
            </a:r>
            <a:endParaRPr>
              <a:latin typeface="Times New Roman"/>
              <a:ea typeface="Times New Roman"/>
              <a:cs typeface="Times New Roman"/>
              <a:sym typeface="Times New Roman"/>
            </a:endParaRPr>
          </a:p>
        </p:txBody>
      </p:sp>
      <p:sp>
        <p:nvSpPr>
          <p:cNvPr id="96" name="Google Shape;96;p19"/>
          <p:cNvSpPr txBox="1"/>
          <p:nvPr>
            <p:ph idx="1" type="body"/>
          </p:nvPr>
        </p:nvSpPr>
        <p:spPr>
          <a:xfrm>
            <a:off x="311700" y="1152475"/>
            <a:ext cx="4538400" cy="3416400"/>
          </a:xfrm>
          <a:prstGeom prst="rect">
            <a:avLst/>
          </a:prstGeom>
        </p:spPr>
        <p:txBody>
          <a:bodyPr anchorCtr="0" anchor="t" bIns="91425" lIns="91425" spcFirstLastPara="1" rIns="91425" wrap="square" tIns="91425">
            <a:normAutofit lnSpcReduction="10000"/>
          </a:bodyPr>
          <a:lstStyle/>
          <a:p>
            <a:pPr indent="0" lvl="0" marL="0" rtl="0" algn="l">
              <a:spcBef>
                <a:spcPts val="1400"/>
              </a:spcBef>
              <a:spcAft>
                <a:spcPts val="0"/>
              </a:spcAft>
              <a:buClr>
                <a:schemeClr val="dk1"/>
              </a:buClr>
              <a:buSzPts val="1100"/>
              <a:buFont typeface="Arial"/>
              <a:buNone/>
            </a:pPr>
            <a:r>
              <a:rPr b="1" lang="en">
                <a:solidFill>
                  <a:schemeClr val="dk1"/>
                </a:solidFill>
                <a:latin typeface="Times New Roman"/>
                <a:ea typeface="Times New Roman"/>
                <a:cs typeface="Times New Roman"/>
                <a:sym typeface="Times New Roman"/>
              </a:rPr>
              <a:t>The center of the whole lesson</a:t>
            </a:r>
            <a:endParaRPr b="1">
              <a:solidFill>
                <a:schemeClr val="dk1"/>
              </a:solidFill>
              <a:latin typeface="Times New Roman"/>
              <a:ea typeface="Times New Roman"/>
              <a:cs typeface="Times New Roman"/>
              <a:sym typeface="Times New Roman"/>
            </a:endParaRPr>
          </a:p>
          <a:p>
            <a:pPr indent="-342900" lvl="0" marL="457200" rtl="0" algn="l">
              <a:spcBef>
                <a:spcPts val="120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“Let this mind be in you…”</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Christianity is not only belief; it is formation</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We are called to think, love, and live like Christ</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a:solidFill>
                <a:schemeClr val="dk1"/>
              </a:solidFill>
              <a:latin typeface="Times New Roman"/>
              <a:ea typeface="Times New Roman"/>
              <a:cs typeface="Times New Roman"/>
              <a:sym typeface="Times New Roman"/>
            </a:endParaRPr>
          </a:p>
        </p:txBody>
      </p:sp>
      <p:sp>
        <p:nvSpPr>
          <p:cNvPr id="97" name="Google Shape;97;p19"/>
          <p:cNvSpPr txBox="1"/>
          <p:nvPr/>
        </p:nvSpPr>
        <p:spPr>
          <a:xfrm>
            <a:off x="5340100" y="1382150"/>
            <a:ext cx="3000000" cy="2073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300">
                <a:solidFill>
                  <a:schemeClr val="dk1"/>
                </a:solidFill>
                <a:latin typeface="Times New Roman"/>
                <a:ea typeface="Times New Roman"/>
                <a:cs typeface="Times New Roman"/>
                <a:sym typeface="Times New Roman"/>
              </a:rPr>
              <a:t>The Christian life is not just “what you believe about Jesus,” but “what kind of person you are becoming.”</a:t>
            </a:r>
            <a:endParaRPr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 sz="1300">
                <a:solidFill>
                  <a:schemeClr val="dk1"/>
                </a:solidFill>
                <a:latin typeface="Times New Roman"/>
                <a:ea typeface="Times New Roman"/>
                <a:cs typeface="Times New Roman"/>
                <a:sym typeface="Times New Roman"/>
              </a:rPr>
              <a:t>Scripture:</a:t>
            </a:r>
            <a:endParaRPr b="1"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rPr b="1" lang="en" sz="1300">
                <a:solidFill>
                  <a:schemeClr val="dk1"/>
                </a:solidFill>
                <a:latin typeface="Times New Roman"/>
                <a:ea typeface="Times New Roman"/>
                <a:cs typeface="Times New Roman"/>
                <a:sym typeface="Times New Roman"/>
              </a:rPr>
              <a:t>Philippians 2:5 (NKJV)</a:t>
            </a:r>
            <a:r>
              <a:rPr lang="en" sz="1300">
                <a:solidFill>
                  <a:schemeClr val="dk1"/>
                </a:solidFill>
                <a:latin typeface="Times New Roman"/>
                <a:ea typeface="Times New Roman"/>
                <a:cs typeface="Times New Roman"/>
                <a:sym typeface="Times New Roman"/>
              </a:rPr>
              <a:t> — “Let this mind be in you which was also in Christ Jesus.”</a:t>
            </a:r>
            <a:endParaRPr sz="1300">
              <a:solidFill>
                <a:schemeClr val="dk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Chapter 2: Humility vs Pride</a:t>
            </a:r>
            <a:endParaRPr>
              <a:latin typeface="Times New Roman"/>
              <a:ea typeface="Times New Roman"/>
              <a:cs typeface="Times New Roman"/>
              <a:sym typeface="Times New Roman"/>
            </a:endParaRPr>
          </a:p>
        </p:txBody>
      </p:sp>
      <p:sp>
        <p:nvSpPr>
          <p:cNvPr id="103" name="Google Shape;103;p20"/>
          <p:cNvSpPr txBox="1"/>
          <p:nvPr>
            <p:ph idx="1" type="body"/>
          </p:nvPr>
        </p:nvSpPr>
        <p:spPr>
          <a:xfrm>
            <a:off x="311700" y="1152475"/>
            <a:ext cx="4260300" cy="3416400"/>
          </a:xfrm>
          <a:prstGeom prst="rect">
            <a:avLst/>
          </a:prstGeom>
        </p:spPr>
        <p:txBody>
          <a:bodyPr anchorCtr="0" anchor="t" bIns="91425" lIns="91425" spcFirstLastPara="1" rIns="91425" wrap="square" tIns="91425">
            <a:normAutofit/>
          </a:bodyPr>
          <a:lstStyle/>
          <a:p>
            <a:pPr indent="-298450" lvl="0" marL="457200" rtl="0" algn="l">
              <a:spcBef>
                <a:spcPts val="120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Do nothing through selfish ambition</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Count others as more important than yourself</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Pride destroys peace faster than persecution</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a:solidFill>
                <a:schemeClr val="dk1"/>
              </a:solidFill>
              <a:latin typeface="Times New Roman"/>
              <a:ea typeface="Times New Roman"/>
              <a:cs typeface="Times New Roman"/>
              <a:sym typeface="Times New Roman"/>
            </a:endParaRPr>
          </a:p>
        </p:txBody>
      </p:sp>
      <p:sp>
        <p:nvSpPr>
          <p:cNvPr id="104" name="Google Shape;104;p20"/>
          <p:cNvSpPr txBox="1"/>
          <p:nvPr/>
        </p:nvSpPr>
        <p:spPr>
          <a:xfrm>
            <a:off x="5391300" y="1304475"/>
            <a:ext cx="3000000" cy="2303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300">
                <a:solidFill>
                  <a:schemeClr val="dk1"/>
                </a:solidFill>
                <a:latin typeface="Times New Roman"/>
                <a:ea typeface="Times New Roman"/>
                <a:cs typeface="Times New Roman"/>
                <a:sym typeface="Times New Roman"/>
              </a:rPr>
              <a:t>The greatest enemy of unity is often not pressure outside the Church, but pride inside the heart.</a:t>
            </a:r>
            <a:endParaRPr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 sz="1300">
                <a:solidFill>
                  <a:schemeClr val="dk1"/>
                </a:solidFill>
                <a:latin typeface="Times New Roman"/>
                <a:ea typeface="Times New Roman"/>
                <a:cs typeface="Times New Roman"/>
                <a:sym typeface="Times New Roman"/>
              </a:rPr>
              <a:t>Scripture:</a:t>
            </a:r>
            <a:endParaRPr b="1"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rPr b="1" lang="en" sz="1300">
                <a:solidFill>
                  <a:schemeClr val="dk1"/>
                </a:solidFill>
                <a:latin typeface="Times New Roman"/>
                <a:ea typeface="Times New Roman"/>
                <a:cs typeface="Times New Roman"/>
                <a:sym typeface="Times New Roman"/>
              </a:rPr>
              <a:t>Philippians 2:3 (NKJV)</a:t>
            </a:r>
            <a:r>
              <a:rPr lang="en" sz="1300">
                <a:solidFill>
                  <a:schemeClr val="dk1"/>
                </a:solidFill>
                <a:latin typeface="Times New Roman"/>
                <a:ea typeface="Times New Roman"/>
                <a:cs typeface="Times New Roman"/>
                <a:sym typeface="Times New Roman"/>
              </a:rPr>
              <a:t> — “Let nothing be done through selfish ambition or conceit, but in lowliness of mind let each esteem others better than himself.”</a:t>
            </a:r>
            <a:endParaRPr sz="1300">
              <a:solidFill>
                <a:schemeClr val="dk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Chapter 2: Christ’s Humility and Glory </a:t>
            </a:r>
            <a:endParaRPr>
              <a:latin typeface="Times New Roman"/>
              <a:ea typeface="Times New Roman"/>
              <a:cs typeface="Times New Roman"/>
              <a:sym typeface="Times New Roman"/>
            </a:endParaRPr>
          </a:p>
        </p:txBody>
      </p:sp>
      <p:sp>
        <p:nvSpPr>
          <p:cNvPr id="110" name="Google Shape;110;p21"/>
          <p:cNvSpPr txBox="1"/>
          <p:nvPr>
            <p:ph idx="1" type="body"/>
          </p:nvPr>
        </p:nvSpPr>
        <p:spPr>
          <a:xfrm>
            <a:off x="311700" y="1152475"/>
            <a:ext cx="4194600" cy="3416400"/>
          </a:xfrm>
          <a:prstGeom prst="rect">
            <a:avLst/>
          </a:prstGeom>
        </p:spPr>
        <p:txBody>
          <a:bodyPr anchorCtr="0" anchor="t" bIns="91425" lIns="91425" spcFirstLastPara="1" rIns="91425" wrap="square" tIns="91425">
            <a:normAutofit lnSpcReduction="10000"/>
          </a:bodyPr>
          <a:lstStyle/>
          <a:p>
            <a:pPr indent="-298450" lvl="0" marL="457200" rtl="0" algn="l">
              <a:spcBef>
                <a:spcPts val="120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Christ emptied Himself</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Took the form of a servant</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Became obedient to death, even the cross</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Then God highly exalted Him</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a:solidFill>
                <a:schemeClr val="dk1"/>
              </a:solidFill>
              <a:latin typeface="Times New Roman"/>
              <a:ea typeface="Times New Roman"/>
              <a:cs typeface="Times New Roman"/>
              <a:sym typeface="Times New Roman"/>
            </a:endParaRPr>
          </a:p>
        </p:txBody>
      </p:sp>
      <p:sp>
        <p:nvSpPr>
          <p:cNvPr id="111" name="Google Shape;111;p21"/>
          <p:cNvSpPr txBox="1"/>
          <p:nvPr/>
        </p:nvSpPr>
        <p:spPr>
          <a:xfrm>
            <a:off x="5566875" y="1286875"/>
            <a:ext cx="3000000" cy="2763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300">
                <a:solidFill>
                  <a:schemeClr val="dk1"/>
                </a:solidFill>
                <a:latin typeface="Times New Roman"/>
                <a:ea typeface="Times New Roman"/>
                <a:cs typeface="Times New Roman"/>
                <a:sym typeface="Times New Roman"/>
              </a:rPr>
              <a:t>In the Kingdom of God, humility is not weakness — it is the road to glory.</a:t>
            </a:r>
            <a:endParaRPr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 sz="1300">
                <a:solidFill>
                  <a:schemeClr val="dk1"/>
                </a:solidFill>
                <a:latin typeface="Times New Roman"/>
                <a:ea typeface="Times New Roman"/>
                <a:cs typeface="Times New Roman"/>
                <a:sym typeface="Times New Roman"/>
              </a:rPr>
              <a:t>Scripture:</a:t>
            </a:r>
            <a:endParaRPr b="1"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rPr b="1" lang="en" sz="1300">
                <a:solidFill>
                  <a:schemeClr val="dk1"/>
                </a:solidFill>
                <a:latin typeface="Times New Roman"/>
                <a:ea typeface="Times New Roman"/>
                <a:cs typeface="Times New Roman"/>
                <a:sym typeface="Times New Roman"/>
              </a:rPr>
              <a:t>Philippians 2:8–9 (NKJV)</a:t>
            </a:r>
            <a:r>
              <a:rPr lang="en" sz="1300">
                <a:solidFill>
                  <a:schemeClr val="dk1"/>
                </a:solidFill>
                <a:latin typeface="Times New Roman"/>
                <a:ea typeface="Times New Roman"/>
                <a:cs typeface="Times New Roman"/>
                <a:sym typeface="Times New Roman"/>
              </a:rPr>
              <a:t> — “And being found in appearance as a man, He humbled Himself and became obedient to the point of death, even the death of the cross. Therefore God also has highly exalted Him and given Him the name which is above every name.”</a:t>
            </a:r>
            <a:endParaRPr sz="1300">
              <a:solidFill>
                <a:schemeClr val="dk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Chapter 2: Work Out Your Salvation </a:t>
            </a:r>
            <a:endParaRPr>
              <a:latin typeface="Times New Roman"/>
              <a:ea typeface="Times New Roman"/>
              <a:cs typeface="Times New Roman"/>
              <a:sym typeface="Times New Roman"/>
            </a:endParaRPr>
          </a:p>
        </p:txBody>
      </p:sp>
      <p:sp>
        <p:nvSpPr>
          <p:cNvPr id="117" name="Google Shape;117;p22"/>
          <p:cNvSpPr txBox="1"/>
          <p:nvPr>
            <p:ph idx="1" type="body"/>
          </p:nvPr>
        </p:nvSpPr>
        <p:spPr>
          <a:xfrm>
            <a:off x="311700" y="1152475"/>
            <a:ext cx="4370100" cy="3416400"/>
          </a:xfrm>
          <a:prstGeom prst="rect">
            <a:avLst/>
          </a:prstGeom>
        </p:spPr>
        <p:txBody>
          <a:bodyPr anchorCtr="0" anchor="t" bIns="91425" lIns="91425" spcFirstLastPara="1" rIns="91425" wrap="square" tIns="91425">
            <a:normAutofit/>
          </a:bodyPr>
          <a:lstStyle/>
          <a:p>
            <a:pPr indent="-298450" lvl="0" marL="457200" rtl="0" algn="l">
              <a:spcBef>
                <a:spcPts val="120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Paul says: “work out your salvation”</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This does not mean “save yourself”</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It means: cooperate with the grace God is already working in you</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a:solidFill>
                <a:schemeClr val="dk1"/>
              </a:solidFill>
              <a:latin typeface="Times New Roman"/>
              <a:ea typeface="Times New Roman"/>
              <a:cs typeface="Times New Roman"/>
              <a:sym typeface="Times New Roman"/>
            </a:endParaRPr>
          </a:p>
        </p:txBody>
      </p:sp>
      <p:sp>
        <p:nvSpPr>
          <p:cNvPr id="118" name="Google Shape;118;p22"/>
          <p:cNvSpPr txBox="1"/>
          <p:nvPr/>
        </p:nvSpPr>
        <p:spPr>
          <a:xfrm>
            <a:off x="5523000" y="1390800"/>
            <a:ext cx="3000000" cy="2687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300">
                <a:solidFill>
                  <a:schemeClr val="dk1"/>
                </a:solidFill>
                <a:latin typeface="Times New Roman"/>
                <a:ea typeface="Times New Roman"/>
                <a:cs typeface="Times New Roman"/>
                <a:sym typeface="Times New Roman"/>
              </a:rPr>
              <a:t>Orthodox lens:</a:t>
            </a:r>
            <a:endParaRPr b="1"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 sz="1300">
                <a:solidFill>
                  <a:schemeClr val="dk1"/>
                </a:solidFill>
                <a:latin typeface="Times New Roman"/>
                <a:ea typeface="Times New Roman"/>
                <a:cs typeface="Times New Roman"/>
                <a:sym typeface="Times New Roman"/>
              </a:rPr>
              <a:t>God works in us; we respond. This is spiritual cooperation (synergy).</a:t>
            </a:r>
            <a:endParaRPr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 sz="1300">
                <a:solidFill>
                  <a:schemeClr val="dk1"/>
                </a:solidFill>
                <a:latin typeface="Times New Roman"/>
                <a:ea typeface="Times New Roman"/>
                <a:cs typeface="Times New Roman"/>
                <a:sym typeface="Times New Roman"/>
              </a:rPr>
              <a:t>Scripture:</a:t>
            </a:r>
            <a:endParaRPr b="1"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rPr b="1" lang="en" sz="1300">
                <a:solidFill>
                  <a:schemeClr val="dk1"/>
                </a:solidFill>
                <a:latin typeface="Times New Roman"/>
                <a:ea typeface="Times New Roman"/>
                <a:cs typeface="Times New Roman"/>
                <a:sym typeface="Times New Roman"/>
              </a:rPr>
              <a:t>Philippians 2:12–13 (NKJV)</a:t>
            </a:r>
            <a:r>
              <a:rPr lang="en" sz="1300">
                <a:solidFill>
                  <a:schemeClr val="dk1"/>
                </a:solidFill>
                <a:latin typeface="Times New Roman"/>
                <a:ea typeface="Times New Roman"/>
                <a:cs typeface="Times New Roman"/>
                <a:sym typeface="Times New Roman"/>
              </a:rPr>
              <a:t> — “…work out your own salvation with fear and trembling; for it is God who works in you both to will and to do for His good pleasure.”</a:t>
            </a:r>
            <a:endParaRPr sz="1300">
              <a:solidFill>
                <a:schemeClr val="dk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Chapter 2: Shine Without Complaining </a:t>
            </a:r>
            <a:endParaRPr>
              <a:latin typeface="Times New Roman"/>
              <a:ea typeface="Times New Roman"/>
              <a:cs typeface="Times New Roman"/>
              <a:sym typeface="Times New Roman"/>
            </a:endParaRPr>
          </a:p>
        </p:txBody>
      </p:sp>
      <p:sp>
        <p:nvSpPr>
          <p:cNvPr id="124" name="Google Shape;124;p23"/>
          <p:cNvSpPr txBox="1"/>
          <p:nvPr>
            <p:ph idx="1" type="body"/>
          </p:nvPr>
        </p:nvSpPr>
        <p:spPr>
          <a:xfrm>
            <a:off x="311700" y="1152475"/>
            <a:ext cx="4655400" cy="3416400"/>
          </a:xfrm>
          <a:prstGeom prst="rect">
            <a:avLst/>
          </a:prstGeom>
        </p:spPr>
        <p:txBody>
          <a:bodyPr anchorCtr="0" anchor="t" bIns="91425" lIns="91425" spcFirstLastPara="1" rIns="91425" wrap="square" tIns="91425">
            <a:normAutofit/>
          </a:bodyPr>
          <a:lstStyle/>
          <a:p>
            <a:pPr indent="-298450" lvl="0" marL="457200" rtl="0" algn="l">
              <a:spcBef>
                <a:spcPts val="120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Complaining and arguing poison community life</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Paul calls believers to shine as lights</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Holiness shows up in speech, attitude, and daily behavior</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a:solidFill>
                <a:schemeClr val="dk1"/>
              </a:solidFill>
              <a:latin typeface="Times New Roman"/>
              <a:ea typeface="Times New Roman"/>
              <a:cs typeface="Times New Roman"/>
              <a:sym typeface="Times New Roman"/>
            </a:endParaRPr>
          </a:p>
        </p:txBody>
      </p:sp>
      <p:sp>
        <p:nvSpPr>
          <p:cNvPr id="125" name="Google Shape;125;p23"/>
          <p:cNvSpPr txBox="1"/>
          <p:nvPr/>
        </p:nvSpPr>
        <p:spPr>
          <a:xfrm>
            <a:off x="5530300" y="1286875"/>
            <a:ext cx="3000000" cy="2763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300">
                <a:solidFill>
                  <a:schemeClr val="dk1"/>
                </a:solidFill>
                <a:latin typeface="Times New Roman"/>
                <a:ea typeface="Times New Roman"/>
                <a:cs typeface="Times New Roman"/>
                <a:sym typeface="Times New Roman"/>
              </a:rPr>
              <a:t>A holy life is not only big moments. It is also how you speak when you’re frustrated.</a:t>
            </a:r>
            <a:endParaRPr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 sz="1300">
                <a:solidFill>
                  <a:schemeClr val="dk1"/>
                </a:solidFill>
                <a:latin typeface="Times New Roman"/>
                <a:ea typeface="Times New Roman"/>
                <a:cs typeface="Times New Roman"/>
                <a:sym typeface="Times New Roman"/>
              </a:rPr>
              <a:t>Scripture:</a:t>
            </a:r>
            <a:endParaRPr b="1"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rPr b="1" lang="en" sz="1300">
                <a:solidFill>
                  <a:schemeClr val="dk1"/>
                </a:solidFill>
                <a:latin typeface="Times New Roman"/>
                <a:ea typeface="Times New Roman"/>
                <a:cs typeface="Times New Roman"/>
                <a:sym typeface="Times New Roman"/>
              </a:rPr>
              <a:t>Philippians 2:14–15 (NKJV)</a:t>
            </a:r>
            <a:r>
              <a:rPr lang="en" sz="1300">
                <a:solidFill>
                  <a:schemeClr val="dk1"/>
                </a:solidFill>
                <a:latin typeface="Times New Roman"/>
                <a:ea typeface="Times New Roman"/>
                <a:cs typeface="Times New Roman"/>
                <a:sym typeface="Times New Roman"/>
              </a:rPr>
              <a:t> — “Do all things without complaining and disputing, that you may become blameless and harmless, children of God without fault… among whom you shine as lights in the world.”</a:t>
            </a:r>
            <a:endParaRPr sz="1300">
              <a:solidFill>
                <a:schemeClr val="dk1"/>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Chapter 2: Guard Against False Confidence </a:t>
            </a:r>
            <a:endParaRPr>
              <a:latin typeface="Times New Roman"/>
              <a:ea typeface="Times New Roman"/>
              <a:cs typeface="Times New Roman"/>
              <a:sym typeface="Times New Roman"/>
            </a:endParaRPr>
          </a:p>
        </p:txBody>
      </p:sp>
      <p:sp>
        <p:nvSpPr>
          <p:cNvPr id="131" name="Google Shape;131;p24"/>
          <p:cNvSpPr txBox="1"/>
          <p:nvPr>
            <p:ph idx="1" type="body"/>
          </p:nvPr>
        </p:nvSpPr>
        <p:spPr>
          <a:xfrm>
            <a:off x="311700" y="1152475"/>
            <a:ext cx="4011600" cy="3416400"/>
          </a:xfrm>
          <a:prstGeom prst="rect">
            <a:avLst/>
          </a:prstGeom>
        </p:spPr>
        <p:txBody>
          <a:bodyPr anchorCtr="0" anchor="t" bIns="91425" lIns="91425" spcFirstLastPara="1" rIns="91425" wrap="square" tIns="91425">
            <a:normAutofit/>
          </a:bodyPr>
          <a:lstStyle/>
          <a:p>
            <a:pPr indent="-298450" lvl="0" marL="457200" rtl="0" algn="l">
              <a:spcBef>
                <a:spcPts val="120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Paul warns against confidence in the flesh</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Religious status, background, and achievements cannot replace Christ</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Pride can wear a religious costume</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a:solidFill>
                <a:schemeClr val="dk1"/>
              </a:solidFill>
              <a:latin typeface="Times New Roman"/>
              <a:ea typeface="Times New Roman"/>
              <a:cs typeface="Times New Roman"/>
              <a:sym typeface="Times New Roman"/>
            </a:endParaRPr>
          </a:p>
        </p:txBody>
      </p:sp>
      <p:sp>
        <p:nvSpPr>
          <p:cNvPr id="132" name="Google Shape;132;p24"/>
          <p:cNvSpPr txBox="1"/>
          <p:nvPr/>
        </p:nvSpPr>
        <p:spPr>
          <a:xfrm>
            <a:off x="5113350" y="1456450"/>
            <a:ext cx="3000000" cy="2073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300">
                <a:solidFill>
                  <a:schemeClr val="dk1"/>
                </a:solidFill>
                <a:latin typeface="Times New Roman"/>
                <a:ea typeface="Times New Roman"/>
                <a:cs typeface="Times New Roman"/>
                <a:sym typeface="Times New Roman"/>
              </a:rPr>
              <a:t>You can be “religious” and still far from Christ if your trust is in yourself.</a:t>
            </a:r>
            <a:endParaRPr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 sz="1300">
                <a:solidFill>
                  <a:schemeClr val="dk1"/>
                </a:solidFill>
                <a:latin typeface="Times New Roman"/>
                <a:ea typeface="Times New Roman"/>
                <a:cs typeface="Times New Roman"/>
                <a:sym typeface="Times New Roman"/>
              </a:rPr>
              <a:t>Scripture:</a:t>
            </a:r>
            <a:endParaRPr b="1"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rPr b="1" lang="en" sz="1300">
                <a:solidFill>
                  <a:schemeClr val="dk1"/>
                </a:solidFill>
                <a:latin typeface="Times New Roman"/>
                <a:ea typeface="Times New Roman"/>
                <a:cs typeface="Times New Roman"/>
                <a:sym typeface="Times New Roman"/>
              </a:rPr>
              <a:t>Philippians 3:3 (NKJV)</a:t>
            </a:r>
            <a:r>
              <a:rPr lang="en" sz="1300">
                <a:solidFill>
                  <a:schemeClr val="dk1"/>
                </a:solidFill>
                <a:latin typeface="Times New Roman"/>
                <a:ea typeface="Times New Roman"/>
                <a:cs typeface="Times New Roman"/>
                <a:sym typeface="Times New Roman"/>
              </a:rPr>
              <a:t> — “For we are the circumcision, who worship God in the Spirit, rejoice in Christ Jesus, and have no confidence in the flesh.”</a:t>
            </a:r>
            <a:endParaRPr sz="1300">
              <a:solidFill>
                <a:schemeClr val="dk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Chapter 2: Loss and Gain </a:t>
            </a:r>
            <a:endParaRPr>
              <a:latin typeface="Times New Roman"/>
              <a:ea typeface="Times New Roman"/>
              <a:cs typeface="Times New Roman"/>
              <a:sym typeface="Times New Roman"/>
            </a:endParaRPr>
          </a:p>
        </p:txBody>
      </p:sp>
      <p:sp>
        <p:nvSpPr>
          <p:cNvPr id="138" name="Google Shape;138;p25"/>
          <p:cNvSpPr txBox="1"/>
          <p:nvPr>
            <p:ph idx="1" type="body"/>
          </p:nvPr>
        </p:nvSpPr>
        <p:spPr>
          <a:xfrm>
            <a:off x="311700" y="1152475"/>
            <a:ext cx="4260300" cy="3416400"/>
          </a:xfrm>
          <a:prstGeom prst="rect">
            <a:avLst/>
          </a:prstGeom>
        </p:spPr>
        <p:txBody>
          <a:bodyPr anchorCtr="0" anchor="t" bIns="91425" lIns="91425" spcFirstLastPara="1" rIns="91425" wrap="square" tIns="91425">
            <a:normAutofit/>
          </a:bodyPr>
          <a:lstStyle/>
          <a:p>
            <a:pPr indent="-298450" lvl="0" marL="457200" rtl="0" algn="l">
              <a:spcBef>
                <a:spcPts val="120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Paul counts his old status as loss</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Knowing Christ is worth more than everything else</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Christ is the treasure, not just the helper</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a:solidFill>
                <a:schemeClr val="dk1"/>
              </a:solidFill>
              <a:latin typeface="Times New Roman"/>
              <a:ea typeface="Times New Roman"/>
              <a:cs typeface="Times New Roman"/>
              <a:sym typeface="Times New Roman"/>
            </a:endParaRPr>
          </a:p>
        </p:txBody>
      </p:sp>
      <p:sp>
        <p:nvSpPr>
          <p:cNvPr id="139" name="Google Shape;139;p25"/>
          <p:cNvSpPr txBox="1"/>
          <p:nvPr/>
        </p:nvSpPr>
        <p:spPr>
          <a:xfrm>
            <a:off x="5135275" y="1460500"/>
            <a:ext cx="3000000" cy="2303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300">
                <a:solidFill>
                  <a:schemeClr val="dk1"/>
                </a:solidFill>
                <a:latin typeface="Times New Roman"/>
                <a:ea typeface="Times New Roman"/>
                <a:cs typeface="Times New Roman"/>
                <a:sym typeface="Times New Roman"/>
              </a:rPr>
              <a:t>The Christian life matures when Christ stops being an “add-on” and becomes everything.</a:t>
            </a:r>
            <a:endParaRPr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 sz="1300">
                <a:solidFill>
                  <a:schemeClr val="dk1"/>
                </a:solidFill>
                <a:latin typeface="Times New Roman"/>
                <a:ea typeface="Times New Roman"/>
                <a:cs typeface="Times New Roman"/>
                <a:sym typeface="Times New Roman"/>
              </a:rPr>
              <a:t>Scripture:</a:t>
            </a:r>
            <a:endParaRPr b="1"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rPr b="1" lang="en" sz="1300">
                <a:solidFill>
                  <a:schemeClr val="dk1"/>
                </a:solidFill>
                <a:latin typeface="Times New Roman"/>
                <a:ea typeface="Times New Roman"/>
                <a:cs typeface="Times New Roman"/>
                <a:sym typeface="Times New Roman"/>
              </a:rPr>
              <a:t>Philippians 3:8 (NKJV)</a:t>
            </a:r>
            <a:r>
              <a:rPr lang="en" sz="1300">
                <a:solidFill>
                  <a:schemeClr val="dk1"/>
                </a:solidFill>
                <a:latin typeface="Times New Roman"/>
                <a:ea typeface="Times New Roman"/>
                <a:cs typeface="Times New Roman"/>
                <a:sym typeface="Times New Roman"/>
              </a:rPr>
              <a:t> — “Yet indeed I also count all things loss for the excellence of the knowledge of Christ Jesus my Lord…”</a:t>
            </a:r>
            <a:endParaRPr sz="1300">
              <a:solidFill>
                <a:schemeClr val="dk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Chapter 3: Press Toward the Prize </a:t>
            </a:r>
            <a:endParaRPr>
              <a:latin typeface="Times New Roman"/>
              <a:ea typeface="Times New Roman"/>
              <a:cs typeface="Times New Roman"/>
              <a:sym typeface="Times New Roman"/>
            </a:endParaRPr>
          </a:p>
        </p:txBody>
      </p:sp>
      <p:sp>
        <p:nvSpPr>
          <p:cNvPr id="145" name="Google Shape;145;p26"/>
          <p:cNvSpPr txBox="1"/>
          <p:nvPr>
            <p:ph idx="1" type="body"/>
          </p:nvPr>
        </p:nvSpPr>
        <p:spPr>
          <a:xfrm>
            <a:off x="311700" y="1286875"/>
            <a:ext cx="4706400" cy="3416400"/>
          </a:xfrm>
          <a:prstGeom prst="rect">
            <a:avLst/>
          </a:prstGeom>
        </p:spPr>
        <p:txBody>
          <a:bodyPr anchorCtr="0" anchor="t" bIns="91425" lIns="91425" spcFirstLastPara="1" rIns="91425" wrap="square" tIns="91425">
            <a:normAutofit/>
          </a:bodyPr>
          <a:lstStyle/>
          <a:p>
            <a:pPr indent="-298450" lvl="0" marL="457200" rtl="0" algn="l">
              <a:spcBef>
                <a:spcPts val="120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Paul says he has not already arrived</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He forgets what is behind and presses forward</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Spiritual life is a race, not a one-time moment</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a:solidFill>
                <a:schemeClr val="dk1"/>
              </a:solidFill>
              <a:latin typeface="Times New Roman"/>
              <a:ea typeface="Times New Roman"/>
              <a:cs typeface="Times New Roman"/>
              <a:sym typeface="Times New Roman"/>
            </a:endParaRPr>
          </a:p>
        </p:txBody>
      </p:sp>
      <p:sp>
        <p:nvSpPr>
          <p:cNvPr id="146" name="Google Shape;146;p26"/>
          <p:cNvSpPr txBox="1"/>
          <p:nvPr/>
        </p:nvSpPr>
        <p:spPr>
          <a:xfrm>
            <a:off x="5186525" y="1111325"/>
            <a:ext cx="3000000" cy="2763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300">
                <a:solidFill>
                  <a:schemeClr val="dk1"/>
                </a:solidFill>
                <a:latin typeface="Times New Roman"/>
                <a:ea typeface="Times New Roman"/>
                <a:cs typeface="Times New Roman"/>
                <a:sym typeface="Times New Roman"/>
              </a:rPr>
              <a:t>A real disciple is not perfect — a real disciple keeps moving toward Christ.</a:t>
            </a:r>
            <a:endParaRPr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 sz="1300">
                <a:solidFill>
                  <a:schemeClr val="dk1"/>
                </a:solidFill>
                <a:latin typeface="Times New Roman"/>
                <a:ea typeface="Times New Roman"/>
                <a:cs typeface="Times New Roman"/>
                <a:sym typeface="Times New Roman"/>
              </a:rPr>
              <a:t>Scripture:</a:t>
            </a:r>
            <a:endParaRPr b="1"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rPr b="1" lang="en" sz="1300">
                <a:solidFill>
                  <a:schemeClr val="dk1"/>
                </a:solidFill>
                <a:latin typeface="Times New Roman"/>
                <a:ea typeface="Times New Roman"/>
                <a:cs typeface="Times New Roman"/>
                <a:sym typeface="Times New Roman"/>
              </a:rPr>
              <a:t>Philippians 3:13–14 (NKJV)</a:t>
            </a:r>
            <a:r>
              <a:rPr lang="en" sz="1300">
                <a:solidFill>
                  <a:schemeClr val="dk1"/>
                </a:solidFill>
                <a:latin typeface="Times New Roman"/>
                <a:ea typeface="Times New Roman"/>
                <a:cs typeface="Times New Roman"/>
                <a:sym typeface="Times New Roman"/>
              </a:rPr>
              <a:t> — “Brethren, I do not count myself to have apprehended; but one thing I do, forgetting those things which are behind and reaching forward… I press toward the goal for the prize of the upward call of God in Christ Jesus.”</a:t>
            </a:r>
            <a:endParaRPr sz="1300">
              <a:solidFill>
                <a:schemeClr val="dk1"/>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Chapter 3: </a:t>
            </a:r>
            <a:r>
              <a:rPr lang="en">
                <a:latin typeface="Times New Roman"/>
                <a:ea typeface="Times New Roman"/>
                <a:cs typeface="Times New Roman"/>
                <a:sym typeface="Times New Roman"/>
              </a:rPr>
              <a:t>Citizenship</a:t>
            </a:r>
            <a:r>
              <a:rPr lang="en">
                <a:latin typeface="Times New Roman"/>
                <a:ea typeface="Times New Roman"/>
                <a:cs typeface="Times New Roman"/>
                <a:sym typeface="Times New Roman"/>
              </a:rPr>
              <a:t> in Heaven </a:t>
            </a:r>
            <a:endParaRPr>
              <a:latin typeface="Times New Roman"/>
              <a:ea typeface="Times New Roman"/>
              <a:cs typeface="Times New Roman"/>
              <a:sym typeface="Times New Roman"/>
            </a:endParaRPr>
          </a:p>
        </p:txBody>
      </p:sp>
      <p:sp>
        <p:nvSpPr>
          <p:cNvPr id="152" name="Google Shape;152;p27"/>
          <p:cNvSpPr txBox="1"/>
          <p:nvPr>
            <p:ph idx="1" type="body"/>
          </p:nvPr>
        </p:nvSpPr>
        <p:spPr>
          <a:xfrm>
            <a:off x="311700" y="1262200"/>
            <a:ext cx="3938400" cy="3416400"/>
          </a:xfrm>
          <a:prstGeom prst="rect">
            <a:avLst/>
          </a:prstGeom>
        </p:spPr>
        <p:txBody>
          <a:bodyPr anchorCtr="0" anchor="t" bIns="91425" lIns="91425" spcFirstLastPara="1" rIns="91425" wrap="square" tIns="91425">
            <a:normAutofit/>
          </a:bodyPr>
          <a:lstStyle/>
          <a:p>
            <a:pPr indent="-298450" lvl="0" marL="457200" rtl="0" algn="l">
              <a:spcBef>
                <a:spcPts val="120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Christians live on earth but belong to heaven</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Our identity shapes our choices</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Hope in Christ gives endurance</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a:solidFill>
                <a:schemeClr val="dk1"/>
              </a:solidFill>
              <a:latin typeface="Times New Roman"/>
              <a:ea typeface="Times New Roman"/>
              <a:cs typeface="Times New Roman"/>
              <a:sym typeface="Times New Roman"/>
            </a:endParaRPr>
          </a:p>
        </p:txBody>
      </p:sp>
      <p:sp>
        <p:nvSpPr>
          <p:cNvPr id="153" name="Google Shape;153;p27"/>
          <p:cNvSpPr txBox="1"/>
          <p:nvPr/>
        </p:nvSpPr>
        <p:spPr>
          <a:xfrm>
            <a:off x="5025550" y="1343100"/>
            <a:ext cx="3000000" cy="2073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300">
                <a:solidFill>
                  <a:schemeClr val="dk1"/>
                </a:solidFill>
                <a:latin typeface="Times New Roman"/>
                <a:ea typeface="Times New Roman"/>
                <a:cs typeface="Times New Roman"/>
                <a:sym typeface="Times New Roman"/>
              </a:rPr>
              <a:t>If heaven is your homeland, this world will not define your values.</a:t>
            </a:r>
            <a:endParaRPr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 sz="1300">
                <a:solidFill>
                  <a:schemeClr val="dk1"/>
                </a:solidFill>
                <a:latin typeface="Times New Roman"/>
                <a:ea typeface="Times New Roman"/>
                <a:cs typeface="Times New Roman"/>
                <a:sym typeface="Times New Roman"/>
              </a:rPr>
              <a:t>Scripture:</a:t>
            </a:r>
            <a:endParaRPr b="1"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rPr b="1" lang="en" sz="1300">
                <a:solidFill>
                  <a:schemeClr val="dk1"/>
                </a:solidFill>
                <a:latin typeface="Times New Roman"/>
                <a:ea typeface="Times New Roman"/>
                <a:cs typeface="Times New Roman"/>
                <a:sym typeface="Times New Roman"/>
              </a:rPr>
              <a:t>Philippians 3:20 (NKJV)</a:t>
            </a:r>
            <a:r>
              <a:rPr lang="en" sz="1300">
                <a:solidFill>
                  <a:schemeClr val="dk1"/>
                </a:solidFill>
                <a:latin typeface="Times New Roman"/>
                <a:ea typeface="Times New Roman"/>
                <a:cs typeface="Times New Roman"/>
                <a:sym typeface="Times New Roman"/>
              </a:rPr>
              <a:t> — “For our citizenship is in heaven, from which we also eagerly wait for the Savior, the Lord Jesus Christ.”</a:t>
            </a:r>
            <a:endParaRPr sz="1300">
              <a:solidFill>
                <a:schemeClr val="dk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Chapter 4: Stand Firm and Heal Conflict </a:t>
            </a:r>
            <a:endParaRPr>
              <a:latin typeface="Times New Roman"/>
              <a:ea typeface="Times New Roman"/>
              <a:cs typeface="Times New Roman"/>
              <a:sym typeface="Times New Roman"/>
            </a:endParaRPr>
          </a:p>
        </p:txBody>
      </p:sp>
      <p:sp>
        <p:nvSpPr>
          <p:cNvPr id="159" name="Google Shape;159;p28"/>
          <p:cNvSpPr txBox="1"/>
          <p:nvPr>
            <p:ph idx="1" type="body"/>
          </p:nvPr>
        </p:nvSpPr>
        <p:spPr>
          <a:xfrm>
            <a:off x="311700" y="1152475"/>
            <a:ext cx="4428600" cy="3416400"/>
          </a:xfrm>
          <a:prstGeom prst="rect">
            <a:avLst/>
          </a:prstGeom>
        </p:spPr>
        <p:txBody>
          <a:bodyPr anchorCtr="0" anchor="t" bIns="91425" lIns="91425" spcFirstLastPara="1" rIns="91425" wrap="square" tIns="91425">
            <a:normAutofit/>
          </a:bodyPr>
          <a:lstStyle/>
          <a:p>
            <a:pPr indent="-298450" lvl="0" marL="457200" rtl="0" algn="l">
              <a:spcBef>
                <a:spcPts val="120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Paul calls the church to stand firm</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He addresses conflict directly (Euodia and Syntyche)</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Spiritual maturity includes reconciliation</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a:solidFill>
                <a:schemeClr val="dk1"/>
              </a:solidFill>
              <a:latin typeface="Times New Roman"/>
              <a:ea typeface="Times New Roman"/>
              <a:cs typeface="Times New Roman"/>
              <a:sym typeface="Times New Roman"/>
            </a:endParaRPr>
          </a:p>
        </p:txBody>
      </p:sp>
      <p:sp>
        <p:nvSpPr>
          <p:cNvPr id="160" name="Google Shape;160;p28"/>
          <p:cNvSpPr txBox="1"/>
          <p:nvPr/>
        </p:nvSpPr>
        <p:spPr>
          <a:xfrm>
            <a:off x="5471775" y="1516975"/>
            <a:ext cx="3000000" cy="2303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300">
                <a:solidFill>
                  <a:schemeClr val="dk1"/>
                </a:solidFill>
                <a:latin typeface="Times New Roman"/>
                <a:ea typeface="Times New Roman"/>
                <a:cs typeface="Times New Roman"/>
                <a:sym typeface="Times New Roman"/>
              </a:rPr>
              <a:t>Peace in the Church must be protected on purpose.</a:t>
            </a:r>
            <a:endParaRPr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 sz="1300">
                <a:solidFill>
                  <a:schemeClr val="dk1"/>
                </a:solidFill>
                <a:latin typeface="Times New Roman"/>
                <a:ea typeface="Times New Roman"/>
                <a:cs typeface="Times New Roman"/>
                <a:sym typeface="Times New Roman"/>
              </a:rPr>
              <a:t>Scripture:</a:t>
            </a:r>
            <a:endParaRPr b="1"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rPr b="1" lang="en" sz="1300">
                <a:solidFill>
                  <a:schemeClr val="dk1"/>
                </a:solidFill>
                <a:latin typeface="Times New Roman"/>
                <a:ea typeface="Times New Roman"/>
                <a:cs typeface="Times New Roman"/>
                <a:sym typeface="Times New Roman"/>
              </a:rPr>
              <a:t>Philippians 4:2–3 (NKJV)</a:t>
            </a:r>
            <a:r>
              <a:rPr lang="en" sz="1300">
                <a:solidFill>
                  <a:schemeClr val="dk1"/>
                </a:solidFill>
                <a:latin typeface="Times New Roman"/>
                <a:ea typeface="Times New Roman"/>
                <a:cs typeface="Times New Roman"/>
                <a:sym typeface="Times New Roman"/>
              </a:rPr>
              <a:t> — “I implore Euodia and I implore Syntyche to be of the same mind in the Lord… help these women who labored with me in the gospel…”</a:t>
            </a:r>
            <a:endParaRPr sz="1300">
              <a:solidFill>
                <a:schemeClr val="dk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Chapter 4: Rejoice, Pray, and Guard the Mind 		</a:t>
            </a:r>
            <a:endParaRPr>
              <a:latin typeface="Times New Roman"/>
              <a:ea typeface="Times New Roman"/>
              <a:cs typeface="Times New Roman"/>
              <a:sym typeface="Times New Roman"/>
            </a:endParaRPr>
          </a:p>
        </p:txBody>
      </p:sp>
      <p:sp>
        <p:nvSpPr>
          <p:cNvPr id="166" name="Google Shape;166;p29"/>
          <p:cNvSpPr txBox="1"/>
          <p:nvPr>
            <p:ph idx="1" type="body"/>
          </p:nvPr>
        </p:nvSpPr>
        <p:spPr>
          <a:xfrm>
            <a:off x="311700" y="1152475"/>
            <a:ext cx="4187100" cy="3416400"/>
          </a:xfrm>
          <a:prstGeom prst="rect">
            <a:avLst/>
          </a:prstGeom>
        </p:spPr>
        <p:txBody>
          <a:bodyPr anchorCtr="0" anchor="t" bIns="91425" lIns="91425" spcFirstLastPara="1" rIns="91425" wrap="square" tIns="91425">
            <a:normAutofit/>
          </a:bodyPr>
          <a:lstStyle/>
          <a:p>
            <a:pPr indent="-298450" lvl="0" marL="457200" rtl="0" algn="l">
              <a:spcBef>
                <a:spcPts val="120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Rejoice always</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Bring everything to God in prayer</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Thanksgiving protects the heart</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God’s peace guards mind and heart</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a:solidFill>
                <a:schemeClr val="dk1"/>
              </a:solidFill>
              <a:latin typeface="Times New Roman"/>
              <a:ea typeface="Times New Roman"/>
              <a:cs typeface="Times New Roman"/>
              <a:sym typeface="Times New Roman"/>
            </a:endParaRPr>
          </a:p>
        </p:txBody>
      </p:sp>
      <p:sp>
        <p:nvSpPr>
          <p:cNvPr id="167" name="Google Shape;167;p29"/>
          <p:cNvSpPr txBox="1"/>
          <p:nvPr/>
        </p:nvSpPr>
        <p:spPr>
          <a:xfrm>
            <a:off x="5215725" y="1191775"/>
            <a:ext cx="3000000" cy="2763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300">
                <a:solidFill>
                  <a:schemeClr val="dk1"/>
                </a:solidFill>
                <a:latin typeface="Times New Roman"/>
                <a:ea typeface="Times New Roman"/>
                <a:cs typeface="Times New Roman"/>
                <a:sym typeface="Times New Roman"/>
              </a:rPr>
              <a:t>Prayer is not the last option. It is the first defense against anxiety.</a:t>
            </a:r>
            <a:endParaRPr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 sz="1300">
                <a:solidFill>
                  <a:schemeClr val="dk1"/>
                </a:solidFill>
                <a:latin typeface="Times New Roman"/>
                <a:ea typeface="Times New Roman"/>
                <a:cs typeface="Times New Roman"/>
                <a:sym typeface="Times New Roman"/>
              </a:rPr>
              <a:t>Scripture:</a:t>
            </a:r>
            <a:endParaRPr b="1"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rPr b="1" lang="en" sz="1300">
                <a:solidFill>
                  <a:schemeClr val="dk1"/>
                </a:solidFill>
                <a:latin typeface="Times New Roman"/>
                <a:ea typeface="Times New Roman"/>
                <a:cs typeface="Times New Roman"/>
                <a:sym typeface="Times New Roman"/>
              </a:rPr>
              <a:t>Philippians 4:6–7 (NKJV)</a:t>
            </a:r>
            <a:r>
              <a:rPr lang="en" sz="1300">
                <a:solidFill>
                  <a:schemeClr val="dk1"/>
                </a:solidFill>
                <a:latin typeface="Times New Roman"/>
                <a:ea typeface="Times New Roman"/>
                <a:cs typeface="Times New Roman"/>
                <a:sym typeface="Times New Roman"/>
              </a:rPr>
              <a:t> — “Be anxious for nothing, but in everything by prayer and supplication, with thanksgiving, let your requests be made known to God; and the peace of God… will guard your hearts and minds through Christ Jesus.”</a:t>
            </a:r>
            <a:endParaRPr sz="1300">
              <a:solidFill>
                <a:schemeClr val="dk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Chapter 4: Think on What is Holy 	</a:t>
            </a:r>
            <a:endParaRPr>
              <a:latin typeface="Times New Roman"/>
              <a:ea typeface="Times New Roman"/>
              <a:cs typeface="Times New Roman"/>
              <a:sym typeface="Times New Roman"/>
            </a:endParaRPr>
          </a:p>
        </p:txBody>
      </p:sp>
      <p:sp>
        <p:nvSpPr>
          <p:cNvPr id="173" name="Google Shape;173;p30"/>
          <p:cNvSpPr txBox="1"/>
          <p:nvPr>
            <p:ph idx="1" type="body"/>
          </p:nvPr>
        </p:nvSpPr>
        <p:spPr>
          <a:xfrm>
            <a:off x="311700" y="1100100"/>
            <a:ext cx="4143300" cy="3416400"/>
          </a:xfrm>
          <a:prstGeom prst="rect">
            <a:avLst/>
          </a:prstGeom>
        </p:spPr>
        <p:txBody>
          <a:bodyPr anchorCtr="0" anchor="t" bIns="91425" lIns="91425" spcFirstLastPara="1" rIns="91425" wrap="square" tIns="91425">
            <a:noAutofit/>
          </a:bodyPr>
          <a:lstStyle/>
          <a:p>
            <a:pPr indent="-318611" lvl="0" marL="457200" rtl="0" algn="l">
              <a:lnSpc>
                <a:spcPct val="95000"/>
              </a:lnSpc>
              <a:spcBef>
                <a:spcPts val="1200"/>
              </a:spcBef>
              <a:spcAft>
                <a:spcPts val="0"/>
              </a:spcAft>
              <a:buClr>
                <a:schemeClr val="dk1"/>
              </a:buClr>
              <a:buSzPts val="1418"/>
              <a:buFont typeface="Times New Roman"/>
              <a:buChar char="●"/>
            </a:pPr>
            <a:r>
              <a:rPr lang="en" sz="2065">
                <a:solidFill>
                  <a:schemeClr val="dk1"/>
                </a:solidFill>
                <a:latin typeface="Times New Roman"/>
                <a:ea typeface="Times New Roman"/>
                <a:cs typeface="Times New Roman"/>
                <a:sym typeface="Times New Roman"/>
              </a:rPr>
              <a:t>Paul gives a filter for the mind:</a:t>
            </a:r>
            <a:br>
              <a:rPr lang="en" sz="2065">
                <a:solidFill>
                  <a:schemeClr val="dk1"/>
                </a:solidFill>
                <a:latin typeface="Times New Roman"/>
                <a:ea typeface="Times New Roman"/>
                <a:cs typeface="Times New Roman"/>
                <a:sym typeface="Times New Roman"/>
              </a:rPr>
            </a:br>
            <a:endParaRPr sz="2065">
              <a:solidFill>
                <a:schemeClr val="dk1"/>
              </a:solidFill>
              <a:latin typeface="Times New Roman"/>
              <a:ea typeface="Times New Roman"/>
              <a:cs typeface="Times New Roman"/>
              <a:sym typeface="Times New Roman"/>
            </a:endParaRPr>
          </a:p>
          <a:p>
            <a:pPr indent="-318611" lvl="1" marL="914400" rtl="0" algn="l">
              <a:lnSpc>
                <a:spcPct val="95000"/>
              </a:lnSpc>
              <a:spcBef>
                <a:spcPts val="0"/>
              </a:spcBef>
              <a:spcAft>
                <a:spcPts val="0"/>
              </a:spcAft>
              <a:buClr>
                <a:schemeClr val="dk1"/>
              </a:buClr>
              <a:buSzPts val="1418"/>
              <a:buFont typeface="Times New Roman"/>
              <a:buChar char="○"/>
            </a:pPr>
            <a:r>
              <a:rPr lang="en" sz="1695">
                <a:solidFill>
                  <a:schemeClr val="dk1"/>
                </a:solidFill>
                <a:latin typeface="Times New Roman"/>
                <a:ea typeface="Times New Roman"/>
                <a:cs typeface="Times New Roman"/>
                <a:sym typeface="Times New Roman"/>
              </a:rPr>
              <a:t>true</a:t>
            </a:r>
            <a:br>
              <a:rPr lang="en" sz="1695">
                <a:solidFill>
                  <a:schemeClr val="dk1"/>
                </a:solidFill>
                <a:latin typeface="Times New Roman"/>
                <a:ea typeface="Times New Roman"/>
                <a:cs typeface="Times New Roman"/>
                <a:sym typeface="Times New Roman"/>
              </a:rPr>
            </a:br>
            <a:endParaRPr sz="1695">
              <a:solidFill>
                <a:schemeClr val="dk1"/>
              </a:solidFill>
              <a:latin typeface="Times New Roman"/>
              <a:ea typeface="Times New Roman"/>
              <a:cs typeface="Times New Roman"/>
              <a:sym typeface="Times New Roman"/>
            </a:endParaRPr>
          </a:p>
          <a:p>
            <a:pPr indent="-318611" lvl="1" marL="914400" rtl="0" algn="l">
              <a:lnSpc>
                <a:spcPct val="95000"/>
              </a:lnSpc>
              <a:spcBef>
                <a:spcPts val="0"/>
              </a:spcBef>
              <a:spcAft>
                <a:spcPts val="0"/>
              </a:spcAft>
              <a:buClr>
                <a:schemeClr val="dk1"/>
              </a:buClr>
              <a:buSzPts val="1418"/>
              <a:buFont typeface="Times New Roman"/>
              <a:buChar char="○"/>
            </a:pPr>
            <a:r>
              <a:rPr lang="en" sz="1695">
                <a:solidFill>
                  <a:schemeClr val="dk1"/>
                </a:solidFill>
                <a:latin typeface="Times New Roman"/>
                <a:ea typeface="Times New Roman"/>
                <a:cs typeface="Times New Roman"/>
                <a:sym typeface="Times New Roman"/>
              </a:rPr>
              <a:t>honorable</a:t>
            </a:r>
            <a:br>
              <a:rPr lang="en" sz="1695">
                <a:solidFill>
                  <a:schemeClr val="dk1"/>
                </a:solidFill>
                <a:latin typeface="Times New Roman"/>
                <a:ea typeface="Times New Roman"/>
                <a:cs typeface="Times New Roman"/>
                <a:sym typeface="Times New Roman"/>
              </a:rPr>
            </a:br>
            <a:endParaRPr sz="1695">
              <a:solidFill>
                <a:schemeClr val="dk1"/>
              </a:solidFill>
              <a:latin typeface="Times New Roman"/>
              <a:ea typeface="Times New Roman"/>
              <a:cs typeface="Times New Roman"/>
              <a:sym typeface="Times New Roman"/>
            </a:endParaRPr>
          </a:p>
          <a:p>
            <a:pPr indent="-318611" lvl="1" marL="914400" rtl="0" algn="l">
              <a:lnSpc>
                <a:spcPct val="95000"/>
              </a:lnSpc>
              <a:spcBef>
                <a:spcPts val="0"/>
              </a:spcBef>
              <a:spcAft>
                <a:spcPts val="0"/>
              </a:spcAft>
              <a:buClr>
                <a:schemeClr val="dk1"/>
              </a:buClr>
              <a:buSzPts val="1418"/>
              <a:buFont typeface="Times New Roman"/>
              <a:buChar char="○"/>
            </a:pPr>
            <a:r>
              <a:rPr lang="en" sz="1695">
                <a:solidFill>
                  <a:schemeClr val="dk1"/>
                </a:solidFill>
                <a:latin typeface="Times New Roman"/>
                <a:ea typeface="Times New Roman"/>
                <a:cs typeface="Times New Roman"/>
                <a:sym typeface="Times New Roman"/>
              </a:rPr>
              <a:t>just</a:t>
            </a:r>
            <a:br>
              <a:rPr lang="en" sz="1695">
                <a:solidFill>
                  <a:schemeClr val="dk1"/>
                </a:solidFill>
                <a:latin typeface="Times New Roman"/>
                <a:ea typeface="Times New Roman"/>
                <a:cs typeface="Times New Roman"/>
                <a:sym typeface="Times New Roman"/>
              </a:rPr>
            </a:br>
            <a:endParaRPr sz="1695">
              <a:solidFill>
                <a:schemeClr val="dk1"/>
              </a:solidFill>
              <a:latin typeface="Times New Roman"/>
              <a:ea typeface="Times New Roman"/>
              <a:cs typeface="Times New Roman"/>
              <a:sym typeface="Times New Roman"/>
            </a:endParaRPr>
          </a:p>
          <a:p>
            <a:pPr indent="-318611" lvl="1" marL="914400" rtl="0" algn="l">
              <a:lnSpc>
                <a:spcPct val="95000"/>
              </a:lnSpc>
              <a:spcBef>
                <a:spcPts val="0"/>
              </a:spcBef>
              <a:spcAft>
                <a:spcPts val="0"/>
              </a:spcAft>
              <a:buClr>
                <a:schemeClr val="dk1"/>
              </a:buClr>
              <a:buSzPts val="1418"/>
              <a:buFont typeface="Times New Roman"/>
              <a:buChar char="○"/>
            </a:pPr>
            <a:r>
              <a:rPr lang="en" sz="1695">
                <a:solidFill>
                  <a:schemeClr val="dk1"/>
                </a:solidFill>
                <a:latin typeface="Times New Roman"/>
                <a:ea typeface="Times New Roman"/>
                <a:cs typeface="Times New Roman"/>
                <a:sym typeface="Times New Roman"/>
              </a:rPr>
              <a:t>pure</a:t>
            </a:r>
            <a:br>
              <a:rPr lang="en" sz="1695">
                <a:solidFill>
                  <a:schemeClr val="dk1"/>
                </a:solidFill>
                <a:latin typeface="Times New Roman"/>
                <a:ea typeface="Times New Roman"/>
                <a:cs typeface="Times New Roman"/>
                <a:sym typeface="Times New Roman"/>
              </a:rPr>
            </a:br>
            <a:endParaRPr sz="1695">
              <a:solidFill>
                <a:schemeClr val="dk1"/>
              </a:solidFill>
              <a:latin typeface="Times New Roman"/>
              <a:ea typeface="Times New Roman"/>
              <a:cs typeface="Times New Roman"/>
              <a:sym typeface="Times New Roman"/>
            </a:endParaRPr>
          </a:p>
          <a:p>
            <a:pPr indent="-318611" lvl="1" marL="914400" rtl="0" algn="l">
              <a:lnSpc>
                <a:spcPct val="95000"/>
              </a:lnSpc>
              <a:spcBef>
                <a:spcPts val="0"/>
              </a:spcBef>
              <a:spcAft>
                <a:spcPts val="0"/>
              </a:spcAft>
              <a:buClr>
                <a:schemeClr val="dk1"/>
              </a:buClr>
              <a:buSzPts val="1418"/>
              <a:buFont typeface="Times New Roman"/>
              <a:buChar char="○"/>
            </a:pPr>
            <a:r>
              <a:rPr lang="en" sz="1695">
                <a:solidFill>
                  <a:schemeClr val="dk1"/>
                </a:solidFill>
                <a:latin typeface="Times New Roman"/>
                <a:ea typeface="Times New Roman"/>
                <a:cs typeface="Times New Roman"/>
                <a:sym typeface="Times New Roman"/>
              </a:rPr>
              <a:t>lovely</a:t>
            </a:r>
            <a:br>
              <a:rPr lang="en" sz="1695">
                <a:solidFill>
                  <a:schemeClr val="dk1"/>
                </a:solidFill>
                <a:latin typeface="Times New Roman"/>
                <a:ea typeface="Times New Roman"/>
                <a:cs typeface="Times New Roman"/>
                <a:sym typeface="Times New Roman"/>
              </a:rPr>
            </a:br>
            <a:endParaRPr sz="1695">
              <a:solidFill>
                <a:schemeClr val="dk1"/>
              </a:solidFill>
              <a:latin typeface="Times New Roman"/>
              <a:ea typeface="Times New Roman"/>
              <a:cs typeface="Times New Roman"/>
              <a:sym typeface="Times New Roman"/>
            </a:endParaRPr>
          </a:p>
          <a:p>
            <a:pPr indent="-318611" lvl="0" marL="457200" rtl="0" algn="l">
              <a:lnSpc>
                <a:spcPct val="95000"/>
              </a:lnSpc>
              <a:spcBef>
                <a:spcPts val="0"/>
              </a:spcBef>
              <a:spcAft>
                <a:spcPts val="0"/>
              </a:spcAft>
              <a:buClr>
                <a:schemeClr val="dk1"/>
              </a:buClr>
              <a:buSzPts val="1418"/>
              <a:buFont typeface="Times New Roman"/>
              <a:buChar char="●"/>
            </a:pPr>
            <a:r>
              <a:rPr lang="en" sz="2065">
                <a:solidFill>
                  <a:schemeClr val="dk1"/>
                </a:solidFill>
                <a:latin typeface="Times New Roman"/>
                <a:ea typeface="Times New Roman"/>
                <a:cs typeface="Times New Roman"/>
                <a:sym typeface="Times New Roman"/>
              </a:rPr>
              <a:t>Thought life shapes spiritual life</a:t>
            </a:r>
            <a:br>
              <a:rPr lang="en" sz="2065">
                <a:solidFill>
                  <a:schemeClr val="dk1"/>
                </a:solidFill>
                <a:latin typeface="Times New Roman"/>
                <a:ea typeface="Times New Roman"/>
                <a:cs typeface="Times New Roman"/>
                <a:sym typeface="Times New Roman"/>
              </a:rPr>
            </a:br>
            <a:endParaRPr sz="2065">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1200"/>
              </a:spcAft>
              <a:buSzPts val="1018"/>
              <a:buNone/>
            </a:pPr>
            <a:r>
              <a:t/>
            </a:r>
            <a:endParaRPr sz="2065">
              <a:solidFill>
                <a:schemeClr val="dk1"/>
              </a:solidFill>
              <a:latin typeface="Times New Roman"/>
              <a:ea typeface="Times New Roman"/>
              <a:cs typeface="Times New Roman"/>
              <a:sym typeface="Times New Roman"/>
            </a:endParaRPr>
          </a:p>
        </p:txBody>
      </p:sp>
      <p:sp>
        <p:nvSpPr>
          <p:cNvPr id="174" name="Google Shape;174;p30"/>
          <p:cNvSpPr txBox="1"/>
          <p:nvPr/>
        </p:nvSpPr>
        <p:spPr>
          <a:xfrm>
            <a:off x="5354725" y="1579650"/>
            <a:ext cx="3000000" cy="2073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300">
                <a:solidFill>
                  <a:schemeClr val="dk1"/>
                </a:solidFill>
                <a:latin typeface="Times New Roman"/>
                <a:ea typeface="Times New Roman"/>
                <a:cs typeface="Times New Roman"/>
                <a:sym typeface="Times New Roman"/>
              </a:rPr>
              <a:t>What you repeatedly think about, you slowly become.</a:t>
            </a:r>
            <a:endParaRPr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 sz="1300">
                <a:solidFill>
                  <a:schemeClr val="dk1"/>
                </a:solidFill>
                <a:latin typeface="Times New Roman"/>
                <a:ea typeface="Times New Roman"/>
                <a:cs typeface="Times New Roman"/>
                <a:sym typeface="Times New Roman"/>
              </a:rPr>
              <a:t>Scripture:</a:t>
            </a:r>
            <a:endParaRPr b="1"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rPr b="1" lang="en" sz="1300">
                <a:solidFill>
                  <a:schemeClr val="dk1"/>
                </a:solidFill>
                <a:latin typeface="Times New Roman"/>
                <a:ea typeface="Times New Roman"/>
                <a:cs typeface="Times New Roman"/>
                <a:sym typeface="Times New Roman"/>
              </a:rPr>
              <a:t>Philippians 4:8 (NKJV)</a:t>
            </a:r>
            <a:r>
              <a:rPr lang="en" sz="1300">
                <a:solidFill>
                  <a:schemeClr val="dk1"/>
                </a:solidFill>
                <a:latin typeface="Times New Roman"/>
                <a:ea typeface="Times New Roman"/>
                <a:cs typeface="Times New Roman"/>
                <a:sym typeface="Times New Roman"/>
              </a:rPr>
              <a:t> — “Finally, brethren, whatever things are true… noble… just… pure… lovely… meditate on these things.”</a:t>
            </a:r>
            <a:endParaRPr sz="1300">
              <a:solidFill>
                <a:schemeClr val="dk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Chapter 4: Contentment In Every Season 	</a:t>
            </a:r>
            <a:endParaRPr/>
          </a:p>
        </p:txBody>
      </p:sp>
      <p:sp>
        <p:nvSpPr>
          <p:cNvPr id="180" name="Google Shape;180;p31"/>
          <p:cNvSpPr txBox="1"/>
          <p:nvPr>
            <p:ph idx="1" type="body"/>
          </p:nvPr>
        </p:nvSpPr>
        <p:spPr>
          <a:xfrm>
            <a:off x="311700" y="1152475"/>
            <a:ext cx="4296900" cy="3416400"/>
          </a:xfrm>
          <a:prstGeom prst="rect">
            <a:avLst/>
          </a:prstGeom>
        </p:spPr>
        <p:txBody>
          <a:bodyPr anchorCtr="0" anchor="t" bIns="91425" lIns="91425" spcFirstLastPara="1" rIns="91425" wrap="square" tIns="91425">
            <a:normAutofit lnSpcReduction="10000"/>
          </a:bodyPr>
          <a:lstStyle/>
          <a:p>
            <a:pPr indent="-298450" lvl="0" marL="457200" rtl="0" algn="l">
              <a:spcBef>
                <a:spcPts val="1200"/>
              </a:spcBef>
              <a:spcAft>
                <a:spcPts val="0"/>
              </a:spcAft>
              <a:buClr>
                <a:schemeClr val="dk1"/>
              </a:buClr>
              <a:buSzPts val="1100"/>
              <a:buChar char="●"/>
            </a:pPr>
            <a:r>
              <a:rPr lang="en">
                <a:solidFill>
                  <a:schemeClr val="dk1"/>
                </a:solidFill>
              </a:rPr>
              <a:t>Paul learned contentment in lack and abundance</a:t>
            </a:r>
            <a:br>
              <a:rPr lang="en">
                <a:solidFill>
                  <a:schemeClr val="dk1"/>
                </a:solidFill>
              </a:rPr>
            </a:b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“I can do all things” means endurance through every condition</a:t>
            </a:r>
            <a:br>
              <a:rPr lang="en">
                <a:solidFill>
                  <a:schemeClr val="dk1"/>
                </a:solidFill>
              </a:rPr>
            </a:b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Strength in Christ is for faithfulness, not ego</a:t>
            </a:r>
            <a:br>
              <a:rPr lang="en">
                <a:solidFill>
                  <a:schemeClr val="dk1"/>
                </a:solidFill>
              </a:rPr>
            </a:br>
            <a:endParaRPr>
              <a:solidFill>
                <a:schemeClr val="dk1"/>
              </a:solidFill>
            </a:endParaRPr>
          </a:p>
          <a:p>
            <a:pPr indent="0" lvl="0" marL="0" rtl="0" algn="l">
              <a:spcBef>
                <a:spcPts val="1200"/>
              </a:spcBef>
              <a:spcAft>
                <a:spcPts val="1200"/>
              </a:spcAft>
              <a:buNone/>
            </a:pPr>
            <a:r>
              <a:t/>
            </a:r>
            <a:endParaRPr>
              <a:solidFill>
                <a:schemeClr val="dk1"/>
              </a:solidFill>
            </a:endParaRPr>
          </a:p>
        </p:txBody>
      </p:sp>
      <p:sp>
        <p:nvSpPr>
          <p:cNvPr id="181" name="Google Shape;181;p31"/>
          <p:cNvSpPr txBox="1"/>
          <p:nvPr/>
        </p:nvSpPr>
        <p:spPr>
          <a:xfrm>
            <a:off x="5332775" y="1456650"/>
            <a:ext cx="3000000" cy="2073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300">
                <a:solidFill>
                  <a:schemeClr val="dk1"/>
                </a:solidFill>
              </a:rPr>
              <a:t>Contentment is learned. It does not come naturally.</a:t>
            </a:r>
            <a:endParaRPr sz="1300">
              <a:solidFill>
                <a:schemeClr val="dk1"/>
              </a:solidFill>
            </a:endParaRPr>
          </a:p>
          <a:p>
            <a:pPr indent="0" lvl="0" marL="0" rtl="0" algn="l">
              <a:lnSpc>
                <a:spcPct val="115000"/>
              </a:lnSpc>
              <a:spcBef>
                <a:spcPts val="1200"/>
              </a:spcBef>
              <a:spcAft>
                <a:spcPts val="0"/>
              </a:spcAft>
              <a:buNone/>
            </a:pPr>
            <a:r>
              <a:rPr b="1" lang="en" sz="1300">
                <a:solidFill>
                  <a:schemeClr val="dk1"/>
                </a:solidFill>
              </a:rPr>
              <a:t>Scripture:</a:t>
            </a:r>
            <a:endParaRPr b="1" sz="1300">
              <a:solidFill>
                <a:schemeClr val="dk1"/>
              </a:solidFill>
            </a:endParaRPr>
          </a:p>
          <a:p>
            <a:pPr indent="0" lvl="0" marL="0" rtl="0" algn="l">
              <a:lnSpc>
                <a:spcPct val="115000"/>
              </a:lnSpc>
              <a:spcBef>
                <a:spcPts val="1200"/>
              </a:spcBef>
              <a:spcAft>
                <a:spcPts val="1200"/>
              </a:spcAft>
              <a:buNone/>
            </a:pPr>
            <a:r>
              <a:rPr b="1" lang="en" sz="1300">
                <a:solidFill>
                  <a:schemeClr val="dk1"/>
                </a:solidFill>
              </a:rPr>
              <a:t>Philippians 4:11–13 (NKJV)</a:t>
            </a:r>
            <a:r>
              <a:rPr lang="en" sz="1300">
                <a:solidFill>
                  <a:schemeClr val="dk1"/>
                </a:solidFill>
              </a:rPr>
              <a:t> — “…for I have learned in whatever state I am, to be content… I can do all things through Christ who strengthens me.”</a:t>
            </a:r>
            <a:endParaRPr sz="1300">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Final Summary and Challenge 	</a:t>
            </a:r>
            <a:endParaRPr>
              <a:latin typeface="Times New Roman"/>
              <a:ea typeface="Times New Roman"/>
              <a:cs typeface="Times New Roman"/>
              <a:sym typeface="Times New Roman"/>
            </a:endParaRPr>
          </a:p>
        </p:txBody>
      </p:sp>
      <p:sp>
        <p:nvSpPr>
          <p:cNvPr id="187" name="Google Shape;187;p32"/>
          <p:cNvSpPr txBox="1"/>
          <p:nvPr>
            <p:ph idx="1" type="body"/>
          </p:nvPr>
        </p:nvSpPr>
        <p:spPr>
          <a:xfrm>
            <a:off x="311700" y="1050075"/>
            <a:ext cx="4779600" cy="3416400"/>
          </a:xfrm>
          <a:prstGeom prst="rect">
            <a:avLst/>
          </a:prstGeom>
        </p:spPr>
        <p:txBody>
          <a:bodyPr anchorCtr="0" anchor="t" bIns="91425" lIns="91425" spcFirstLastPara="1" rIns="91425" wrap="square" tIns="91425">
            <a:noAutofit/>
          </a:bodyPr>
          <a:lstStyle/>
          <a:p>
            <a:pPr indent="0" lvl="0" marL="0" rtl="0" algn="l">
              <a:spcBef>
                <a:spcPts val="1400"/>
              </a:spcBef>
              <a:spcAft>
                <a:spcPts val="0"/>
              </a:spcAft>
              <a:buClr>
                <a:schemeClr val="dk1"/>
              </a:buClr>
              <a:buSzPts val="1100"/>
              <a:buFont typeface="Arial"/>
              <a:buNone/>
            </a:pPr>
            <a:r>
              <a:rPr b="1" lang="en">
                <a:solidFill>
                  <a:schemeClr val="dk1"/>
                </a:solidFill>
                <a:latin typeface="Times New Roman"/>
                <a:ea typeface="Times New Roman"/>
                <a:cs typeface="Times New Roman"/>
                <a:sym typeface="Times New Roman"/>
              </a:rPr>
              <a:t>Philippians in one sentence:</a:t>
            </a:r>
            <a:endParaRPr b="1">
              <a:solidFill>
                <a:schemeClr val="dk1"/>
              </a:solidFill>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rPr b="1" lang="en">
                <a:solidFill>
                  <a:schemeClr val="dk1"/>
                </a:solidFill>
                <a:latin typeface="Times New Roman"/>
                <a:ea typeface="Times New Roman"/>
                <a:cs typeface="Times New Roman"/>
                <a:sym typeface="Times New Roman"/>
              </a:rPr>
              <a:t>Joy in suffering, humility in Christ, pursuit of holiness, and peace through prayer.</a:t>
            </a:r>
            <a:endParaRPr b="1">
              <a:solidFill>
                <a:schemeClr val="dk1"/>
              </a:solidFill>
              <a:latin typeface="Times New Roman"/>
              <a:ea typeface="Times New Roman"/>
              <a:cs typeface="Times New Roman"/>
              <a:sym typeface="Times New Roman"/>
            </a:endParaRPr>
          </a:p>
          <a:p>
            <a:pPr indent="0" lvl="0" marL="0" rtl="0" algn="l">
              <a:spcBef>
                <a:spcPts val="1400"/>
              </a:spcBef>
              <a:spcAft>
                <a:spcPts val="0"/>
              </a:spcAft>
              <a:buNone/>
            </a:pPr>
            <a:r>
              <a:rPr b="1" lang="en">
                <a:solidFill>
                  <a:schemeClr val="dk1"/>
                </a:solidFill>
                <a:latin typeface="Times New Roman"/>
                <a:ea typeface="Times New Roman"/>
                <a:cs typeface="Times New Roman"/>
                <a:sym typeface="Times New Roman"/>
              </a:rPr>
              <a:t>Final challenge </a:t>
            </a:r>
            <a:endParaRPr b="1">
              <a:solidFill>
                <a:schemeClr val="dk1"/>
              </a:solidFill>
              <a:latin typeface="Times New Roman"/>
              <a:ea typeface="Times New Roman"/>
              <a:cs typeface="Times New Roman"/>
              <a:sym typeface="Times New Roman"/>
            </a:endParaRPr>
          </a:p>
          <a:p>
            <a:pPr indent="-342900" lvl="0" marL="457200" rtl="0" algn="l">
              <a:spcBef>
                <a:spcPts val="120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What is stealing your joy right now?</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Where is pride blocking peace?</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What do you need to bring to God in prayer this week?</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a:latin typeface="Times New Roman"/>
              <a:ea typeface="Times New Roman"/>
              <a:cs typeface="Times New Roman"/>
              <a:sym typeface="Times New Roman"/>
            </a:endParaRPr>
          </a:p>
        </p:txBody>
      </p:sp>
      <p:sp>
        <p:nvSpPr>
          <p:cNvPr id="188" name="Google Shape;188;p32"/>
          <p:cNvSpPr txBox="1"/>
          <p:nvPr/>
        </p:nvSpPr>
        <p:spPr>
          <a:xfrm>
            <a:off x="5581500" y="1561950"/>
            <a:ext cx="3000000" cy="2457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t/>
            </a:r>
            <a:endParaRPr b="1"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 sz="1300">
                <a:solidFill>
                  <a:schemeClr val="dk1"/>
                </a:solidFill>
                <a:latin typeface="Times New Roman"/>
                <a:ea typeface="Times New Roman"/>
                <a:cs typeface="Times New Roman"/>
                <a:sym typeface="Times New Roman"/>
              </a:rPr>
              <a:t>Philippians teaches us that joy is not the absence of struggle — it is Christ in the middle of it.</a:t>
            </a:r>
            <a:endParaRPr b="1"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 sz="1300">
                <a:solidFill>
                  <a:schemeClr val="dk1"/>
                </a:solidFill>
                <a:latin typeface="Times New Roman"/>
                <a:ea typeface="Times New Roman"/>
                <a:cs typeface="Times New Roman"/>
                <a:sym typeface="Times New Roman"/>
              </a:rPr>
              <a:t>Scripture:</a:t>
            </a:r>
            <a:endParaRPr b="1"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rPr b="1" lang="en" sz="1300">
                <a:solidFill>
                  <a:schemeClr val="dk1"/>
                </a:solidFill>
                <a:latin typeface="Times New Roman"/>
                <a:ea typeface="Times New Roman"/>
                <a:cs typeface="Times New Roman"/>
                <a:sym typeface="Times New Roman"/>
              </a:rPr>
              <a:t>Philippians 4:13 (NKJV)</a:t>
            </a:r>
            <a:r>
              <a:rPr lang="en" sz="1300">
                <a:solidFill>
                  <a:schemeClr val="dk1"/>
                </a:solidFill>
                <a:latin typeface="Times New Roman"/>
                <a:ea typeface="Times New Roman"/>
                <a:cs typeface="Times New Roman"/>
                <a:sym typeface="Times New Roman"/>
              </a:rPr>
              <a:t> — “I can do all things through Christ who strengthens me.”</a:t>
            </a:r>
            <a:endParaRPr sz="1300">
              <a:solidFill>
                <a:schemeClr val="dk1"/>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3"/>
          <p:cNvSpPr txBox="1"/>
          <p:nvPr>
            <p:ph idx="1" type="body"/>
          </p:nvPr>
        </p:nvSpPr>
        <p:spPr>
          <a:xfrm>
            <a:off x="117975" y="1840500"/>
            <a:ext cx="8520600" cy="34164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en" sz="8000"/>
              <a:t>Questions? </a:t>
            </a:r>
            <a:endParaRPr sz="80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